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 id="2147483668" r:id="rId2"/>
  </p:sldMasterIdLst>
  <p:notesMasterIdLst>
    <p:notesMasterId r:id="rId26"/>
  </p:notesMasterIdLst>
  <p:sldIdLst>
    <p:sldId id="256" r:id="rId3"/>
    <p:sldId id="257" r:id="rId4"/>
    <p:sldId id="258" r:id="rId5"/>
    <p:sldId id="259" r:id="rId6"/>
    <p:sldId id="260" r:id="rId7"/>
    <p:sldId id="261" r:id="rId8"/>
    <p:sldId id="279" r:id="rId35"/>
    <p:sldId id="262" r:id="rId9"/>
    <p:sldId id="263" r:id="rId10"/>
    <p:sldId id="264" r:id="rId11"/>
    <p:sldId id="265" r:id="rId12"/>
    <p:sldId id="266" r:id="rId13"/>
    <p:sldId id="267" r:id="rId14"/>
    <p:sldId id="268" r:id="rId15"/>
    <p:sldId id="274" r:id="rId16"/>
    <p:sldId id="278" r:id="rId17"/>
    <p:sldId id="277" r:id="rId18"/>
    <p:sldId id="275" r:id="rId19"/>
    <p:sldId id="276" r:id="rId20"/>
    <p:sldId id="269" r:id="rId21"/>
    <p:sldId id="270" r:id="rId22"/>
    <p:sldId id="271" r:id="rId23"/>
    <p:sldId id="272" r:id="rId24"/>
    <p:sldId id="273" r:id="rId25"/>
  </p:sldIdLst>
  <p:sldSz cx="12192000" cy="6858000"/>
  <p:notesSz cx="6858000" cy="9144000"/>
  <p:embeddedFontLst>
    <p:embeddedFont>
      <p:font typeface="Carlito" panose="020F0502020204030204" pitchFamily="34"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C1EB017-BC45-4DEE-9ABB-B4D90C79D28D}">
  <a:tblStyle styleId="{3C1EB017-BC45-4DEE-9ABB-B4D90C79D28D}"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257" autoAdjust="0"/>
  </p:normalViewPr>
  <p:slideViewPr>
    <p:cSldViewPr snapToGrid="0">
      <p:cViewPr varScale="1">
        <p:scale>
          <a:sx n="90" d="100"/>
          <a:sy n="90" d="100"/>
        </p:scale>
        <p:origin x="89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4.277"/>
    </inkml:context>
    <inkml:brush xml:id="br0">
      <inkml:brushProperty name="width" value="0.035" units="cm"/>
      <inkml:brushProperty name="height" value="0.035" units="cm"/>
      <inkml:brushProperty name="color" value="#E71224"/>
    </inkml:brush>
  </inkml:definitions>
  <inkml:trace contextRef="#ctx0" brushRef="#br0">0 186 24575,'13'12'0,"1"-1"0,-1 0 0,2-1 0,-1-1 0,2 0 0,-1-1 0,1 0 0,0-1 0,0-1 0,1-1 0,0 0 0,27 3 0,14-1 0,1-4 0,83-4 0,-60-1 0,416-16 0,-339 4 0,175-39 0,-107-12 0,-97 25 0,192-55-1365,-257 79-5461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5.327"/>
    </inkml:context>
    <inkml:brush xml:id="br0">
      <inkml:brushProperty name="width" value="0.035" units="cm"/>
      <inkml:brushProperty name="height" value="0.035" units="cm"/>
      <inkml:brushProperty name="color" value="#E71224"/>
    </inkml:brush>
  </inkml:definitions>
  <inkml:trace contextRef="#ctx0" brushRef="#br0">1 1 24575,'7'4'0,"-1"1"0,1-1 0,1 0 0,-1-1 0,0 0 0,1 0 0,0-1 0,0 0 0,0 0 0,12 1 0,14 4 0,322 70 0,-192-44 0,148 58 0,-118-29 0,-84-27 48,145 67 0,93 69-910,-285-139 263,-16-8-6227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47.302"/>
    </inkml:context>
    <inkml:brush xml:id="br0">
      <inkml:brushProperty name="width" value="0.035" units="cm"/>
      <inkml:brushProperty name="height" value="0.035" units="cm"/>
      <inkml:brushProperty name="color" value="#E71224"/>
    </inkml:brush>
  </inkml:definitions>
  <inkml:trace contextRef="#ctx0" brushRef="#br0">19504 0 24575,'-3'25'0,"0"0"0,-2-1 0,-1 0 0,-1 0 0,-1 0 0,-1-1 0,-18 31 0,9-12 0,-19 41 0,-4-2 0,-3-2 0,-3-1 0,-58 70 0,73-108 0,-1-2 0,-3-2 0,-1 0 0,-1-3 0,-2-1 0,-1-2 0,-1-2 0,-84 41 0,49-37 0,-1-3 0,-106 23 0,-172 20 0,303-62 0,-221 39 0,-643 131 0,698-129 0,-802 151 0,95-118-218,-7-36-112,503-28 274,156 1 56,3 12 0,0 12 0,3 12 0,3 12 0,3 11 0,-253 115 0,240-91 0,212-85 0,-2-3 0,-94 12 0,-325 1 448,241-19-292,101-2-79,-1406 54-1079,370-59 496,-1086 28-855,1044 29 772,1067-54 757,-1-7 1,1-6-1,-215-37 1,-840-261 1541,1110 271-1228,-155-76-1,-74-73-447,191 108-34,-45-28 0,155 86 0,1-1 0,0-2 0,1 0 0,-30-35 0,40 38 0,1-1 0,0-1 0,2 0 0,0 0 0,-13-36 0,-27-108 0,23 67 0,-89-268 0,116 361 0,-3-9 0,1 1 0,0-1 0,1 0 0,-2-18 0,4 27 0,1-1 0,-1 0 0,0 1 0,1-1 0,0 1 0,0-1 0,0 1 0,0-1 0,1 1 0,-1 0 0,1-1 0,0 1 0,0 0 0,0 0 0,0 0 0,0 0 0,1 1 0,0-1 0,2-2 0,14-9 0,1 1 0,0 0 0,1 1 0,0 1 0,1 2 0,38-13 0,145-29 0,292-35 0,-30 6 0,-435 74-455,-1-1 0,39-14 0,-46 9-6371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3.351"/>
    </inkml:context>
    <inkml:brush xml:id="br0">
      <inkml:brushProperty name="width" value="0.035" units="cm"/>
      <inkml:brushProperty name="height" value="0.035" units="cm"/>
      <inkml:brushProperty name="color" value="#E71224"/>
    </inkml:brush>
  </inkml:definitions>
  <inkml:trace contextRef="#ctx0" brushRef="#br0">0 0 24575,'7'2'0,"0"-1"0,0 1 0,0 0 0,-1 1 0,1 0 0,-1 0 0,1 0 0,9 7 0,5 2 0,44 25 0,-1 3 0,93 76 0,106 116 0,-132-113 0,-17-19 0,306 298 0,-401-374 0,24 37 0,-34-46 0,1 0 0,0-1 0,1 0 0,0-1 0,1 0 0,1-1 0,17 14 0,23 7 0,1-3 0,110 46 0,-157-73 0,-1 0 0,0 1 0,0 0 0,0 0 0,0 0 0,0 1 0,-1 0 0,0 0 0,0 1 0,-1-1 0,1 1 0,-1 0 0,4 8 0,5 10 0,-2 1 0,10 30 0,-8-21 0,53 190-1365,-61-205-5461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5.521"/>
    </inkml:context>
    <inkml:brush xml:id="br0">
      <inkml:brushProperty name="width" value="0.035" units="cm"/>
      <inkml:brushProperty name="height" value="0.035" units="cm"/>
      <inkml:brushProperty name="color" value="#E71224"/>
    </inkml:brush>
  </inkml:definitions>
  <inkml:trace contextRef="#ctx0" brushRef="#br0">2538 0 24575,'-3'26'0,"-1"0"0,-2 0 0,0 0 0,-2-1 0,-1 0 0,-15 31 0,1-3 0,-2-1 0,-1-1 0,-4-1 0,-1-2 0,-2-1 0,-3-2 0,-68 69 0,-66 47 0,-173 150 0,283-264 0,-2-3 0,-1-2 0,-2-3 0,-80 34 0,79-45 0,15-8 0,1 2 0,1 2 0,1 2 0,-88 65 0,84-44 0,2 1 0,-47 60 0,-78 119 0,12-15 0,139-184 0,-2 0 0,0-2 0,-2-1 0,-1-1 0,-56 35 0,65-44-84,-13 6 282,32-20-268,-1-1-1,1 1 1,-1-1-1,0 1 1,1-1 0,-1 0-1,1 0 1,-1 1-1,1-1 1,-1 0-1,0-1 1,1 1-1,-1 0 1,1 0 0,-1-1-1,0 1 1,1 0-1,-1-1 1,1 0-1,-3-1 1,-15-12-6756</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8.811"/>
    </inkml:context>
    <inkml:brush xml:id="br0">
      <inkml:brushProperty name="width" value="0.035" units="cm"/>
      <inkml:brushProperty name="height" value="0.035" units="cm"/>
      <inkml:brushProperty name="color" value="#E71224"/>
    </inkml:brush>
  </inkml:definitions>
  <inkml:trace contextRef="#ctx0" brushRef="#br0">0 1 24575,'5'4'0,"11"22"0,22 20 0,19 22 0,24 18 0,17 4 0,-3-3 0,-13-12 0,-16-14 0,-14-18 0,-16-15-8191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1:59.813"/>
    </inkml:context>
    <inkml:brush xml:id="br0">
      <inkml:brushProperty name="width" value="0.035" units="cm"/>
      <inkml:brushProperty name="height" value="0.035" units="cm"/>
      <inkml:brushProperty name="color" value="#E71224"/>
    </inkml:brush>
  </inkml:definitions>
  <inkml:trace contextRef="#ctx0" brushRef="#br0">1 0 24575,'2'22'0,"1"0"0,1 0 0,0 0 0,2-1 0,1 0 0,1 0 0,12 25 0,-5-10 0,59 137 0,7-4 0,8-3 0,7-4 0,194 250 0,-280-400 0,-4-3 0,1-1 0,-1-1 0,1 1 0,1-1 0,-1 0 0,1-1 0,14 9 0,-22-14 2,0-1-1,1 0 0,-1 1 1,1-1-1,-1 0 0,0 1 0,1-1 1,-1 0-1,1 0 0,-1 1 1,1-1-1,-1 0 0,1 0 1,-1 0-1,1 0 0,-1 0 1,1 0-1,-1 0 0,1 0 1,-1 0-1,1 0 0,-1 0 1,1 0-1,-1 0 0,1 0 0,-1 0 1,1-1-1,-1 1 0,1 0 1,-1 0-1,0 0 0,1-1 1,-1 1-1,1 0 0,-1-1 1,0 1-1,1 0 0,-1-1 1,0 1-1,1 0 0,-1-1 1,0 1-1,1-1 0,-1 1 0,0-1 1,0 1-1,0-1 0,1 1 1,-1-1-1,0 1 0,0-1 1,0 1-1,0-1 0,0 1 1,0-1-1,0 0 0,-5-30-1259,5 30 1076,-8-26-6644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0.777"/>
    </inkml:context>
    <inkml:brush xml:id="br0">
      <inkml:brushProperty name="width" value="0.035" units="cm"/>
      <inkml:brushProperty name="height" value="0.035" units="cm"/>
      <inkml:brushProperty name="color" value="#E71224"/>
    </inkml:brush>
  </inkml:definitions>
  <inkml:trace contextRef="#ctx0" brushRef="#br0">0 1 24575,'23'20'0,"0"0"0,40 25 0,14 10 0,502 476 0,-418-374 0,-98-97 0,486 508 0,-515-522 0,-29-36 0,-22-26 0,-2-4-341,1 0 0,1-2-1,-20-32 1,24 32-6485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1.543"/>
    </inkml:context>
    <inkml:brush xml:id="br0">
      <inkml:brushProperty name="width" value="0.035" units="cm"/>
      <inkml:brushProperty name="height" value="0.035" units="cm"/>
      <inkml:brushProperty name="color" value="#E71224"/>
    </inkml:brush>
  </inkml:definitions>
  <inkml:trace contextRef="#ctx0" brushRef="#br0">0 0 24575,'173'149'0,"-29"-29"0,-31-22 0,3-5 0,205 125 0,-305-208 0,-11-6 0,1 0 0,1 0 0,-1-1 0,0 1 0,1-1 0,0-1 0,-1 1 0,1-1 0,13 2 0,-20-4 0,1 0 0,-1 0 0,1-1 0,-1 1 0,1 0 0,-1 0 0,0-1 0,1 1 0,-1 0 0,1 0 0,-1-1 0,1 1 0,-1 0 0,0-1 0,1 1 0,-1 0 0,0-1 0,1 1 0,-1-1 0,0 1 0,0-1 0,1 1 0,-1-1 0,0 1 0,0-1 0,0 1 0,0-1 0,0 1 0,0-1 0,0 1 0,0-1 0,0 1 0,0-1 0,0 1 0,0-1 0,0 1 0,0-1 0,0 1 0,0-1 0,0 1 0,-1-1 0,1 1 0,-1-1 0,-9-25 0,10 24 0,-24-43-1365,-3 1-5461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3.873"/>
    </inkml:context>
    <inkml:brush xml:id="br0">
      <inkml:brushProperty name="width" value="0.035" units="cm"/>
      <inkml:brushProperty name="height" value="0.035" units="cm"/>
      <inkml:brushProperty name="color" value="#E71224"/>
    </inkml:brush>
  </inkml:definitions>
  <inkml:trace contextRef="#ctx0" brushRef="#br0">974 346 24575,'-2'23'0,"-2"0"0,0 0 0,-1-1 0,-1 1 0,-17 41 0,1-4 0,3 6 0,3 1 0,2 1 0,4 0 0,2 0 0,3 1 0,9 124 0,0-154 0,2 0 0,2-1 0,1 0 0,2-1 0,2 0 0,32 65 0,-19-54 0,3-1 0,1-2 0,2-1 0,51 54 0,-12-28 0,3-3 0,3-4 0,2-2 0,171 96 0,14-22 0,-225-119 0,-1-2 0,2-2 0,0-1 0,0-2 0,45 4 0,-71-12 0,1 0 0,-1-1 0,0-1 0,0-1 0,1 0 0,-1 0 0,0-2 0,-1 1 0,1-2 0,-1 0 0,0 0 0,0-2 0,0 1 0,-1-2 0,0 1 0,0-2 0,-1 0 0,0 0 0,-1-1 0,11-12 0,1-5 0,-2-1 0,-1 0 0,-1-2 0,-1 0 0,-1-1 0,-2-1 0,12-43 0,-1-7 0,-3-2 0,-4 0 0,-4-1 0,-4-1 0,-3 0 0,-4 0 0,-4 0 0,-4 0 0,-3 0 0,-4 0 0,-4 2 0,-4 0 0,-3 0 0,-4 2 0,-3 2 0,-4 0 0,-3 2 0,-4 2 0,-3 2 0,-84-109 0,108 158 0,-1 0 0,-1 1 0,-1 2 0,-32-25 0,48 42 0,1 0 0,-1 0 0,0 1 0,0 0 0,-1 1 0,1 0 0,-1 0 0,1 0 0,-1 1 0,0 0 0,0 1 0,0 0 0,0 0 0,0 0 0,0 1 0,-1 0 0,1 1 0,0 0 0,0 0 0,0 1 0,0 0 0,-10 4 0,-2 4 0,0 0 0,1 1 0,1 1 0,0 1 0,-17 15 0,-81 84 0,62-57 0,-18 15 0,-2-4 0,-3-3 0,-3-3 0,-2-4 0,-104 53 0,-28-15 0,-359 106 0,495-175-682,-118 20-1,117-36-6143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04.576"/>
    </inkml:context>
    <inkml:brush xml:id="br0">
      <inkml:brushProperty name="width" value="0.035" units="cm"/>
      <inkml:brushProperty name="height" value="0.035" units="cm"/>
      <inkml:brushProperty name="color" value="#E71224"/>
    </inkml:brush>
  </inkml:definitions>
  <inkml:trace contextRef="#ctx0" brushRef="#br0">616 0 24575,'-4'117'0,"-5"0"0,-34 157 0,19-144 0,-75 361 0,64-349 0,-77 196 0,-8-58 120,87-214-615,-3 0 0,-47 65 0,66-108-6331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3.445"/>
    </inkml:context>
    <inkml:brush xml:id="br0">
      <inkml:brushProperty name="width" value="0.035" units="cm"/>
      <inkml:brushProperty name="height" value="0.035" units="cm"/>
      <inkml:brushProperty name="color" value="#E71224"/>
    </inkml:brush>
  </inkml:definitions>
  <inkml:trace contextRef="#ctx0" brushRef="#br0">0 1 24575,'0'5'0,"0"11"0,0 7 0,0 6 0,0 6 0,0 12 0,0 13 0,0 10 0,0 12 0,0 3 0,0-5 0,0-10 0,0-22 0,0-29 0,0-28 0,0-26 0,0-12 0,0 2-8191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4.336"/>
    </inkml:context>
    <inkml:brush xml:id="br0">
      <inkml:brushProperty name="width" value="0.035" units="cm"/>
      <inkml:brushProperty name="height" value="0.035" units="cm"/>
      <inkml:brushProperty name="color" value="#E71224"/>
    </inkml:brush>
  </inkml:definitions>
  <inkml:trace contextRef="#ctx0" brushRef="#br0">0 24 24575,'565'47'0,"-361"-22"0,-177-21 0,19 1 0,76 0 0,-109-5 0,-1-1 0,1-1 0,0 0 0,-1 0 0,1-1 0,-1-1 0,0 0 0,0-1 0,-1 0 0,19-12 0,-26 14-124,0 1 0,-1-1 0,1 0 0,-1-1 0,0 1 0,0-1-1,0 1 1,0-1 0,-1 0 0,3-6 0,4-11-6702</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1T20:32:16.415"/>
    </inkml:context>
    <inkml:brush xml:id="br0">
      <inkml:brushProperty name="width" value="0.035" units="cm"/>
      <inkml:brushProperty name="height" value="0.035" units="cm"/>
      <inkml:brushProperty name="color" value="#E71224"/>
    </inkml:brush>
  </inkml:definitions>
  <inkml:trace contextRef="#ctx0" brushRef="#br0">262 337 24575,'-2'73'0,"-4"-1"0,-2 0 0,-24 94 0,-80 205 0,86-285-67,4 1 1,3 1-1,5 1 0,3 0 0,5 1 0,3 0 0,13 135 1,11-53-113,7-2 1,97 323 0,-75-334 132,6-3-1,7-2 1,90 157-1,-110-240 16,2-2-1,4-2 0,61 66 0,-68-89 20,2-2 1,3-1-1,0-3 1,100 61-1,-64-56 14,1-3 1,2-4-1,1-4 1,2-4-1,121 23 1,472 45-148,-589-86 75,1378 191-919,-1331-180 976,-66-9-2,0 0 104,125 5 1,-191-16-29,0-1 0,1-1 0,-1 0 0,0 0 0,0 0 0,0-1 0,0 0 0,0-1 0,8-3 0,-11 3-45,-1 0 1,0 0 0,0 0 0,0-1 0,0 1 0,-1-1 0,1 0 0,-1 0-1,0 0 1,0-1 0,0 1 0,-1-1 0,1 1 0,-1-1 0,2-8 0,2-8 26,0 1 1,-2-1-1,-1 0 1,0 0-1,-2-39 1,-15-120 0,-68-264-27,-30-1 13,22 95-18,-77-450 10,32-3-79,98 572 0,-41-199-242,51 309 218,-64-173 1,76 255 63,-1 2 1,-29-50-1,36 73 45,0 0 0,-1 1-1,-1 0 1,0 1 0,-1 0 0,0 1-1,0 0 1,-25-15 0,13 12 117,0 2 0,-1 0 0,-1 2 0,0 1 0,0 1 0,-44-8 0,-169-9-183,214 24 60,-81-5-22,0 4 0,0 5 0,-203 33 0,252-25 0,1 3 0,1 2 0,1 3 0,0 2 0,1 2 0,1 3 0,2 2 0,-91 67 0,83-46-5,3 2 0,2 2-1,-85 113 1,-107 201 150,147-214 220,80-124-338,-2-1 0,-1 0-1,-40 39 1,52-58-28,-1-1 0,0 0 1,-1 0-1,0-1 0,0-1 1,0 0-1,-1 0 0,0-1 1,0-1-1,0 0 1,-1-1-1,-20 3 0,-72 3-54,-29 3 209,117-9-363,1 1 0,0 0 0,1 1 0,-1 0-1,1 1 1,-15 9 0,6 0-6617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83" name="Google Shape;83;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 name="Google Shape;9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Advisor quotations: </a:t>
            </a:r>
            <a:r>
              <a:rPr lang="en-US" sz="1200" dirty="0" err="1"/>
              <a:t>ResearchReport</a:t>
            </a:r>
            <a:r>
              <a:rPr lang="en-US" sz="1200" dirty="0"/>
              <a:t> -- Carlo Nino-Sep 06, 2026.pdf, items 3 and Additional Comments. </a:t>
            </a:r>
          </a:p>
          <a:p>
            <a:pPr marL="0" lvl="0" indent="0" algn="l" rtl="0">
              <a:spcBef>
                <a:spcPts val="0"/>
              </a:spcBef>
              <a:spcAft>
                <a:spcPts val="0"/>
              </a:spcAft>
              <a:buNone/>
            </a:pPr>
            <a:r>
              <a:rPr lang="en-US" sz="1200" dirty="0"/>
              <a:t>Red is Dr Hao. Yellow: </a:t>
            </a:r>
          </a:p>
          <a:p>
            <a:pPr marL="0" lvl="0" indent="0" algn="l" rtl="0">
              <a:spcBef>
                <a:spcPts val="0"/>
              </a:spcBef>
              <a:spcAft>
                <a:spcPts val="0"/>
              </a:spcAft>
              <a:buNone/>
            </a:pPr>
            <a:r>
              <a:rPr lang="en-US" sz="1200" dirty="0"/>
              <a:t>My answers in black below it.</a:t>
            </a:r>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2</a:t>
            </a:r>
            <a:endParaRPr dirty="0"/>
          </a:p>
          <a:p>
            <a:pPr marL="0" lvl="0" indent="0" algn="l" rtl="0">
              <a:spcBef>
                <a:spcPts val="0"/>
              </a:spcBef>
              <a:spcAft>
                <a:spcPts val="0"/>
              </a:spcAft>
              <a:buNone/>
            </a:pPr>
            <a:r>
              <a:rPr lang="en-US" sz="1200" dirty="0"/>
              <a:t>This Praxis develops a simulation-based systems engineering framework to evaluate autonomous satellite decision support under degraded communications.</a:t>
            </a:r>
            <a:endParaRPr dirty="0"/>
          </a:p>
          <a:p>
            <a:pPr marL="0" lvl="0" indent="0" algn="l" rtl="0">
              <a:spcBef>
                <a:spcPts val="0"/>
              </a:spcBef>
              <a:spcAft>
                <a:spcPts val="0"/>
              </a:spcAft>
              <a:buNone/>
            </a:pPr>
            <a:r>
              <a:rPr lang="en-US" sz="1200" dirty="0"/>
              <a:t>The study compares ground-centric routing against an orbital edge-processing path using public orbital data and space-weather indices.</a:t>
            </a:r>
            <a:endParaRPr dirty="0"/>
          </a:p>
          <a:p>
            <a:pPr marL="0" lvl="0" indent="0" algn="l" rtl="0">
              <a:spcBef>
                <a:spcPts val="0"/>
              </a:spcBef>
              <a:spcAft>
                <a:spcPts val="0"/>
              </a:spcAft>
              <a:buNone/>
            </a:pPr>
            <a:r>
              <a:rPr lang="en-US" sz="1200" dirty="0"/>
              <a:t>The modeled decisions include onboard filtering, alert prioritization, downlink prioritization, resource allocation, and safe-response recommendations for ground operator review.</a:t>
            </a:r>
            <a:endParaRPr dirty="0"/>
          </a:p>
          <a:p>
            <a:pPr marL="0" lvl="0" indent="0" algn="l" rtl="0">
              <a:spcBef>
                <a:spcPts val="0"/>
              </a:spcBef>
              <a:spcAft>
                <a:spcPts val="0"/>
              </a:spcAft>
              <a:buNone/>
            </a:pPr>
            <a:r>
              <a:rPr lang="en-US" sz="1200" dirty="0"/>
              <a:t>The framework evaluates onboard artificial intelligence and machine learning for predictive threat assessment and response.</a:t>
            </a:r>
            <a:endParaRPr dirty="0"/>
          </a:p>
          <a:p>
            <a:pPr marL="0" lvl="0" indent="0" algn="l" rtl="0">
              <a:spcBef>
                <a:spcPts val="0"/>
              </a:spcBef>
              <a:spcAft>
                <a:spcPts val="0"/>
              </a:spcAft>
              <a:buNone/>
            </a:pPr>
            <a:r>
              <a:rPr lang="en-US" sz="1200" dirty="0"/>
              <a:t>The model assesses decision latency, operator workload, cognitive burden, and resource utilization through simulation.</a:t>
            </a:r>
            <a:endParaRPr dirty="0"/>
          </a:p>
          <a:p>
            <a:pPr marL="0" lvl="0" indent="0" algn="l" rtl="0">
              <a:spcBef>
                <a:spcPts val="0"/>
              </a:spcBef>
              <a:spcAft>
                <a:spcPts val="0"/>
              </a:spcAft>
              <a:buNone/>
            </a:pPr>
            <a:r>
              <a:rPr lang="en-US" sz="1200" dirty="0"/>
              <a:t>The work produces a public-domain feasibility study and a preliminary Concept of Operations.</a:t>
            </a:r>
            <a:endParaRPr dirty="0"/>
          </a:p>
          <a:p>
            <a:pPr marL="0" lvl="0" indent="0" algn="l" rtl="0">
              <a:spcBef>
                <a:spcPts val="0"/>
              </a:spcBef>
              <a:spcAft>
                <a:spcPts val="0"/>
              </a:spcAft>
              <a:buNone/>
            </a:pPr>
            <a:r>
              <a:rPr lang="en-US" sz="1200" dirty="0"/>
              <a:t>Validation compares simulated outputs against public benchmarks, theoretical delay calculations, repeated runs, and sensitivity analysis.</a:t>
            </a:r>
            <a:endParaRPr dirty="0"/>
          </a:p>
          <a:p>
            <a:pPr marL="0" lvl="0" indent="0" algn="l" rtl="0">
              <a:spcBef>
                <a:spcPts val="0"/>
              </a:spcBef>
              <a:spcAft>
                <a:spcPts val="0"/>
              </a:spcAft>
              <a:buNone/>
            </a:pPr>
            <a:r>
              <a:rPr lang="en-US" sz="1200" dirty="0"/>
              <a:t>The research will not use classified data, develop new algorithms, or build physical hardware.</a:t>
            </a:r>
          </a:p>
          <a:p>
            <a:pPr marL="0" lvl="0" indent="0" algn="l" rtl="0">
              <a:spcBef>
                <a:spcPts val="0"/>
              </a:spcBef>
              <a:spcAft>
                <a:spcPts val="0"/>
              </a:spcAft>
              <a:buNone/>
            </a:pPr>
            <a:endParaRPr dirty="0"/>
          </a:p>
          <a:p>
            <a:pPr marL="0" lvl="0" indent="0" algn="l" rtl="0">
              <a:spcBef>
                <a:spcPts val="0"/>
              </a:spcBef>
              <a:spcAft>
                <a:spcPts val="0"/>
              </a:spcAft>
              <a:buNone/>
            </a:pPr>
            <a:r>
              <a:rPr lang="en-US" sz="1200" dirty="0"/>
              <a:t>Scope of Work</a:t>
            </a: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r>
              <a:rPr lang="en-US" sz="1200" dirty="0"/>
              <a:t>Modeling Autonomous Satellite Decision-Making in Contested Environments.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can an orbital edge-processing layer provide useful information to the operator faster?</a:t>
            </a:r>
            <a:br>
              <a:rPr lang="en-US" sz="1200" dirty="0"/>
            </a:br>
            <a:endParaRPr dirty="0"/>
          </a:p>
          <a:p>
            <a:pPr marL="0" lvl="0" indent="0" algn="l" rtl="0">
              <a:spcBef>
                <a:spcPts val="0"/>
              </a:spcBef>
              <a:spcAft>
                <a:spcPts val="0"/>
              </a:spcAft>
              <a:buNone/>
            </a:pPr>
            <a:r>
              <a:rPr lang="en-US" sz="1200" dirty="0"/>
              <a:t>The model focuses on bounded functions such as filtering, prioritizing, routing, allocating resources, and presenting recommendations. </a:t>
            </a:r>
            <a:br>
              <a:rPr lang="en-US" sz="1200" dirty="0"/>
            </a:br>
            <a:endParaRPr dirty="0"/>
          </a:p>
          <a:p>
            <a:pPr marL="0" lvl="0" indent="0" algn="l" rtl="0">
              <a:spcBef>
                <a:spcPts val="0"/>
              </a:spcBef>
              <a:spcAft>
                <a:spcPts val="0"/>
              </a:spcAft>
              <a:buNone/>
            </a:pPr>
            <a:r>
              <a:rPr lang="en-US" sz="1200" dirty="0"/>
              <a:t>The goal is to measure whether this architecture reduces latency, preserves communications availability, and reduces operator workload using only public, public, non-restricted data.”</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6</a:t>
            </a:r>
            <a:endParaRPr dirty="0"/>
          </a:p>
          <a:p>
            <a:pPr marL="0" lvl="0" indent="0" algn="l" rtl="0">
              <a:spcBef>
                <a:spcPts val="0"/>
              </a:spcBef>
              <a:spcAft>
                <a:spcPts val="0"/>
              </a:spcAft>
              <a:buNone/>
            </a:pPr>
            <a:r>
              <a:rPr lang="en-US" sz="1200" dirty="0"/>
              <a:t>Thesis Statement | This praxis will deliver a simulation-based systems engineering model demonstrating a bounded onboard decision-making framework under degraded communications. </a:t>
            </a:r>
            <a:endParaRPr dirty="0"/>
          </a:p>
          <a:p>
            <a:pPr marL="0" lvl="0" indent="0" algn="l" rtl="0">
              <a:spcBef>
                <a:spcPts val="0"/>
              </a:spcBef>
              <a:spcAft>
                <a:spcPts val="0"/>
              </a:spcAft>
              <a:buNone/>
            </a:pPr>
            <a:r>
              <a:rPr lang="en-US" sz="1200" dirty="0"/>
              <a:t>Research Product | Simulation-Based Evaluation Framework </a:t>
            </a:r>
            <a:endParaRPr dirty="0"/>
          </a:p>
          <a:p>
            <a:pPr marL="0" lvl="0" indent="0" algn="l" rtl="0">
              <a:spcBef>
                <a:spcPts val="0"/>
              </a:spcBef>
              <a:spcAft>
                <a:spcPts val="0"/>
              </a:spcAft>
              <a:buNone/>
            </a:pPr>
            <a:r>
              <a:rPr lang="en-US" sz="1200" dirty="0"/>
              <a:t>Format | Python/MATLAB/Simulink Model</a:t>
            </a:r>
            <a:endParaRPr dirty="0"/>
          </a:p>
          <a:p>
            <a:pPr marL="0" lvl="0" indent="0" algn="l" rtl="0">
              <a:spcBef>
                <a:spcPts val="0"/>
              </a:spcBef>
              <a:spcAft>
                <a:spcPts val="0"/>
              </a:spcAft>
              <a:buNone/>
            </a:pPr>
            <a:r>
              <a:rPr lang="en-US" sz="1200" dirty="0"/>
              <a:t>Deliverable Usage | Systems engineers will use the framework during early architecture trades for onboard processing under degraded communications. </a:t>
            </a:r>
            <a:endParaRPr dirty="0"/>
          </a:p>
          <a:p>
            <a:pPr marL="0" lvl="0" indent="0" algn="l" rtl="0">
              <a:spcBef>
                <a:spcPts val="0"/>
              </a:spcBef>
              <a:spcAft>
                <a:spcPts val="0"/>
              </a:spcAft>
              <a:buNone/>
            </a:pPr>
            <a:r>
              <a:rPr lang="en-US" sz="1200" dirty="0"/>
              <a:t>Tie back to PS | The framework will address decision latency by comparing ground-centric routing with bounded onboard decision support under the same scenarios.</a:t>
            </a:r>
            <a:endParaRPr dirty="0"/>
          </a:p>
          <a:p>
            <a:pPr marL="0" lvl="0" indent="0" algn="l" rtl="0">
              <a:spcBef>
                <a:spcPts val="0"/>
              </a:spcBef>
              <a:spcAft>
                <a:spcPts val="0"/>
              </a:spcAft>
              <a:buNone/>
            </a:pPr>
            <a:r>
              <a:rPr lang="en-US" sz="1200" dirty="0"/>
              <a:t>New Contributions | This work will contribute a public, repeatable method for evaluating orbital edge-processing performance without classified data or new algorithms.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Scope | The framework will apply to autonomous systems that operate with degraded communications and constrained human oversight. </a:t>
            </a:r>
            <a:endParaRPr dirty="0"/>
          </a:p>
          <a:p>
            <a:pPr marL="0" lvl="0" indent="0" algn="l" rtl="0">
              <a:spcBef>
                <a:spcPts val="0"/>
              </a:spcBef>
              <a:spcAft>
                <a:spcPts val="0"/>
              </a:spcAft>
              <a:buNone/>
            </a:pPr>
            <a:r>
              <a:rPr lang="en-US" sz="1200" dirty="0"/>
              <a:t>Main methodology | Discrete-Event Simulation </a:t>
            </a:r>
            <a:endParaRPr dirty="0"/>
          </a:p>
          <a:p>
            <a:pPr marL="0" lvl="0" indent="0" algn="l" rtl="0">
              <a:spcBef>
                <a:spcPts val="0"/>
              </a:spcBef>
              <a:spcAft>
                <a:spcPts val="0"/>
              </a:spcAft>
              <a:buNone/>
            </a:pPr>
            <a:r>
              <a:rPr lang="en-US" sz="1200" dirty="0"/>
              <a:t>Inputs | Threat Type (Categorical), Threat Proximity (km), Communication Link Status (Boolean), Satellite Resource Availability (%), AI Confidence Score (%) </a:t>
            </a:r>
            <a:endParaRPr dirty="0"/>
          </a:p>
          <a:p>
            <a:pPr marL="0" lvl="0" indent="0" algn="l" rtl="0">
              <a:spcBef>
                <a:spcPts val="0"/>
              </a:spcBef>
              <a:spcAft>
                <a:spcPts val="0"/>
              </a:spcAft>
              <a:buNone/>
            </a:pPr>
            <a:r>
              <a:rPr lang="en-US" sz="1200" dirty="0"/>
              <a:t>Outputs | Response Latency (seconds), Mission Success Probability (%), Resource Consumption (%), Correct Action Taken (Boolean)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a:t>
            </a:r>
          </a:p>
          <a:p>
            <a:pPr marL="0" lvl="0" indent="0" algn="l" rtl="0">
              <a:spcBef>
                <a:spcPts val="0"/>
              </a:spcBef>
              <a:spcAft>
                <a:spcPts val="0"/>
              </a:spcAft>
              <a:buNone/>
            </a:pPr>
            <a:r>
              <a:rPr lang="en-US" sz="1200" dirty="0"/>
              <a:t>Methodology </a:t>
            </a:r>
          </a:p>
          <a:p>
            <a:pPr marL="0" lvl="0" indent="0" algn="l" rtl="0">
              <a:spcBef>
                <a:spcPts val="0"/>
              </a:spcBef>
              <a:spcAft>
                <a:spcPts val="0"/>
              </a:spcAft>
              <a:buNone/>
            </a:pPr>
            <a:endParaRPr dirty="0"/>
          </a:p>
          <a:p>
            <a:pPr marL="0" lvl="0" indent="0" algn="l" rtl="0">
              <a:spcBef>
                <a:spcPts val="0"/>
              </a:spcBef>
              <a:spcAft>
                <a:spcPts val="0"/>
              </a:spcAft>
              <a:buNone/>
            </a:pPr>
            <a:r>
              <a:rPr lang="en-US" sz="1200" dirty="0"/>
              <a:t>Methodology | Discrete-Event Simulation </a:t>
            </a:r>
          </a:p>
          <a:p>
            <a:pPr marL="0" lvl="0" indent="0" algn="l" rtl="0">
              <a:spcBef>
                <a:spcPts val="0"/>
              </a:spcBef>
              <a:spcAft>
                <a:spcPts val="0"/>
              </a:spcAft>
              <a:buNone/>
            </a:pPr>
            <a:endParaRPr dirty="0"/>
          </a:p>
          <a:p>
            <a:pPr marL="0" lvl="0" indent="0" algn="l" rtl="0">
              <a:spcBef>
                <a:spcPts val="0"/>
              </a:spcBef>
              <a:spcAft>
                <a:spcPts val="0"/>
              </a:spcAft>
              <a:buNone/>
            </a:pPr>
            <a:r>
              <a:rPr lang="en-US" sz="1200" dirty="0"/>
              <a:t>Inputs | The Disruption Event Type (categorical), event start times (s), event duration (min), communication lag, ground station availability (Boolean), satellite visibility window (min), bandwidth capacity (Mbps), data volume (MB), packet loss rate (%), edge processing times, AI confidence score (%), satellite resource availability (%) | NA</a:t>
            </a:r>
            <a:endParaRPr dirty="0"/>
          </a:p>
          <a:p>
            <a:pPr marL="0" lvl="0" indent="0" algn="l" rtl="0">
              <a:spcBef>
                <a:spcPts val="0"/>
              </a:spcBef>
              <a:spcAft>
                <a:spcPts val="0"/>
              </a:spcAft>
              <a:buNone/>
            </a:pPr>
            <a:r>
              <a:rPr lang="en-US" sz="1200" dirty="0"/>
              <a:t>Outputs | Response latency, OODA Loop decision cycle times, path availability (%), dropped messages (count), recovery time, operator workflow reduction comparison (%), correct action selection (%). | NA</a:t>
            </a:r>
            <a:endParaRPr dirty="0"/>
          </a:p>
          <a:p>
            <a:pPr marL="0" lvl="0" indent="0" algn="l" rtl="0">
              <a:spcBef>
                <a:spcPts val="0"/>
              </a:spcBef>
              <a:spcAft>
                <a:spcPts val="0"/>
              </a:spcAft>
              <a:buNone/>
            </a:pPr>
            <a:endParaRPr lang="en-US" sz="1200" dirty="0"/>
          </a:p>
          <a:p>
            <a:pPr marL="0" lvl="0" indent="0" algn="l" rtl="0">
              <a:spcBef>
                <a:spcPts val="0"/>
              </a:spcBef>
              <a:spcAft>
                <a:spcPts val="0"/>
              </a:spcAft>
              <a:buNone/>
            </a:pPr>
            <a:r>
              <a:rPr lang="en-US" sz="1200" dirty="0"/>
              <a:t>Methodology 1 — Discrete-Event Simulation</a:t>
            </a:r>
            <a:endParaRPr dirty="0"/>
          </a:p>
          <a:p>
            <a:pPr marL="0" lvl="0" indent="0" algn="l" rtl="0">
              <a:spcBef>
                <a:spcPts val="0"/>
              </a:spcBef>
              <a:spcAft>
                <a:spcPts val="0"/>
              </a:spcAft>
              <a:buNone/>
            </a:pPr>
            <a:r>
              <a:rPr lang="en-US" sz="1200" dirty="0"/>
              <a:t>Method:</a:t>
            </a:r>
            <a:br>
              <a:rPr lang="en-US" sz="1200" dirty="0"/>
            </a:br>
            <a:r>
              <a:rPr lang="en-US" sz="1200" dirty="0"/>
              <a:t>“My first methodology is discrete-event simulation. It follows specific events in order—such as a request arriving, the ground-station path failing, the edge cloud processing the request, and a response reaching the operator.”</a:t>
            </a:r>
            <a:endParaRPr dirty="0"/>
          </a:p>
          <a:p>
            <a:pPr marL="0" lvl="0" indent="0" algn="l" rtl="0">
              <a:spcBef>
                <a:spcPts val="0"/>
              </a:spcBef>
              <a:spcAft>
                <a:spcPts val="0"/>
              </a:spcAft>
              <a:buNone/>
            </a:pPr>
            <a:r>
              <a:rPr lang="en-US" sz="1200" dirty="0"/>
              <a:t>Inputs:</a:t>
            </a:r>
            <a:br>
              <a:rPr lang="en-US" sz="1200" dirty="0"/>
            </a:br>
            <a:r>
              <a:rPr lang="en-US" sz="1200" dirty="0"/>
              <a:t>“The inputs include the disruption type, when it starts, how long it lasts, communication delay, processing time, and available resources.”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Outputs:</a:t>
            </a:r>
            <a:br>
              <a:rPr lang="en-US" sz="1200" dirty="0"/>
            </a:br>
            <a:r>
              <a:rPr lang="en-US" sz="1200" dirty="0"/>
              <a:t>“The outputs include response latency, OODA-loop time, path availability, dropped messages, recovery time, workload reduction, and what % of the time the correct response was selected.”</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Purpose:</a:t>
            </a:r>
            <a:br>
              <a:rPr lang="en-US" sz="1200" dirty="0"/>
            </a:br>
            <a:r>
              <a:rPr lang="en-US" sz="1200" dirty="0"/>
              <a:t>“This method shows what happens during each individual disruption and compares the ground-centric path with the edge-enabled path.”</a:t>
            </a:r>
            <a:endParaRPr dirty="0"/>
          </a:p>
          <a:p>
            <a:pPr marL="0" lvl="0" indent="0" algn="l" rtl="0">
              <a:spcBef>
                <a:spcPts val="0"/>
              </a:spcBef>
              <a:spcAft>
                <a:spcPts val="0"/>
              </a:spcAft>
              <a:buNone/>
            </a:pPr>
            <a:br>
              <a:rPr lang="en-US" sz="1200" dirty="0"/>
            </a:br>
            <a:endParaRPr dirty="0"/>
          </a:p>
          <a:p>
            <a:pPr marL="0" lvl="0" indent="0" algn="l" rtl="0">
              <a:spcBef>
                <a:spcPts val="0"/>
              </a:spcBef>
              <a:spcAft>
                <a:spcPts val="0"/>
              </a:spcAft>
              <a:buNone/>
            </a:pPr>
            <a:endParaRPr dirty="0"/>
          </a:p>
        </p:txBody>
      </p:sp>
      <p:sp>
        <p:nvSpPr>
          <p:cNvPr id="93" name="Google Shape;93;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 name="Google Shape;105;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SOURCE: GWU_Praxis_AIS_Master_Register_2026-09-13_Updated(1).xlsx</a:t>
            </a:r>
            <a:endParaRPr dirty="0"/>
          </a:p>
          <a:p>
            <a:pPr marL="0" lvl="0" indent="0" algn="l" rtl="0">
              <a:spcBef>
                <a:spcPts val="0"/>
              </a:spcBef>
              <a:spcAft>
                <a:spcPts val="0"/>
              </a:spcAft>
              <a:buNone/>
            </a:pPr>
            <a:r>
              <a:rPr lang="en-US" sz="1200" dirty="0"/>
              <a:t>Selected citation titles are shortened on the slide; full metadata are below Dr Hao.  This is for presentation only.  I have the rest.</a:t>
            </a:r>
          </a:p>
          <a:p>
            <a:pPr marL="0" lvl="0" indent="0" algn="l" rtl="0">
              <a:spcBef>
                <a:spcPts val="0"/>
              </a:spcBef>
              <a:spcAft>
                <a:spcPts val="0"/>
              </a:spcAft>
              <a:buNone/>
            </a:pPr>
            <a:endParaRPr dirty="0"/>
          </a:p>
          <a:p>
            <a:pPr marL="0" lvl="0" indent="0" algn="l" rtl="0">
              <a:spcBef>
                <a:spcPts val="0"/>
              </a:spcBef>
              <a:spcAft>
                <a:spcPts val="0"/>
              </a:spcAft>
              <a:buNone/>
            </a:pPr>
            <a:r>
              <a:rPr lang="en-US" sz="1200" dirty="0"/>
              <a:t>Dylan Browne (2024). Electric Vehicle Charge Station Expansion Analysis for EV Owners in Maryland: Stochastic Model Utilizing Monte Carlo Simulation Methodology to Determine Arrival Rates, Utilization and Wait Times of Electric Vehicles at Charge Station Infrastructure. GWU D.Eng. Praxis. George Washington University.</a:t>
            </a:r>
            <a:endParaRPr dirty="0"/>
          </a:p>
          <a:p>
            <a:pPr marL="0" lvl="0" indent="0" algn="l" rtl="0">
              <a:spcBef>
                <a:spcPts val="0"/>
              </a:spcBef>
              <a:spcAft>
                <a:spcPts val="0"/>
              </a:spcAft>
              <a:buNone/>
            </a:pPr>
            <a:r>
              <a:rPr lang="en-US" sz="1200" dirty="0"/>
              <a:t>https://scholarspace.library.gwu.edu/etd/1v53jx95k</a:t>
            </a:r>
            <a:endParaRPr dirty="0"/>
          </a:p>
          <a:p>
            <a:pPr marL="0" lvl="0" indent="0" algn="l" rtl="0">
              <a:spcBef>
                <a:spcPts val="0"/>
              </a:spcBef>
              <a:spcAft>
                <a:spcPts val="0"/>
              </a:spcAft>
              <a:buNone/>
            </a:pPr>
            <a:r>
              <a:rPr lang="en-US" sz="1200" dirty="0"/>
              <a:t>Recorded method: Discrete-event simulation; Monte Carlo; queueing</a:t>
            </a:r>
            <a:endParaRPr dirty="0"/>
          </a:p>
          <a:p>
            <a:pPr marL="0" lvl="0" indent="0" algn="l" rtl="0">
              <a:spcBef>
                <a:spcPts val="0"/>
              </a:spcBef>
              <a:spcAft>
                <a:spcPts val="0"/>
              </a:spcAft>
              <a:buNone/>
            </a:pPr>
            <a:r>
              <a:rPr lang="en-US" sz="1200" dirty="0"/>
              <a:t>Recorded role: Potential template for MATLAB/DES experiments on processing queues, link bottlenecks, and latency distributions.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Scott Littlefield (2017). Application of Discrete Event Simulation to Modeling Reliability of Highly Parallel Systems with Common Cause Failures. GWU D.Eng. Praxis. George Washington University.</a:t>
            </a:r>
            <a:endParaRPr dirty="0"/>
          </a:p>
          <a:p>
            <a:pPr marL="0" lvl="0" indent="0" algn="l" rtl="0">
              <a:spcBef>
                <a:spcPts val="0"/>
              </a:spcBef>
              <a:spcAft>
                <a:spcPts val="0"/>
              </a:spcAft>
              <a:buNone/>
            </a:pPr>
            <a:r>
              <a:rPr lang="en-US" sz="1200" dirty="0"/>
              <a:t>https://scholarspace.library.gwu.edu/downloads/x059c743t?disposition=inline&amp;locale=en</a:t>
            </a:r>
            <a:endParaRPr dirty="0"/>
          </a:p>
          <a:p>
            <a:pPr marL="0" lvl="0" indent="0" algn="l" rtl="0">
              <a:spcBef>
                <a:spcPts val="0"/>
              </a:spcBef>
              <a:spcAft>
                <a:spcPts val="0"/>
              </a:spcAft>
              <a:buNone/>
            </a:pPr>
            <a:r>
              <a:rPr lang="en-US" sz="1200" dirty="0"/>
              <a:t>Recorded method: Discrete-event simulation; reliability; sensitivity analysis</a:t>
            </a:r>
            <a:endParaRPr dirty="0"/>
          </a:p>
          <a:p>
            <a:pPr marL="0" lvl="0" indent="0" algn="l" rtl="0">
              <a:spcBef>
                <a:spcPts val="0"/>
              </a:spcBef>
              <a:spcAft>
                <a:spcPts val="0"/>
              </a:spcAft>
              <a:buNone/>
            </a:pPr>
            <a:r>
              <a:rPr lang="en-US" sz="1200" dirty="0"/>
              <a:t>Recorded role: Use for degraded/disrupted architecture scenarios, common-mode failures, redundancy, and sensitivity analysis.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Ravi M. Shanbhag (2021). Implications of Overcommitment on Cloud Computing Workloads. GWU D.Eng. Praxis. George Washington University.</a:t>
            </a:r>
            <a:endParaRPr dirty="0"/>
          </a:p>
          <a:p>
            <a:pPr marL="0" lvl="0" indent="0" algn="l" rtl="0">
              <a:spcBef>
                <a:spcPts val="0"/>
              </a:spcBef>
              <a:spcAft>
                <a:spcPts val="0"/>
              </a:spcAft>
              <a:buNone/>
            </a:pPr>
            <a:r>
              <a:rPr lang="en-US" sz="1200" dirty="0"/>
              <a:t>https://scholarspace.library.gwu.edu/concern/gw_etds/bk128b72k</a:t>
            </a:r>
            <a:endParaRPr dirty="0"/>
          </a:p>
          <a:p>
            <a:pPr marL="0" lvl="0" indent="0" algn="l" rtl="0">
              <a:spcBef>
                <a:spcPts val="0"/>
              </a:spcBef>
              <a:spcAft>
                <a:spcPts val="0"/>
              </a:spcAft>
              <a:buNone/>
            </a:pPr>
            <a:r>
              <a:rPr lang="en-US" sz="1200" dirty="0"/>
              <a:t>Recorded method: Generative discrete-event simulation; cloud-resource overcommitment</a:t>
            </a:r>
            <a:endParaRPr dirty="0"/>
          </a:p>
          <a:p>
            <a:pPr marL="0" lvl="0" indent="0" algn="l" rtl="0">
              <a:spcBef>
                <a:spcPts val="0"/>
              </a:spcBef>
              <a:spcAft>
                <a:spcPts val="0"/>
              </a:spcAft>
              <a:buNone/>
            </a:pPr>
            <a:r>
              <a:rPr lang="en-US" sz="1200" dirty="0"/>
              <a:t>Recorded role: High-value DES precedent for onboard compute queues, utilization limits, congestion, and overload thresholds.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Paul A. Newell Jr. (2023). Reducing System Lifetime Spare Part Quantities Using Obsolescence Cycles: A Discrete Event Simulation. GWU D.Eng. Praxis. George Washington University.</a:t>
            </a:r>
            <a:endParaRPr dirty="0"/>
          </a:p>
          <a:p>
            <a:pPr marL="0" lvl="0" indent="0" algn="l" rtl="0">
              <a:spcBef>
                <a:spcPts val="0"/>
              </a:spcBef>
              <a:spcAft>
                <a:spcPts val="0"/>
              </a:spcAft>
              <a:buNone/>
            </a:pPr>
            <a:r>
              <a:rPr lang="en-US" sz="1200" dirty="0"/>
              <a:t>https://search.proquest.com/openview/88a43e1ad35e4f012b3bb98fb476f41b/1?cbl=18750&amp;diss=y&amp;pq-origsite=gscholar</a:t>
            </a:r>
            <a:endParaRPr dirty="0"/>
          </a:p>
          <a:p>
            <a:pPr marL="0" lvl="0" indent="0" algn="l" rtl="0">
              <a:spcBef>
                <a:spcPts val="0"/>
              </a:spcBef>
              <a:spcAft>
                <a:spcPts val="0"/>
              </a:spcAft>
              <a:buNone/>
            </a:pPr>
            <a:r>
              <a:rPr lang="en-US" sz="1200" dirty="0"/>
              <a:t>Recorded method: Discrete-event simulation; reliability / repair / inventory / availability modeling</a:t>
            </a:r>
            <a:endParaRPr dirty="0"/>
          </a:p>
          <a:p>
            <a:pPr marL="0" lvl="0" indent="0" algn="l" rtl="0">
              <a:spcBef>
                <a:spcPts val="0"/>
              </a:spcBef>
              <a:spcAft>
                <a:spcPts val="0"/>
              </a:spcAft>
              <a:buNone/>
            </a:pPr>
            <a:r>
              <a:rPr lang="en-US" sz="1200" dirty="0"/>
              <a:t>Recorded role: High-value template for availability experiments comparing distributed compute redundancy and degraded ground/space processing.</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Kishan Ram Devineni (2023). Improving IT Service Incident Ticket Resolution Times using Lean and Agile Methodologies. GWU D.Eng. Praxis. George Washington University.</a:t>
            </a:r>
            <a:endParaRPr dirty="0"/>
          </a:p>
          <a:p>
            <a:pPr marL="0" lvl="0" indent="0" algn="l" rtl="0">
              <a:spcBef>
                <a:spcPts val="0"/>
              </a:spcBef>
              <a:spcAft>
                <a:spcPts val="0"/>
              </a:spcAft>
              <a:buNone/>
            </a:pPr>
            <a:r>
              <a:rPr lang="en-US" sz="1200" dirty="0"/>
              <a:t>https://scholarspace.library.gwu.edu/concern/gw_etds/2j62s577p</a:t>
            </a:r>
            <a:endParaRPr dirty="0"/>
          </a:p>
          <a:p>
            <a:pPr marL="0" lvl="0" indent="0" algn="l" rtl="0">
              <a:spcBef>
                <a:spcPts val="0"/>
              </a:spcBef>
              <a:spcAft>
                <a:spcPts val="0"/>
              </a:spcAft>
              <a:buNone/>
            </a:pPr>
            <a:r>
              <a:rPr lang="en-US" sz="1200" dirty="0"/>
              <a:t>Recorded method: Arena discrete-event simulation; Monte Carlo; process redesign</a:t>
            </a:r>
            <a:endParaRPr dirty="0"/>
          </a:p>
          <a:p>
            <a:pPr marL="0" lvl="0" indent="0" algn="l" rtl="0">
              <a:spcBef>
                <a:spcPts val="0"/>
              </a:spcBef>
              <a:spcAft>
                <a:spcPts val="0"/>
              </a:spcAft>
              <a:buNone/>
            </a:pPr>
            <a:r>
              <a:rPr lang="en-US" sz="1200" dirty="0"/>
              <a:t>Recorded role: Useful for causal decomposition of end-to-end latency into queues, processing resources, and human workflow effects.</a:t>
            </a:r>
            <a:endParaRPr dirty="0"/>
          </a:p>
        </p:txBody>
      </p:sp>
      <p:sp>
        <p:nvSpPr>
          <p:cNvPr id="106" name="Google Shape;106;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Open items, not severity escalation. The submitted hypotheses are preserved verbatim on appendix slide 9 and in its notes. Current scope and metric choices come from the user’s September clarification. Evidence status comes from the v05 research-source register.</a:t>
            </a:r>
            <a:endParaRPr/>
          </a:p>
          <a:p>
            <a:pPr marL="0" lvl="0" indent="0" algn="l" rtl="0">
              <a:spcBef>
                <a:spcPts val="0"/>
              </a:spcBef>
              <a:spcAft>
                <a:spcPts val="0"/>
              </a:spcAft>
              <a:buNone/>
            </a:pPr>
            <a:r>
              <a:rPr lang="en-US" sz="1200"/>
              <a:t>FINAL SUBMISSION, SLIDE 8</a:t>
            </a:r>
            <a:endParaRPr/>
          </a:p>
          <a:p>
            <a:pPr marL="0" lvl="0" indent="0" algn="l" rtl="0">
              <a:spcBef>
                <a:spcPts val="0"/>
              </a:spcBef>
              <a:spcAft>
                <a:spcPts val="0"/>
              </a:spcAft>
              <a:buNone/>
            </a:pPr>
            <a:r>
              <a:rPr lang="en-US" sz="1200"/>
              <a:t>(A) Deliverable | (B) Format | C) WC</a:t>
            </a:r>
            <a:endParaRPr/>
          </a:p>
          <a:p>
            <a:pPr marL="0" lvl="0" indent="0" algn="l" rtl="0">
              <a:spcBef>
                <a:spcPts val="0"/>
              </a:spcBef>
              <a:spcAft>
                <a:spcPts val="0"/>
              </a:spcAft>
              <a:buNone/>
            </a:pPr>
            <a:r>
              <a:rPr lang="en-US" sz="1200"/>
              <a:t>Hypothesis 1 | Discrete-event simulation will model autonomous decision latency within 15% of public benchmark ranges. | 13</a:t>
            </a:r>
            <a:endParaRPr/>
          </a:p>
          <a:p>
            <a:pPr marL="0" lvl="0" indent="0" algn="l" rtl="0">
              <a:spcBef>
                <a:spcPts val="0"/>
              </a:spcBef>
              <a:spcAft>
                <a:spcPts val="0"/>
              </a:spcAft>
              <a:buNone/>
            </a:pPr>
            <a:r>
              <a:rPr lang="en-US" sz="1200"/>
              <a:t>Independent Variables | AI algorithm processing time (ms), Sensor data ingestion rate (kbps), Number of simulated threats (integer) | NA</a:t>
            </a:r>
            <a:endParaRPr/>
          </a:p>
          <a:p>
            <a:pPr marL="0" lvl="0" indent="0" algn="l" rtl="0">
              <a:spcBef>
                <a:spcPts val="0"/>
              </a:spcBef>
              <a:spcAft>
                <a:spcPts val="0"/>
              </a:spcAft>
              <a:buNone/>
            </a:pPr>
            <a:r>
              <a:rPr lang="en-US" sz="1200"/>
              <a:t>Dependent Variable | Modeled response latency (seconds) | NA</a:t>
            </a:r>
            <a:endParaRPr/>
          </a:p>
          <a:p>
            <a:pPr marL="0" lvl="0" indent="0" algn="l" rtl="0">
              <a:spcBef>
                <a:spcPts val="0"/>
              </a:spcBef>
              <a:spcAft>
                <a:spcPts val="0"/>
              </a:spcAft>
              <a:buNone/>
            </a:pPr>
            <a:r>
              <a:rPr lang="en-US" sz="1200"/>
              <a:t>Testable | The model's latency output will be compared against latency figures from unclassified literature and theoretical calculations for validation. | 18</a:t>
            </a:r>
            <a:endParaRPr/>
          </a:p>
          <a:p>
            <a:pPr marL="0" lvl="0" indent="0" algn="l" rtl="0">
              <a:spcBef>
                <a:spcPts val="0"/>
              </a:spcBef>
              <a:spcAft>
                <a:spcPts val="0"/>
              </a:spcAft>
              <a:buNone/>
            </a:pPr>
            <a:r>
              <a:rPr lang="en-US" sz="1200"/>
              <a:t>Hypothesis 2 | The autonomous framework will reduce response latency by at least 50% compared to a human-in-the-loop baseline. | 16</a:t>
            </a:r>
            <a:endParaRPr/>
          </a:p>
          <a:p>
            <a:pPr marL="0" lvl="0" indent="0" algn="l" rtl="0">
              <a:spcBef>
                <a:spcPts val="0"/>
              </a:spcBef>
              <a:spcAft>
                <a:spcPts val="0"/>
              </a:spcAft>
              <a:buNone/>
            </a:pPr>
            <a:r>
              <a:rPr lang="en-US" sz="1200"/>
              <a:t>Independent Variables | Control method (autonomous vs. human-in-the-loop), Communication delay (seconds) | NA</a:t>
            </a:r>
            <a:endParaRPr/>
          </a:p>
          <a:p>
            <a:pPr marL="0" lvl="0" indent="0" algn="l" rtl="0">
              <a:spcBef>
                <a:spcPts val="0"/>
              </a:spcBef>
              <a:spcAft>
                <a:spcPts val="0"/>
              </a:spcAft>
              <a:buNone/>
            </a:pPr>
            <a:r>
              <a:rPr lang="en-US" sz="1200"/>
              <a:t>Dependent Variable | Response latency (seconds) | NA</a:t>
            </a:r>
            <a:endParaRPr/>
          </a:p>
          <a:p>
            <a:pPr marL="0" lvl="0" indent="0" algn="l" rtl="0">
              <a:spcBef>
                <a:spcPts val="0"/>
              </a:spcBef>
              <a:spcAft>
                <a:spcPts val="0"/>
              </a:spcAft>
              <a:buNone/>
            </a:pPr>
            <a:r>
              <a:rPr lang="en-US" sz="1200"/>
              <a:t>Testable | Run matched scenarios and compare latency distributions using a two-sample K-S test. | 12</a:t>
            </a:r>
            <a:endParaRPr/>
          </a:p>
          <a:p>
            <a:pPr marL="0" lvl="0" indent="0" algn="l" rtl="0">
              <a:spcBef>
                <a:spcPts val="0"/>
              </a:spcBef>
              <a:spcAft>
                <a:spcPts val="0"/>
              </a:spcAft>
              <a:buNone/>
            </a:pPr>
            <a:r>
              <a:rPr lang="en-US" sz="1200"/>
              <a:t>Hypothesis 3 | AI confidence score is the most critical parameter affecting the probability of mission success in the autonomous model. | 18</a:t>
            </a:r>
            <a:endParaRPr/>
          </a:p>
          <a:p>
            <a:pPr marL="0" lvl="0" indent="0" algn="l" rtl="0">
              <a:spcBef>
                <a:spcPts val="0"/>
              </a:spcBef>
              <a:spcAft>
                <a:spcPts val="0"/>
              </a:spcAft>
              <a:buNone/>
            </a:pPr>
            <a:r>
              <a:rPr lang="en-US" sz="1200"/>
              <a:t>Independent Variables | AI confidence score (%), Satellite resource levels (%), Threat complexity (categorical) | NA</a:t>
            </a:r>
            <a:endParaRPr/>
          </a:p>
          <a:p>
            <a:pPr marL="0" lvl="0" indent="0" algn="l" rtl="0">
              <a:spcBef>
                <a:spcPts val="0"/>
              </a:spcBef>
              <a:spcAft>
                <a:spcPts val="0"/>
              </a:spcAft>
              <a:buNone/>
            </a:pPr>
            <a:r>
              <a:rPr lang="en-US" sz="1200"/>
              <a:t>Dependent Variable | Mission success rate (%) | NA</a:t>
            </a:r>
            <a:endParaRPr/>
          </a:p>
          <a:p>
            <a:pPr marL="0" lvl="0" indent="0" algn="l" rtl="0">
              <a:spcBef>
                <a:spcPts val="0"/>
              </a:spcBef>
              <a:spcAft>
                <a:spcPts val="0"/>
              </a:spcAft>
              <a:buNone/>
            </a:pPr>
            <a:r>
              <a:rPr lang="en-US" sz="1200"/>
              <a:t>Testable | Conduct a sensitivity analysis by varying each independent variable and measuring the corresponding change in the mission success rate. | 19</a:t>
            </a:r>
            <a:endParaRPr/>
          </a:p>
          <a:p>
            <a:pPr marL="0" lvl="0" indent="0" algn="l" rtl="0">
              <a:spcBef>
                <a:spcPts val="0"/>
              </a:spcBef>
              <a:spcAft>
                <a:spcPts val="0"/>
              </a:spcAft>
              <a:buNone/>
            </a:pPr>
            <a:r>
              <a:rPr lang="en-US" sz="1200"/>
              <a:t>Hypothesis</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200"/>
              <a:t>FINAL SUBMISSION, SLIDE 16</a:t>
            </a:r>
            <a:endParaRPr/>
          </a:p>
          <a:p>
            <a:pPr marL="0" lvl="0" indent="0" algn="l" rtl="0">
              <a:spcBef>
                <a:spcPts val="0"/>
              </a:spcBef>
              <a:spcAft>
                <a:spcPts val="0"/>
              </a:spcAft>
              <a:buNone/>
            </a:pPr>
            <a:r>
              <a:rPr lang="en-US" sz="1200"/>
              <a:t>ID | Name | Source | Brief Description | Format | Time Span | Num. of records | Access </a:t>
            </a:r>
            <a:endParaRPr/>
          </a:p>
          <a:p>
            <a:pPr marL="0" lvl="0" indent="0" algn="l" rtl="0">
              <a:spcBef>
                <a:spcPts val="0"/>
              </a:spcBef>
              <a:spcAft>
                <a:spcPts val="0"/>
              </a:spcAft>
              <a:buNone/>
            </a:pPr>
            <a:r>
              <a:rPr lang="en-US" sz="1200"/>
              <a:t>(Y/N)</a:t>
            </a:r>
            <a:endParaRPr/>
          </a:p>
          <a:p>
            <a:pPr marL="0" lvl="0" indent="0" algn="l" rtl="0">
              <a:spcBef>
                <a:spcPts val="0"/>
              </a:spcBef>
              <a:spcAft>
                <a:spcPts val="0"/>
              </a:spcAft>
              <a:buNone/>
            </a:pPr>
            <a:r>
              <a:rPr lang="en-US" sz="1200"/>
              <a:t>1 | Orbital Data | Celestrak NORAD GP Element Sets: Current Data | Public orbital elements support satellite visibility and route availability assumptions. | CSV/JSON | Current Scenario snapshot/sample | 30 records | Y</a:t>
            </a:r>
            <a:endParaRPr/>
          </a:p>
          <a:p>
            <a:pPr marL="0" lvl="0" indent="0" algn="l" rtl="0">
              <a:spcBef>
                <a:spcPts val="0"/>
              </a:spcBef>
              <a:spcAft>
                <a:spcPts val="0"/>
              </a:spcAft>
              <a:buNone/>
            </a:pPr>
            <a:r>
              <a:rPr lang="en-US" sz="1200"/>
              <a:t>2 | Space Weather | NOAA SWPC Planetary K-Index | Kp values represent geomagnetic/solar storm severity for degraded communications scenarios. | CSV/HTML | Per 30 day window sample period | 240 intervals | Y</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3 | Ground Weather | NOAA Local Climate Data | Hourly weather observations support ground-station availability assumptions near a notional antenna for example. | CSV | Per 30 day window sample period | 720 hourly records | Y</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4 | C2 Architecture Baseline  | NASA SCaN Network Architecture Definition Document, Vol 1, Rev 4 | Architecture descriptions support baseline ground-station and relay network path assumptions. | CSV/PDF | 2013 publication | 1 doc | Y</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5 | Resilience Metrics | RAND Resilience Assessment Framework | Resilience framework supporting degraded mission performance comparison. | CSV/PDF | 2023 publication</a:t>
            </a:r>
            <a:endParaRPr/>
          </a:p>
          <a:p>
            <a:pPr marL="0" lvl="0" indent="0" algn="l" rtl="0">
              <a:spcBef>
                <a:spcPts val="0"/>
              </a:spcBef>
              <a:spcAft>
                <a:spcPts val="0"/>
              </a:spcAft>
              <a:buNone/>
            </a:pPr>
            <a:r>
              <a:rPr lang="en-US" sz="1200"/>
              <a:t> | 1 doc | Y</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6 | Scenario Vectors | Author created MATLAB scenario table | Simulation vectors control outage duration, bandwidth reduction, processing time, and threshold limits. | CSV/MAT | Simulation period | 10,000 runs | Y</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Data Sources List</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r>
              <a:rPr lang="en-US" sz="1200"/>
              <a:t>Shown up-front, the model does not use classified data, restricted data, or internal program data. </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The sources either provide public inputs for the simulation or support the assumptions behind the model. </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The key point is traceability: every input has a sourced and I updated the earlier slides with the hyperlinks per Instructor feedback.</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FINAL SUBMISSION, SLIDE 22</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Use controlled simulation inputs to vary degradation, routing, processing, and decision thresholds.</a:t>
            </a:r>
            <a:endParaRPr/>
          </a:p>
          <a:p>
            <a:pPr marL="0" lvl="0" indent="0" algn="l" rtl="0">
              <a:spcBef>
                <a:spcPts val="0"/>
              </a:spcBef>
              <a:spcAft>
                <a:spcPts val="0"/>
              </a:spcAft>
              <a:buNone/>
            </a:pPr>
            <a:r>
              <a:rPr lang="en-US" sz="1200"/>
              <a:t>Data treatment:</a:t>
            </a:r>
            <a:endParaRPr/>
          </a:p>
          <a:p>
            <a:pPr marL="0" lvl="0" indent="0" algn="l" rtl="0">
              <a:spcBef>
                <a:spcPts val="0"/>
              </a:spcBef>
              <a:spcAft>
                <a:spcPts val="0"/>
              </a:spcAft>
              <a:buNone/>
            </a:pPr>
            <a:r>
              <a:rPr lang="en-US" sz="1200"/>
              <a:t>Generate values from documented distributions and fixed random seeds.</a:t>
            </a:r>
            <a:endParaRPr/>
          </a:p>
          <a:p>
            <a:pPr marL="0" lvl="0" indent="0" algn="l" rtl="0">
              <a:spcBef>
                <a:spcPts val="0"/>
              </a:spcBef>
              <a:spcAft>
                <a:spcPts val="0"/>
              </a:spcAft>
              <a:buNone/>
            </a:pPr>
            <a:r>
              <a:rPr lang="en-US" sz="1200"/>
              <a:t>Store each run as a reproducible MATLAB input table</a:t>
            </a:r>
            <a:endParaRPr/>
          </a:p>
          <a:p>
            <a:pPr marL="0" lvl="0" indent="0" algn="l" rtl="0">
              <a:spcBef>
                <a:spcPts val="0"/>
              </a:spcBef>
              <a:spcAft>
                <a:spcPts val="0"/>
              </a:spcAft>
              <a:buNone/>
            </a:pPr>
            <a:r>
              <a:rPr lang="en-US" sz="1200"/>
              <a:t>Conduct sensitivity analysis by varying one driver at a time</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200"/>
              <a:t>Scenario Vectors Example</a:t>
            </a:r>
            <a:endParaRPr/>
          </a:p>
          <a:p>
            <a:pPr marL="0" lvl="0" indent="0" algn="l" rtl="0">
              <a:spcBef>
                <a:spcPts val="0"/>
              </a:spcBef>
              <a:spcAft>
                <a:spcPts val="0"/>
              </a:spcAft>
              <a:buNone/>
            </a:pPr>
            <a:r>
              <a:rPr lang="en-US" sz="1200"/>
              <a:t>ID | Name | Source | Brief Description | Format | Time Span | Num. of records | Access </a:t>
            </a:r>
            <a:endParaRPr/>
          </a:p>
          <a:p>
            <a:pPr marL="0" lvl="0" indent="0" algn="l" rtl="0">
              <a:spcBef>
                <a:spcPts val="0"/>
              </a:spcBef>
              <a:spcAft>
                <a:spcPts val="0"/>
              </a:spcAft>
              <a:buNone/>
            </a:pPr>
            <a:r>
              <a:rPr lang="en-US" sz="1200"/>
              <a:t>(Y/N)</a:t>
            </a:r>
            <a:endParaRPr/>
          </a:p>
          <a:p>
            <a:pPr marL="0" lvl="0" indent="0" algn="l" rtl="0">
              <a:spcBef>
                <a:spcPts val="0"/>
              </a:spcBef>
              <a:spcAft>
                <a:spcPts val="0"/>
              </a:spcAft>
              <a:buNone/>
            </a:pPr>
            <a:r>
              <a:rPr lang="en-US" sz="1200"/>
              <a:t>6 | Scenario Vectors | Author created MATLAB scenario table | Simulation vectors control outage duration, bandwidth reduction, processing time, and threshold limits. | CSV/MAT | Simulation period | 10,000 runs | Y</a:t>
            </a:r>
            <a:endParaRPr/>
          </a:p>
          <a:p>
            <a:pPr marL="0" lvl="0" indent="0" algn="l" rtl="0">
              <a:spcBef>
                <a:spcPts val="0"/>
              </a:spcBef>
              <a:spcAft>
                <a:spcPts val="0"/>
              </a:spcAft>
              <a:buNone/>
            </a:pPr>
            <a:r>
              <a:rPr lang="en-US" sz="1200"/>
              <a:t>RUN_ID | CONTROL_MODE | COMM_DELAY | RGS_Available | EDGE_PROCESSING | AI_CONFIDENCE_%</a:t>
            </a:r>
            <a:endParaRPr/>
          </a:p>
          <a:p>
            <a:pPr marL="0" lvl="0" indent="0" algn="l" rtl="0">
              <a:spcBef>
                <a:spcPts val="0"/>
              </a:spcBef>
              <a:spcAft>
                <a:spcPts val="0"/>
              </a:spcAft>
              <a:buNone/>
            </a:pPr>
            <a:r>
              <a:rPr lang="en-US" sz="1200"/>
              <a:t>1 | Ground-centric | 7.5 | TRUE | 0 | 0</a:t>
            </a:r>
            <a:endParaRPr/>
          </a:p>
          <a:p>
            <a:pPr marL="0" lvl="0" indent="0" algn="l" rtl="0">
              <a:spcBef>
                <a:spcPts val="0"/>
              </a:spcBef>
              <a:spcAft>
                <a:spcPts val="0"/>
              </a:spcAft>
              <a:buNone/>
            </a:pPr>
            <a:r>
              <a:rPr lang="en-US" sz="1200"/>
              <a:t>2 | Edge Enabled | 3.2 | FALSE | 0.8 | 82</a:t>
            </a:r>
            <a:endParaRPr/>
          </a:p>
          <a:p>
            <a:pPr marL="0" lvl="0" indent="0" algn="l" rtl="0">
              <a:spcBef>
                <a:spcPts val="0"/>
              </a:spcBef>
              <a:spcAft>
                <a:spcPts val="0"/>
              </a:spcAft>
              <a:buNone/>
            </a:pPr>
            <a:r>
              <a:rPr lang="en-US" sz="1200"/>
              <a:t>3 | Edge Enabled | 4.1 | FALSE | 1.1 | 76</a:t>
            </a:r>
            <a:endParaRPr/>
          </a:p>
          <a:p>
            <a:pPr marL="0" lvl="0" indent="0" algn="l" rtl="0">
              <a:spcBef>
                <a:spcPts val="0"/>
              </a:spcBef>
              <a:spcAft>
                <a:spcPts val="0"/>
              </a:spcAft>
              <a:buNone/>
            </a:pPr>
            <a:r>
              <a:rPr lang="en-US" sz="1200"/>
              <a:t>Sample Data:</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r>
              <a:rPr lang="en-US" sz="1200"/>
              <a:t>Finally, I create a controlled MATLAB scenario table. This combines the public inputs into repeatable events such as an outage, bandwidth reduction, packet loss, processing delay, and recovery.</a:t>
            </a:r>
            <a:endParaRPr/>
          </a:p>
        </p:txBody>
      </p:sp>
      <p:sp>
        <p:nvSpPr>
          <p:cNvPr id="119" name="Google Shape;119;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 name="Google Shape;12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Prospective task list, not completed work. Submission target: Thursday 17 September 2026; advising Saturday 19 September 2026. Tasks use the final submission’s documented experimental design and the September 13 source-register state.</a:t>
            </a:r>
            <a:endParaRPr/>
          </a:p>
          <a:p>
            <a:pPr marL="0" lvl="0" indent="0" algn="l" rtl="0">
              <a:spcBef>
                <a:spcPts val="0"/>
              </a:spcBef>
              <a:spcAft>
                <a:spcPts val="0"/>
              </a:spcAft>
              <a:buNone/>
            </a:pPr>
            <a:r>
              <a:rPr lang="en-US" sz="1200"/>
              <a:t>FINAL SUBMISSION, SLIDE 14</a:t>
            </a:r>
            <a:endParaRPr/>
          </a:p>
          <a:p>
            <a:pPr marL="0" lvl="0" indent="0" algn="l" rtl="0">
              <a:spcBef>
                <a:spcPts val="0"/>
              </a:spcBef>
              <a:spcAft>
                <a:spcPts val="0"/>
              </a:spcAft>
              <a:buNone/>
            </a:pPr>
            <a:r>
              <a:rPr lang="en-US" sz="1200"/>
              <a:t>Methodology 1</a:t>
            </a:r>
            <a:endParaRPr/>
          </a:p>
          <a:p>
            <a:pPr marL="0" lvl="0" indent="0" algn="l" rtl="0">
              <a:spcBef>
                <a:spcPts val="0"/>
              </a:spcBef>
              <a:spcAft>
                <a:spcPts val="0"/>
              </a:spcAft>
              <a:buNone/>
            </a:pPr>
            <a:r>
              <a:rPr lang="en-US" sz="1200"/>
              <a:t>A) Deliverable | B) Content | C) WC</a:t>
            </a:r>
            <a:endParaRPr/>
          </a:p>
          <a:p>
            <a:pPr marL="0" lvl="0" indent="0" algn="l" rtl="0">
              <a:spcBef>
                <a:spcPts val="0"/>
              </a:spcBef>
              <a:spcAft>
                <a:spcPts val="0"/>
              </a:spcAft>
              <a:buNone/>
            </a:pPr>
            <a:r>
              <a:rPr lang="en-US" sz="1200"/>
              <a:t>Methodology | Discrete-Event Simulation |       3</a:t>
            </a:r>
            <a:endParaRPr/>
          </a:p>
          <a:p>
            <a:pPr marL="0" lvl="0" indent="0" algn="l" rtl="0">
              <a:spcBef>
                <a:spcPts val="0"/>
              </a:spcBef>
              <a:spcAft>
                <a:spcPts val="0"/>
              </a:spcAft>
              <a:buNone/>
            </a:pPr>
            <a:r>
              <a:rPr lang="en-US" sz="1200"/>
              <a:t>Inputs | The Disruption Event Type (categorical), event start times (s), event duration (min), communication lag, ground station availability (Boolean), satellite visibility window (min), bandwidth capacity (Mbps), data volume (MB), packet loss rate (%), edge processing times, AI confidence score (%), satellite resource availability (%) | NA</a:t>
            </a:r>
            <a:endParaRPr/>
          </a:p>
          <a:p>
            <a:pPr marL="0" lvl="0" indent="0" algn="l" rtl="0">
              <a:spcBef>
                <a:spcPts val="0"/>
              </a:spcBef>
              <a:spcAft>
                <a:spcPts val="0"/>
              </a:spcAft>
              <a:buNone/>
            </a:pPr>
            <a:r>
              <a:rPr lang="en-US" sz="1200"/>
              <a:t>Outputs | Response latency, OODA Loop decision cycle times, path availability (%), dropped messages (count), recovery time, operator workflow reduction comparison (%), correct action selection (%). | NA</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r>
              <a:rPr lang="en-US" sz="1200"/>
              <a:t>Methodology 1 — Discrete-Event Simulation</a:t>
            </a:r>
            <a:endParaRPr/>
          </a:p>
          <a:p>
            <a:pPr marL="0" lvl="0" indent="0" algn="l" rtl="0">
              <a:spcBef>
                <a:spcPts val="0"/>
              </a:spcBef>
              <a:spcAft>
                <a:spcPts val="0"/>
              </a:spcAft>
              <a:buNone/>
            </a:pPr>
            <a:r>
              <a:rPr lang="en-US" sz="1200"/>
              <a:t>Method:</a:t>
            </a:r>
            <a:br>
              <a:rPr lang="en-US" sz="1200"/>
            </a:br>
            <a:r>
              <a:rPr lang="en-US" sz="1200"/>
              <a:t>“My first methodology is discrete-event simulation. It follows specific events in order—such as a request arriving, the ground-station path failing, the edge cloud processing the request, and a response reaching the operator.”</a:t>
            </a:r>
            <a:endParaRPr/>
          </a:p>
          <a:p>
            <a:pPr marL="0" lvl="0" indent="0" algn="l" rtl="0">
              <a:spcBef>
                <a:spcPts val="0"/>
              </a:spcBef>
              <a:spcAft>
                <a:spcPts val="0"/>
              </a:spcAft>
              <a:buNone/>
            </a:pPr>
            <a:r>
              <a:rPr lang="en-US" sz="1200"/>
              <a:t>Inputs:</a:t>
            </a:r>
            <a:br>
              <a:rPr lang="en-US" sz="1200"/>
            </a:br>
            <a:r>
              <a:rPr lang="en-US" sz="1200"/>
              <a:t>“The inputs include the disruption type, when it starts, how long it lasts, communication delay, processing time, and available resources.”</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Outputs:</a:t>
            </a:r>
            <a:br>
              <a:rPr lang="en-US" sz="1200"/>
            </a:br>
            <a:r>
              <a:rPr lang="en-US" sz="1200"/>
              <a:t>“The outputs include response latency, OODA-loop time, path availability, dropped messages, recovery time, workload reduction, and what % of the time the correct response was selected.”</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Purpose:</a:t>
            </a:r>
            <a:br>
              <a:rPr lang="en-US" sz="1200"/>
            </a:br>
            <a:r>
              <a:rPr lang="en-US" sz="1200"/>
              <a:t>“This method shows what happens during each individual disruption and compares the ground-centric path with the edge-enabled path.”</a:t>
            </a:r>
            <a:endParaRPr/>
          </a:p>
          <a:p>
            <a:pPr marL="0" lvl="0" indent="0" algn="l" rtl="0">
              <a:spcBef>
                <a:spcPts val="0"/>
              </a:spcBef>
              <a:spcAft>
                <a:spcPts val="0"/>
              </a:spcAft>
              <a:buNone/>
            </a:pPr>
            <a:br>
              <a:rPr lang="en-US" sz="1200"/>
            </a:b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200"/>
              <a:t>FINAL SUBMISSION, SLIDE 16</a:t>
            </a:r>
            <a:endParaRPr/>
          </a:p>
          <a:p>
            <a:pPr marL="0" lvl="0" indent="0" algn="l" rtl="0">
              <a:spcBef>
                <a:spcPts val="0"/>
              </a:spcBef>
              <a:spcAft>
                <a:spcPts val="0"/>
              </a:spcAft>
              <a:buNone/>
            </a:pPr>
            <a:r>
              <a:rPr lang="en-US" sz="1200"/>
              <a:t>ID | Name | Source | Brief Description | Format | Time Span | Num. of records | Access </a:t>
            </a:r>
            <a:endParaRPr/>
          </a:p>
          <a:p>
            <a:pPr marL="0" lvl="0" indent="0" algn="l" rtl="0">
              <a:spcBef>
                <a:spcPts val="0"/>
              </a:spcBef>
              <a:spcAft>
                <a:spcPts val="0"/>
              </a:spcAft>
              <a:buNone/>
            </a:pPr>
            <a:r>
              <a:rPr lang="en-US" sz="1200"/>
              <a:t>(Y/N)</a:t>
            </a:r>
            <a:endParaRPr/>
          </a:p>
          <a:p>
            <a:pPr marL="0" lvl="0" indent="0" algn="l" rtl="0">
              <a:spcBef>
                <a:spcPts val="0"/>
              </a:spcBef>
              <a:spcAft>
                <a:spcPts val="0"/>
              </a:spcAft>
              <a:buNone/>
            </a:pPr>
            <a:r>
              <a:rPr lang="en-US" sz="1200"/>
              <a:t>1 | Orbital Data | Celestrak NORAD GP Element Sets: Current Data | Public orbital elements support satellite visibility and route availability assumptions. | CSV/JSON | Current Scenario snapshot/sample | 30 records | Y</a:t>
            </a:r>
            <a:endParaRPr/>
          </a:p>
          <a:p>
            <a:pPr marL="0" lvl="0" indent="0" algn="l" rtl="0">
              <a:spcBef>
                <a:spcPts val="0"/>
              </a:spcBef>
              <a:spcAft>
                <a:spcPts val="0"/>
              </a:spcAft>
              <a:buNone/>
            </a:pPr>
            <a:r>
              <a:rPr lang="en-US" sz="1200"/>
              <a:t>2 | Space Weather | NOAA SWPC Planetary K-Index | Kp values represent geomagnetic/solar storm severity for degraded communications scenarios. | CSV/HTML | Per 30 day window sample period | 240 intervals | Y</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3 | Ground Weather | NOAA Local Climate Data | Hourly weather observations support ground-station availability assumptions near a notional antenna for example. | CSV | Per 30 day window sample period | 720 hourly records | Y</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4 | C2 Architecture Baseline  | NASA SCaN Network Architecture Definition Document, Vol 1, Rev 4 | Architecture descriptions support baseline ground-station and relay network path assumptions. | CSV/PDF | 2013 publication | 1 doc | Y</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5 | Resilience Metrics | RAND Resilience Assessment Framework | Resilience framework supporting degraded mission performance comparison. | CSV/PDF | 2023 publication</a:t>
            </a:r>
            <a:endParaRPr/>
          </a:p>
          <a:p>
            <a:pPr marL="0" lvl="0" indent="0" algn="l" rtl="0">
              <a:spcBef>
                <a:spcPts val="0"/>
              </a:spcBef>
              <a:spcAft>
                <a:spcPts val="0"/>
              </a:spcAft>
              <a:buNone/>
            </a:pPr>
            <a:r>
              <a:rPr lang="en-US" sz="1200"/>
              <a:t> | 1 doc | Y</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6 | Scenario Vectors | Author created MATLAB scenario table | Simulation vectors control outage duration, bandwidth reduction, processing time, and threshold limits. | CSV/MAT | Simulation period | 10,000 runs | Y</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Data Sources List</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r>
              <a:rPr lang="en-US" sz="1200"/>
              <a:t>Shown up-front, the model does not use classified data, restricted data, or internal program data. </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The sources either provide public inputs for the simulation or support the assumptions behind the model. </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The key point is traceability: every input has a sourced and I updated the earlier slides with the hyperlinks per Instructor feedback.</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FINAL SUBMISSION, SLIDE 22</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Use controlled simulation inputs to vary degradation, routing, processing, and decision thresholds.</a:t>
            </a:r>
            <a:endParaRPr/>
          </a:p>
          <a:p>
            <a:pPr marL="0" lvl="0" indent="0" algn="l" rtl="0">
              <a:spcBef>
                <a:spcPts val="0"/>
              </a:spcBef>
              <a:spcAft>
                <a:spcPts val="0"/>
              </a:spcAft>
              <a:buNone/>
            </a:pPr>
            <a:r>
              <a:rPr lang="en-US" sz="1200"/>
              <a:t>Data treatment:</a:t>
            </a:r>
            <a:endParaRPr/>
          </a:p>
          <a:p>
            <a:pPr marL="0" lvl="0" indent="0" algn="l" rtl="0">
              <a:spcBef>
                <a:spcPts val="0"/>
              </a:spcBef>
              <a:spcAft>
                <a:spcPts val="0"/>
              </a:spcAft>
              <a:buNone/>
            </a:pPr>
            <a:r>
              <a:rPr lang="en-US" sz="1200"/>
              <a:t>Generate values from documented distributions and fixed random seeds.</a:t>
            </a:r>
            <a:endParaRPr/>
          </a:p>
          <a:p>
            <a:pPr marL="0" lvl="0" indent="0" algn="l" rtl="0">
              <a:spcBef>
                <a:spcPts val="0"/>
              </a:spcBef>
              <a:spcAft>
                <a:spcPts val="0"/>
              </a:spcAft>
              <a:buNone/>
            </a:pPr>
            <a:r>
              <a:rPr lang="en-US" sz="1200"/>
              <a:t>Store each run as a reproducible MATLAB input table</a:t>
            </a:r>
            <a:endParaRPr/>
          </a:p>
          <a:p>
            <a:pPr marL="0" lvl="0" indent="0" algn="l" rtl="0">
              <a:spcBef>
                <a:spcPts val="0"/>
              </a:spcBef>
              <a:spcAft>
                <a:spcPts val="0"/>
              </a:spcAft>
              <a:buNone/>
            </a:pPr>
            <a:r>
              <a:rPr lang="en-US" sz="1200"/>
              <a:t>Conduct sensitivity analysis by varying one driver at a time</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200"/>
              <a:t>Scenario Vectors Example</a:t>
            </a:r>
            <a:endParaRPr/>
          </a:p>
          <a:p>
            <a:pPr marL="0" lvl="0" indent="0" algn="l" rtl="0">
              <a:spcBef>
                <a:spcPts val="0"/>
              </a:spcBef>
              <a:spcAft>
                <a:spcPts val="0"/>
              </a:spcAft>
              <a:buNone/>
            </a:pPr>
            <a:r>
              <a:rPr lang="en-US" sz="1200"/>
              <a:t>ID | Name | Source | Brief Description | Format | Time Span | Num. of records | Access </a:t>
            </a:r>
            <a:endParaRPr/>
          </a:p>
          <a:p>
            <a:pPr marL="0" lvl="0" indent="0" algn="l" rtl="0">
              <a:spcBef>
                <a:spcPts val="0"/>
              </a:spcBef>
              <a:spcAft>
                <a:spcPts val="0"/>
              </a:spcAft>
              <a:buNone/>
            </a:pPr>
            <a:r>
              <a:rPr lang="en-US" sz="1200"/>
              <a:t>(Y/N)</a:t>
            </a:r>
            <a:endParaRPr/>
          </a:p>
          <a:p>
            <a:pPr marL="0" lvl="0" indent="0" algn="l" rtl="0">
              <a:spcBef>
                <a:spcPts val="0"/>
              </a:spcBef>
              <a:spcAft>
                <a:spcPts val="0"/>
              </a:spcAft>
              <a:buNone/>
            </a:pPr>
            <a:r>
              <a:rPr lang="en-US" sz="1200"/>
              <a:t>6 | Scenario Vectors | Author created MATLAB scenario table | Simulation vectors control outage duration, bandwidth reduction, processing time, and threshold limits. | CSV/MAT | Simulation period | 10,000 runs | Y</a:t>
            </a:r>
            <a:endParaRPr/>
          </a:p>
          <a:p>
            <a:pPr marL="0" lvl="0" indent="0" algn="l" rtl="0">
              <a:spcBef>
                <a:spcPts val="0"/>
              </a:spcBef>
              <a:spcAft>
                <a:spcPts val="0"/>
              </a:spcAft>
              <a:buNone/>
            </a:pPr>
            <a:r>
              <a:rPr lang="en-US" sz="1200"/>
              <a:t>RUN_ID | CONTROL_MODE | COMM_DELAY | RGS_Available | EDGE_PROCESSING | AI_CONFIDENCE_%</a:t>
            </a:r>
            <a:endParaRPr/>
          </a:p>
          <a:p>
            <a:pPr marL="0" lvl="0" indent="0" algn="l" rtl="0">
              <a:spcBef>
                <a:spcPts val="0"/>
              </a:spcBef>
              <a:spcAft>
                <a:spcPts val="0"/>
              </a:spcAft>
              <a:buNone/>
            </a:pPr>
            <a:r>
              <a:rPr lang="en-US" sz="1200"/>
              <a:t>1 | Ground-centric | 7.5 | TRUE | 0 | 0</a:t>
            </a:r>
            <a:endParaRPr/>
          </a:p>
          <a:p>
            <a:pPr marL="0" lvl="0" indent="0" algn="l" rtl="0">
              <a:spcBef>
                <a:spcPts val="0"/>
              </a:spcBef>
              <a:spcAft>
                <a:spcPts val="0"/>
              </a:spcAft>
              <a:buNone/>
            </a:pPr>
            <a:r>
              <a:rPr lang="en-US" sz="1200"/>
              <a:t>2 | Edge Enabled | 3.2 | FALSE | 0.8 | 82</a:t>
            </a:r>
            <a:endParaRPr/>
          </a:p>
          <a:p>
            <a:pPr marL="0" lvl="0" indent="0" algn="l" rtl="0">
              <a:spcBef>
                <a:spcPts val="0"/>
              </a:spcBef>
              <a:spcAft>
                <a:spcPts val="0"/>
              </a:spcAft>
              <a:buNone/>
            </a:pPr>
            <a:r>
              <a:rPr lang="en-US" sz="1200"/>
              <a:t>3 | Edge Enabled | 4.1 | FALSE | 1.1 | 76</a:t>
            </a:r>
            <a:endParaRPr/>
          </a:p>
          <a:p>
            <a:pPr marL="0" lvl="0" indent="0" algn="l" rtl="0">
              <a:spcBef>
                <a:spcPts val="0"/>
              </a:spcBef>
              <a:spcAft>
                <a:spcPts val="0"/>
              </a:spcAft>
              <a:buNone/>
            </a:pPr>
            <a:r>
              <a:rPr lang="en-US" sz="1200"/>
              <a:t>Sample Data:</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r>
              <a:rPr lang="en-US" sz="1200"/>
              <a:t>Finally, I create a controlled MATLAB scenario table. This combines the public inputs into repeatable events such as an outage, bandwidth reduction, packet loss, processing delay, and recovery.</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FINAL SUBMISSION, SLIDE 24</a:t>
            </a:r>
            <a:endParaRPr/>
          </a:p>
          <a:p>
            <a:pPr marL="0" lvl="0" indent="0" algn="l" rtl="0">
              <a:spcBef>
                <a:spcPts val="0"/>
              </a:spcBef>
              <a:spcAft>
                <a:spcPts val="0"/>
              </a:spcAft>
              <a:buNone/>
            </a:pPr>
            <a:r>
              <a:rPr lang="en-US" sz="1200"/>
              <a:t>Methodology 1 Map</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r>
              <a:rPr lang="en-US" sz="1200"/>
              <a:t>Methodology 1: discrete-event simulation. This method follows individual events in sequence—disruption, routing, edge processing, operator response, and recovery. It helps answer whether the model can credibly measure response latency and path availability during a specific disruption.”</a:t>
            </a:r>
            <a:endParaRPr/>
          </a:p>
        </p:txBody>
      </p:sp>
      <p:sp>
        <p:nvSpPr>
          <p:cNvPr id="130" name="Google Shape;130;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0" name="Google Shape;140;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Making one of these per (2) week of what was done and what I am planning next to do.</a:t>
            </a:r>
            <a:endParaRPr dirty="0"/>
          </a:p>
        </p:txBody>
      </p:sp>
      <p:sp>
        <p:nvSpPr>
          <p:cNvPr id="141" name="Google Shape;141;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6" name="Google Shape;146;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147" name="Google Shape;147;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FINAL SUBMISSION, SLIDE 2</a:t>
            </a:r>
            <a:endParaRPr/>
          </a:p>
          <a:p>
            <a:pPr marL="0" lvl="0" indent="0" algn="l" rtl="0">
              <a:spcBef>
                <a:spcPts val="0"/>
              </a:spcBef>
              <a:spcAft>
                <a:spcPts val="0"/>
              </a:spcAft>
              <a:buNone/>
            </a:pPr>
            <a:r>
              <a:rPr lang="en-US" sz="1200"/>
              <a:t>This Praxis develops a simulation-based systems engineering framework to evaluate autonomous satellite decision support under degraded communications.</a:t>
            </a:r>
            <a:endParaRPr/>
          </a:p>
          <a:p>
            <a:pPr marL="0" lvl="0" indent="0" algn="l" rtl="0">
              <a:spcBef>
                <a:spcPts val="0"/>
              </a:spcBef>
              <a:spcAft>
                <a:spcPts val="0"/>
              </a:spcAft>
              <a:buNone/>
            </a:pPr>
            <a:r>
              <a:rPr lang="en-US" sz="1200"/>
              <a:t>The study compares ground-centric routing against an orbital edge-processing path using public orbital data and space-weather indices.</a:t>
            </a:r>
            <a:endParaRPr/>
          </a:p>
          <a:p>
            <a:pPr marL="0" lvl="0" indent="0" algn="l" rtl="0">
              <a:spcBef>
                <a:spcPts val="0"/>
              </a:spcBef>
              <a:spcAft>
                <a:spcPts val="0"/>
              </a:spcAft>
              <a:buNone/>
            </a:pPr>
            <a:r>
              <a:rPr lang="en-US" sz="1200"/>
              <a:t>The modeled decisions include onboard filtering, alert prioritization, downlink prioritization, resource allocation, and safe-response recommendations for ground operator review.</a:t>
            </a:r>
            <a:endParaRPr/>
          </a:p>
          <a:p>
            <a:pPr marL="0" lvl="0" indent="0" algn="l" rtl="0">
              <a:spcBef>
                <a:spcPts val="0"/>
              </a:spcBef>
              <a:spcAft>
                <a:spcPts val="0"/>
              </a:spcAft>
              <a:buNone/>
            </a:pPr>
            <a:r>
              <a:rPr lang="en-US" sz="1200"/>
              <a:t>The framework evaluates onboard artificial intelligence and machine learning for predictive threat assessment and response.</a:t>
            </a:r>
            <a:endParaRPr/>
          </a:p>
          <a:p>
            <a:pPr marL="0" lvl="0" indent="0" algn="l" rtl="0">
              <a:spcBef>
                <a:spcPts val="0"/>
              </a:spcBef>
              <a:spcAft>
                <a:spcPts val="0"/>
              </a:spcAft>
              <a:buNone/>
            </a:pPr>
            <a:r>
              <a:rPr lang="en-US" sz="1200"/>
              <a:t>The model assesses decision latency, operator workload, cognitive burden, and resource utilization through simulation.</a:t>
            </a:r>
            <a:endParaRPr/>
          </a:p>
          <a:p>
            <a:pPr marL="0" lvl="0" indent="0" algn="l" rtl="0">
              <a:spcBef>
                <a:spcPts val="0"/>
              </a:spcBef>
              <a:spcAft>
                <a:spcPts val="0"/>
              </a:spcAft>
              <a:buNone/>
            </a:pPr>
            <a:r>
              <a:rPr lang="en-US" sz="1200"/>
              <a:t>The work produces a public-domain feasibility study and a preliminary Concept of Operations.</a:t>
            </a:r>
            <a:endParaRPr/>
          </a:p>
          <a:p>
            <a:pPr marL="0" lvl="0" indent="0" algn="l" rtl="0">
              <a:spcBef>
                <a:spcPts val="0"/>
              </a:spcBef>
              <a:spcAft>
                <a:spcPts val="0"/>
              </a:spcAft>
              <a:buNone/>
            </a:pPr>
            <a:r>
              <a:rPr lang="en-US" sz="1200"/>
              <a:t>Validation compares simulated outputs against public benchmarks, theoretical delay calculations, repeated runs, and sensitivity analysis.</a:t>
            </a:r>
            <a:endParaRPr/>
          </a:p>
          <a:p>
            <a:pPr marL="0" lvl="0" indent="0" algn="l" rtl="0">
              <a:spcBef>
                <a:spcPts val="0"/>
              </a:spcBef>
              <a:spcAft>
                <a:spcPts val="0"/>
              </a:spcAft>
              <a:buNone/>
            </a:pPr>
            <a:r>
              <a:rPr lang="en-US" sz="1200"/>
              <a:t>The research will not use classified data, develop new algorithms, or build physical hardware.</a:t>
            </a:r>
            <a:endParaRPr/>
          </a:p>
          <a:p>
            <a:pPr marL="0" lvl="0" indent="0" algn="l" rtl="0">
              <a:spcBef>
                <a:spcPts val="0"/>
              </a:spcBef>
              <a:spcAft>
                <a:spcPts val="0"/>
              </a:spcAft>
              <a:buNone/>
            </a:pPr>
            <a:r>
              <a:rPr lang="en-US" sz="1200"/>
              <a:t>Scope of Work</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r>
              <a:rPr lang="en-US" sz="1200"/>
              <a:t>Modeling Autonomous Satellite Decision-Making in Contested Environments.</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can an orbital edge-processing layer provide useful information to the operator faster?</a:t>
            </a:r>
            <a:br>
              <a:rPr lang="en-US" sz="1200"/>
            </a:br>
            <a:endParaRPr/>
          </a:p>
          <a:p>
            <a:pPr marL="0" lvl="0" indent="0" algn="l" rtl="0">
              <a:spcBef>
                <a:spcPts val="0"/>
              </a:spcBef>
              <a:spcAft>
                <a:spcPts val="0"/>
              </a:spcAft>
              <a:buNone/>
            </a:pPr>
            <a:r>
              <a:rPr lang="en-US" sz="1200"/>
              <a:t>The model focuses on bounded functions such as filtering, prioritizing, routing, allocating resources, and presenting recommendations. </a:t>
            </a:r>
            <a:br>
              <a:rPr lang="en-US" sz="1200"/>
            </a:br>
            <a:endParaRPr/>
          </a:p>
          <a:p>
            <a:pPr marL="0" lvl="0" indent="0" algn="l" rtl="0">
              <a:spcBef>
                <a:spcPts val="0"/>
              </a:spcBef>
              <a:spcAft>
                <a:spcPts val="0"/>
              </a:spcAft>
              <a:buNone/>
            </a:pPr>
            <a:r>
              <a:rPr lang="en-US" sz="1200"/>
              <a:t>The goal is to measure whether this architecture reduces latency, preserves communications availability, and reduces operator workload using only public, public, non-restricted data.”</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200"/>
              <a:t>FINAL SUBMISSION, SLIDE 5</a:t>
            </a:r>
            <a:endParaRPr/>
          </a:p>
          <a:p>
            <a:pPr marL="0" lvl="0" indent="0" algn="l" rtl="0">
              <a:spcBef>
                <a:spcPts val="0"/>
              </a:spcBef>
              <a:spcAft>
                <a:spcPts val="0"/>
              </a:spcAft>
              <a:buNone/>
            </a:pPr>
            <a:r>
              <a:rPr lang="en-US" sz="1200"/>
              <a:t>(A) Deliverable | (B) Format | (C) WC</a:t>
            </a:r>
            <a:endParaRPr/>
          </a:p>
          <a:p>
            <a:pPr marL="0" lvl="0" indent="0" algn="l" rtl="0">
              <a:spcBef>
                <a:spcPts val="0"/>
              </a:spcBef>
              <a:spcAft>
                <a:spcPts val="0"/>
              </a:spcAft>
              <a:buNone/>
            </a:pPr>
            <a:r>
              <a:rPr lang="en-US" sz="1200"/>
              <a:t>Issue | Human-in-the-loop satellite control introduces significant latency, which limits timely responses to threats in contested space environments. | 16</a:t>
            </a:r>
            <a:endParaRPr/>
          </a:p>
          <a:p>
            <a:pPr marL="0" lvl="0" indent="0" algn="l" rtl="0">
              <a:spcBef>
                <a:spcPts val="0"/>
              </a:spcBef>
              <a:spcAft>
                <a:spcPts val="0"/>
              </a:spcAft>
              <a:buNone/>
            </a:pPr>
            <a:r>
              <a:rPr lang="en-US" sz="1200"/>
              <a:t>Reference | United States Space Force. (2020). Spacepower: Doctrine for Space Forces (CSO-P). https://www.spaceforce.mil/Portals/2/Space%20Capstone%20Publication_10%20Aug%202020.pdf | NA</a:t>
            </a:r>
            <a:endParaRPr/>
          </a:p>
          <a:p>
            <a:pPr marL="0" lvl="0" indent="0" algn="l" rtl="0">
              <a:spcBef>
                <a:spcPts val="0"/>
              </a:spcBef>
              <a:spcAft>
                <a:spcPts val="0"/>
              </a:spcAft>
              <a:buNone/>
            </a:pPr>
            <a:r>
              <a:rPr lang="en-US" sz="1200"/>
              <a:t>”so what” | During communication denials, reliance on centralized networks slows the OODA loop, preventing timely target prioritization and jeopardizing mission survival. | 19</a:t>
            </a:r>
            <a:endParaRPr/>
          </a:p>
          <a:p>
            <a:pPr marL="0" lvl="0" indent="0" algn="l" rtl="0">
              <a:spcBef>
                <a:spcPts val="0"/>
              </a:spcBef>
              <a:spcAft>
                <a:spcPts val="0"/>
              </a:spcAft>
              <a:buNone/>
            </a:pPr>
            <a:r>
              <a:rPr lang="en-US" sz="1200"/>
              <a:t>Reference | United States Space Force. (2025). Space Warfighting: A Framework for Planners. United States Space Force | NA</a:t>
            </a:r>
            <a:endParaRPr/>
          </a:p>
          <a:p>
            <a:pPr marL="0" lvl="0" indent="0" algn="l" rtl="0">
              <a:spcBef>
                <a:spcPts val="0"/>
              </a:spcBef>
              <a:spcAft>
                <a:spcPts val="0"/>
              </a:spcAft>
              <a:buNone/>
            </a:pPr>
            <a:r>
              <a:rPr lang="en-US" sz="1200"/>
              <a:t>Problem statement | The multi-node communication architecture of traditional satellite control creates severe decision latency and operator cognitive burden, slowing the OODA loop and jeopardizing mission survival during communication denials. | 27</a:t>
            </a:r>
            <a:endParaRPr/>
          </a:p>
          <a:p>
            <a:pPr marL="0" lvl="0" indent="0" algn="l" rtl="0">
              <a:spcBef>
                <a:spcPts val="0"/>
              </a:spcBef>
              <a:spcAft>
                <a:spcPts val="0"/>
              </a:spcAft>
              <a:buNone/>
            </a:pPr>
            <a:r>
              <a:rPr lang="en-US" sz="1200"/>
              <a:t>Industry | Aerospace and Defense / United States Space Force | NA</a:t>
            </a:r>
            <a:endParaRPr/>
          </a:p>
          <a:p>
            <a:pPr marL="0" lvl="0" indent="0" algn="l" rtl="0">
              <a:spcBef>
                <a:spcPts val="0"/>
              </a:spcBef>
              <a:spcAft>
                <a:spcPts val="0"/>
              </a:spcAft>
              <a:buNone/>
            </a:pPr>
            <a:r>
              <a:rPr lang="en-US" sz="1200"/>
              <a:t>PS elaboration 1 | Round-trip data routing from operators to satellites, ground stations, and centralized continental networks creates unsustainable bottlenecks for tactical operations. | 19</a:t>
            </a:r>
            <a:endParaRPr/>
          </a:p>
          <a:p>
            <a:pPr marL="0" lvl="0" indent="0" algn="l" rtl="0">
              <a:spcBef>
                <a:spcPts val="0"/>
              </a:spcBef>
              <a:spcAft>
                <a:spcPts val="0"/>
              </a:spcAft>
              <a:buNone/>
            </a:pPr>
            <a:r>
              <a:rPr lang="en-US" sz="1200"/>
              <a:t>PS elaboration 2 | Satellites require edge computing for limited autonomous target acquisition to maintain operational capability when disconnected from the primary network. | 19</a:t>
            </a:r>
            <a:endParaRPr/>
          </a:p>
          <a:p>
            <a:pPr marL="0" lvl="0" indent="0" algn="l" rtl="0">
              <a:spcBef>
                <a:spcPts val="0"/>
              </a:spcBef>
              <a:spcAft>
                <a:spcPts val="0"/>
              </a:spcAft>
              <a:buNone/>
            </a:pPr>
            <a:r>
              <a:rPr lang="en-US" sz="1200"/>
              <a:t>Problem Statement</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200"/>
              <a:t>FINAL SUBMISSION, SLIDE 6</a:t>
            </a:r>
            <a:endParaRPr/>
          </a:p>
          <a:p>
            <a:pPr marL="0" lvl="0" indent="0" algn="l" rtl="0">
              <a:spcBef>
                <a:spcPts val="0"/>
              </a:spcBef>
              <a:spcAft>
                <a:spcPts val="0"/>
              </a:spcAft>
              <a:buNone/>
            </a:pPr>
            <a:r>
              <a:rPr lang="en-US" sz="1200"/>
              <a:t>(A) Deliverable |  | WC</a:t>
            </a:r>
            <a:endParaRPr/>
          </a:p>
          <a:p>
            <a:pPr marL="0" lvl="0" indent="0" algn="l" rtl="0">
              <a:spcBef>
                <a:spcPts val="0"/>
              </a:spcBef>
              <a:spcAft>
                <a:spcPts val="0"/>
              </a:spcAft>
              <a:buNone/>
            </a:pPr>
            <a:r>
              <a:rPr lang="en-US" sz="1200"/>
              <a:t>Thesis Statement | This praxis will deliver a simulation-based systems engineering model demonstrating a bounded onboard decision-making framework under degraded communications. | 18</a:t>
            </a:r>
            <a:endParaRPr/>
          </a:p>
          <a:p>
            <a:pPr marL="0" lvl="0" indent="0" algn="l" rtl="0">
              <a:spcBef>
                <a:spcPts val="0"/>
              </a:spcBef>
              <a:spcAft>
                <a:spcPts val="0"/>
              </a:spcAft>
              <a:buNone/>
            </a:pPr>
            <a:r>
              <a:rPr lang="en-US" sz="1200"/>
              <a:t>Research Product | Simulation-Based Evaluation Framework | 4</a:t>
            </a:r>
            <a:endParaRPr/>
          </a:p>
          <a:p>
            <a:pPr marL="0" lvl="0" indent="0" algn="l" rtl="0">
              <a:spcBef>
                <a:spcPts val="0"/>
              </a:spcBef>
              <a:spcAft>
                <a:spcPts val="0"/>
              </a:spcAft>
              <a:buNone/>
            </a:pPr>
            <a:r>
              <a:rPr lang="en-US" sz="1200"/>
              <a:t>Format | Python/MATLAB/Simulink Model | 3</a:t>
            </a:r>
            <a:endParaRPr/>
          </a:p>
          <a:p>
            <a:pPr marL="0" lvl="0" indent="0" algn="l" rtl="0">
              <a:spcBef>
                <a:spcPts val="0"/>
              </a:spcBef>
              <a:spcAft>
                <a:spcPts val="0"/>
              </a:spcAft>
              <a:buNone/>
            </a:pPr>
            <a:r>
              <a:rPr lang="en-US" sz="1200"/>
              <a:t>Deliverable Usage | Systems engineers will use the framework during early architecture trades for onboard processing under degraded communications. | 16</a:t>
            </a:r>
            <a:endParaRPr/>
          </a:p>
          <a:p>
            <a:pPr marL="0" lvl="0" indent="0" algn="l" rtl="0">
              <a:spcBef>
                <a:spcPts val="0"/>
              </a:spcBef>
              <a:spcAft>
                <a:spcPts val="0"/>
              </a:spcAft>
              <a:buNone/>
            </a:pPr>
            <a:r>
              <a:rPr lang="en-US" sz="1200"/>
              <a:t>Tie back to PS | The framework will address decision latency by comparing ground-centric routing with bounded onboard decision support under the same scenarios. | 18</a:t>
            </a:r>
            <a:endParaRPr/>
          </a:p>
          <a:p>
            <a:pPr marL="0" lvl="0" indent="0" algn="l" rtl="0">
              <a:spcBef>
                <a:spcPts val="0"/>
              </a:spcBef>
              <a:spcAft>
                <a:spcPts val="0"/>
              </a:spcAft>
              <a:buNone/>
            </a:pPr>
            <a:r>
              <a:rPr lang="en-US" sz="1200"/>
              <a:t>New Contributions | This work will contribute a public, repeatable method for evaluating orbital edge-processing performance without classified data or new algorithms. | 18</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Scope | The framework will apply to autonomous systems that operate with degraded communications and constrained human oversight. | 16</a:t>
            </a:r>
            <a:endParaRPr/>
          </a:p>
          <a:p>
            <a:pPr marL="0" lvl="0" indent="0" algn="l" rtl="0">
              <a:spcBef>
                <a:spcPts val="0"/>
              </a:spcBef>
              <a:spcAft>
                <a:spcPts val="0"/>
              </a:spcAft>
              <a:buNone/>
            </a:pPr>
            <a:r>
              <a:rPr lang="en-US" sz="1200"/>
              <a:t>Main methodology | Discrete-Event Simulation | 3</a:t>
            </a:r>
            <a:endParaRPr/>
          </a:p>
          <a:p>
            <a:pPr marL="0" lvl="0" indent="0" algn="l" rtl="0">
              <a:spcBef>
                <a:spcPts val="0"/>
              </a:spcBef>
              <a:spcAft>
                <a:spcPts val="0"/>
              </a:spcAft>
              <a:buNone/>
            </a:pPr>
            <a:r>
              <a:rPr lang="en-US" sz="1200"/>
              <a:t>Inputs | Threat Type (Categorical), Threat Proximity (km), Communication Link Status (Boolean), Satellite Resource Availability (%), AI Confidence Score (%) | NA</a:t>
            </a:r>
            <a:endParaRPr/>
          </a:p>
          <a:p>
            <a:pPr marL="0" lvl="0" indent="0" algn="l" rtl="0">
              <a:spcBef>
                <a:spcPts val="0"/>
              </a:spcBef>
              <a:spcAft>
                <a:spcPts val="0"/>
              </a:spcAft>
              <a:buNone/>
            </a:pPr>
            <a:r>
              <a:rPr lang="en-US" sz="1200"/>
              <a:t>Outputs | Response Latency (seconds), Mission Success Probability (%), Resource Consumption (%), Correct Action Taken (Boolean) | NA</a:t>
            </a:r>
            <a:endParaRPr/>
          </a:p>
          <a:p>
            <a:pPr marL="0" lvl="0" indent="0" algn="l" rtl="0">
              <a:spcBef>
                <a:spcPts val="0"/>
              </a:spcBef>
              <a:spcAft>
                <a:spcPts val="0"/>
              </a:spcAft>
              <a:buNone/>
            </a:pPr>
            <a:r>
              <a:rPr lang="en-US" sz="1200"/>
              <a:t>Thesis Statement</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200"/>
              <a:t>The quoted July problem statement retains original terminology. It is not represented as the current civil framing; that refinement is explicitly stated on the slide.</a:t>
            </a:r>
            <a:endParaRPr/>
          </a:p>
        </p:txBody>
      </p:sp>
      <p:sp>
        <p:nvSpPr>
          <p:cNvPr id="153" name="Google Shape;153;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4" name="Google Shape;16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FINAL SUBMISSION, SLIDE 2</a:t>
            </a:r>
            <a:endParaRPr dirty="0"/>
          </a:p>
          <a:p>
            <a:pPr marL="0" lvl="0" indent="0" algn="l" rtl="0">
              <a:spcBef>
                <a:spcPts val="0"/>
              </a:spcBef>
              <a:spcAft>
                <a:spcPts val="0"/>
              </a:spcAft>
              <a:buNone/>
            </a:pPr>
            <a:r>
              <a:rPr lang="en-US" sz="1200" dirty="0"/>
              <a:t>This Praxis develops a simulation-based systems engineering framework to evaluate autonomous satellite decision support under degraded communications.</a:t>
            </a:r>
            <a:endParaRPr dirty="0"/>
          </a:p>
          <a:p>
            <a:pPr marL="0" lvl="0" indent="0" algn="l" rtl="0">
              <a:spcBef>
                <a:spcPts val="0"/>
              </a:spcBef>
              <a:spcAft>
                <a:spcPts val="0"/>
              </a:spcAft>
              <a:buNone/>
            </a:pPr>
            <a:r>
              <a:rPr lang="en-US" sz="1200" dirty="0"/>
              <a:t>The study compares ground-centric routing against an orbital edge-processing path using public orbital data and space-weather indices.</a:t>
            </a:r>
            <a:endParaRPr dirty="0"/>
          </a:p>
          <a:p>
            <a:pPr marL="0" lvl="0" indent="0" algn="l" rtl="0">
              <a:spcBef>
                <a:spcPts val="0"/>
              </a:spcBef>
              <a:spcAft>
                <a:spcPts val="0"/>
              </a:spcAft>
              <a:buNone/>
            </a:pPr>
            <a:r>
              <a:rPr lang="en-US" sz="1200" dirty="0"/>
              <a:t>The modeled decisions include onboard filtering, alert prioritization, downlink prioritization, resource allocation, and safe-response recommendations for ground operator review.</a:t>
            </a:r>
            <a:endParaRPr dirty="0"/>
          </a:p>
          <a:p>
            <a:pPr marL="0" lvl="0" indent="0" algn="l" rtl="0">
              <a:spcBef>
                <a:spcPts val="0"/>
              </a:spcBef>
              <a:spcAft>
                <a:spcPts val="0"/>
              </a:spcAft>
              <a:buNone/>
            </a:pPr>
            <a:r>
              <a:rPr lang="en-US" sz="1200" dirty="0"/>
              <a:t>The framework evaluates onboard artificial intelligence and machine learning for predictive threat assessment and response.</a:t>
            </a:r>
            <a:endParaRPr dirty="0"/>
          </a:p>
          <a:p>
            <a:pPr marL="0" lvl="0" indent="0" algn="l" rtl="0">
              <a:spcBef>
                <a:spcPts val="0"/>
              </a:spcBef>
              <a:spcAft>
                <a:spcPts val="0"/>
              </a:spcAft>
              <a:buNone/>
            </a:pPr>
            <a:r>
              <a:rPr lang="en-US" sz="1200" dirty="0"/>
              <a:t>The model assesses decision latency, operator workload, cognitive burden, and resource utilization through simulation.</a:t>
            </a:r>
            <a:endParaRPr dirty="0"/>
          </a:p>
          <a:p>
            <a:pPr marL="0" lvl="0" indent="0" algn="l" rtl="0">
              <a:spcBef>
                <a:spcPts val="0"/>
              </a:spcBef>
              <a:spcAft>
                <a:spcPts val="0"/>
              </a:spcAft>
              <a:buNone/>
            </a:pPr>
            <a:r>
              <a:rPr lang="en-US" sz="1200" dirty="0"/>
              <a:t>The work produces a public-domain feasibility study and a preliminary Concept of Operations.</a:t>
            </a:r>
            <a:endParaRPr dirty="0"/>
          </a:p>
          <a:p>
            <a:pPr marL="0" lvl="0" indent="0" algn="l" rtl="0">
              <a:spcBef>
                <a:spcPts val="0"/>
              </a:spcBef>
              <a:spcAft>
                <a:spcPts val="0"/>
              </a:spcAft>
              <a:buNone/>
            </a:pPr>
            <a:r>
              <a:rPr lang="en-US" sz="1200" dirty="0"/>
              <a:t>Validation compares simulated outputs against public benchmarks, theoretical delay calculations, repeated runs, and sensitivity analysis.</a:t>
            </a:r>
            <a:endParaRPr dirty="0"/>
          </a:p>
          <a:p>
            <a:pPr marL="0" lvl="0" indent="0" algn="l" rtl="0">
              <a:spcBef>
                <a:spcPts val="0"/>
              </a:spcBef>
              <a:spcAft>
                <a:spcPts val="0"/>
              </a:spcAft>
              <a:buNone/>
            </a:pPr>
            <a:r>
              <a:rPr lang="en-US" sz="1200" dirty="0"/>
              <a:t>The research will not use classified data, develop new algorithms, or build physical hardware.</a:t>
            </a:r>
          </a:p>
        </p:txBody>
      </p:sp>
      <p:sp>
        <p:nvSpPr>
          <p:cNvPr id="165" name="Google Shape;165;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9" name="Google Shape;179;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FINAL SUBMISSION, SLIDE 8</a:t>
            </a:r>
            <a:endParaRPr dirty="0"/>
          </a:p>
          <a:p>
            <a:pPr marL="0" lvl="0" indent="0" algn="l" rtl="0">
              <a:spcBef>
                <a:spcPts val="0"/>
              </a:spcBef>
              <a:spcAft>
                <a:spcPts val="0"/>
              </a:spcAft>
              <a:buNone/>
            </a:pPr>
            <a:r>
              <a:rPr lang="en-US" sz="1200" dirty="0"/>
              <a:t>Hypothesis 1 | Discrete-event simulation will model autonomous decision latency within 15% of public benchmark ranges. | 13</a:t>
            </a:r>
            <a:endParaRPr dirty="0"/>
          </a:p>
          <a:p>
            <a:pPr marL="0" lvl="0" indent="0" algn="l" rtl="0">
              <a:spcBef>
                <a:spcPts val="0"/>
              </a:spcBef>
              <a:spcAft>
                <a:spcPts val="0"/>
              </a:spcAft>
              <a:buNone/>
            </a:pPr>
            <a:r>
              <a:rPr lang="en-US" sz="1200" dirty="0"/>
              <a:t>Independent Variables | AI algorithm processing time (</a:t>
            </a:r>
            <a:r>
              <a:rPr lang="en-US" sz="1200" dirty="0" err="1"/>
              <a:t>ms</a:t>
            </a:r>
            <a:r>
              <a:rPr lang="en-US" sz="1200" dirty="0"/>
              <a:t>), Sensor data ingestion rate (kbps), Number of simulated threats (integer) | NA</a:t>
            </a:r>
            <a:endParaRPr dirty="0"/>
          </a:p>
          <a:p>
            <a:pPr marL="0" lvl="0" indent="0" algn="l" rtl="0">
              <a:spcBef>
                <a:spcPts val="0"/>
              </a:spcBef>
              <a:spcAft>
                <a:spcPts val="0"/>
              </a:spcAft>
              <a:buNone/>
            </a:pPr>
            <a:r>
              <a:rPr lang="en-US" sz="1200" dirty="0"/>
              <a:t>Dependent Variable | Modeled response latency (seconds) | NA</a:t>
            </a:r>
            <a:endParaRPr dirty="0"/>
          </a:p>
          <a:p>
            <a:pPr marL="0" lvl="0" indent="0" algn="l" rtl="0">
              <a:spcBef>
                <a:spcPts val="0"/>
              </a:spcBef>
              <a:spcAft>
                <a:spcPts val="0"/>
              </a:spcAft>
              <a:buNone/>
            </a:pPr>
            <a:r>
              <a:rPr lang="en-US" sz="1200" dirty="0"/>
              <a:t>Testable | The model's latency output will be compared against latency figures from unclassified literature and theoretical calculations for validation. | 18</a:t>
            </a:r>
            <a:endParaRPr dirty="0"/>
          </a:p>
        </p:txBody>
      </p:sp>
      <p:sp>
        <p:nvSpPr>
          <p:cNvPr id="180" name="Google Shape;180;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2" name="Google Shape;192;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FINAL SUBMISSION, SLIDE 9</a:t>
            </a:r>
            <a:endParaRPr dirty="0"/>
          </a:p>
          <a:p>
            <a:pPr marL="0" lvl="0" indent="0" algn="l" rtl="0">
              <a:spcBef>
                <a:spcPts val="0"/>
              </a:spcBef>
              <a:spcAft>
                <a:spcPts val="0"/>
              </a:spcAft>
              <a:buNone/>
            </a:pPr>
            <a:r>
              <a:rPr lang="en-US" sz="1200" dirty="0"/>
              <a:t>Reference | Osoba, O. A., </a:t>
            </a:r>
            <a:r>
              <a:rPr lang="en-US" sz="1200" dirty="0" err="1"/>
              <a:t>Nacouzi</a:t>
            </a:r>
            <a:r>
              <a:rPr lang="en-US" sz="1200" dirty="0"/>
              <a:t>, G., Hagen, J., Tran, J., Zhang, L. A., Herron, M., Lynch, C., Eisman, M., &amp; Barton, C. (2023). The resilience assessment framework: Assessing commercial contributions to U.S. Space Force mission resilience (RR-A980-1). RAND Corporation. https://doi.org/10.7249/RRA980-1</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https://www.rand.org/content/dam/rand/pubs/research_reports/RRA900/RRA980-1/RAND_RRA980-1.pdf</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RAND develops a framework for assessing how architecture changes affect space mission resilience. The framework combines physics-based modeling and statistical systems analysis. | 22</a:t>
            </a:r>
            <a:endParaRPr dirty="0"/>
          </a:p>
          <a:p>
            <a:pPr marL="0" lvl="0" indent="0" algn="l" rtl="0">
              <a:spcBef>
                <a:spcPts val="0"/>
              </a:spcBef>
              <a:spcAft>
                <a:spcPts val="0"/>
              </a:spcAft>
              <a:buNone/>
            </a:pPr>
            <a:r>
              <a:rPr lang="en-US" sz="1200" dirty="0"/>
              <a:t>Methodology | Physics-based modeling and statistical systems analysis. | NA</a:t>
            </a:r>
            <a:endParaRPr dirty="0"/>
          </a:p>
          <a:p>
            <a:pPr marL="0" lvl="0" indent="0" algn="l" rtl="0">
              <a:spcBef>
                <a:spcPts val="0"/>
              </a:spcBef>
              <a:spcAft>
                <a:spcPts val="0"/>
              </a:spcAft>
              <a:buNone/>
            </a:pPr>
            <a:r>
              <a:rPr lang="en-US" sz="1200" dirty="0"/>
              <a:t>Evaluation | The source is reliable because RAND developed it for USSF mission-resilience assessment.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it evaluates resilience broadly, not orbital edge processing specifically. | 24</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architecture-resilience evaluation and degraded-mission performance comparison for my simulation framework.</a:t>
            </a:r>
            <a:endParaRPr dirty="0"/>
          </a:p>
          <a:p>
            <a:pPr marL="0" lvl="0" indent="0" algn="l" rtl="0">
              <a:spcBef>
                <a:spcPts val="0"/>
              </a:spcBef>
              <a:spcAft>
                <a:spcPts val="0"/>
              </a:spcAft>
              <a:buNone/>
            </a:pPr>
            <a:br>
              <a:rPr lang="en-US" sz="1200" dirty="0"/>
            </a:br>
            <a:r>
              <a:rPr lang="en-US" sz="1200" dirty="0"/>
              <a:t>It helps connect public modeling assumptions to mission-resilience measures without requiring classified data. | 23</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RAND Corp</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10</a:t>
            </a:r>
            <a:endParaRPr dirty="0"/>
          </a:p>
          <a:p>
            <a:pPr marL="0" lvl="0" indent="0" algn="l" rtl="0">
              <a:spcBef>
                <a:spcPts val="0"/>
              </a:spcBef>
              <a:spcAft>
                <a:spcPts val="0"/>
              </a:spcAft>
              <a:buNone/>
            </a:pPr>
            <a:r>
              <a:rPr lang="en-US" sz="1200" dirty="0"/>
              <a:t>Reference | National Aeronautics and Space Administration. (2013). Space Communications and Navigation (</a:t>
            </a:r>
            <a:r>
              <a:rPr lang="en-US" sz="1200" dirty="0" err="1"/>
              <a:t>SCaN</a:t>
            </a:r>
            <a:r>
              <a:rPr lang="en-US" sz="1200" dirty="0"/>
              <a:t>) Network Architecture Definition Document (ADD)</a:t>
            </a:r>
            <a:endParaRPr dirty="0"/>
          </a:p>
          <a:p>
            <a:pPr marL="0" lvl="0" indent="0" algn="l" rtl="0">
              <a:spcBef>
                <a:spcPts val="0"/>
              </a:spcBef>
              <a:spcAft>
                <a:spcPts val="0"/>
              </a:spcAft>
              <a:buNone/>
            </a:pPr>
            <a:r>
              <a:rPr lang="en-US" sz="1200" dirty="0"/>
              <a:t>Executive Summary, Volume 1, Revision 4. NASA. (https://www.nasa.gov/wp-content/uploads/2023/09/scan-add-vol1rev4.pdf)</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NASA describes communications architecture assets, options, and network evolution.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document links architecture decisions to future mission communications requirements. | 19</a:t>
            </a:r>
            <a:endParaRPr dirty="0"/>
          </a:p>
          <a:p>
            <a:pPr marL="0" lvl="0" indent="0" algn="l" rtl="0">
              <a:spcBef>
                <a:spcPts val="0"/>
              </a:spcBef>
              <a:spcAft>
                <a:spcPts val="0"/>
              </a:spcAft>
              <a:buNone/>
            </a:pPr>
            <a:r>
              <a:rPr lang="en-US" sz="1200" dirty="0"/>
              <a:t>Methodology | Architecture definition. | NA</a:t>
            </a:r>
            <a:endParaRPr dirty="0"/>
          </a:p>
          <a:p>
            <a:pPr marL="0" lvl="0" indent="0" algn="l" rtl="0">
              <a:spcBef>
                <a:spcPts val="0"/>
              </a:spcBef>
              <a:spcAft>
                <a:spcPts val="0"/>
              </a:spcAft>
              <a:buNone/>
            </a:pPr>
            <a:r>
              <a:rPr lang="en-US" sz="1200" dirty="0"/>
              <a:t>Evaluation | The advantage is that it is civil-space focused, not DoD-specific.</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source is reliable because it is a NASA architecture document. | 21</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the ground-station and relay-network portion of my model.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justify modeling communications paths as architecture trade variables. | 22</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NASA </a:t>
            </a:r>
            <a:r>
              <a:rPr lang="en-US" sz="1200" dirty="0" err="1"/>
              <a:t>SCaN</a:t>
            </a:r>
            <a:r>
              <a:rPr lang="en-US" sz="1200" dirty="0"/>
              <a:t> Architecture (Space Communications and Navigation Network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11</a:t>
            </a:r>
            <a:endParaRPr dirty="0"/>
          </a:p>
          <a:p>
            <a:pPr marL="0" lvl="0" indent="0" algn="l" rtl="0">
              <a:spcBef>
                <a:spcPts val="0"/>
              </a:spcBef>
              <a:spcAft>
                <a:spcPts val="0"/>
              </a:spcAft>
              <a:buNone/>
            </a:pPr>
            <a:r>
              <a:rPr lang="en-US" sz="1200" dirty="0"/>
              <a:t>Reference | </a:t>
            </a:r>
            <a:r>
              <a:rPr lang="en-US" sz="1200" dirty="0" err="1"/>
              <a:t>Kodheli</a:t>
            </a:r>
            <a:r>
              <a:rPr lang="en-US" sz="1200" dirty="0"/>
              <a:t>, O., Lagunas, E., Maturo, N., et al. (2021). Satellite communications in the new space era: A survey and future challenges. IEEE Communications Surveys &amp; Tutorials, 23, 70–109.</a:t>
            </a:r>
            <a:endParaRPr dirty="0"/>
          </a:p>
          <a:p>
            <a:pPr marL="0" lvl="0" indent="0" algn="l" rtl="0">
              <a:spcBef>
                <a:spcPts val="0"/>
              </a:spcBef>
              <a:spcAft>
                <a:spcPts val="0"/>
              </a:spcAft>
              <a:buNone/>
            </a:pPr>
            <a:r>
              <a:rPr lang="en-US" sz="1200" dirty="0"/>
              <a:t>https://ieeexplore.ieee.org/document/9210567</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The article surveys modern satellite communications and future research challenges.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identifies onboard processing and space-based data processing as innovation drivers but provides quality standard baselines to measure from. | 21</a:t>
            </a:r>
            <a:endParaRPr dirty="0"/>
          </a:p>
          <a:p>
            <a:pPr marL="0" lvl="0" indent="0" algn="l" rtl="0">
              <a:spcBef>
                <a:spcPts val="0"/>
              </a:spcBef>
              <a:spcAft>
                <a:spcPts val="0"/>
              </a:spcAft>
              <a:buNone/>
            </a:pPr>
            <a:r>
              <a:rPr lang="en-US" sz="1200" dirty="0"/>
              <a:t>Methodology | Literature Survey | NA</a:t>
            </a:r>
            <a:endParaRPr dirty="0"/>
          </a:p>
          <a:p>
            <a:pPr marL="0" lvl="0" indent="0" algn="l" rtl="0">
              <a:spcBef>
                <a:spcPts val="0"/>
              </a:spcBef>
              <a:spcAft>
                <a:spcPts val="0"/>
              </a:spcAft>
              <a:buNone/>
            </a:pPr>
            <a:r>
              <a:rPr lang="en-US" sz="1200" dirty="0"/>
              <a:t>Evaluation | The source is reliable because it is a highly cited IEEE survey.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it covers many topics beyond my specific model. | 24</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supports onboard processing as a legitimate satellite communications research area.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connect my edge-processing layer to current satellite network research. | 23</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a:t>IEEE Communications Surveys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12</a:t>
            </a:r>
            <a:endParaRPr dirty="0"/>
          </a:p>
          <a:p>
            <a:pPr marL="0" lvl="0" indent="0" algn="l" rtl="0">
              <a:spcBef>
                <a:spcPts val="0"/>
              </a:spcBef>
              <a:spcAft>
                <a:spcPts val="0"/>
              </a:spcAft>
              <a:buNone/>
            </a:pPr>
            <a:r>
              <a:rPr lang="en-US" sz="1200" dirty="0"/>
              <a:t>Reference | </a:t>
            </a:r>
            <a:r>
              <a:rPr lang="en-US" sz="1200" dirty="0" err="1"/>
              <a:t>CelesTrak</a:t>
            </a:r>
            <a:r>
              <a:rPr lang="en-US" sz="1200" dirty="0"/>
              <a:t>. (n.d.). NORAD GP element sets: Current data.</a:t>
            </a:r>
            <a:endParaRPr dirty="0"/>
          </a:p>
          <a:p>
            <a:pPr marL="0" lvl="0" indent="0" algn="l" rtl="0">
              <a:spcBef>
                <a:spcPts val="0"/>
              </a:spcBef>
              <a:spcAft>
                <a:spcPts val="0"/>
              </a:spcAft>
              <a:buNone/>
            </a:pPr>
            <a:r>
              <a:rPr lang="en-US" sz="1200" dirty="0"/>
              <a:t>https://celestrak.org/NORAD/elements/?</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a:t>
            </a:r>
            <a:r>
              <a:rPr lang="en-US" sz="1200" dirty="0" err="1"/>
              <a:t>CelesTrak</a:t>
            </a:r>
            <a:r>
              <a:rPr lang="en-US" sz="1200" dirty="0"/>
              <a:t> provides public General Perturbations data for orbital modeling.</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data supports repeatable satellite visibility and access assumptions. | 18</a:t>
            </a:r>
            <a:endParaRPr dirty="0"/>
          </a:p>
          <a:p>
            <a:pPr marL="0" lvl="0" indent="0" algn="l" rtl="0">
              <a:spcBef>
                <a:spcPts val="0"/>
              </a:spcBef>
              <a:spcAft>
                <a:spcPts val="0"/>
              </a:spcAft>
              <a:buNone/>
            </a:pPr>
            <a:r>
              <a:rPr lang="en-US" sz="1200" dirty="0"/>
              <a:t>Methodology | Public orbital data publication. | NA</a:t>
            </a:r>
            <a:endParaRPr dirty="0"/>
          </a:p>
          <a:p>
            <a:pPr marL="0" lvl="0" indent="0" algn="l" rtl="0">
              <a:spcBef>
                <a:spcPts val="0"/>
              </a:spcBef>
              <a:spcAft>
                <a:spcPts val="0"/>
              </a:spcAft>
              <a:buNone/>
            </a:pPr>
            <a:r>
              <a:rPr lang="en-US" sz="1200" dirty="0"/>
              <a:t>Evaluation | The limitation is that public GP data supports notional analysis, not operational precision.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source is useful because it provides open orbital data. | 23</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provides public orbital context for my MATLAB simulation.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It helps keep the research unclassified, repeatable, and auditable. | 19</a:t>
            </a:r>
            <a:endParaRPr dirty="0"/>
          </a:p>
          <a:p>
            <a:pPr marL="0" lvl="0" indent="0" algn="l" rtl="0">
              <a:spcBef>
                <a:spcPts val="0"/>
              </a:spcBef>
              <a:spcAft>
                <a:spcPts val="0"/>
              </a:spcAft>
              <a:buNone/>
            </a:pPr>
            <a:r>
              <a:rPr lang="en-US" sz="1200" dirty="0"/>
              <a:t>Annotated Bibliography</a:t>
            </a:r>
            <a:endParaRPr dirty="0"/>
          </a:p>
          <a:p>
            <a:pPr marL="0" lvl="0" indent="0" algn="l" rtl="0">
              <a:spcBef>
                <a:spcPts val="0"/>
              </a:spcBef>
              <a:spcAft>
                <a:spcPts val="0"/>
              </a:spcAft>
              <a:buNone/>
            </a:pPr>
            <a:r>
              <a:rPr lang="en-US" sz="1200" dirty="0" err="1"/>
              <a:t>CelesTrak</a:t>
            </a:r>
            <a:r>
              <a:rPr lang="en-US" sz="1200" dirty="0"/>
              <a:t> Public Orbital Data</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13</a:t>
            </a:r>
            <a:endParaRPr dirty="0"/>
          </a:p>
          <a:p>
            <a:pPr marL="0" lvl="0" indent="0" algn="l" rtl="0">
              <a:spcBef>
                <a:spcPts val="0"/>
              </a:spcBef>
              <a:spcAft>
                <a:spcPts val="0"/>
              </a:spcAft>
              <a:buNone/>
            </a:pPr>
            <a:r>
              <a:rPr lang="en-US" sz="1200" dirty="0"/>
              <a:t>Reference | National Oceanic and Atmospheric Administration, Space Weather Prediction Center. (n.d.). Planetary K-index.</a:t>
            </a:r>
            <a:endParaRPr dirty="0"/>
          </a:p>
          <a:p>
            <a:pPr marL="0" lvl="0" indent="0" algn="l" rtl="0">
              <a:spcBef>
                <a:spcPts val="0"/>
              </a:spcBef>
              <a:spcAft>
                <a:spcPts val="0"/>
              </a:spcAft>
              <a:buNone/>
            </a:pPr>
            <a:r>
              <a:rPr lang="en-US" sz="1200" dirty="0"/>
              <a:t>https://www.spaceweather.gov/products/planetary-k-index?</a:t>
            </a:r>
            <a:endParaRPr dirty="0"/>
          </a:p>
          <a:p>
            <a:pPr marL="0" lvl="0" indent="0" algn="l" rtl="0">
              <a:spcBef>
                <a:spcPts val="0"/>
              </a:spcBef>
              <a:spcAft>
                <a:spcPts val="0"/>
              </a:spcAft>
              <a:buNone/>
            </a:pPr>
            <a:r>
              <a:rPr lang="en-US" sz="1200" dirty="0"/>
              <a:t> | NA</a:t>
            </a:r>
            <a:endParaRPr dirty="0"/>
          </a:p>
          <a:p>
            <a:pPr marL="0" lvl="0" indent="0" algn="l" rtl="0">
              <a:spcBef>
                <a:spcPts val="0"/>
              </a:spcBef>
              <a:spcAft>
                <a:spcPts val="0"/>
              </a:spcAft>
              <a:buNone/>
            </a:pPr>
            <a:r>
              <a:rPr lang="en-US" sz="1200" dirty="0"/>
              <a:t>Summary | NOAA provides public space-weather products used to characterize geomagnetic disturbances.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err="1"/>
              <a:t>Kp</a:t>
            </a:r>
            <a:r>
              <a:rPr lang="en-US" sz="1200" dirty="0"/>
              <a:t> helps represent environmental conditions that can affect space and communications systems. | 22</a:t>
            </a:r>
            <a:endParaRPr dirty="0"/>
          </a:p>
          <a:p>
            <a:pPr marL="0" lvl="0" indent="0" algn="l" rtl="0">
              <a:spcBef>
                <a:spcPts val="0"/>
              </a:spcBef>
              <a:spcAft>
                <a:spcPts val="0"/>
              </a:spcAft>
              <a:buNone/>
            </a:pPr>
            <a:r>
              <a:rPr lang="en-US" sz="1200" dirty="0"/>
              <a:t>Methodology | Operational environmental observation. | NA</a:t>
            </a:r>
            <a:endParaRPr dirty="0"/>
          </a:p>
          <a:p>
            <a:pPr marL="0" lvl="0" indent="0" algn="l" rtl="0">
              <a:spcBef>
                <a:spcPts val="0"/>
              </a:spcBef>
              <a:spcAft>
                <a:spcPts val="0"/>
              </a:spcAft>
              <a:buNone/>
            </a:pPr>
            <a:r>
              <a:rPr lang="en-US" sz="1200" dirty="0"/>
              <a:t>Evaluation | The source is reliable because it is an official NOAA operational product.</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limitation is that </a:t>
            </a:r>
            <a:r>
              <a:rPr lang="en-US" sz="1200" dirty="0" err="1"/>
              <a:t>Kp</a:t>
            </a:r>
            <a:r>
              <a:rPr lang="en-US" sz="1200" dirty="0"/>
              <a:t> is an environmental proxy, not a direct latency measure. | 25</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Relevance | This source provides public environmental inputs for simulated degradation scenarios.</a:t>
            </a:r>
            <a:endParaRPr dirty="0"/>
          </a:p>
          <a:p>
            <a:pPr marL="0" lvl="0" indent="0" algn="l" rtl="0">
              <a:spcBef>
                <a:spcPts val="0"/>
              </a:spcBef>
              <a:spcAft>
                <a:spcPts val="0"/>
              </a:spcAft>
              <a:buNone/>
            </a:pPr>
            <a:br>
              <a:rPr lang="en-US" sz="1200" dirty="0"/>
            </a:br>
            <a:r>
              <a:rPr lang="en-US" sz="1200" dirty="0"/>
              <a:t>It supports unclassified modeling of space-weather effects without using sensitive disruption assumptions.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proxy is that </a:t>
            </a:r>
            <a:r>
              <a:rPr lang="en-US" sz="1200" dirty="0" err="1"/>
              <a:t>Kp</a:t>
            </a:r>
            <a:r>
              <a:rPr lang="en-US" sz="1200" dirty="0"/>
              <a:t> is an environmental proxy, not a direct man-made measure. | 22</a:t>
            </a:r>
            <a:endParaRPr dirty="0"/>
          </a:p>
          <a:p>
            <a:pPr marL="0" lvl="0" indent="0" algn="l" rtl="0">
              <a:spcBef>
                <a:spcPts val="0"/>
              </a:spcBef>
              <a:spcAft>
                <a:spcPts val="0"/>
              </a:spcAft>
              <a:buNone/>
            </a:pPr>
            <a:r>
              <a:rPr lang="en-US" sz="1200" dirty="0"/>
              <a:t>Annotated Bibliography </a:t>
            </a:r>
            <a:endParaRPr dirty="0"/>
          </a:p>
          <a:p>
            <a:pPr marL="0" lvl="0" indent="0" algn="l" rtl="0">
              <a:spcBef>
                <a:spcPts val="0"/>
              </a:spcBef>
              <a:spcAft>
                <a:spcPts val="0"/>
              </a:spcAft>
              <a:buNone/>
            </a:pPr>
            <a:r>
              <a:rPr lang="en-US" sz="1200" dirty="0"/>
              <a:t> NOAA Space Weather / </a:t>
            </a:r>
            <a:r>
              <a:rPr lang="en-US" sz="1200" dirty="0" err="1"/>
              <a:t>Kp</a:t>
            </a:r>
            <a:r>
              <a:rPr lang="en-US" sz="1200" dirty="0"/>
              <a:t> Index</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URLs and author strings are preserved from the final submission. The five entries are a separate snapshot, not added to the 31-work GWU register count.</a:t>
            </a:r>
            <a:endParaRPr dirty="0"/>
          </a:p>
        </p:txBody>
      </p:sp>
      <p:sp>
        <p:nvSpPr>
          <p:cNvPr id="193" name="Google Shape;193;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0" name="Google Shape;200;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SOURCE: International_Research_Data_POC_Register_2026-09-13_v05_Battle_Rhythm.xlsx, POC Register, Research Fit, Source Status and Australia Sources. The snapshot reports prior correspondence, not newly verified public web content.</a:t>
            </a:r>
            <a:endParaRPr dirty="0"/>
          </a:p>
          <a:p>
            <a:pPr marL="0" lvl="0" indent="0" algn="l" rtl="0">
              <a:spcBef>
                <a:spcPts val="0"/>
              </a:spcBef>
              <a:spcAft>
                <a:spcPts val="0"/>
              </a:spcAft>
              <a:buNone/>
            </a:pPr>
            <a:r>
              <a:rPr lang="en-US" sz="1200" dirty="0"/>
              <a:t>Germany: https://github.com/sys-uos ; latest dataset referral https://doi.org/10.26249/FK2/YXPS4G ; associated paper referral https://doi.org/10.1145/3789240.3827586 . Distinguish </a:t>
            </a:r>
            <a:r>
              <a:rPr lang="en-US" sz="1200" dirty="0" err="1"/>
              <a:t>WetLinks</a:t>
            </a:r>
            <a:r>
              <a:rPr lang="en-US" sz="1200" dirty="0"/>
              <a:t> from related/newer datasets when selecting actual files; as-is, no extended support.</a:t>
            </a:r>
            <a:endParaRPr dirty="0"/>
          </a:p>
          <a:p>
            <a:pPr marL="0" lvl="0" indent="0" algn="l" rtl="0">
              <a:spcBef>
                <a:spcPts val="0"/>
              </a:spcBef>
              <a:spcAft>
                <a:spcPts val="0"/>
              </a:spcAft>
              <a:buNone/>
            </a:pPr>
            <a:r>
              <a:rPr lang="en-US" sz="1200" dirty="0"/>
              <a:t>Canada: https://onlineacademiccommunity.uvic.ca/starlink/ ; specific files/fields pending.</a:t>
            </a:r>
            <a:endParaRPr dirty="0"/>
          </a:p>
          <a:p>
            <a:pPr marL="0" lvl="0" indent="0" algn="l" rtl="0">
              <a:spcBef>
                <a:spcPts val="0"/>
              </a:spcBef>
              <a:spcAft>
                <a:spcPts val="0"/>
              </a:spcAft>
              <a:buNone/>
            </a:pPr>
            <a:r>
              <a:rPr lang="en-US" sz="1200" dirty="0"/>
              <a:t>Australia: Cassie Marshall email of 13 Sep 2026; ASWFC@bom.gov.au. Eight links: https://rudimirz.com/flares/ ; https://listserver.ips.gov.au/pipermail/ips-swf-alert/ ; https://www.sws.bom.gov.au/World_Data_Centre/1/3 ; https://listserver.ips.gov.au/pipermail/ips-mag-alert/ ; https://sws-data.sws.bom.gov.au/ ; https://kp.gfz.de/en/ ; https://listserver.ips.gov.au/pipermail/ips-dsgr/ ; https://www.sws.bom.gov.au/Products_and_Services/4/1 . Bureau material: cite ASWFC/Bureau. X-ray flux: cite original source, not Bureau.</a:t>
            </a:r>
            <a:endParaRPr dirty="0"/>
          </a:p>
          <a:p>
            <a:pPr marL="0" lvl="0" indent="0" algn="l" rtl="0">
              <a:spcBef>
                <a:spcPts val="0"/>
              </a:spcBef>
              <a:spcAft>
                <a:spcPts val="0"/>
              </a:spcAft>
              <a:buNone/>
            </a:pPr>
            <a:r>
              <a:rPr lang="en-US" sz="1200" dirty="0"/>
              <a:t>SANSA: targeted RFI sent to mtshisaphungo@sansa.org.za cc spaceweather@sansa.org.za at 15:30 Pacific, 13 Sep 2026.</a:t>
            </a:r>
            <a:endParaRPr dirty="0"/>
          </a:p>
          <a:p>
            <a:pPr marL="0" lvl="0" indent="0" algn="l" rtl="0">
              <a:spcBef>
                <a:spcPts val="0"/>
              </a:spcBef>
              <a:spcAft>
                <a:spcPts val="0"/>
              </a:spcAft>
              <a:buNone/>
            </a:pPr>
            <a:r>
              <a:rPr lang="en-US" sz="1200" dirty="0"/>
              <a:t>Japan: iono@ml.nict.go.jp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16</a:t>
            </a:r>
            <a:endParaRPr dirty="0"/>
          </a:p>
          <a:p>
            <a:pPr marL="0" lvl="0" indent="0" algn="l" rtl="0">
              <a:spcBef>
                <a:spcPts val="0"/>
              </a:spcBef>
              <a:spcAft>
                <a:spcPts val="0"/>
              </a:spcAft>
              <a:buNone/>
            </a:pPr>
            <a:r>
              <a:rPr lang="en-US" sz="1200" dirty="0"/>
              <a:t>ID | Name | Source | Brief Description | Format | Time Span | Num. of records | Access </a:t>
            </a:r>
            <a:endParaRPr dirty="0"/>
          </a:p>
          <a:p>
            <a:pPr marL="0" lvl="0" indent="0" algn="l" rtl="0">
              <a:spcBef>
                <a:spcPts val="0"/>
              </a:spcBef>
              <a:spcAft>
                <a:spcPts val="0"/>
              </a:spcAft>
              <a:buNone/>
            </a:pPr>
            <a:r>
              <a:rPr lang="en-US" sz="1200" dirty="0"/>
              <a:t>(Y/N)</a:t>
            </a:r>
            <a:endParaRPr dirty="0"/>
          </a:p>
          <a:p>
            <a:pPr marL="0" lvl="0" indent="0" algn="l" rtl="0">
              <a:spcBef>
                <a:spcPts val="0"/>
              </a:spcBef>
              <a:spcAft>
                <a:spcPts val="0"/>
              </a:spcAft>
              <a:buNone/>
            </a:pPr>
            <a:r>
              <a:rPr lang="en-US" sz="1200" dirty="0"/>
              <a:t>1 | Orbital Data | </a:t>
            </a:r>
            <a:r>
              <a:rPr lang="en-US" sz="1200" dirty="0" err="1"/>
              <a:t>Celestrak</a:t>
            </a:r>
            <a:r>
              <a:rPr lang="en-US" sz="1200" dirty="0"/>
              <a:t> NORAD GP Element Sets: Current Data | Public orbital elements support satellite visibility and route availability assumptions. | CSV/JSON | Current Scenario snapshot/sample | 30 records | Y</a:t>
            </a:r>
            <a:endParaRPr dirty="0"/>
          </a:p>
          <a:p>
            <a:pPr marL="0" lvl="0" indent="0" algn="l" rtl="0">
              <a:spcBef>
                <a:spcPts val="0"/>
              </a:spcBef>
              <a:spcAft>
                <a:spcPts val="0"/>
              </a:spcAft>
              <a:buNone/>
            </a:pPr>
            <a:r>
              <a:rPr lang="en-US" sz="1200" dirty="0"/>
              <a:t>2 | Space Weather | NOAA SWPC Planetary K-Index | </a:t>
            </a:r>
            <a:r>
              <a:rPr lang="en-US" sz="1200" dirty="0" err="1"/>
              <a:t>Kp</a:t>
            </a:r>
            <a:r>
              <a:rPr lang="en-US" sz="1200" dirty="0"/>
              <a:t> values represent geomagnetic/solar storm severity for degraded communications scenarios. | CSV/HTML | Per 30 day window sample period | 240 intervals | 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3 | Ground Weather | NOAA Local Climate Data | Hourly weather observations support ground-station availability assumptions near a notional antenna for example. | CSV | Per 30 day window sample period | 720 hourly records | 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4 | C2 Architecture Baseline  | NASA </a:t>
            </a:r>
            <a:r>
              <a:rPr lang="en-US" sz="1200" dirty="0" err="1"/>
              <a:t>SCaN</a:t>
            </a:r>
            <a:r>
              <a:rPr lang="en-US" sz="1200" dirty="0"/>
              <a:t> Network Architecture Definition Document, Vol 1, Rev 4 | Architecture descriptions support baseline ground-station and relay network path assumptions. | CSV/PDF | 2013 publication | 1 doc | 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5 | Resilience Metrics | RAND Resilience Assessment Framework | Resilience framework supporting degraded mission performance comparison. | CSV/PDF | 2023 publication</a:t>
            </a:r>
            <a:endParaRPr dirty="0"/>
          </a:p>
          <a:p>
            <a:pPr marL="0" lvl="0" indent="0" algn="l" rtl="0">
              <a:spcBef>
                <a:spcPts val="0"/>
              </a:spcBef>
              <a:spcAft>
                <a:spcPts val="0"/>
              </a:spcAft>
              <a:buNone/>
            </a:pPr>
            <a:r>
              <a:rPr lang="en-US" sz="1200" dirty="0"/>
              <a:t> | 1 doc | 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6 | Scenario Vectors | Author created MATLAB scenario table | Simulation vectors control outage duration, bandwidth reduction, processing time, and threshold limits. | CSV/MAT | Simulation period | 10,000 runs | 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Data Sources List</a:t>
            </a: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r>
              <a:rPr lang="en-US" sz="1200" dirty="0"/>
              <a:t>Shown up-front, the model does not use classified data, restricted data, or internal program data.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sources either provide public inputs for the simulation or support the assumptions behind the model.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The key point is traceability: every input has a sourced and I updated the earlier slides with the hyperlinks per Instructor feedback.</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17</a:t>
            </a:r>
            <a:endParaRPr dirty="0"/>
          </a:p>
          <a:p>
            <a:pPr marL="0" lvl="0" indent="0" algn="l" rtl="0">
              <a:spcBef>
                <a:spcPts val="0"/>
              </a:spcBef>
              <a:spcAft>
                <a:spcPts val="0"/>
              </a:spcAft>
              <a:buNone/>
            </a:pPr>
            <a:r>
              <a:rPr lang="en-US" sz="1200" dirty="0"/>
              <a:t>Use public orbital elements to calculate satellite visibility, access windows, and route availability.</a:t>
            </a:r>
            <a:endParaRPr dirty="0"/>
          </a:p>
          <a:p>
            <a:pPr marL="0" lvl="0" indent="0" algn="l" rtl="0">
              <a:spcBef>
                <a:spcPts val="0"/>
              </a:spcBef>
              <a:spcAft>
                <a:spcPts val="0"/>
              </a:spcAft>
              <a:buNone/>
            </a:pPr>
            <a:r>
              <a:rPr lang="en-US" sz="1200" dirty="0"/>
              <a:t>Data Treatment:</a:t>
            </a:r>
            <a:endParaRPr dirty="0"/>
          </a:p>
          <a:p>
            <a:pPr marL="0" lvl="0" indent="0" algn="l" rtl="0">
              <a:spcBef>
                <a:spcPts val="0"/>
              </a:spcBef>
              <a:spcAft>
                <a:spcPts val="0"/>
              </a:spcAft>
              <a:buNone/>
            </a:pPr>
            <a:r>
              <a:rPr lang="en-US" sz="1200" dirty="0"/>
              <a:t>Select a limited satellite subset aligned to the notional scenario.</a:t>
            </a:r>
            <a:endParaRPr dirty="0"/>
          </a:p>
          <a:p>
            <a:pPr marL="0" lvl="0" indent="0" algn="l" rtl="0">
              <a:spcBef>
                <a:spcPts val="0"/>
              </a:spcBef>
              <a:spcAft>
                <a:spcPts val="0"/>
              </a:spcAft>
              <a:buNone/>
            </a:pPr>
            <a:r>
              <a:rPr lang="en-US" sz="1200" dirty="0"/>
              <a:t>Convert all timestamps to UTC for simulation data normalization across the fields.</a:t>
            </a:r>
            <a:endParaRPr dirty="0"/>
          </a:p>
          <a:p>
            <a:pPr marL="0" lvl="0" indent="0" algn="l" rtl="0">
              <a:spcBef>
                <a:spcPts val="0"/>
              </a:spcBef>
              <a:spcAft>
                <a:spcPts val="0"/>
              </a:spcAft>
              <a:buNone/>
            </a:pPr>
            <a:r>
              <a:rPr lang="en-US" sz="1200" dirty="0"/>
              <a:t>Filter records with missing or stale orbital elements.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err="1"/>
              <a:t>CelesTrak</a:t>
            </a:r>
            <a:r>
              <a:rPr lang="en-US" sz="1200" dirty="0"/>
              <a:t> Example</a:t>
            </a:r>
            <a:endParaRPr dirty="0"/>
          </a:p>
          <a:p>
            <a:pPr marL="0" lvl="0" indent="0" algn="l" rtl="0">
              <a:spcBef>
                <a:spcPts val="0"/>
              </a:spcBef>
              <a:spcAft>
                <a:spcPts val="0"/>
              </a:spcAft>
              <a:buNone/>
            </a:pPr>
            <a:r>
              <a:rPr lang="en-US" sz="1200" dirty="0"/>
              <a:t>ID | Name | Source | Brief Description | Format | Time Span | Num. of records | Access </a:t>
            </a:r>
            <a:endParaRPr dirty="0"/>
          </a:p>
          <a:p>
            <a:pPr marL="0" lvl="0" indent="0" algn="l" rtl="0">
              <a:spcBef>
                <a:spcPts val="0"/>
              </a:spcBef>
              <a:spcAft>
                <a:spcPts val="0"/>
              </a:spcAft>
              <a:buNone/>
            </a:pPr>
            <a:r>
              <a:rPr lang="en-US" sz="1200" dirty="0"/>
              <a:t>(Y/N)</a:t>
            </a:r>
            <a:endParaRPr dirty="0"/>
          </a:p>
          <a:p>
            <a:pPr marL="0" lvl="0" indent="0" algn="l" rtl="0">
              <a:spcBef>
                <a:spcPts val="0"/>
              </a:spcBef>
              <a:spcAft>
                <a:spcPts val="0"/>
              </a:spcAft>
              <a:buNone/>
            </a:pPr>
            <a:r>
              <a:rPr lang="en-US" sz="1200" dirty="0"/>
              <a:t>1 | Orbital Data | </a:t>
            </a:r>
            <a:r>
              <a:rPr lang="en-US" sz="1200" dirty="0" err="1"/>
              <a:t>Celestrak</a:t>
            </a:r>
            <a:r>
              <a:rPr lang="en-US" sz="1200" dirty="0"/>
              <a:t> NORAD GP Element Sets: Current Data | Public orbital elements support satellite visibility and route availability assumptions. | CSV/JSON | Current Scenario snapshot/sample | 30 records | Y</a:t>
            </a:r>
            <a:endParaRPr dirty="0"/>
          </a:p>
          <a:p>
            <a:pPr marL="0" lvl="0" indent="0" algn="l" rtl="0">
              <a:spcBef>
                <a:spcPts val="0"/>
              </a:spcBef>
              <a:spcAft>
                <a:spcPts val="0"/>
              </a:spcAft>
              <a:buNone/>
            </a:pPr>
            <a:r>
              <a:rPr lang="en-US" sz="1200" dirty="0" err="1"/>
              <a:t>Object_Name</a:t>
            </a:r>
            <a:r>
              <a:rPr lang="en-US" sz="1200" dirty="0"/>
              <a:t> | NORAD_CAT_ID | EPOCH | INCLINATION | MEAN_MOTION</a:t>
            </a:r>
            <a:endParaRPr dirty="0"/>
          </a:p>
          <a:p>
            <a:pPr marL="0" lvl="0" indent="0" algn="l" rtl="0">
              <a:spcBef>
                <a:spcPts val="0"/>
              </a:spcBef>
              <a:spcAft>
                <a:spcPts val="0"/>
              </a:spcAft>
              <a:buNone/>
            </a:pPr>
            <a:r>
              <a:rPr lang="en-US" sz="1200" dirty="0"/>
              <a:t>Sat1 | 001 | UTC Timestamp | degrees | rev/day</a:t>
            </a:r>
            <a:endParaRPr dirty="0"/>
          </a:p>
          <a:p>
            <a:pPr marL="0" lvl="0" indent="0" algn="l" rtl="0">
              <a:spcBef>
                <a:spcPts val="0"/>
              </a:spcBef>
              <a:spcAft>
                <a:spcPts val="0"/>
              </a:spcAft>
              <a:buNone/>
            </a:pPr>
            <a:r>
              <a:rPr lang="en-US" sz="1200" dirty="0"/>
              <a:t>Sat2 | 002 | UTC Timestamp | degrees | rev/day</a:t>
            </a:r>
            <a:endParaRPr dirty="0"/>
          </a:p>
          <a:p>
            <a:pPr marL="0" lvl="0" indent="0" algn="l" rtl="0">
              <a:spcBef>
                <a:spcPts val="0"/>
              </a:spcBef>
              <a:spcAft>
                <a:spcPts val="0"/>
              </a:spcAft>
              <a:buNone/>
            </a:pPr>
            <a:r>
              <a:rPr lang="en-US" sz="1200" dirty="0"/>
              <a:t>Sat3 | 003 | UTC Timestamp | degrees | rev/day</a:t>
            </a:r>
            <a:endParaRPr dirty="0"/>
          </a:p>
          <a:p>
            <a:pPr marL="0" lvl="0" indent="0" algn="l" rtl="0">
              <a:spcBef>
                <a:spcPts val="0"/>
              </a:spcBef>
              <a:spcAft>
                <a:spcPts val="0"/>
              </a:spcAft>
              <a:buNone/>
            </a:pPr>
            <a:r>
              <a:rPr lang="en-US" sz="1200" dirty="0"/>
              <a:t>Sample Data:</a:t>
            </a: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r>
              <a:rPr lang="en-US" sz="1200" dirty="0" err="1"/>
              <a:t>CelesTrak</a:t>
            </a:r>
            <a:r>
              <a:rPr lang="en-US" sz="1200" dirty="0"/>
              <a:t> provides public satellite orbital data. I use it to estimate satellite visibility, access windows, and route availability.</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18</a:t>
            </a:r>
            <a:endParaRPr dirty="0"/>
          </a:p>
          <a:p>
            <a:pPr marL="0" lvl="0" indent="0" algn="l" rtl="0">
              <a:spcBef>
                <a:spcPts val="0"/>
              </a:spcBef>
              <a:spcAft>
                <a:spcPts val="0"/>
              </a:spcAft>
              <a:buNone/>
            </a:pPr>
            <a:r>
              <a:rPr lang="en-US" sz="1200" dirty="0"/>
              <a:t>Use </a:t>
            </a:r>
            <a:r>
              <a:rPr lang="en-US" sz="1200" dirty="0" err="1"/>
              <a:t>Kp</a:t>
            </a:r>
            <a:r>
              <a:rPr lang="en-US" sz="1200" dirty="0"/>
              <a:t> values to represent space weather degradation severity during simulated communications scenarios.</a:t>
            </a:r>
            <a:endParaRPr dirty="0"/>
          </a:p>
          <a:p>
            <a:pPr marL="0" lvl="0" indent="0" algn="l" rtl="0">
              <a:spcBef>
                <a:spcPts val="0"/>
              </a:spcBef>
              <a:spcAft>
                <a:spcPts val="0"/>
              </a:spcAft>
              <a:buNone/>
            </a:pPr>
            <a:r>
              <a:rPr lang="en-US" sz="1200" dirty="0"/>
              <a:t>Data Treatment:</a:t>
            </a:r>
            <a:endParaRPr dirty="0"/>
          </a:p>
          <a:p>
            <a:pPr marL="0" lvl="0" indent="0" algn="l" rtl="0">
              <a:spcBef>
                <a:spcPts val="0"/>
              </a:spcBef>
              <a:spcAft>
                <a:spcPts val="0"/>
              </a:spcAft>
              <a:buNone/>
            </a:pPr>
            <a:r>
              <a:rPr lang="en-US" sz="1200" dirty="0"/>
              <a:t>Convert </a:t>
            </a:r>
            <a:r>
              <a:rPr lang="en-US" sz="1200" dirty="0" err="1"/>
              <a:t>Kp</a:t>
            </a:r>
            <a:r>
              <a:rPr lang="en-US" sz="1200" dirty="0"/>
              <a:t>  readings into normal, degraded, and severe categories</a:t>
            </a:r>
            <a:endParaRPr dirty="0"/>
          </a:p>
          <a:p>
            <a:pPr marL="0" lvl="0" indent="0" algn="l" rtl="0">
              <a:spcBef>
                <a:spcPts val="0"/>
              </a:spcBef>
              <a:spcAft>
                <a:spcPts val="0"/>
              </a:spcAft>
              <a:buNone/>
            </a:pPr>
            <a:r>
              <a:rPr lang="en-US" sz="1200" dirty="0"/>
              <a:t>Align three hour </a:t>
            </a:r>
            <a:r>
              <a:rPr lang="en-US" sz="1200" dirty="0" err="1"/>
              <a:t>Kp</a:t>
            </a:r>
            <a:r>
              <a:rPr lang="en-US" sz="1200" dirty="0"/>
              <a:t> intervals to the simulation clock</a:t>
            </a:r>
            <a:endParaRPr dirty="0"/>
          </a:p>
          <a:p>
            <a:pPr marL="0" lvl="0" indent="0" algn="l" rtl="0">
              <a:spcBef>
                <a:spcPts val="0"/>
              </a:spcBef>
              <a:spcAft>
                <a:spcPts val="0"/>
              </a:spcAft>
              <a:buNone/>
            </a:pPr>
            <a:r>
              <a:rPr lang="en-US" sz="1200" dirty="0"/>
              <a:t>Flag missing intervals rather than assuming valid conditions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NOAA Space Weather Prediction Center (SWPC) </a:t>
            </a:r>
            <a:r>
              <a:rPr lang="en-US" sz="1200" dirty="0" err="1"/>
              <a:t>Kp</a:t>
            </a:r>
            <a:r>
              <a:rPr lang="en-US" sz="1200" dirty="0"/>
              <a:t> Example</a:t>
            </a:r>
            <a:endParaRPr dirty="0"/>
          </a:p>
          <a:p>
            <a:pPr marL="0" lvl="0" indent="0" algn="l" rtl="0">
              <a:spcBef>
                <a:spcPts val="0"/>
              </a:spcBef>
              <a:spcAft>
                <a:spcPts val="0"/>
              </a:spcAft>
              <a:buNone/>
            </a:pPr>
            <a:r>
              <a:rPr lang="en-US" sz="1200" dirty="0"/>
              <a:t>ID | Name | Source | Brief Description | Format | Time Span | Num. of records | Access </a:t>
            </a:r>
            <a:endParaRPr dirty="0"/>
          </a:p>
          <a:p>
            <a:pPr marL="0" lvl="0" indent="0" algn="l" rtl="0">
              <a:spcBef>
                <a:spcPts val="0"/>
              </a:spcBef>
              <a:spcAft>
                <a:spcPts val="0"/>
              </a:spcAft>
              <a:buNone/>
            </a:pPr>
            <a:r>
              <a:rPr lang="en-US" sz="1200" dirty="0"/>
              <a:t>(Y/N)</a:t>
            </a:r>
            <a:endParaRPr dirty="0"/>
          </a:p>
          <a:p>
            <a:pPr marL="0" lvl="0" indent="0" algn="l" rtl="0">
              <a:spcBef>
                <a:spcPts val="0"/>
              </a:spcBef>
              <a:spcAft>
                <a:spcPts val="0"/>
              </a:spcAft>
              <a:buNone/>
            </a:pPr>
            <a:r>
              <a:rPr lang="en-US" sz="1200" dirty="0"/>
              <a:t>2 | Space Weather | NOAA SWPC Planetary K-Index | </a:t>
            </a:r>
            <a:r>
              <a:rPr lang="en-US" sz="1200" dirty="0" err="1"/>
              <a:t>Kp</a:t>
            </a:r>
            <a:r>
              <a:rPr lang="en-US" sz="1200" dirty="0"/>
              <a:t> values represent geomagnetic/solar storm severity for degraded communications scenarios. | CSV/HTML | Per 30 day window sample period | 240 intervals | Y</a:t>
            </a:r>
            <a:endParaRPr dirty="0"/>
          </a:p>
          <a:p>
            <a:pPr marL="0" lvl="0" indent="0" algn="l" rtl="0">
              <a:spcBef>
                <a:spcPts val="0"/>
              </a:spcBef>
              <a:spcAft>
                <a:spcPts val="0"/>
              </a:spcAft>
              <a:buNone/>
            </a:pPr>
            <a:r>
              <a:rPr lang="en-US" sz="1200" dirty="0" err="1"/>
              <a:t>UTC_Time</a:t>
            </a:r>
            <a:r>
              <a:rPr lang="en-US" sz="1200" dirty="0"/>
              <a:t> | KP_INDEX | DEGRADATION_LEVEL</a:t>
            </a:r>
            <a:endParaRPr dirty="0"/>
          </a:p>
          <a:p>
            <a:pPr marL="0" lvl="0" indent="0" algn="l" rtl="0">
              <a:spcBef>
                <a:spcPts val="0"/>
              </a:spcBef>
              <a:spcAft>
                <a:spcPts val="0"/>
              </a:spcAft>
              <a:buNone/>
            </a:pPr>
            <a:r>
              <a:rPr lang="en-US" sz="1200" dirty="0"/>
              <a:t>7/1/2026 0:00 | 2 | Normal</a:t>
            </a:r>
            <a:endParaRPr dirty="0"/>
          </a:p>
          <a:p>
            <a:pPr marL="0" lvl="0" indent="0" algn="l" rtl="0">
              <a:spcBef>
                <a:spcPts val="0"/>
              </a:spcBef>
              <a:spcAft>
                <a:spcPts val="0"/>
              </a:spcAft>
              <a:buNone/>
            </a:pPr>
            <a:r>
              <a:rPr lang="en-US" sz="1200" dirty="0"/>
              <a:t>7/1/2026 3:00 | 5 | Degraded</a:t>
            </a:r>
            <a:endParaRPr dirty="0"/>
          </a:p>
          <a:p>
            <a:pPr marL="0" lvl="0" indent="0" algn="l" rtl="0">
              <a:spcBef>
                <a:spcPts val="0"/>
              </a:spcBef>
              <a:spcAft>
                <a:spcPts val="0"/>
              </a:spcAft>
              <a:buNone/>
            </a:pPr>
            <a:r>
              <a:rPr lang="en-US" sz="1200" dirty="0"/>
              <a:t>7/1/2026 6:00 | 7 | Severe</a:t>
            </a:r>
            <a:endParaRPr dirty="0"/>
          </a:p>
          <a:p>
            <a:pPr marL="0" lvl="0" indent="0" algn="l" rtl="0">
              <a:spcBef>
                <a:spcPts val="0"/>
              </a:spcBef>
              <a:spcAft>
                <a:spcPts val="0"/>
              </a:spcAft>
              <a:buNone/>
            </a:pPr>
            <a:r>
              <a:rPr lang="en-US" sz="1200" dirty="0"/>
              <a:t>Sample Data:</a:t>
            </a: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r>
              <a:rPr lang="en-US" sz="1200" dirty="0"/>
              <a:t>The NOAA Space Weather Prediction Center provides </a:t>
            </a:r>
            <a:r>
              <a:rPr lang="en-US" sz="1200" dirty="0" err="1"/>
              <a:t>Kp</a:t>
            </a:r>
            <a:r>
              <a:rPr lang="en-US" sz="1200" dirty="0"/>
              <a:t> and related space-weather information. I use this to represent environmental conditions that may degrade communications.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19</a:t>
            </a:r>
            <a:endParaRPr dirty="0"/>
          </a:p>
          <a:p>
            <a:pPr marL="0" lvl="0" indent="0" algn="l" rtl="0">
              <a:spcBef>
                <a:spcPts val="0"/>
              </a:spcBef>
              <a:spcAft>
                <a:spcPts val="0"/>
              </a:spcAft>
              <a:buNone/>
            </a:pPr>
            <a:r>
              <a:rPr lang="en-US" sz="1200" dirty="0"/>
              <a:t>Use of weather observations to estimate ground station availability representing a notional remote antenna, the Remote Ground Station (RGS).</a:t>
            </a:r>
            <a:endParaRPr dirty="0"/>
          </a:p>
          <a:p>
            <a:pPr marL="0" lvl="0" indent="0" algn="l" rtl="0">
              <a:spcBef>
                <a:spcPts val="0"/>
              </a:spcBef>
              <a:spcAft>
                <a:spcPts val="0"/>
              </a:spcAft>
              <a:buNone/>
            </a:pPr>
            <a:r>
              <a:rPr lang="en-US" sz="1200" dirty="0"/>
              <a:t>Data treatment:</a:t>
            </a:r>
            <a:endParaRPr dirty="0"/>
          </a:p>
          <a:p>
            <a:pPr marL="0" lvl="0" indent="0" algn="l" rtl="0">
              <a:spcBef>
                <a:spcPts val="0"/>
              </a:spcBef>
              <a:spcAft>
                <a:spcPts val="0"/>
              </a:spcAft>
              <a:buNone/>
            </a:pPr>
            <a:r>
              <a:rPr lang="en-US" sz="1200" dirty="0"/>
              <a:t>Select the nearest public weather station to the notional antenna</a:t>
            </a:r>
            <a:endParaRPr dirty="0"/>
          </a:p>
          <a:p>
            <a:pPr marL="0" lvl="0" indent="0" algn="l" rtl="0">
              <a:spcBef>
                <a:spcPts val="0"/>
              </a:spcBef>
              <a:spcAft>
                <a:spcPts val="0"/>
              </a:spcAft>
              <a:buNone/>
            </a:pPr>
            <a:r>
              <a:rPr lang="en-US" sz="1200" dirty="0"/>
              <a:t>Standardize solar, electro-magnetic/polar or gravimetric data </a:t>
            </a:r>
            <a:endParaRPr dirty="0"/>
          </a:p>
          <a:p>
            <a:pPr marL="0" lvl="0" indent="0" algn="l" rtl="0">
              <a:spcBef>
                <a:spcPts val="0"/>
              </a:spcBef>
              <a:spcAft>
                <a:spcPts val="0"/>
              </a:spcAft>
              <a:buNone/>
            </a:pPr>
            <a:r>
              <a:rPr lang="en-US" sz="1200" dirty="0"/>
              <a:t>Convert weather values into availability-impact scores.</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NOAA National Centers for Environmental Information Weather (NCEI) Example</a:t>
            </a:r>
            <a:endParaRPr dirty="0"/>
          </a:p>
          <a:p>
            <a:pPr marL="0" lvl="0" indent="0" algn="l" rtl="0">
              <a:spcBef>
                <a:spcPts val="0"/>
              </a:spcBef>
              <a:spcAft>
                <a:spcPts val="0"/>
              </a:spcAft>
              <a:buNone/>
            </a:pPr>
            <a:r>
              <a:rPr lang="en-US" sz="1200" dirty="0"/>
              <a:t>ID | Name | Source | Brief Description | Format | Time Span | Num. of records | Access </a:t>
            </a:r>
            <a:endParaRPr dirty="0"/>
          </a:p>
          <a:p>
            <a:pPr marL="0" lvl="0" indent="0" algn="l" rtl="0">
              <a:spcBef>
                <a:spcPts val="0"/>
              </a:spcBef>
              <a:spcAft>
                <a:spcPts val="0"/>
              </a:spcAft>
              <a:buNone/>
            </a:pPr>
            <a:r>
              <a:rPr lang="en-US" sz="1200" dirty="0"/>
              <a:t>(Y/N)</a:t>
            </a:r>
            <a:endParaRPr dirty="0"/>
          </a:p>
          <a:p>
            <a:pPr marL="0" lvl="0" indent="0" algn="l" rtl="0">
              <a:spcBef>
                <a:spcPts val="0"/>
              </a:spcBef>
              <a:spcAft>
                <a:spcPts val="0"/>
              </a:spcAft>
              <a:buNone/>
            </a:pPr>
            <a:r>
              <a:rPr lang="en-US" sz="1200" dirty="0"/>
              <a:t>3 | Ground Weather | NOAA Local Climate Data | Hourly weather observations support ground-station availability assumptions near a notional antenna for example. | CSV | Per 30 day window sample period | 720 hourly records | Y</a:t>
            </a:r>
            <a:endParaRPr dirty="0"/>
          </a:p>
          <a:p>
            <a:pPr marL="0" lvl="0" indent="0" algn="l" rtl="0">
              <a:spcBef>
                <a:spcPts val="0"/>
              </a:spcBef>
              <a:spcAft>
                <a:spcPts val="0"/>
              </a:spcAft>
              <a:buNone/>
            </a:pPr>
            <a:r>
              <a:rPr lang="en-US" sz="1200" dirty="0"/>
              <a:t>UTC_TIME | SOURCE | VARIABLE | VALUE | UNIT | DEGRADATION_LEVEL | AVAILABILITY_IMPACT</a:t>
            </a:r>
            <a:endParaRPr dirty="0"/>
          </a:p>
          <a:p>
            <a:pPr marL="0" lvl="0" indent="0" algn="l" rtl="0">
              <a:spcBef>
                <a:spcPts val="0"/>
              </a:spcBef>
              <a:spcAft>
                <a:spcPts val="0"/>
              </a:spcAft>
              <a:buNone/>
            </a:pPr>
            <a:r>
              <a:rPr lang="en-US" sz="1200" dirty="0"/>
              <a:t>2026_07_01 00:00 | NOAA NCEI LCD | Visibility | 8 | km | km | Normal</a:t>
            </a:r>
            <a:endParaRPr dirty="0"/>
          </a:p>
          <a:p>
            <a:pPr marL="0" lvl="0" indent="0" algn="l" rtl="0">
              <a:spcBef>
                <a:spcPts val="0"/>
              </a:spcBef>
              <a:spcAft>
                <a:spcPts val="0"/>
              </a:spcAft>
              <a:buNone/>
            </a:pPr>
            <a:r>
              <a:rPr lang="en-US" sz="1200" dirty="0"/>
              <a:t>2026_07_01 03:00 | NOAA SWPC </a:t>
            </a:r>
            <a:r>
              <a:rPr lang="en-US" sz="1200" dirty="0" err="1"/>
              <a:t>Kp</a:t>
            </a:r>
            <a:r>
              <a:rPr lang="en-US" sz="1200" dirty="0"/>
              <a:t> | </a:t>
            </a:r>
            <a:r>
              <a:rPr lang="en-US" sz="1200" dirty="0" err="1"/>
              <a:t>Kp</a:t>
            </a:r>
            <a:r>
              <a:rPr lang="en-US" sz="1200" dirty="0"/>
              <a:t> Index | 6 | index | index | Degraded</a:t>
            </a:r>
            <a:endParaRPr dirty="0"/>
          </a:p>
          <a:p>
            <a:pPr marL="0" lvl="0" indent="0" algn="l" rtl="0">
              <a:spcBef>
                <a:spcPts val="0"/>
              </a:spcBef>
              <a:spcAft>
                <a:spcPts val="0"/>
              </a:spcAft>
              <a:buNone/>
            </a:pPr>
            <a:r>
              <a:rPr lang="en-US" sz="1200" dirty="0"/>
              <a:t>2026_07_01 04:30 | NOAA GOES X-ray | Radio Blackout | R1 | category | category | Degraded</a:t>
            </a:r>
            <a:endParaRPr dirty="0"/>
          </a:p>
          <a:p>
            <a:pPr marL="0" lvl="0" indent="0" algn="l" rtl="0">
              <a:spcBef>
                <a:spcPts val="0"/>
              </a:spcBef>
              <a:spcAft>
                <a:spcPts val="0"/>
              </a:spcAft>
              <a:buNone/>
            </a:pPr>
            <a:r>
              <a:rPr lang="en-US" sz="1200" dirty="0"/>
              <a:t>2026_07_01 06:15 | USGS Earthquake API | Magnitude | 5.6 | Mw | Mw | Severe</a:t>
            </a:r>
            <a:endParaRPr dirty="0"/>
          </a:p>
          <a:p>
            <a:pPr marL="0" lvl="0" indent="0" algn="l" rtl="0">
              <a:spcBef>
                <a:spcPts val="0"/>
              </a:spcBef>
              <a:spcAft>
                <a:spcPts val="0"/>
              </a:spcAft>
              <a:buNone/>
            </a:pPr>
            <a:r>
              <a:rPr lang="en-US" sz="1200" dirty="0"/>
              <a:t>Sample Data:</a:t>
            </a: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r>
              <a:rPr lang="en-US" sz="1200" dirty="0"/>
              <a:t>The NOAA National Centers for Environmental Information provides historical ground-weather observations near a notional remote ground station.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20</a:t>
            </a:r>
            <a:endParaRPr dirty="0"/>
          </a:p>
          <a:p>
            <a:pPr marL="0" lvl="0" indent="0" algn="l" rtl="0">
              <a:spcBef>
                <a:spcPts val="0"/>
              </a:spcBef>
              <a:spcAft>
                <a:spcPts val="0"/>
              </a:spcAft>
              <a:buNone/>
            </a:pPr>
            <a:r>
              <a:rPr lang="en-US" sz="1200" dirty="0"/>
              <a:t>Use public architecture descriptions to define baseline ground station and relay network assumptions.</a:t>
            </a:r>
            <a:endParaRPr dirty="0"/>
          </a:p>
          <a:p>
            <a:pPr marL="0" lvl="0" indent="0" algn="l" rtl="0">
              <a:spcBef>
                <a:spcPts val="0"/>
              </a:spcBef>
              <a:spcAft>
                <a:spcPts val="0"/>
              </a:spcAft>
              <a:buNone/>
            </a:pPr>
            <a:r>
              <a:rPr lang="en-US" sz="1200" dirty="0"/>
              <a:t>Data treatment:</a:t>
            </a:r>
            <a:endParaRPr dirty="0"/>
          </a:p>
          <a:p>
            <a:pPr marL="0" lvl="0" indent="0" algn="l" rtl="0">
              <a:spcBef>
                <a:spcPts val="0"/>
              </a:spcBef>
              <a:spcAft>
                <a:spcPts val="0"/>
              </a:spcAft>
              <a:buNone/>
            </a:pPr>
            <a:r>
              <a:rPr lang="en-US" sz="1200" dirty="0"/>
              <a:t>Extract architecture elements relevant to the ground, relay and user segments for modeling</a:t>
            </a:r>
            <a:endParaRPr dirty="0"/>
          </a:p>
          <a:p>
            <a:pPr marL="0" lvl="0" indent="0" algn="l" rtl="0">
              <a:spcBef>
                <a:spcPts val="0"/>
              </a:spcBef>
              <a:spcAft>
                <a:spcPts val="0"/>
              </a:spcAft>
              <a:buNone/>
            </a:pPr>
            <a:r>
              <a:rPr lang="en-US" sz="1200" dirty="0"/>
              <a:t>Convert qualitative architecture descriptions into notional model states.</a:t>
            </a:r>
            <a:endParaRPr dirty="0"/>
          </a:p>
          <a:p>
            <a:pPr marL="0" lvl="0" indent="0" algn="l" rtl="0">
              <a:spcBef>
                <a:spcPts val="0"/>
              </a:spcBef>
              <a:spcAft>
                <a:spcPts val="0"/>
              </a:spcAft>
              <a:buNone/>
            </a:pPr>
            <a:r>
              <a:rPr lang="en-US" sz="1200" dirty="0"/>
              <a:t>Cite derived assumptions rather than treating them as measured data.</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NASA </a:t>
            </a:r>
            <a:r>
              <a:rPr lang="en-US" sz="1200" dirty="0" err="1"/>
              <a:t>SCaN</a:t>
            </a:r>
            <a:r>
              <a:rPr lang="en-US" sz="1200" dirty="0"/>
              <a:t> Example</a:t>
            </a:r>
            <a:endParaRPr dirty="0"/>
          </a:p>
          <a:p>
            <a:pPr marL="0" lvl="0" indent="0" algn="l" rtl="0">
              <a:spcBef>
                <a:spcPts val="0"/>
              </a:spcBef>
              <a:spcAft>
                <a:spcPts val="0"/>
              </a:spcAft>
              <a:buNone/>
            </a:pPr>
            <a:r>
              <a:rPr lang="en-US" sz="1200" dirty="0"/>
              <a:t>ID | Name | Source | Brief Description | Format | Time Span | Num. of records | Access </a:t>
            </a:r>
            <a:endParaRPr dirty="0"/>
          </a:p>
          <a:p>
            <a:pPr marL="0" lvl="0" indent="0" algn="l" rtl="0">
              <a:spcBef>
                <a:spcPts val="0"/>
              </a:spcBef>
              <a:spcAft>
                <a:spcPts val="0"/>
              </a:spcAft>
              <a:buNone/>
            </a:pPr>
            <a:r>
              <a:rPr lang="en-US" sz="1200" dirty="0"/>
              <a:t>(Y/N)</a:t>
            </a:r>
            <a:endParaRPr dirty="0"/>
          </a:p>
          <a:p>
            <a:pPr marL="0" lvl="0" indent="0" algn="l" rtl="0">
              <a:spcBef>
                <a:spcPts val="0"/>
              </a:spcBef>
              <a:spcAft>
                <a:spcPts val="0"/>
              </a:spcAft>
              <a:buNone/>
            </a:pPr>
            <a:r>
              <a:rPr lang="en-US" sz="1200" dirty="0"/>
              <a:t>4 | C2 Architecture Baseline  | NASA </a:t>
            </a:r>
            <a:r>
              <a:rPr lang="en-US" sz="1200" dirty="0" err="1"/>
              <a:t>SCaN</a:t>
            </a:r>
            <a:r>
              <a:rPr lang="en-US" sz="1200" dirty="0"/>
              <a:t> Network Architecture Definition Document, Vol 1, Rev 4 | Architecture descriptions support baseline ground-station and relay network path assumptions. | CSV/PDF | 2013 publication | 1 doc | Y</a:t>
            </a:r>
            <a:endParaRPr dirty="0"/>
          </a:p>
          <a:p>
            <a:pPr marL="0" lvl="0" indent="0" algn="l" rtl="0">
              <a:spcBef>
                <a:spcPts val="0"/>
              </a:spcBef>
              <a:spcAft>
                <a:spcPts val="0"/>
              </a:spcAft>
              <a:buNone/>
            </a:pPr>
            <a:r>
              <a:rPr lang="en-US" sz="1200" dirty="0"/>
              <a:t>ARCHITECTURE_ELEMENT | MODEL_VARIABLE | SIMULATION_ROLE</a:t>
            </a:r>
            <a:endParaRPr dirty="0"/>
          </a:p>
          <a:p>
            <a:pPr marL="0" lvl="0" indent="0" algn="l" rtl="0">
              <a:spcBef>
                <a:spcPts val="0"/>
              </a:spcBef>
              <a:spcAft>
                <a:spcPts val="0"/>
              </a:spcAft>
              <a:buNone/>
            </a:pPr>
            <a:r>
              <a:rPr lang="en-US" sz="1200" dirty="0"/>
              <a:t>Ground station | RGS Availability | Baseline path gate</a:t>
            </a:r>
            <a:endParaRPr dirty="0"/>
          </a:p>
          <a:p>
            <a:pPr marL="0" lvl="0" indent="0" algn="l" rtl="0">
              <a:spcBef>
                <a:spcPts val="0"/>
              </a:spcBef>
              <a:spcAft>
                <a:spcPts val="0"/>
              </a:spcAft>
              <a:buNone/>
            </a:pPr>
            <a:r>
              <a:rPr lang="en-US" sz="1200" dirty="0"/>
              <a:t>Relay network | Route availability | Alternate path support</a:t>
            </a:r>
            <a:endParaRPr dirty="0"/>
          </a:p>
          <a:p>
            <a:pPr marL="0" lvl="0" indent="0" algn="l" rtl="0">
              <a:spcBef>
                <a:spcPts val="0"/>
              </a:spcBef>
              <a:spcAft>
                <a:spcPts val="0"/>
              </a:spcAft>
              <a:buNone/>
            </a:pPr>
            <a:r>
              <a:rPr lang="en-US" sz="1200" dirty="0"/>
              <a:t>User segment | Operator receipt | Decision support endpoint</a:t>
            </a:r>
            <a:endParaRPr dirty="0"/>
          </a:p>
          <a:p>
            <a:pPr marL="0" lvl="0" indent="0" algn="l" rtl="0">
              <a:spcBef>
                <a:spcPts val="0"/>
              </a:spcBef>
              <a:spcAft>
                <a:spcPts val="0"/>
              </a:spcAft>
              <a:buNone/>
            </a:pPr>
            <a:r>
              <a:rPr lang="en-US" sz="1200" dirty="0"/>
              <a:t>Sample Data:</a:t>
            </a: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r>
              <a:rPr lang="en-US" sz="1200" dirty="0"/>
              <a:t>The NASA </a:t>
            </a:r>
            <a:r>
              <a:rPr lang="en-US" sz="1200" dirty="0" err="1"/>
              <a:t>SCaN</a:t>
            </a:r>
            <a:r>
              <a:rPr lang="en-US" sz="1200" dirty="0"/>
              <a:t> architecture document is not a live dataset. It provides the public architecture baseline for ground stations, relay networks, and communications paths.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21</a:t>
            </a:r>
            <a:endParaRPr dirty="0"/>
          </a:p>
          <a:p>
            <a:pPr marL="0" lvl="0" indent="0" algn="l" rtl="0">
              <a:spcBef>
                <a:spcPts val="0"/>
              </a:spcBef>
              <a:spcAft>
                <a:spcPts val="0"/>
              </a:spcAft>
              <a:buNone/>
            </a:pPr>
            <a:r>
              <a:rPr lang="en-US" sz="1200" dirty="0"/>
              <a:t>Use resilience concepts to define degraded mission performance measures and decision criteria.</a:t>
            </a:r>
            <a:endParaRPr dirty="0"/>
          </a:p>
          <a:p>
            <a:pPr marL="0" lvl="0" indent="0" algn="l" rtl="0">
              <a:spcBef>
                <a:spcPts val="0"/>
              </a:spcBef>
              <a:spcAft>
                <a:spcPts val="0"/>
              </a:spcAft>
              <a:buNone/>
            </a:pPr>
            <a:r>
              <a:rPr lang="en-US" sz="1200" dirty="0"/>
              <a:t>Data treatment:</a:t>
            </a:r>
            <a:endParaRPr dirty="0"/>
          </a:p>
          <a:p>
            <a:pPr marL="0" lvl="0" indent="0" algn="l" rtl="0">
              <a:spcBef>
                <a:spcPts val="0"/>
              </a:spcBef>
              <a:spcAft>
                <a:spcPts val="0"/>
              </a:spcAft>
              <a:buNone/>
            </a:pPr>
            <a:r>
              <a:rPr lang="en-US" sz="1200" dirty="0"/>
              <a:t>Retrieve resilience concepts and ideas relevant to latency, availability, and degradation</a:t>
            </a:r>
            <a:endParaRPr dirty="0"/>
          </a:p>
          <a:p>
            <a:pPr marL="0" lvl="0" indent="0" algn="l" rtl="0">
              <a:spcBef>
                <a:spcPts val="0"/>
              </a:spcBef>
              <a:spcAft>
                <a:spcPts val="0"/>
              </a:spcAft>
              <a:buNone/>
            </a:pPr>
            <a:r>
              <a:rPr lang="en-US" sz="1200" dirty="0"/>
              <a:t>Map the concepts and ideas to a measurable simulation output</a:t>
            </a:r>
            <a:endParaRPr dirty="0"/>
          </a:p>
          <a:p>
            <a:pPr marL="0" lvl="0" indent="0" algn="l" rtl="0">
              <a:spcBef>
                <a:spcPts val="0"/>
              </a:spcBef>
              <a:spcAft>
                <a:spcPts val="0"/>
              </a:spcAft>
              <a:buNone/>
            </a:pPr>
            <a:r>
              <a:rPr lang="en-US" sz="1200" dirty="0"/>
              <a:t>Use this for methodology support, not direct operational data</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RAND Example</a:t>
            </a:r>
            <a:endParaRPr dirty="0"/>
          </a:p>
          <a:p>
            <a:pPr marL="0" lvl="0" indent="0" algn="l" rtl="0">
              <a:spcBef>
                <a:spcPts val="0"/>
              </a:spcBef>
              <a:spcAft>
                <a:spcPts val="0"/>
              </a:spcAft>
              <a:buNone/>
            </a:pPr>
            <a:r>
              <a:rPr lang="en-US" sz="1200" dirty="0"/>
              <a:t>ID | Name | Source | Brief Description | Format | Time Span | Num. of records | Access </a:t>
            </a:r>
            <a:endParaRPr dirty="0"/>
          </a:p>
          <a:p>
            <a:pPr marL="0" lvl="0" indent="0" algn="l" rtl="0">
              <a:spcBef>
                <a:spcPts val="0"/>
              </a:spcBef>
              <a:spcAft>
                <a:spcPts val="0"/>
              </a:spcAft>
              <a:buNone/>
            </a:pPr>
            <a:r>
              <a:rPr lang="en-US" sz="1200" dirty="0"/>
              <a:t>(Y/N)</a:t>
            </a:r>
            <a:endParaRPr dirty="0"/>
          </a:p>
          <a:p>
            <a:pPr marL="0" lvl="0" indent="0" algn="l" rtl="0">
              <a:spcBef>
                <a:spcPts val="0"/>
              </a:spcBef>
              <a:spcAft>
                <a:spcPts val="0"/>
              </a:spcAft>
              <a:buNone/>
            </a:pPr>
            <a:r>
              <a:rPr lang="en-US" sz="1200" dirty="0"/>
              <a:t>5 | Resilience Metrics | RAND Resilience Assessment Framework | Resilience framework supporting degraded mission performance comparison. | CSV/PDF | 2023 publication | 1 doc | Y</a:t>
            </a:r>
            <a:endParaRPr dirty="0"/>
          </a:p>
          <a:p>
            <a:pPr marL="0" lvl="0" indent="0" algn="l" rtl="0">
              <a:spcBef>
                <a:spcPts val="0"/>
              </a:spcBef>
              <a:spcAft>
                <a:spcPts val="0"/>
              </a:spcAft>
              <a:buNone/>
            </a:pPr>
            <a:r>
              <a:rPr lang="en-US" sz="1200" dirty="0"/>
              <a:t>RESILIENCE_CONCEPT | MODEL_METRIC | DECISION_CRITERION</a:t>
            </a:r>
            <a:endParaRPr dirty="0"/>
          </a:p>
          <a:p>
            <a:pPr marL="0" lvl="0" indent="0" algn="l" rtl="0">
              <a:spcBef>
                <a:spcPts val="0"/>
              </a:spcBef>
              <a:spcAft>
                <a:spcPts val="0"/>
              </a:spcAft>
              <a:buNone/>
            </a:pPr>
            <a:r>
              <a:rPr lang="en-US" sz="1200" dirty="0"/>
              <a:t>Degradation | Path availability (%) | Maintains threshold</a:t>
            </a:r>
            <a:endParaRPr dirty="0"/>
          </a:p>
          <a:p>
            <a:pPr marL="0" lvl="0" indent="0" algn="l" rtl="0">
              <a:spcBef>
                <a:spcPts val="0"/>
              </a:spcBef>
              <a:spcAft>
                <a:spcPts val="0"/>
              </a:spcAft>
              <a:buNone/>
            </a:pPr>
            <a:r>
              <a:rPr lang="en-US" sz="1200" dirty="0"/>
              <a:t>Recovery | Recovery time (s) | Restores service</a:t>
            </a:r>
            <a:endParaRPr dirty="0"/>
          </a:p>
          <a:p>
            <a:pPr marL="0" lvl="0" indent="0" algn="l" rtl="0">
              <a:spcBef>
                <a:spcPts val="0"/>
              </a:spcBef>
              <a:spcAft>
                <a:spcPts val="0"/>
              </a:spcAft>
              <a:buNone/>
            </a:pPr>
            <a:r>
              <a:rPr lang="en-US" sz="1200" dirty="0"/>
              <a:t>Mission performance | Response latency (s) | Improves baseline</a:t>
            </a:r>
            <a:endParaRPr dirty="0"/>
          </a:p>
          <a:p>
            <a:pPr marL="0" lvl="0" indent="0" algn="l" rtl="0">
              <a:spcBef>
                <a:spcPts val="0"/>
              </a:spcBef>
              <a:spcAft>
                <a:spcPts val="0"/>
              </a:spcAft>
              <a:buNone/>
            </a:pPr>
            <a:r>
              <a:rPr lang="en-US" sz="1200" dirty="0"/>
              <a:t>Sample Data:</a:t>
            </a: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r>
              <a:rPr lang="en-US" sz="1200" dirty="0"/>
              <a:t>The RAND Resilience Assessment Framework provides resilience concepts and performance measures that help define degradation, recovery, and mission-performance criteria.</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FINAL SUBMISSION, SLIDE 22</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Use controlled simulation inputs to vary degradation, routing, processing, and decision thresholds.</a:t>
            </a:r>
            <a:endParaRPr dirty="0"/>
          </a:p>
          <a:p>
            <a:pPr marL="0" lvl="0" indent="0" algn="l" rtl="0">
              <a:spcBef>
                <a:spcPts val="0"/>
              </a:spcBef>
              <a:spcAft>
                <a:spcPts val="0"/>
              </a:spcAft>
              <a:buNone/>
            </a:pPr>
            <a:r>
              <a:rPr lang="en-US" sz="1200" dirty="0"/>
              <a:t>Data treatment:</a:t>
            </a:r>
            <a:endParaRPr dirty="0"/>
          </a:p>
          <a:p>
            <a:pPr marL="0" lvl="0" indent="0" algn="l" rtl="0">
              <a:spcBef>
                <a:spcPts val="0"/>
              </a:spcBef>
              <a:spcAft>
                <a:spcPts val="0"/>
              </a:spcAft>
              <a:buNone/>
            </a:pPr>
            <a:r>
              <a:rPr lang="en-US" sz="1200" dirty="0"/>
              <a:t>Generate values from documented distributions and fixed random seeds.</a:t>
            </a:r>
            <a:endParaRPr dirty="0"/>
          </a:p>
          <a:p>
            <a:pPr marL="0" lvl="0" indent="0" algn="l" rtl="0">
              <a:spcBef>
                <a:spcPts val="0"/>
              </a:spcBef>
              <a:spcAft>
                <a:spcPts val="0"/>
              </a:spcAft>
              <a:buNone/>
            </a:pPr>
            <a:r>
              <a:rPr lang="en-US" sz="1200" dirty="0"/>
              <a:t>Store each run as a reproducible MATLAB input table</a:t>
            </a:r>
            <a:endParaRPr dirty="0"/>
          </a:p>
          <a:p>
            <a:pPr marL="0" lvl="0" indent="0" algn="l" rtl="0">
              <a:spcBef>
                <a:spcPts val="0"/>
              </a:spcBef>
              <a:spcAft>
                <a:spcPts val="0"/>
              </a:spcAft>
              <a:buNone/>
            </a:pPr>
            <a:r>
              <a:rPr lang="en-US" sz="1200" dirty="0"/>
              <a:t>Conduct sensitivity analysis by varying one driver at a time</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Scenario Vectors Example</a:t>
            </a:r>
            <a:endParaRPr dirty="0"/>
          </a:p>
          <a:p>
            <a:pPr marL="0" lvl="0" indent="0" algn="l" rtl="0">
              <a:spcBef>
                <a:spcPts val="0"/>
              </a:spcBef>
              <a:spcAft>
                <a:spcPts val="0"/>
              </a:spcAft>
              <a:buNone/>
            </a:pPr>
            <a:r>
              <a:rPr lang="en-US" sz="1200" dirty="0"/>
              <a:t>ID | Name | Source | Brief Description | Format | Time Span | Num. of records | Access </a:t>
            </a:r>
            <a:endParaRPr dirty="0"/>
          </a:p>
          <a:p>
            <a:pPr marL="0" lvl="0" indent="0" algn="l" rtl="0">
              <a:spcBef>
                <a:spcPts val="0"/>
              </a:spcBef>
              <a:spcAft>
                <a:spcPts val="0"/>
              </a:spcAft>
              <a:buNone/>
            </a:pPr>
            <a:r>
              <a:rPr lang="en-US" sz="1200" dirty="0"/>
              <a:t>(Y/N)</a:t>
            </a:r>
            <a:endParaRPr dirty="0"/>
          </a:p>
          <a:p>
            <a:pPr marL="0" lvl="0" indent="0" algn="l" rtl="0">
              <a:spcBef>
                <a:spcPts val="0"/>
              </a:spcBef>
              <a:spcAft>
                <a:spcPts val="0"/>
              </a:spcAft>
              <a:buNone/>
            </a:pPr>
            <a:r>
              <a:rPr lang="en-US" sz="1200" dirty="0"/>
              <a:t>6 | Scenario Vectors | Author created MATLAB scenario table | Simulation vectors control outage duration, bandwidth reduction, processing time, and threshold limits. | CSV/MAT | Simulation period | 10,000 runs | Y</a:t>
            </a:r>
            <a:endParaRPr dirty="0"/>
          </a:p>
          <a:p>
            <a:pPr marL="0" lvl="0" indent="0" algn="l" rtl="0">
              <a:spcBef>
                <a:spcPts val="0"/>
              </a:spcBef>
              <a:spcAft>
                <a:spcPts val="0"/>
              </a:spcAft>
              <a:buNone/>
            </a:pPr>
            <a:r>
              <a:rPr lang="en-US" sz="1200" dirty="0"/>
              <a:t>RUN_ID | CONTROL_MODE | COMM_DELAY | </a:t>
            </a:r>
            <a:r>
              <a:rPr lang="en-US" sz="1200" dirty="0" err="1"/>
              <a:t>RGS_Available</a:t>
            </a:r>
            <a:r>
              <a:rPr lang="en-US" sz="1200" dirty="0"/>
              <a:t> | EDGE_PROCESSING | AI_CONFIDENCE_%</a:t>
            </a:r>
            <a:endParaRPr dirty="0"/>
          </a:p>
          <a:p>
            <a:pPr marL="0" lvl="0" indent="0" algn="l" rtl="0">
              <a:spcBef>
                <a:spcPts val="0"/>
              </a:spcBef>
              <a:spcAft>
                <a:spcPts val="0"/>
              </a:spcAft>
              <a:buNone/>
            </a:pPr>
            <a:r>
              <a:rPr lang="en-US" sz="1200" dirty="0"/>
              <a:t>1 | Ground-centric | 7.5 | TRUE | 0 | 0</a:t>
            </a:r>
            <a:endParaRPr dirty="0"/>
          </a:p>
          <a:p>
            <a:pPr marL="0" lvl="0" indent="0" algn="l" rtl="0">
              <a:spcBef>
                <a:spcPts val="0"/>
              </a:spcBef>
              <a:spcAft>
                <a:spcPts val="0"/>
              </a:spcAft>
              <a:buNone/>
            </a:pPr>
            <a:r>
              <a:rPr lang="en-US" sz="1200" dirty="0"/>
              <a:t>2 | Edge Enabled | 3.2 | FALSE | 0.8 | 82</a:t>
            </a:r>
            <a:endParaRPr dirty="0"/>
          </a:p>
          <a:p>
            <a:pPr marL="0" lvl="0" indent="0" algn="l" rtl="0">
              <a:spcBef>
                <a:spcPts val="0"/>
              </a:spcBef>
              <a:spcAft>
                <a:spcPts val="0"/>
              </a:spcAft>
              <a:buNone/>
            </a:pPr>
            <a:r>
              <a:rPr lang="en-US" sz="1200" dirty="0"/>
              <a:t>3 | Edge Enabled | 4.1 | FALSE | 1.1 | 76</a:t>
            </a:r>
            <a:endParaRPr dirty="0"/>
          </a:p>
          <a:p>
            <a:pPr marL="0" lvl="0" indent="0" algn="l" rtl="0">
              <a:spcBef>
                <a:spcPts val="0"/>
              </a:spcBef>
              <a:spcAft>
                <a:spcPts val="0"/>
              </a:spcAft>
              <a:buNone/>
            </a:pPr>
            <a:r>
              <a:rPr lang="en-US" sz="1200" dirty="0"/>
              <a:t>Sample Data:</a:t>
            </a:r>
            <a:endParaRPr dirty="0"/>
          </a:p>
          <a:p>
            <a:pPr marL="0" lvl="0" indent="0" algn="l" rtl="0">
              <a:spcBef>
                <a:spcPts val="0"/>
              </a:spcBef>
              <a:spcAft>
                <a:spcPts val="0"/>
              </a:spcAft>
              <a:buNone/>
            </a:pPr>
            <a:r>
              <a:rPr lang="en-US" sz="1200" dirty="0"/>
              <a:t>SPEAKER NOTES</a:t>
            </a:r>
            <a:endParaRPr dirty="0"/>
          </a:p>
          <a:p>
            <a:pPr marL="0" lvl="0" indent="0" algn="l" rtl="0">
              <a:spcBef>
                <a:spcPts val="0"/>
              </a:spcBef>
              <a:spcAft>
                <a:spcPts val="0"/>
              </a:spcAft>
              <a:buNone/>
            </a:pPr>
            <a:r>
              <a:rPr lang="en-US" sz="1200" dirty="0"/>
              <a:t>Finally, I create a controlled MATLAB scenario table. This combines the public inputs into repeatable events such as an outage, bandwidth reduction, packet loss, processing delay, and recovery.</a:t>
            </a:r>
            <a:endParaRPr dirty="0"/>
          </a:p>
        </p:txBody>
      </p:sp>
      <p:sp>
        <p:nvSpPr>
          <p:cNvPr id="201" name="Google Shape;201;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FINAL SUBMISSION, SLIDE 2</a:t>
            </a:r>
            <a:endParaRPr/>
          </a:p>
          <a:p>
            <a:pPr marL="0" lvl="0" indent="0" algn="l" rtl="0">
              <a:spcBef>
                <a:spcPts val="0"/>
              </a:spcBef>
              <a:spcAft>
                <a:spcPts val="0"/>
              </a:spcAft>
              <a:buNone/>
            </a:pPr>
            <a:r>
              <a:rPr lang="en-US" sz="1200"/>
              <a:t>This Praxis develops a simulation-based systems engineering framework to evaluate autonomous satellite decision support under degraded communications.</a:t>
            </a:r>
            <a:endParaRPr/>
          </a:p>
          <a:p>
            <a:pPr marL="0" lvl="0" indent="0" algn="l" rtl="0">
              <a:spcBef>
                <a:spcPts val="0"/>
              </a:spcBef>
              <a:spcAft>
                <a:spcPts val="0"/>
              </a:spcAft>
              <a:buNone/>
            </a:pPr>
            <a:r>
              <a:rPr lang="en-US" sz="1200"/>
              <a:t>The study compares ground-centric routing against an orbital edge-processing path using public orbital data and space-weather indices.</a:t>
            </a:r>
            <a:endParaRPr/>
          </a:p>
          <a:p>
            <a:pPr marL="0" lvl="0" indent="0" algn="l" rtl="0">
              <a:spcBef>
                <a:spcPts val="0"/>
              </a:spcBef>
              <a:spcAft>
                <a:spcPts val="0"/>
              </a:spcAft>
              <a:buNone/>
            </a:pPr>
            <a:r>
              <a:rPr lang="en-US" sz="1200"/>
              <a:t>The modeled decisions include onboard filtering, alert prioritization, downlink prioritization, resource allocation, and safe-response recommendations for ground operator review.</a:t>
            </a:r>
            <a:endParaRPr/>
          </a:p>
          <a:p>
            <a:pPr marL="0" lvl="0" indent="0" algn="l" rtl="0">
              <a:spcBef>
                <a:spcPts val="0"/>
              </a:spcBef>
              <a:spcAft>
                <a:spcPts val="0"/>
              </a:spcAft>
              <a:buNone/>
            </a:pPr>
            <a:r>
              <a:rPr lang="en-US" sz="1200"/>
              <a:t>The framework evaluates onboard artificial intelligence and machine learning for predictive threat assessment and response.</a:t>
            </a:r>
            <a:endParaRPr/>
          </a:p>
          <a:p>
            <a:pPr marL="0" lvl="0" indent="0" algn="l" rtl="0">
              <a:spcBef>
                <a:spcPts val="0"/>
              </a:spcBef>
              <a:spcAft>
                <a:spcPts val="0"/>
              </a:spcAft>
              <a:buNone/>
            </a:pPr>
            <a:r>
              <a:rPr lang="en-US" sz="1200"/>
              <a:t>The model assesses decision latency, operator workload, cognitive burden, and resource utilization through simulation.</a:t>
            </a:r>
            <a:endParaRPr/>
          </a:p>
          <a:p>
            <a:pPr marL="0" lvl="0" indent="0" algn="l" rtl="0">
              <a:spcBef>
                <a:spcPts val="0"/>
              </a:spcBef>
              <a:spcAft>
                <a:spcPts val="0"/>
              </a:spcAft>
              <a:buNone/>
            </a:pPr>
            <a:r>
              <a:rPr lang="en-US" sz="1200"/>
              <a:t>The work produces a public-domain feasibility study and a preliminary Concept of Operations.</a:t>
            </a:r>
            <a:endParaRPr/>
          </a:p>
          <a:p>
            <a:pPr marL="0" lvl="0" indent="0" algn="l" rtl="0">
              <a:spcBef>
                <a:spcPts val="0"/>
              </a:spcBef>
              <a:spcAft>
                <a:spcPts val="0"/>
              </a:spcAft>
              <a:buNone/>
            </a:pPr>
            <a:r>
              <a:rPr lang="en-US" sz="1200"/>
              <a:t>Validation compares simulated outputs against public benchmarks, theoretical delay calculations, repeated runs, and sensitivity analysis.</a:t>
            </a:r>
            <a:endParaRPr/>
          </a:p>
          <a:p>
            <a:pPr marL="0" lvl="0" indent="0" algn="l" rtl="0">
              <a:spcBef>
                <a:spcPts val="0"/>
              </a:spcBef>
              <a:spcAft>
                <a:spcPts val="0"/>
              </a:spcAft>
              <a:buNone/>
            </a:pPr>
            <a:r>
              <a:rPr lang="en-US" sz="1200"/>
              <a:t>The research will not use classified data, develop new algorithms, or build physical hardware.</a:t>
            </a:r>
            <a:endParaRPr/>
          </a:p>
          <a:p>
            <a:pPr marL="0" lvl="0" indent="0" algn="l" rtl="0">
              <a:spcBef>
                <a:spcPts val="0"/>
              </a:spcBef>
              <a:spcAft>
                <a:spcPts val="0"/>
              </a:spcAft>
              <a:buNone/>
            </a:pPr>
            <a:r>
              <a:rPr lang="en-US" sz="1200"/>
              <a:t>Scope of Work</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r>
              <a:rPr lang="en-US" sz="1200"/>
              <a:t>Modeling Autonomous Satellite Decision-Making in Contested Environments.</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can an orbital edge-processing layer provide useful information to the operator faster?</a:t>
            </a:r>
            <a:br>
              <a:rPr lang="en-US" sz="1200"/>
            </a:br>
            <a:endParaRPr/>
          </a:p>
          <a:p>
            <a:pPr marL="0" lvl="0" indent="0" algn="l" rtl="0">
              <a:spcBef>
                <a:spcPts val="0"/>
              </a:spcBef>
              <a:spcAft>
                <a:spcPts val="0"/>
              </a:spcAft>
              <a:buNone/>
            </a:pPr>
            <a:r>
              <a:rPr lang="en-US" sz="1200"/>
              <a:t>The model focuses on bounded functions such as filtering, prioritizing, routing, allocating resources, and presenting recommendations. </a:t>
            </a:r>
            <a:br>
              <a:rPr lang="en-US" sz="1200"/>
            </a:br>
            <a:endParaRPr/>
          </a:p>
          <a:p>
            <a:pPr marL="0" lvl="0" indent="0" algn="l" rtl="0">
              <a:spcBef>
                <a:spcPts val="0"/>
              </a:spcBef>
              <a:spcAft>
                <a:spcPts val="0"/>
              </a:spcAft>
              <a:buNone/>
            </a:pPr>
            <a:r>
              <a:rPr lang="en-US" sz="1200"/>
              <a:t>The goal is to measure whether this architecture reduces latency, preserves communications availability, and reduces operator workload using only public, public, non-restricted data.”</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200"/>
              <a:t>FINAL SUBMISSION, SLIDE 6</a:t>
            </a:r>
            <a:endParaRPr/>
          </a:p>
          <a:p>
            <a:pPr marL="0" lvl="0" indent="0" algn="l" rtl="0">
              <a:spcBef>
                <a:spcPts val="0"/>
              </a:spcBef>
              <a:spcAft>
                <a:spcPts val="0"/>
              </a:spcAft>
              <a:buNone/>
            </a:pPr>
            <a:r>
              <a:rPr lang="en-US" sz="1200"/>
              <a:t>(A) Deliverable |  | WC</a:t>
            </a:r>
            <a:endParaRPr/>
          </a:p>
          <a:p>
            <a:pPr marL="0" lvl="0" indent="0" algn="l" rtl="0">
              <a:spcBef>
                <a:spcPts val="0"/>
              </a:spcBef>
              <a:spcAft>
                <a:spcPts val="0"/>
              </a:spcAft>
              <a:buNone/>
            </a:pPr>
            <a:r>
              <a:rPr lang="en-US" sz="1200"/>
              <a:t>Thesis Statement | This praxis will deliver a simulation-based systems engineering model demonstrating a bounded onboard decision-making framework under degraded communications. | 18</a:t>
            </a:r>
            <a:endParaRPr/>
          </a:p>
          <a:p>
            <a:pPr marL="0" lvl="0" indent="0" algn="l" rtl="0">
              <a:spcBef>
                <a:spcPts val="0"/>
              </a:spcBef>
              <a:spcAft>
                <a:spcPts val="0"/>
              </a:spcAft>
              <a:buNone/>
            </a:pPr>
            <a:r>
              <a:rPr lang="en-US" sz="1200"/>
              <a:t>Research Product | Simulation-Based Evaluation Framework | 4</a:t>
            </a:r>
            <a:endParaRPr/>
          </a:p>
          <a:p>
            <a:pPr marL="0" lvl="0" indent="0" algn="l" rtl="0">
              <a:spcBef>
                <a:spcPts val="0"/>
              </a:spcBef>
              <a:spcAft>
                <a:spcPts val="0"/>
              </a:spcAft>
              <a:buNone/>
            </a:pPr>
            <a:r>
              <a:rPr lang="en-US" sz="1200"/>
              <a:t>Format | Python/MATLAB/Simulink Model | 3</a:t>
            </a:r>
            <a:endParaRPr/>
          </a:p>
          <a:p>
            <a:pPr marL="0" lvl="0" indent="0" algn="l" rtl="0">
              <a:spcBef>
                <a:spcPts val="0"/>
              </a:spcBef>
              <a:spcAft>
                <a:spcPts val="0"/>
              </a:spcAft>
              <a:buNone/>
            </a:pPr>
            <a:r>
              <a:rPr lang="en-US" sz="1200"/>
              <a:t>Deliverable Usage | Systems engineers will use the framework during early architecture trades for onboard processing under degraded communications. | 16</a:t>
            </a:r>
            <a:endParaRPr/>
          </a:p>
          <a:p>
            <a:pPr marL="0" lvl="0" indent="0" algn="l" rtl="0">
              <a:spcBef>
                <a:spcPts val="0"/>
              </a:spcBef>
              <a:spcAft>
                <a:spcPts val="0"/>
              </a:spcAft>
              <a:buNone/>
            </a:pPr>
            <a:r>
              <a:rPr lang="en-US" sz="1200"/>
              <a:t>Tie back to PS | The framework will address decision latency by comparing ground-centric routing with bounded onboard decision support under the same scenarios. | 18</a:t>
            </a:r>
            <a:endParaRPr/>
          </a:p>
          <a:p>
            <a:pPr marL="0" lvl="0" indent="0" algn="l" rtl="0">
              <a:spcBef>
                <a:spcPts val="0"/>
              </a:spcBef>
              <a:spcAft>
                <a:spcPts val="0"/>
              </a:spcAft>
              <a:buNone/>
            </a:pPr>
            <a:r>
              <a:rPr lang="en-US" sz="1200"/>
              <a:t>New Contributions | This work will contribute a public, repeatable method for evaluating orbital edge-processing performance without classified data or new algorithms. | 18</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Scope | The framework will apply to autonomous systems that operate with degraded communications and constrained human oversight. | 16</a:t>
            </a:r>
            <a:endParaRPr/>
          </a:p>
          <a:p>
            <a:pPr marL="0" lvl="0" indent="0" algn="l" rtl="0">
              <a:spcBef>
                <a:spcPts val="0"/>
              </a:spcBef>
              <a:spcAft>
                <a:spcPts val="0"/>
              </a:spcAft>
              <a:buNone/>
            </a:pPr>
            <a:r>
              <a:rPr lang="en-US" sz="1200"/>
              <a:t>Main methodology | Discrete-Event Simulation | 3</a:t>
            </a:r>
            <a:endParaRPr/>
          </a:p>
          <a:p>
            <a:pPr marL="0" lvl="0" indent="0" algn="l" rtl="0">
              <a:spcBef>
                <a:spcPts val="0"/>
              </a:spcBef>
              <a:spcAft>
                <a:spcPts val="0"/>
              </a:spcAft>
              <a:buNone/>
            </a:pPr>
            <a:r>
              <a:rPr lang="en-US" sz="1200"/>
              <a:t>Inputs | Threat Type (Categorical), Threat Proximity (km), Communication Link Status (Boolean), Satellite Resource Availability (%), AI Confidence Score (%) | NA</a:t>
            </a:r>
            <a:endParaRPr/>
          </a:p>
          <a:p>
            <a:pPr marL="0" lvl="0" indent="0" algn="l" rtl="0">
              <a:spcBef>
                <a:spcPts val="0"/>
              </a:spcBef>
              <a:spcAft>
                <a:spcPts val="0"/>
              </a:spcAft>
              <a:buNone/>
            </a:pPr>
            <a:r>
              <a:rPr lang="en-US" sz="1200"/>
              <a:t>Outputs | Response Latency (seconds), Mission Success Probability (%), Resource Consumption (%), Correct Action Taken (Boolean) | NA</a:t>
            </a:r>
            <a:endParaRPr/>
          </a:p>
          <a:p>
            <a:pPr marL="0" lvl="0" indent="0" algn="l" rtl="0">
              <a:spcBef>
                <a:spcPts val="0"/>
              </a:spcBef>
              <a:spcAft>
                <a:spcPts val="0"/>
              </a:spcAft>
              <a:buNone/>
            </a:pPr>
            <a:r>
              <a:rPr lang="en-US" sz="1200"/>
              <a:t>Thesis Statement</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200"/>
              <a:t>FINAL SUBMISSION, SLIDE 14</a:t>
            </a:r>
            <a:endParaRPr/>
          </a:p>
          <a:p>
            <a:pPr marL="0" lvl="0" indent="0" algn="l" rtl="0">
              <a:spcBef>
                <a:spcPts val="0"/>
              </a:spcBef>
              <a:spcAft>
                <a:spcPts val="0"/>
              </a:spcAft>
              <a:buNone/>
            </a:pPr>
            <a:r>
              <a:rPr lang="en-US" sz="1200"/>
              <a:t>Methodology 1</a:t>
            </a:r>
            <a:endParaRPr/>
          </a:p>
          <a:p>
            <a:pPr marL="0" lvl="0" indent="0" algn="l" rtl="0">
              <a:spcBef>
                <a:spcPts val="0"/>
              </a:spcBef>
              <a:spcAft>
                <a:spcPts val="0"/>
              </a:spcAft>
              <a:buNone/>
            </a:pPr>
            <a:r>
              <a:rPr lang="en-US" sz="1200"/>
              <a:t>A) Deliverable | B) Content | C) WC</a:t>
            </a:r>
            <a:endParaRPr/>
          </a:p>
          <a:p>
            <a:pPr marL="0" lvl="0" indent="0" algn="l" rtl="0">
              <a:spcBef>
                <a:spcPts val="0"/>
              </a:spcBef>
              <a:spcAft>
                <a:spcPts val="0"/>
              </a:spcAft>
              <a:buNone/>
            </a:pPr>
            <a:r>
              <a:rPr lang="en-US" sz="1200"/>
              <a:t>Methodology | Discrete-Event Simulation |       3</a:t>
            </a:r>
            <a:endParaRPr/>
          </a:p>
          <a:p>
            <a:pPr marL="0" lvl="0" indent="0" algn="l" rtl="0">
              <a:spcBef>
                <a:spcPts val="0"/>
              </a:spcBef>
              <a:spcAft>
                <a:spcPts val="0"/>
              </a:spcAft>
              <a:buNone/>
            </a:pPr>
            <a:r>
              <a:rPr lang="en-US" sz="1200"/>
              <a:t>Inputs | The Disruption Event Type (categorical), event start times (s), event duration (min), communication lag, ground station availability (Boolean), satellite visibility window (min), bandwidth capacity (Mbps), data volume (MB), packet loss rate (%), edge processing times, AI confidence score (%), satellite resource availability (%) | NA</a:t>
            </a:r>
            <a:endParaRPr/>
          </a:p>
          <a:p>
            <a:pPr marL="0" lvl="0" indent="0" algn="l" rtl="0">
              <a:spcBef>
                <a:spcPts val="0"/>
              </a:spcBef>
              <a:spcAft>
                <a:spcPts val="0"/>
              </a:spcAft>
              <a:buNone/>
            </a:pPr>
            <a:r>
              <a:rPr lang="en-US" sz="1200"/>
              <a:t>Outputs | Response latency, OODA Loop decision cycle times, path availability (%), dropped messages (count), recovery time, operator workflow reduction comparison (%), correct action selection (%). | NA</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r>
              <a:rPr lang="en-US" sz="1200"/>
              <a:t>Methodology 1 — Discrete-Event Simulation</a:t>
            </a:r>
            <a:endParaRPr/>
          </a:p>
          <a:p>
            <a:pPr marL="0" lvl="0" indent="0" algn="l" rtl="0">
              <a:spcBef>
                <a:spcPts val="0"/>
              </a:spcBef>
              <a:spcAft>
                <a:spcPts val="0"/>
              </a:spcAft>
              <a:buNone/>
            </a:pPr>
            <a:r>
              <a:rPr lang="en-US" sz="1200"/>
              <a:t>Method:</a:t>
            </a:r>
            <a:br>
              <a:rPr lang="en-US" sz="1200"/>
            </a:br>
            <a:r>
              <a:rPr lang="en-US" sz="1200"/>
              <a:t>“My first methodology is discrete-event simulation. It follows specific events in order—such as a request arriving, the ground-station path failing, the edge cloud processing the request, and a response reaching the operator.”</a:t>
            </a:r>
            <a:endParaRPr/>
          </a:p>
          <a:p>
            <a:pPr marL="0" lvl="0" indent="0" algn="l" rtl="0">
              <a:spcBef>
                <a:spcPts val="0"/>
              </a:spcBef>
              <a:spcAft>
                <a:spcPts val="0"/>
              </a:spcAft>
              <a:buNone/>
            </a:pPr>
            <a:r>
              <a:rPr lang="en-US" sz="1200"/>
              <a:t>Inputs:</a:t>
            </a:r>
            <a:br>
              <a:rPr lang="en-US" sz="1200"/>
            </a:br>
            <a:r>
              <a:rPr lang="en-US" sz="1200"/>
              <a:t>“The inputs include the disruption type, when it starts, how long it lasts, communication delay, processing time, and available resources.”</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Outputs:</a:t>
            </a:r>
            <a:br>
              <a:rPr lang="en-US" sz="1200"/>
            </a:br>
            <a:r>
              <a:rPr lang="en-US" sz="1200"/>
              <a:t>“The outputs include response latency, OODA-loop time, path availability, dropped messages, recovery time, workload reduction, and what % of the time the correct response was selected.”</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Purpose:</a:t>
            </a:r>
            <a:br>
              <a:rPr lang="en-US" sz="1200"/>
            </a:br>
            <a:r>
              <a:rPr lang="en-US" sz="1200"/>
              <a:t>“This method shows what happens during each individual disruption and compares the ground-centric path with the edge-enabled path.”</a:t>
            </a:r>
            <a:endParaRPr/>
          </a:p>
          <a:p>
            <a:pPr marL="0" lvl="0" indent="0" algn="l" rtl="0">
              <a:spcBef>
                <a:spcPts val="0"/>
              </a:spcBef>
              <a:spcAft>
                <a:spcPts val="0"/>
              </a:spcAft>
              <a:buNone/>
            </a:pPr>
            <a:br>
              <a:rPr lang="en-US" sz="1200"/>
            </a:b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200"/>
              <a:t>FINAL SUBMISSION, SLIDE 15</a:t>
            </a:r>
            <a:endParaRPr/>
          </a:p>
          <a:p>
            <a:pPr marL="0" lvl="0" indent="0" algn="l" rtl="0">
              <a:spcBef>
                <a:spcPts val="0"/>
              </a:spcBef>
              <a:spcAft>
                <a:spcPts val="0"/>
              </a:spcAft>
              <a:buNone/>
            </a:pPr>
            <a:r>
              <a:rPr lang="en-US" sz="1200"/>
              <a:t>Methodology 2</a:t>
            </a:r>
            <a:endParaRPr/>
          </a:p>
          <a:p>
            <a:pPr marL="0" lvl="0" indent="0" algn="l" rtl="0">
              <a:spcBef>
                <a:spcPts val="0"/>
              </a:spcBef>
              <a:spcAft>
                <a:spcPts val="0"/>
              </a:spcAft>
              <a:buNone/>
            </a:pPr>
            <a:r>
              <a:rPr lang="en-US" sz="1200"/>
              <a:t>A) Deliverable | B) Content | C) WC</a:t>
            </a:r>
            <a:endParaRPr/>
          </a:p>
          <a:p>
            <a:pPr marL="0" lvl="0" indent="0" algn="l" rtl="0">
              <a:spcBef>
                <a:spcPts val="0"/>
              </a:spcBef>
              <a:spcAft>
                <a:spcPts val="0"/>
              </a:spcAft>
              <a:buNone/>
            </a:pPr>
            <a:r>
              <a:rPr lang="en-US" sz="1200"/>
              <a:t>Methodology | System Dynamic Simulation |        3</a:t>
            </a:r>
            <a:endParaRPr/>
          </a:p>
          <a:p>
            <a:pPr marL="0" lvl="0" indent="0" algn="l" rtl="0">
              <a:spcBef>
                <a:spcPts val="0"/>
              </a:spcBef>
              <a:spcAft>
                <a:spcPts val="0"/>
              </a:spcAft>
              <a:buNone/>
            </a:pPr>
            <a:r>
              <a:rPr lang="en-US" sz="1200"/>
              <a:t>Inputs | Time step(s), simulation duration (hr), path availability (%), bandwidth capacity (Mbps), data volume rate (MB/min), Kp index (0-9), weather severity index (0-1), queue depth (count), edge compute load (%) resource availability (%), AI confidence score (%) | NA</a:t>
            </a:r>
            <a:endParaRPr/>
          </a:p>
          <a:p>
            <a:pPr marL="0" lvl="0" indent="0" algn="l" rtl="0">
              <a:spcBef>
                <a:spcPts val="0"/>
              </a:spcBef>
              <a:spcAft>
                <a:spcPts val="0"/>
              </a:spcAft>
              <a:buNone/>
            </a:pPr>
            <a:r>
              <a:rPr lang="en-US" sz="1200"/>
              <a:t>Outputs | Average response latency, 95th percentile latency, OODA loop times, path availability (%), bandwidth demand (Mbps), queue growth rate (messages/min), operator workflow trends (count/hr), resource consumption (%), mission success probability (%). </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Dropped messages (count), recovery time, operator workflow reduction comparison, correct action selection (%).</a:t>
            </a:r>
            <a:endParaRPr/>
          </a:p>
          <a:p>
            <a:pPr marL="0" lvl="0" indent="0" algn="l" rtl="0">
              <a:spcBef>
                <a:spcPts val="0"/>
              </a:spcBef>
              <a:spcAft>
                <a:spcPts val="0"/>
              </a:spcAft>
              <a:buNone/>
            </a:pPr>
            <a:r>
              <a:rPr lang="en-US" sz="1200"/>
              <a:t> | NA</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r>
              <a:rPr lang="en-US" sz="1200"/>
              <a:t>Methodology 2 — System Dynamics Simulation</a:t>
            </a:r>
            <a:endParaRPr/>
          </a:p>
          <a:p>
            <a:pPr marL="0" lvl="0" indent="0" algn="l" rtl="0">
              <a:spcBef>
                <a:spcPts val="0"/>
              </a:spcBef>
              <a:spcAft>
                <a:spcPts val="0"/>
              </a:spcAft>
              <a:buNone/>
            </a:pPr>
            <a:r>
              <a:rPr lang="en-US" sz="1200"/>
              <a:t>Method:</a:t>
            </a:r>
            <a:br>
              <a:rPr lang="en-US" sz="1200"/>
            </a:br>
            <a:r>
              <a:rPr lang="en-US" sz="1200"/>
              <a:t>“My second methodology is system dynamics simulation. It looks at how the entire system behaves and changes over a longer period of time.”</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Inputs:</a:t>
            </a:r>
            <a:br>
              <a:rPr lang="en-US" sz="1200"/>
            </a:br>
            <a:r>
              <a:rPr lang="en-US" sz="1200"/>
              <a:t>“The inputs include simulation time, path availability, incoming data rate, space-weather severity, and available resources.”</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Outputs:</a:t>
            </a:r>
            <a:br>
              <a:rPr lang="en-US" sz="1200"/>
            </a:br>
            <a:r>
              <a:rPr lang="en-US" sz="1200"/>
              <a:t>“The outputs include average latency, 95th-percentile latency, OODA-loop trends, operator workload, resource use, and % mission-success over time.”</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Purpose:</a:t>
            </a:r>
            <a:br>
              <a:rPr lang="en-US" sz="1200"/>
            </a:br>
            <a:r>
              <a:rPr lang="en-US" sz="1200"/>
              <a:t>“This method shows whether the edge-enabled architecture remains effective as degraded conditions continue. </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What happens during on-going disruption and compares the ground-centric path with the edge-enabled path.”</a:t>
            </a:r>
            <a:endParaRPr/>
          </a:p>
          <a:p>
            <a:pPr marL="0" lvl="0" indent="0" algn="l" rtl="0">
              <a:spcBef>
                <a:spcPts val="0"/>
              </a:spcBef>
              <a:spcAft>
                <a:spcPts val="0"/>
              </a:spcAft>
              <a:buNone/>
            </a:pPr>
            <a:endParaRPr/>
          </a:p>
          <a:p>
            <a:pPr marL="0" lvl="0" indent="0" algn="l" rtl="0">
              <a:spcBef>
                <a:spcPts val="0"/>
              </a:spcBef>
              <a:spcAft>
                <a:spcPts val="0"/>
              </a:spcAft>
              <a:buNone/>
            </a:pPr>
            <a:br>
              <a:rPr lang="en-US" sz="1200"/>
            </a:br>
            <a:endParaRPr/>
          </a:p>
          <a:p>
            <a:pPr marL="0" lvl="0" indent="0" algn="l" rtl="0">
              <a:spcBef>
                <a:spcPts val="0"/>
              </a:spcBef>
              <a:spcAft>
                <a:spcPts val="0"/>
              </a:spcAft>
              <a:buNone/>
            </a:pPr>
            <a:r>
              <a:rPr lang="en-US" sz="1200"/>
              <a:t>Transition:</a:t>
            </a:r>
            <a:br>
              <a:rPr lang="en-US" sz="1200"/>
            </a:br>
            <a:r>
              <a:rPr lang="en-US" sz="1200"/>
              <a:t>“Methodology 1 shows what happens event by event. Methodology 2 shows how performance changes over time.” </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200"/>
              <a:t>FINAL SUBMISSION, SLIDE 22</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Use controlled simulation inputs to vary degradation, routing, processing, and decision thresholds.</a:t>
            </a:r>
            <a:endParaRPr/>
          </a:p>
          <a:p>
            <a:pPr marL="0" lvl="0" indent="0" algn="l" rtl="0">
              <a:spcBef>
                <a:spcPts val="0"/>
              </a:spcBef>
              <a:spcAft>
                <a:spcPts val="0"/>
              </a:spcAft>
              <a:buNone/>
            </a:pPr>
            <a:r>
              <a:rPr lang="en-US" sz="1200"/>
              <a:t>Data treatment:</a:t>
            </a:r>
            <a:endParaRPr/>
          </a:p>
          <a:p>
            <a:pPr marL="0" lvl="0" indent="0" algn="l" rtl="0">
              <a:spcBef>
                <a:spcPts val="0"/>
              </a:spcBef>
              <a:spcAft>
                <a:spcPts val="0"/>
              </a:spcAft>
              <a:buNone/>
            </a:pPr>
            <a:r>
              <a:rPr lang="en-US" sz="1200"/>
              <a:t>Generate values from documented distributions and fixed random seeds.</a:t>
            </a:r>
            <a:endParaRPr/>
          </a:p>
          <a:p>
            <a:pPr marL="0" lvl="0" indent="0" algn="l" rtl="0">
              <a:spcBef>
                <a:spcPts val="0"/>
              </a:spcBef>
              <a:spcAft>
                <a:spcPts val="0"/>
              </a:spcAft>
              <a:buNone/>
            </a:pPr>
            <a:r>
              <a:rPr lang="en-US" sz="1200"/>
              <a:t>Store each run as a reproducible MATLAB input table</a:t>
            </a:r>
            <a:endParaRPr/>
          </a:p>
          <a:p>
            <a:pPr marL="0" lvl="0" indent="0" algn="l" rtl="0">
              <a:spcBef>
                <a:spcPts val="0"/>
              </a:spcBef>
              <a:spcAft>
                <a:spcPts val="0"/>
              </a:spcAft>
              <a:buNone/>
            </a:pPr>
            <a:r>
              <a:rPr lang="en-US" sz="1200"/>
              <a:t>Conduct sensitivity analysis by varying one driver at a time</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sz="1200"/>
              <a:t>Scenario Vectors Example</a:t>
            </a:r>
            <a:endParaRPr/>
          </a:p>
          <a:p>
            <a:pPr marL="0" lvl="0" indent="0" algn="l" rtl="0">
              <a:spcBef>
                <a:spcPts val="0"/>
              </a:spcBef>
              <a:spcAft>
                <a:spcPts val="0"/>
              </a:spcAft>
              <a:buNone/>
            </a:pPr>
            <a:r>
              <a:rPr lang="en-US" sz="1200"/>
              <a:t>ID | Name | Source | Brief Description | Format | Time Span | Num. of records | Access </a:t>
            </a:r>
            <a:endParaRPr/>
          </a:p>
          <a:p>
            <a:pPr marL="0" lvl="0" indent="0" algn="l" rtl="0">
              <a:spcBef>
                <a:spcPts val="0"/>
              </a:spcBef>
              <a:spcAft>
                <a:spcPts val="0"/>
              </a:spcAft>
              <a:buNone/>
            </a:pPr>
            <a:r>
              <a:rPr lang="en-US" sz="1200"/>
              <a:t>(Y/N)</a:t>
            </a:r>
            <a:endParaRPr/>
          </a:p>
          <a:p>
            <a:pPr marL="0" lvl="0" indent="0" algn="l" rtl="0">
              <a:spcBef>
                <a:spcPts val="0"/>
              </a:spcBef>
              <a:spcAft>
                <a:spcPts val="0"/>
              </a:spcAft>
              <a:buNone/>
            </a:pPr>
            <a:r>
              <a:rPr lang="en-US" sz="1200"/>
              <a:t>6 | Scenario Vectors | Author created MATLAB scenario table | Simulation vectors control outage duration, bandwidth reduction, processing time, and threshold limits. | CSV/MAT | Simulation period | 10,000 runs | Y</a:t>
            </a:r>
            <a:endParaRPr/>
          </a:p>
          <a:p>
            <a:pPr marL="0" lvl="0" indent="0" algn="l" rtl="0">
              <a:spcBef>
                <a:spcPts val="0"/>
              </a:spcBef>
              <a:spcAft>
                <a:spcPts val="0"/>
              </a:spcAft>
              <a:buNone/>
            </a:pPr>
            <a:r>
              <a:rPr lang="en-US" sz="1200"/>
              <a:t>RUN_ID | CONTROL_MODE | COMM_DELAY | RGS_Available | EDGE_PROCESSING | AI_CONFIDENCE_%</a:t>
            </a:r>
            <a:endParaRPr/>
          </a:p>
          <a:p>
            <a:pPr marL="0" lvl="0" indent="0" algn="l" rtl="0">
              <a:spcBef>
                <a:spcPts val="0"/>
              </a:spcBef>
              <a:spcAft>
                <a:spcPts val="0"/>
              </a:spcAft>
              <a:buNone/>
            </a:pPr>
            <a:r>
              <a:rPr lang="en-US" sz="1200"/>
              <a:t>1 | Ground-centric | 7.5 | TRUE | 0 | 0</a:t>
            </a:r>
            <a:endParaRPr/>
          </a:p>
          <a:p>
            <a:pPr marL="0" lvl="0" indent="0" algn="l" rtl="0">
              <a:spcBef>
                <a:spcPts val="0"/>
              </a:spcBef>
              <a:spcAft>
                <a:spcPts val="0"/>
              </a:spcAft>
              <a:buNone/>
            </a:pPr>
            <a:r>
              <a:rPr lang="en-US" sz="1200"/>
              <a:t>2 | Edge Enabled | 3.2 | FALSE | 0.8 | 82</a:t>
            </a:r>
            <a:endParaRPr/>
          </a:p>
          <a:p>
            <a:pPr marL="0" lvl="0" indent="0" algn="l" rtl="0">
              <a:spcBef>
                <a:spcPts val="0"/>
              </a:spcBef>
              <a:spcAft>
                <a:spcPts val="0"/>
              </a:spcAft>
              <a:buNone/>
            </a:pPr>
            <a:r>
              <a:rPr lang="en-US" sz="1200"/>
              <a:t>3 | Edge Enabled | 4.1 | FALSE | 1.1 | 76</a:t>
            </a:r>
            <a:endParaRPr/>
          </a:p>
          <a:p>
            <a:pPr marL="0" lvl="0" indent="0" algn="l" rtl="0">
              <a:spcBef>
                <a:spcPts val="0"/>
              </a:spcBef>
              <a:spcAft>
                <a:spcPts val="0"/>
              </a:spcAft>
              <a:buNone/>
            </a:pPr>
            <a:r>
              <a:rPr lang="en-US" sz="1200"/>
              <a:t>Sample Data:</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r>
              <a:rPr lang="en-US" sz="1200"/>
              <a:t>Finally, I create a controlled MATLAB scenario table. This combines the public inputs into repeatable events such as an outage, bandwidth reduction, packet loss, processing delay, and recovery.</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FINAL SUBMISSION, SLIDE 24</a:t>
            </a:r>
            <a:endParaRPr/>
          </a:p>
          <a:p>
            <a:pPr marL="0" lvl="0" indent="0" algn="l" rtl="0">
              <a:spcBef>
                <a:spcPts val="0"/>
              </a:spcBef>
              <a:spcAft>
                <a:spcPts val="0"/>
              </a:spcAft>
              <a:buNone/>
            </a:pPr>
            <a:r>
              <a:rPr lang="en-US" sz="1200"/>
              <a:t>Methodology 1 Map</a:t>
            </a:r>
            <a:endParaRPr/>
          </a:p>
          <a:p>
            <a:pPr marL="0" lvl="0" indent="0" algn="l" rtl="0">
              <a:spcBef>
                <a:spcPts val="0"/>
              </a:spcBef>
              <a:spcAft>
                <a:spcPts val="0"/>
              </a:spcAft>
              <a:buNone/>
            </a:pPr>
            <a:r>
              <a:rPr lang="en-US" sz="1200"/>
              <a:t>SPEAKER NOTES</a:t>
            </a:r>
            <a:endParaRPr/>
          </a:p>
          <a:p>
            <a:pPr marL="0" lvl="0" indent="0" algn="l" rtl="0">
              <a:spcBef>
                <a:spcPts val="0"/>
              </a:spcBef>
              <a:spcAft>
                <a:spcPts val="0"/>
              </a:spcAft>
              <a:buNone/>
            </a:pPr>
            <a:r>
              <a:rPr lang="en-US" sz="1200"/>
              <a:t>Methodology 1: discrete-event simulation. This method follows individual events in sequence—disruption, routing, edge processing, operator response, and recovery. It helps answer whether the model can credibly measure response latency and path availability during a specific disruption.”</a:t>
            </a:r>
            <a:endParaRPr/>
          </a:p>
          <a:p>
            <a:pPr marL="0" lvl="0" indent="0" algn="l" rtl="0">
              <a:spcBef>
                <a:spcPts val="0"/>
              </a:spcBef>
              <a:spcAft>
                <a:spcPts val="0"/>
              </a:spcAft>
              <a:buNone/>
            </a:pPr>
            <a:endParaRPr/>
          </a:p>
          <a:p>
            <a:pPr marL="0" lvl="0" indent="0" algn="l" rtl="0">
              <a:spcBef>
                <a:spcPts val="0"/>
              </a:spcBef>
              <a:spcAft>
                <a:spcPts val="0"/>
              </a:spcAft>
              <a:buNone/>
            </a:pPr>
            <a:r>
              <a:rPr lang="en-US" sz="1200"/>
              <a:t>Summary combines clearly labeled current scope with inputs and planned analysis in the July source. Complete original DES inputs/outputs, including AI-confidence and operator/action metrics, are retained above as baseline notes; they are not silently asserted as current core measures. No sample figures in the final submission are claimed as downloaded measurements or executed simulation results.</a:t>
            </a:r>
            <a:endParaRPr/>
          </a:p>
        </p:txBody>
      </p:sp>
      <p:sp>
        <p:nvSpPr>
          <p:cNvPr id="211" name="Google Shape;211;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0" name="Google Shape;250;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Backup figure from draft OV-1 v3, received 28 Sep 2026. The intersection is a shared timestamp window, not proof that environment caused communications behavior. Source labels and field qualification remain subject to review.</a:t>
            </a:r>
            <a:endParaRPr/>
          </a:p>
        </p:txBody>
      </p:sp>
      <p:sp>
        <p:nvSpPr>
          <p:cNvPr id="251" name="Google Shape;251;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antt_overview_v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antt_overview_v4: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7" name="Google Shape;257;gantt_overview_v4: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antt_near_term_v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antt_near_term_v4:notes"/>
          <p:cNvSpPr txBox="1">
            <a:spLocks noGrp="1"/>
          </p:cNvSpPr>
          <p:nvPr>
            <p:ph type="body" idx="1"/>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gantt_near_term_v4:notes"/>
          <p:cNvSpPr txBox="1">
            <a:spLocks noGrp="1"/>
          </p:cNvSpPr>
          <p:nvPr>
            <p:ph type="sldNum" idx="12"/>
          </p:nvPr>
        </p:nvSpPr>
        <p:spPr>
          <a:xfrm>
            <a:off x="0" y="0"/>
            <a:ext cx="3000000" cy="30000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19" name="Google Shape;219;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6" name="Google Shape;226;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27" name="Google Shape;227;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33" name="Google Shape;233;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39" name="Google Shape;239;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4" name="Google Shape;244;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200"/>
          </a:p>
        </p:txBody>
      </p:sp>
      <p:sp>
        <p:nvSpPr>
          <p:cNvPr id="245" name="Google Shape;245;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Font typeface="Calibri"/>
              <a:buNone/>
            </a:pPr>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1"/>
        <p:cNvGrpSpPr/>
        <p:nvPr/>
      </p:nvGrpSpPr>
      <p:grpSpPr>
        <a:xfrm>
          <a:off x="0" y="0"/>
          <a:ext cx="0" cy="0"/>
          <a:chOff x="0" y="0"/>
          <a:chExt cx="0" cy="0"/>
        </a:xfrm>
      </p:grpSpPr>
      <p:pic>
        <p:nvPicPr>
          <p:cNvPr id="12" name="Google Shape;12;p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3" name="Google Shape;13;p2"/>
          <p:cNvSpPr txBox="1">
            <a:spLocks noGrp="1"/>
          </p:cNvSpPr>
          <p:nvPr>
            <p:ph type="ctrTitle"/>
          </p:nvPr>
        </p:nvSpPr>
        <p:spPr>
          <a:xfrm>
            <a:off x="480506" y="601091"/>
            <a:ext cx="5735025"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2"/>
          <p:cNvSpPr txBox="1">
            <a:spLocks noGrp="1"/>
          </p:cNvSpPr>
          <p:nvPr>
            <p:ph type="subTitle" idx="1"/>
          </p:nvPr>
        </p:nvSpPr>
        <p:spPr>
          <a:xfrm>
            <a:off x="480506" y="3137687"/>
            <a:ext cx="5735025"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ECE9C6"/>
              </a:buClr>
              <a:buSzPts val="3200"/>
              <a:buFont typeface="Arial"/>
              <a:buNone/>
              <a:defRPr sz="3200" b="0" i="0" u="none" strike="noStrike" cap="none">
                <a:solidFill>
                  <a:srgbClr val="ECE9C6"/>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5"/>
        <p:cNvGrpSpPr/>
        <p:nvPr/>
      </p:nvGrpSpPr>
      <p:grpSpPr>
        <a:xfrm>
          <a:off x="0" y="0"/>
          <a:ext cx="0" cy="0"/>
          <a:chOff x="0" y="0"/>
          <a:chExt cx="0" cy="0"/>
        </a:xfrm>
      </p:grpSpPr>
      <p:sp>
        <p:nvSpPr>
          <p:cNvPr id="16" name="Google Shape;16;p3"/>
          <p:cNvSpPr txBox="1">
            <a:spLocks noGrp="1"/>
          </p:cNvSpPr>
          <p:nvPr>
            <p:ph type="body" idx="1"/>
          </p:nvPr>
        </p:nvSpPr>
        <p:spPr>
          <a:xfrm>
            <a:off x="932331" y="1861441"/>
            <a:ext cx="10327340" cy="3170264"/>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rgbClr val="595959"/>
              </a:buClr>
              <a:buSzPts val="3200"/>
              <a:buFont typeface="Arial"/>
              <a:buNone/>
              <a:defRPr sz="3200" b="0" i="0" u="none" strike="noStrike" cap="none">
                <a:solidFill>
                  <a:srgbClr val="595959"/>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7" name="Google Shape;17;p3"/>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3F3F3F"/>
              </a:buClr>
              <a:buSzPts val="4000"/>
              <a:buFont typeface="Arial"/>
              <a:buNone/>
              <a:defRPr sz="4000" b="1" i="0" u="none" strike="noStrike" cap="none">
                <a:solidFill>
                  <a:srgbClr val="3F3F3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920056" y="1204857"/>
            <a:ext cx="10339617" cy="1910716"/>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Clr>
                <a:srgbClr val="595959"/>
              </a:buClr>
              <a:buSzPts val="5400"/>
              <a:buFont typeface="Arial"/>
              <a:buNone/>
              <a:defRPr sz="54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0" name="Google Shape;20;p4"/>
          <p:cNvSpPr txBox="1">
            <a:spLocks noGrp="1"/>
          </p:cNvSpPr>
          <p:nvPr>
            <p:ph type="body" idx="1"/>
          </p:nvPr>
        </p:nvSpPr>
        <p:spPr>
          <a:xfrm>
            <a:off x="932331" y="3324434"/>
            <a:ext cx="10312996" cy="1500187"/>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Areas">
  <p:cSld name="Two Content Areas">
    <p:spTree>
      <p:nvGrpSpPr>
        <p:cNvPr id="1" name="Shape 21"/>
        <p:cNvGrpSpPr/>
        <p:nvPr/>
      </p:nvGrpSpPr>
      <p:grpSpPr>
        <a:xfrm>
          <a:off x="0" y="0"/>
          <a:ext cx="0" cy="0"/>
          <a:chOff x="0" y="0"/>
          <a:chExt cx="0" cy="0"/>
        </a:xfrm>
      </p:grpSpPr>
      <p:sp>
        <p:nvSpPr>
          <p:cNvPr id="22" name="Google Shape;22;p5"/>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5"/>
          <p:cNvSpPr txBox="1">
            <a:spLocks noGrp="1"/>
          </p:cNvSpPr>
          <p:nvPr>
            <p:ph type="body" idx="1"/>
          </p:nvPr>
        </p:nvSpPr>
        <p:spPr>
          <a:xfrm>
            <a:off x="914400"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 name="Google Shape;24;p5"/>
          <p:cNvSpPr txBox="1">
            <a:spLocks noGrp="1"/>
          </p:cNvSpPr>
          <p:nvPr>
            <p:ph type="body" idx="2"/>
          </p:nvPr>
        </p:nvSpPr>
        <p:spPr>
          <a:xfrm>
            <a:off x="6193535"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lumns with Subtitles">
  <p:cSld name="Two Columns with Subtitles">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7" name="Google Shape;27;p6"/>
          <p:cNvSpPr txBox="1">
            <a:spLocks noGrp="1"/>
          </p:cNvSpPr>
          <p:nvPr>
            <p:ph type="body" idx="1"/>
          </p:nvPr>
        </p:nvSpPr>
        <p:spPr>
          <a:xfrm>
            <a:off x="917989" y="1783601"/>
            <a:ext cx="4829239"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8" name="Google Shape;28;p6"/>
          <p:cNvSpPr txBox="1">
            <a:spLocks noGrp="1"/>
          </p:cNvSpPr>
          <p:nvPr>
            <p:ph type="body" idx="2"/>
          </p:nvPr>
        </p:nvSpPr>
        <p:spPr>
          <a:xfrm>
            <a:off x="917986" y="2622290"/>
            <a:ext cx="4829241"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29" name="Google Shape;29;p6"/>
          <p:cNvSpPr txBox="1">
            <a:spLocks noGrp="1"/>
          </p:cNvSpPr>
          <p:nvPr>
            <p:ph type="body" idx="3"/>
          </p:nvPr>
        </p:nvSpPr>
        <p:spPr>
          <a:xfrm>
            <a:off x="6381172" y="1783601"/>
            <a:ext cx="4884955"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30" name="Google Shape;30;p6"/>
          <p:cNvSpPr txBox="1">
            <a:spLocks noGrp="1"/>
          </p:cNvSpPr>
          <p:nvPr>
            <p:ph type="body" idx="4"/>
          </p:nvPr>
        </p:nvSpPr>
        <p:spPr>
          <a:xfrm>
            <a:off x="6381171" y="2619063"/>
            <a:ext cx="4878500"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31"/>
        <p:cNvGrpSpPr/>
        <p:nvPr/>
      </p:nvGrpSpPr>
      <p:grpSpPr>
        <a:xfrm>
          <a:off x="0" y="0"/>
          <a:ext cx="0" cy="0"/>
          <a:chOff x="0" y="0"/>
          <a:chExt cx="0" cy="0"/>
        </a:xfrm>
      </p:grpSpPr>
      <p:sp>
        <p:nvSpPr>
          <p:cNvPr id="32" name="Google Shape;32;p7"/>
          <p:cNvSpPr txBox="1">
            <a:spLocks noGrp="1"/>
          </p:cNvSpPr>
          <p:nvPr>
            <p:ph type="body" idx="1"/>
          </p:nvPr>
        </p:nvSpPr>
        <p:spPr>
          <a:xfrm>
            <a:off x="922671" y="559402"/>
            <a:ext cx="4774509" cy="4414019"/>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L="3200400" marR="0" lvl="6"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L="3657600" marR="0" lvl="7"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L="4114800" marR="0" lvl="8"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33" name="Google Shape;33;p7"/>
          <p:cNvSpPr txBox="1">
            <a:spLocks noGrp="1"/>
          </p:cNvSpPr>
          <p:nvPr>
            <p:ph type="body" idx="2"/>
          </p:nvPr>
        </p:nvSpPr>
        <p:spPr>
          <a:xfrm>
            <a:off x="6519751" y="562026"/>
            <a:ext cx="4774509" cy="441401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hoto with Caption">
  <p:cSld name="Photo with Caption">
    <p:spTree>
      <p:nvGrpSpPr>
        <p:cNvPr id="1" name="Shape 34"/>
        <p:cNvGrpSpPr/>
        <p:nvPr/>
      </p:nvGrpSpPr>
      <p:grpSpPr>
        <a:xfrm>
          <a:off x="0" y="0"/>
          <a:ext cx="0" cy="0"/>
          <a:chOff x="0" y="0"/>
          <a:chExt cx="0" cy="0"/>
        </a:xfrm>
      </p:grpSpPr>
      <p:sp>
        <p:nvSpPr>
          <p:cNvPr id="35" name="Google Shape;35;p8"/>
          <p:cNvSpPr>
            <a:spLocks noGrp="1"/>
          </p:cNvSpPr>
          <p:nvPr>
            <p:ph type="pic" idx="2"/>
          </p:nvPr>
        </p:nvSpPr>
        <p:spPr>
          <a:xfrm rot="344365">
            <a:off x="1031301" y="536675"/>
            <a:ext cx="10104435" cy="3491307"/>
          </a:xfrm>
          <a:prstGeom prst="rect">
            <a:avLst/>
          </a:prstGeom>
          <a:solidFill>
            <a:srgbClr val="ECECEC"/>
          </a:solidFill>
          <a:ln w="190500" cap="flat" cmpd="sng">
            <a:solidFill>
              <a:srgbClr val="FFFFFF"/>
            </a:solidFill>
            <a:prstDash val="solid"/>
            <a:round/>
            <a:headEnd type="none" w="sm" len="sm"/>
            <a:tailEnd type="none" w="sm" len="sm"/>
          </a:ln>
        </p:spPr>
      </p:sp>
      <p:sp>
        <p:nvSpPr>
          <p:cNvPr id="36" name="Google Shape;36;p8"/>
          <p:cNvSpPr txBox="1">
            <a:spLocks noGrp="1"/>
          </p:cNvSpPr>
          <p:nvPr>
            <p:ph type="body" idx="1"/>
          </p:nvPr>
        </p:nvSpPr>
        <p:spPr>
          <a:xfrm>
            <a:off x="917987" y="4486019"/>
            <a:ext cx="10341685" cy="804862"/>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32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37"/>
        <p:cNvGrpSpPr/>
        <p:nvPr/>
      </p:nvGrpSpPr>
      <p:grpSpPr>
        <a:xfrm>
          <a:off x="0" y="0"/>
          <a:ext cx="0" cy="0"/>
          <a:chOff x="0" y="0"/>
          <a:chExt cx="0" cy="0"/>
        </a:xfrm>
      </p:grpSpPr>
      <p:pic>
        <p:nvPicPr>
          <p:cNvPr id="38" name="Google Shape;38;p9"/>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with Custom Photo">
  <p:cSld name="Title with Custom Photo">
    <p:spTree>
      <p:nvGrpSpPr>
        <p:cNvPr id="1" name="Shape 39"/>
        <p:cNvGrpSpPr/>
        <p:nvPr/>
      </p:nvGrpSpPr>
      <p:grpSpPr>
        <a:xfrm>
          <a:off x="0" y="0"/>
          <a:ext cx="0" cy="0"/>
          <a:chOff x="0" y="0"/>
          <a:chExt cx="0" cy="0"/>
        </a:xfrm>
      </p:grpSpPr>
      <p:pic>
        <p:nvPicPr>
          <p:cNvPr id="40" name="Google Shape;40;p10"/>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1" name="Google Shape;41;p10"/>
          <p:cNvSpPr txBox="1">
            <a:spLocks noGrp="1"/>
          </p:cNvSpPr>
          <p:nvPr>
            <p:ph type="subTitle" idx="1"/>
          </p:nvPr>
        </p:nvSpPr>
        <p:spPr>
          <a:xfrm>
            <a:off x="480504" y="3137687"/>
            <a:ext cx="4878397"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lt2"/>
              </a:buClr>
              <a:buSzPts val="3200"/>
              <a:buFont typeface="Arial"/>
              <a:buNone/>
              <a:defRPr sz="3200" b="0" i="0" u="none" strike="noStrike" cap="none">
                <a:solidFill>
                  <a:schemeClr val="lt2"/>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42" name="Google Shape;42;p10"/>
          <p:cNvSpPr txBox="1">
            <a:spLocks noGrp="1"/>
          </p:cNvSpPr>
          <p:nvPr>
            <p:ph type="ctrTitle"/>
          </p:nvPr>
        </p:nvSpPr>
        <p:spPr>
          <a:xfrm>
            <a:off x="480506" y="601091"/>
            <a:ext cx="5974084"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3" name="Google Shape;43;p10"/>
          <p:cNvSpPr>
            <a:spLocks noGrp="1"/>
          </p:cNvSpPr>
          <p:nvPr>
            <p:ph type="pic" idx="2"/>
          </p:nvPr>
        </p:nvSpPr>
        <p:spPr>
          <a:xfrm>
            <a:off x="2606493" y="0"/>
            <a:ext cx="9602107" cy="68580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BF8A3-0BCE-EEF3-9702-1ED5AE8DAE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76FB8A-906B-63A3-82E3-1824BA4928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5D2237-08D3-C1A5-8C80-8808E9D42894}"/>
              </a:ext>
            </a:extLst>
          </p:cNvPr>
          <p:cNvSpPr>
            <a:spLocks noGrp="1"/>
          </p:cNvSpPr>
          <p:nvPr>
            <p:ph type="dt" sz="half" idx="10"/>
          </p:nvPr>
        </p:nvSpPr>
        <p:spPr/>
        <p:txBody>
          <a:bodyPr/>
          <a:lstStyle/>
          <a:p>
            <a:fld id="{CA226CB3-9231-4EF9-8F54-04FEBCEF8C2F}" type="datetimeFigureOut">
              <a:rPr lang="en-US" smtClean="0"/>
              <a:t>10/1/2026</a:t>
            </a:fld>
            <a:endParaRPr lang="en-US"/>
          </a:p>
        </p:txBody>
      </p:sp>
      <p:sp>
        <p:nvSpPr>
          <p:cNvPr id="5" name="Footer Placeholder 4">
            <a:extLst>
              <a:ext uri="{FF2B5EF4-FFF2-40B4-BE49-F238E27FC236}">
                <a16:creationId xmlns:a16="http://schemas.microsoft.com/office/drawing/2014/main" id="{154EBECE-FBE5-0A22-3E6C-13E54B17E1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A140B7-8D68-51F2-C041-2F0720DF5470}"/>
              </a:ext>
            </a:extLst>
          </p:cNvPr>
          <p:cNvSpPr>
            <a:spLocks noGrp="1"/>
          </p:cNvSpPr>
          <p:nvPr>
            <p:ph type="sldNum" sz="quarter" idx="12"/>
          </p:nvPr>
        </p:nvSpPr>
        <p:spPr/>
        <p:txBody>
          <a:bodyPr/>
          <a:lstStyle/>
          <a:p>
            <a:fld id="{B79208BB-2DFD-40AA-973E-A3388C5B0329}" type="slidenum">
              <a:rPr lang="en-US" smtClean="0"/>
              <a:t>‹#›</a:t>
            </a:fld>
            <a:endParaRPr lang="en-US"/>
          </a:p>
        </p:txBody>
      </p:sp>
    </p:spTree>
    <p:extLst>
      <p:ext uri="{BB962C8B-B14F-4D97-AF65-F5344CB8AC3E}">
        <p14:creationId xmlns:p14="http://schemas.microsoft.com/office/powerpoint/2010/main" val="2543269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47"/>
        <p:cNvGrpSpPr/>
        <p:nvPr/>
      </p:nvGrpSpPr>
      <p:grpSpPr>
        <a:xfrm>
          <a:off x="0" y="0"/>
          <a:ext cx="0" cy="0"/>
          <a:chOff x="0" y="0"/>
          <a:chExt cx="0" cy="0"/>
        </a:xfrm>
      </p:grpSpPr>
      <p:pic>
        <p:nvPicPr>
          <p:cNvPr id="48" name="Google Shape;48;p1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49" name="Google Shape;49;p13"/>
          <p:cNvSpPr txBox="1">
            <a:spLocks noGrp="1"/>
          </p:cNvSpPr>
          <p:nvPr>
            <p:ph type="ctrTitle"/>
          </p:nvPr>
        </p:nvSpPr>
        <p:spPr>
          <a:xfrm>
            <a:off x="480506" y="601091"/>
            <a:ext cx="5735025"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0" name="Google Shape;50;p13"/>
          <p:cNvSpPr txBox="1">
            <a:spLocks noGrp="1"/>
          </p:cNvSpPr>
          <p:nvPr>
            <p:ph type="subTitle" idx="1"/>
          </p:nvPr>
        </p:nvSpPr>
        <p:spPr>
          <a:xfrm>
            <a:off x="480506" y="3137687"/>
            <a:ext cx="5735025"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rgbClr val="ECE9C6"/>
              </a:buClr>
              <a:buSzPts val="3200"/>
              <a:buFont typeface="Arial"/>
              <a:buNone/>
              <a:defRPr sz="3200" b="0" i="0" u="none" strike="noStrike" cap="none">
                <a:solidFill>
                  <a:srgbClr val="ECE9C6"/>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51"/>
        <p:cNvGrpSpPr/>
        <p:nvPr/>
      </p:nvGrpSpPr>
      <p:grpSpPr>
        <a:xfrm>
          <a:off x="0" y="0"/>
          <a:ext cx="0" cy="0"/>
          <a:chOff x="0" y="0"/>
          <a:chExt cx="0" cy="0"/>
        </a:xfrm>
      </p:grpSpPr>
      <p:sp>
        <p:nvSpPr>
          <p:cNvPr id="52" name="Google Shape;52;p14"/>
          <p:cNvSpPr txBox="1">
            <a:spLocks noGrp="1"/>
          </p:cNvSpPr>
          <p:nvPr>
            <p:ph type="body" idx="1"/>
          </p:nvPr>
        </p:nvSpPr>
        <p:spPr>
          <a:xfrm>
            <a:off x="932331" y="1264359"/>
            <a:ext cx="10327340" cy="4007555"/>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640"/>
              </a:spcBef>
              <a:spcAft>
                <a:spcPts val="0"/>
              </a:spcAft>
              <a:buClr>
                <a:srgbClr val="595959"/>
              </a:buClr>
              <a:buSzPts val="3200"/>
              <a:buFont typeface="Arial"/>
              <a:buNone/>
              <a:defRPr sz="3200" b="0" i="0" u="none" strike="noStrike" cap="none">
                <a:solidFill>
                  <a:srgbClr val="595959"/>
                </a:solidFill>
                <a:latin typeface="Arial"/>
                <a:ea typeface="Arial"/>
                <a:cs typeface="Arial"/>
                <a:sym typeface="Arial"/>
              </a:defRPr>
            </a:lvl1pPr>
            <a:lvl2pPr marL="914400" marR="0" lvl="1" indent="-228600"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L="1371600" marR="0" lvl="2" indent="-228600"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4"/>
          <p:cNvSpPr txBox="1">
            <a:spLocks noGrp="1"/>
          </p:cNvSpPr>
          <p:nvPr>
            <p:ph type="title"/>
          </p:nvPr>
        </p:nvSpPr>
        <p:spPr>
          <a:xfrm>
            <a:off x="917987" y="366959"/>
            <a:ext cx="10341684" cy="73935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rgbClr val="3F3F3F"/>
              </a:buClr>
              <a:buSzPts val="4000"/>
              <a:buFont typeface="Arial"/>
              <a:buNone/>
              <a:defRPr sz="4000" b="1" i="0" u="none" strike="noStrike" cap="none">
                <a:solidFill>
                  <a:srgbClr val="3F3F3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54"/>
        <p:cNvGrpSpPr/>
        <p:nvPr/>
      </p:nvGrpSpPr>
      <p:grpSpPr>
        <a:xfrm>
          <a:off x="0" y="0"/>
          <a:ext cx="0" cy="0"/>
          <a:chOff x="0" y="0"/>
          <a:chExt cx="0" cy="0"/>
        </a:xfrm>
      </p:grpSpPr>
      <p:sp>
        <p:nvSpPr>
          <p:cNvPr id="55" name="Google Shape;55;p15"/>
          <p:cNvSpPr txBox="1">
            <a:spLocks noGrp="1"/>
          </p:cNvSpPr>
          <p:nvPr>
            <p:ph type="title"/>
          </p:nvPr>
        </p:nvSpPr>
        <p:spPr>
          <a:xfrm>
            <a:off x="920056" y="1204857"/>
            <a:ext cx="10339617" cy="1910716"/>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Clr>
                <a:srgbClr val="595959"/>
              </a:buClr>
              <a:buSzPts val="5400"/>
              <a:buFont typeface="Arial"/>
              <a:buNone/>
              <a:defRPr sz="54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6" name="Google Shape;56;p15"/>
          <p:cNvSpPr txBox="1">
            <a:spLocks noGrp="1"/>
          </p:cNvSpPr>
          <p:nvPr>
            <p:ph type="body" idx="1"/>
          </p:nvPr>
        </p:nvSpPr>
        <p:spPr>
          <a:xfrm>
            <a:off x="932331" y="3324434"/>
            <a:ext cx="10312996" cy="1500187"/>
          </a:xfrm>
          <a:prstGeom prst="rect">
            <a:avLst/>
          </a:prstGeom>
          <a:noFill/>
          <a:ln>
            <a:noFill/>
          </a:ln>
        </p:spPr>
        <p:txBody>
          <a:bodyPr spcFirstLastPara="1" wrap="square" lIns="91425" tIns="45700" rIns="91425" bIns="45700" anchor="t" anchorCtr="0">
            <a:noAutofit/>
          </a:bodyPr>
          <a:lstStyle>
            <a:lvl1pPr marL="457200" marR="0" lvl="0" indent="-228600" algn="ctr"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spcBef>
                <a:spcPts val="32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Areas">
  <p:cSld name="Two Content Areas">
    <p:spTree>
      <p:nvGrpSpPr>
        <p:cNvPr id="1" name="Shape 57"/>
        <p:cNvGrpSpPr/>
        <p:nvPr/>
      </p:nvGrpSpPr>
      <p:grpSpPr>
        <a:xfrm>
          <a:off x="0" y="0"/>
          <a:ext cx="0" cy="0"/>
          <a:chOff x="0" y="0"/>
          <a:chExt cx="0" cy="0"/>
        </a:xfrm>
      </p:grpSpPr>
      <p:sp>
        <p:nvSpPr>
          <p:cNvPr id="58" name="Google Shape;58;p16"/>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9" name="Google Shape;59;p16"/>
          <p:cNvSpPr txBox="1">
            <a:spLocks noGrp="1"/>
          </p:cNvSpPr>
          <p:nvPr>
            <p:ph type="body" idx="1"/>
          </p:nvPr>
        </p:nvSpPr>
        <p:spPr>
          <a:xfrm>
            <a:off x="914400"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0" name="Google Shape;60;p16"/>
          <p:cNvSpPr txBox="1">
            <a:spLocks noGrp="1"/>
          </p:cNvSpPr>
          <p:nvPr>
            <p:ph type="body" idx="2"/>
          </p:nvPr>
        </p:nvSpPr>
        <p:spPr>
          <a:xfrm>
            <a:off x="6193535" y="1845482"/>
            <a:ext cx="5071872" cy="3434474"/>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lumns with Subtitles">
  <p:cSld name="Two Columns with Subtitles">
    <p:spTree>
      <p:nvGrpSpPr>
        <p:cNvPr id="1" name="Shape 61"/>
        <p:cNvGrpSpPr/>
        <p:nvPr/>
      </p:nvGrpSpPr>
      <p:grpSpPr>
        <a:xfrm>
          <a:off x="0" y="0"/>
          <a:ext cx="0" cy="0"/>
          <a:chOff x="0" y="0"/>
          <a:chExt cx="0" cy="0"/>
        </a:xfrm>
      </p:grpSpPr>
      <p:sp>
        <p:nvSpPr>
          <p:cNvPr id="62" name="Google Shape;62;p17"/>
          <p:cNvSpPr txBox="1">
            <a:spLocks noGrp="1"/>
          </p:cNvSpPr>
          <p:nvPr>
            <p:ph type="title"/>
          </p:nvPr>
        </p:nvSpPr>
        <p:spPr>
          <a:xfrm>
            <a:off x="917987" y="570156"/>
            <a:ext cx="10341684" cy="1054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rgbClr val="595959"/>
              </a:buClr>
              <a:buSzPts val="4300"/>
              <a:buFont typeface="Arial"/>
              <a:buNone/>
              <a:defRPr sz="4300" b="1" i="0" u="none" strike="noStrike" cap="none">
                <a:solidFill>
                  <a:srgbClr val="595959"/>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3" name="Google Shape;63;p17"/>
          <p:cNvSpPr txBox="1">
            <a:spLocks noGrp="1"/>
          </p:cNvSpPr>
          <p:nvPr>
            <p:ph type="body" idx="1"/>
          </p:nvPr>
        </p:nvSpPr>
        <p:spPr>
          <a:xfrm>
            <a:off x="917989" y="1783601"/>
            <a:ext cx="4829239"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4" name="Google Shape;64;p17"/>
          <p:cNvSpPr txBox="1">
            <a:spLocks noGrp="1"/>
          </p:cNvSpPr>
          <p:nvPr>
            <p:ph type="body" idx="2"/>
          </p:nvPr>
        </p:nvSpPr>
        <p:spPr>
          <a:xfrm>
            <a:off x="917986" y="2622290"/>
            <a:ext cx="4829241"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65" name="Google Shape;65;p17"/>
          <p:cNvSpPr txBox="1">
            <a:spLocks noGrp="1"/>
          </p:cNvSpPr>
          <p:nvPr>
            <p:ph type="body" idx="3"/>
          </p:nvPr>
        </p:nvSpPr>
        <p:spPr>
          <a:xfrm>
            <a:off x="6381172" y="1783601"/>
            <a:ext cx="4884955" cy="658368"/>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00"/>
              </a:spcBef>
              <a:spcAft>
                <a:spcPts val="0"/>
              </a:spcAft>
              <a:buClr>
                <a:srgbClr val="595959"/>
              </a:buClr>
              <a:buSzPts val="2500"/>
              <a:buFont typeface="Arial"/>
              <a:buNone/>
              <a:defRPr sz="2500" b="1"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6" name="Google Shape;66;p17"/>
          <p:cNvSpPr txBox="1">
            <a:spLocks noGrp="1"/>
          </p:cNvSpPr>
          <p:nvPr>
            <p:ph type="body" idx="4"/>
          </p:nvPr>
        </p:nvSpPr>
        <p:spPr>
          <a:xfrm>
            <a:off x="6381171" y="2619063"/>
            <a:ext cx="4878500" cy="2595107"/>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L="1828800" marR="0" lvl="3"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L="2286000" marR="0" lvl="4"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L="2743200" marR="0" lvl="5"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L="3200400" marR="0" lvl="6"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L="3657600" marR="0" lvl="7"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L="4114800" marR="0" lvl="8" indent="-228600" algn="l" rtl="0">
              <a:spcBef>
                <a:spcPts val="32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spTree>
      <p:nvGrpSpPr>
        <p:cNvPr id="1" name="Shape 67"/>
        <p:cNvGrpSpPr/>
        <p:nvPr/>
      </p:nvGrpSpPr>
      <p:grpSpPr>
        <a:xfrm>
          <a:off x="0" y="0"/>
          <a:ext cx="0" cy="0"/>
          <a:chOff x="0" y="0"/>
          <a:chExt cx="0" cy="0"/>
        </a:xfrm>
      </p:grpSpPr>
      <p:sp>
        <p:nvSpPr>
          <p:cNvPr id="68" name="Google Shape;68;p18"/>
          <p:cNvSpPr txBox="1">
            <a:spLocks noGrp="1"/>
          </p:cNvSpPr>
          <p:nvPr>
            <p:ph type="body" idx="1"/>
          </p:nvPr>
        </p:nvSpPr>
        <p:spPr>
          <a:xfrm>
            <a:off x="922671" y="559402"/>
            <a:ext cx="4774509" cy="4414019"/>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2pPr>
            <a:lvl3pPr marL="1371600" marR="0" lvl="2"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3pPr>
            <a:lvl4pPr marL="1828800" marR="0" lvl="3"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L="2286000" marR="0" lvl="4" indent="-228600"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L="2743200" marR="0" lvl="5"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L="3200400" marR="0" lvl="6"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L="3657600" marR="0" lvl="7"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L="4114800" marR="0" lvl="8" indent="-228600"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9" name="Google Shape;69;p18"/>
          <p:cNvSpPr txBox="1">
            <a:spLocks noGrp="1"/>
          </p:cNvSpPr>
          <p:nvPr>
            <p:ph type="body" idx="2"/>
          </p:nvPr>
        </p:nvSpPr>
        <p:spPr>
          <a:xfrm>
            <a:off x="6519751" y="562026"/>
            <a:ext cx="4774509" cy="4414018"/>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rgbClr val="595959"/>
              </a:buClr>
              <a:buSzPts val="2000"/>
              <a:buFont typeface="Arial"/>
              <a:buNone/>
              <a:defRPr sz="20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hoto with Caption">
  <p:cSld name="Photo with Caption">
    <p:spTree>
      <p:nvGrpSpPr>
        <p:cNvPr id="1" name="Shape 70"/>
        <p:cNvGrpSpPr/>
        <p:nvPr/>
      </p:nvGrpSpPr>
      <p:grpSpPr>
        <a:xfrm>
          <a:off x="0" y="0"/>
          <a:ext cx="0" cy="0"/>
          <a:chOff x="0" y="0"/>
          <a:chExt cx="0" cy="0"/>
        </a:xfrm>
      </p:grpSpPr>
      <p:sp>
        <p:nvSpPr>
          <p:cNvPr id="71" name="Google Shape;71;p19"/>
          <p:cNvSpPr>
            <a:spLocks noGrp="1"/>
          </p:cNvSpPr>
          <p:nvPr>
            <p:ph type="pic" idx="2"/>
          </p:nvPr>
        </p:nvSpPr>
        <p:spPr>
          <a:xfrm rot="344365">
            <a:off x="1031301" y="536675"/>
            <a:ext cx="10104435" cy="3491307"/>
          </a:xfrm>
          <a:prstGeom prst="rect">
            <a:avLst/>
          </a:prstGeom>
          <a:solidFill>
            <a:srgbClr val="ECECEC"/>
          </a:solidFill>
          <a:ln w="190500" cap="flat" cmpd="sng">
            <a:solidFill>
              <a:srgbClr val="FFFFFF"/>
            </a:solidFill>
            <a:prstDash val="solid"/>
            <a:round/>
            <a:headEnd type="none" w="sm" len="sm"/>
            <a:tailEnd type="none" w="sm" len="sm"/>
          </a:ln>
        </p:spPr>
      </p:sp>
      <p:sp>
        <p:nvSpPr>
          <p:cNvPr id="72" name="Google Shape;72;p19"/>
          <p:cNvSpPr txBox="1">
            <a:spLocks noGrp="1"/>
          </p:cNvSpPr>
          <p:nvPr>
            <p:ph type="body" idx="1"/>
          </p:nvPr>
        </p:nvSpPr>
        <p:spPr>
          <a:xfrm>
            <a:off x="917987" y="4486019"/>
            <a:ext cx="10341685" cy="804862"/>
          </a:xfrm>
          <a:prstGeom prst="rect">
            <a:avLst/>
          </a:prstGeom>
          <a:noFill/>
          <a:ln>
            <a:noFill/>
          </a:ln>
        </p:spPr>
        <p:txBody>
          <a:bodyPr spcFirstLastPara="1" wrap="square" lIns="91425" tIns="45700" rIns="91425" bIns="45700" anchor="t" anchorCtr="0">
            <a:normAutofit/>
          </a:bodyPr>
          <a:lstStyle>
            <a:lvl1pPr marL="457200" marR="0" lvl="0" indent="-228600" algn="ctr" rtl="0">
              <a:spcBef>
                <a:spcPts val="320"/>
              </a:spcBef>
              <a:spcAft>
                <a:spcPts val="0"/>
              </a:spcAft>
              <a:buClr>
                <a:srgbClr val="595959"/>
              </a:buClr>
              <a:buSzPts val="1600"/>
              <a:buFont typeface="Arial"/>
              <a:buNone/>
              <a:defRPr sz="1600" b="0" i="0" u="none" strike="noStrike" cap="none">
                <a:solidFill>
                  <a:srgbClr val="595959"/>
                </a:solidFill>
                <a:latin typeface="Arial"/>
                <a:ea typeface="Arial"/>
                <a:cs typeface="Arial"/>
                <a:sym typeface="Arial"/>
              </a:defRPr>
            </a:lvl1pPr>
            <a:lvl2pPr marL="914400" marR="0" lvl="1" indent="-228600" algn="l" rtl="0">
              <a:spcBef>
                <a:spcPts val="24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spcBef>
                <a:spcPts val="2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3pPr>
            <a:lvl4pPr marL="1828800" marR="0" lvl="3"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4pPr>
            <a:lvl5pPr marL="2286000" marR="0" lvl="4"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5pPr>
            <a:lvl6pPr marL="2743200" marR="0" lvl="5"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73"/>
        <p:cNvGrpSpPr/>
        <p:nvPr/>
      </p:nvGrpSpPr>
      <p:grpSpPr>
        <a:xfrm>
          <a:off x="0" y="0"/>
          <a:ext cx="0" cy="0"/>
          <a:chOff x="0" y="0"/>
          <a:chExt cx="0" cy="0"/>
        </a:xfrm>
      </p:grpSpPr>
      <p:pic>
        <p:nvPicPr>
          <p:cNvPr id="74" name="Google Shape;74;p20"/>
          <p:cNvPicPr preferRelativeResize="0"/>
          <p:nvPr/>
        </p:nvPicPr>
        <p:blipFill rotWithShape="1">
          <a:blip r:embed="rId2">
            <a:alphaModFix/>
          </a:blip>
          <a:srcRect/>
          <a:stretch/>
        </p:blipFill>
        <p:spPr>
          <a:xfrm>
            <a:off x="0" y="0"/>
            <a:ext cx="12192000" cy="68580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with Custom Photo">
  <p:cSld name="Title with Custom Photo">
    <p:spTree>
      <p:nvGrpSpPr>
        <p:cNvPr id="1" name="Shape 75"/>
        <p:cNvGrpSpPr/>
        <p:nvPr/>
      </p:nvGrpSpPr>
      <p:grpSpPr>
        <a:xfrm>
          <a:off x="0" y="0"/>
          <a:ext cx="0" cy="0"/>
          <a:chOff x="0" y="0"/>
          <a:chExt cx="0" cy="0"/>
        </a:xfrm>
      </p:grpSpPr>
      <p:pic>
        <p:nvPicPr>
          <p:cNvPr id="76" name="Google Shape;76;p21"/>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77" name="Google Shape;77;p21"/>
          <p:cNvSpPr txBox="1">
            <a:spLocks noGrp="1"/>
          </p:cNvSpPr>
          <p:nvPr>
            <p:ph type="subTitle" idx="1"/>
          </p:nvPr>
        </p:nvSpPr>
        <p:spPr>
          <a:xfrm>
            <a:off x="480504" y="3137687"/>
            <a:ext cx="4878397" cy="17526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lt2"/>
              </a:buClr>
              <a:buSzPts val="3200"/>
              <a:buFont typeface="Arial"/>
              <a:buNone/>
              <a:defRPr sz="3200" b="0" i="0" u="none" strike="noStrike" cap="none">
                <a:solidFill>
                  <a:schemeClr val="lt2"/>
                </a:solidFill>
                <a:latin typeface="Arial"/>
                <a:ea typeface="Arial"/>
                <a:cs typeface="Arial"/>
                <a:sym typeface="Arial"/>
              </a:defRPr>
            </a:lvl1pPr>
            <a:lvl2pPr marR="0" lvl="1" algn="ctr" rtl="0">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R="0" lvl="2" algn="ctr" rtl="0">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R="0" lvl="3"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R="0" lvl="4"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R="0" lvl="5"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78" name="Google Shape;78;p21"/>
          <p:cNvSpPr txBox="1">
            <a:spLocks noGrp="1"/>
          </p:cNvSpPr>
          <p:nvPr>
            <p:ph type="ctrTitle"/>
          </p:nvPr>
        </p:nvSpPr>
        <p:spPr>
          <a:xfrm>
            <a:off x="480506" y="601091"/>
            <a:ext cx="5974084" cy="23053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rgbClr val="FFFFFF"/>
              </a:buClr>
              <a:buSzPts val="4000"/>
              <a:buFont typeface="Arial"/>
              <a:buNone/>
              <a:defRPr sz="4000" b="1" i="0" u="none" strike="noStrike" cap="none">
                <a:solidFill>
                  <a:srgbClr val="FFFFFF"/>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9" name="Google Shape;79;p21"/>
          <p:cNvSpPr>
            <a:spLocks noGrp="1"/>
          </p:cNvSpPr>
          <p:nvPr>
            <p:ph type="pic" idx="2"/>
          </p:nvPr>
        </p:nvSpPr>
        <p:spPr>
          <a:xfrm>
            <a:off x="2606493" y="0"/>
            <a:ext cx="9602107" cy="68580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theme" Target="../theme/theme2.xml"/><Relationship Id="rId11"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13">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p:cNvGrpSpPr/>
        <p:nvPr/>
      </p:nvGrpSpPr>
      <p:grpSpPr>
        <a:xfrm>
          <a:off x="0" y="0"/>
          <a:ext cx="0" cy="0"/>
          <a:chOff x="0" y="0"/>
          <a:chExt cx="0" cy="0"/>
        </a:xfrm>
      </p:grpSpPr>
      <p:pic>
        <p:nvPicPr>
          <p:cNvPr id="46" name="Google Shape;46;p12"/>
          <p:cNvPicPr preferRelativeResize="0"/>
          <p:nvPr/>
        </p:nvPicPr>
        <p:blipFill rotWithShape="1">
          <a:blip r:embed="rId11">
            <a:alphaModFix/>
          </a:blip>
          <a:srcRect/>
          <a:stretch/>
        </p:blipFill>
        <p:spPr>
          <a:xfrm>
            <a:off x="0" y="0"/>
            <a:ext cx="12192000" cy="6858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7.jpg"/><Relationship Id="rId3" Type="http://schemas.openxmlformats.org/officeDocument/2006/relationships/customXml" Target="../ink/ink1.xml"/><Relationship Id="rId4" Type="http://schemas.openxmlformats.org/officeDocument/2006/relationships/image" Target="../media/image8.png"/><Relationship Id="rId5" Type="http://schemas.openxmlformats.org/officeDocument/2006/relationships/customXml" Target="../ink/ink2.xml"/><Relationship Id="rId6" Type="http://schemas.openxmlformats.org/officeDocument/2006/relationships/image" Target="../media/image9.png"/><Relationship Id="rId7" Type="http://schemas.openxmlformats.org/officeDocument/2006/relationships/customXml" Target="../ink/ink3.xml"/><Relationship Id="rId8" Type="http://schemas.openxmlformats.org/officeDocument/2006/relationships/image" Target="../media/image10.png"/><Relationship Id="rId9" Type="http://schemas.openxmlformats.org/officeDocument/2006/relationships/customXml" Target="../ink/ink4.xml"/><Relationship Id="rId10" Type="http://schemas.openxmlformats.org/officeDocument/2006/relationships/image" Target="../media/image11.png"/><Relationship Id="rId11" Type="http://schemas.openxmlformats.org/officeDocument/2006/relationships/customXml" Target="../ink/ink5.xml"/><Relationship Id="rId12" Type="http://schemas.openxmlformats.org/officeDocument/2006/relationships/image" Target="../media/image12.png"/><Relationship Id="rId13" Type="http://schemas.openxmlformats.org/officeDocument/2006/relationships/customXml" Target="../ink/ink6.xml"/><Relationship Id="rId14" Type="http://schemas.openxmlformats.org/officeDocument/2006/relationships/image" Target="../media/image13.png"/><Relationship Id="rId15" Type="http://schemas.openxmlformats.org/officeDocument/2006/relationships/customXml" Target="../ink/ink7.xml"/><Relationship Id="rId16" Type="http://schemas.openxmlformats.org/officeDocument/2006/relationships/image" Target="../media/image14.png"/><Relationship Id="rId17" Type="http://schemas.openxmlformats.org/officeDocument/2006/relationships/customXml" Target="../ink/ink8.xml"/><Relationship Id="rId18" Type="http://schemas.openxmlformats.org/officeDocument/2006/relationships/image" Target="../media/image15.png"/><Relationship Id="rId19" Type="http://schemas.openxmlformats.org/officeDocument/2006/relationships/customXml" Target="../ink/ink9.xml"/><Relationship Id="rId20" Type="http://schemas.openxmlformats.org/officeDocument/2006/relationships/image" Target="../media/image16.png"/><Relationship Id="rId21" Type="http://schemas.openxmlformats.org/officeDocument/2006/relationships/customXml" Target="../ink/ink10.xml"/><Relationship Id="rId22" Type="http://schemas.openxmlformats.org/officeDocument/2006/relationships/image" Target="../media/image17.png"/><Relationship Id="rId23" Type="http://schemas.openxmlformats.org/officeDocument/2006/relationships/customXml" Target="../ink/ink11.xml"/><Relationship Id="rId24" Type="http://schemas.openxmlformats.org/officeDocument/2006/relationships/image" Target="../media/image18.png"/><Relationship Id="rId25" Type="http://schemas.openxmlformats.org/officeDocument/2006/relationships/customXml" Target="../ink/ink12.xml"/><Relationship Id="rId26" Type="http://schemas.openxmlformats.org/officeDocument/2006/relationships/image" Target="../media/image19.png"/><Relationship Id="rId27" Type="http://schemas.openxmlformats.org/officeDocument/2006/relationships/customXml" Target="../ink/ink13.xml"/><Relationship Id="rId28" Type="http://schemas.openxmlformats.org/officeDocument/2006/relationships/image" Target="../media/image20.png"/><Relationship Id="rId29" Type="http://schemas.openxmlformats.org/officeDocument/2006/relationships/customXml" Target="../ink/ink14.xml"/><Relationship Id="rId30"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22"/>
          <p:cNvSpPr txBox="1">
            <a:spLocks noGrp="1"/>
          </p:cNvSpPr>
          <p:nvPr>
            <p:ph type="ctrTitle"/>
          </p:nvPr>
        </p:nvSpPr>
        <p:spPr>
          <a:xfrm>
            <a:off x="447888" y="1611357"/>
            <a:ext cx="5320839" cy="60011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rgbClr val="FFFFFF"/>
              </a:buClr>
              <a:buSzPts val="2000"/>
              <a:buFont typeface="Arial"/>
              <a:buNone/>
            </a:pPr>
            <a:r>
              <a:rPr lang="en-US" sz="2000" dirty="0"/>
              <a:t>Modeling Orbital Edge Processing in a Contested Environment</a:t>
            </a:r>
            <a:endParaRPr sz="2000" dirty="0">
              <a:latin typeface="Arial"/>
              <a:ea typeface="Arial"/>
              <a:cs typeface="Arial"/>
              <a:sym typeface="Arial"/>
            </a:endParaRPr>
          </a:p>
        </p:txBody>
      </p:sp>
      <p:sp>
        <p:nvSpPr>
          <p:cNvPr id="86" name="Google Shape;86;p22"/>
          <p:cNvSpPr txBox="1">
            <a:spLocks noGrp="1"/>
          </p:cNvSpPr>
          <p:nvPr>
            <p:ph type="subTitle" idx="1"/>
          </p:nvPr>
        </p:nvSpPr>
        <p:spPr>
          <a:xfrm>
            <a:off x="422294" y="2360317"/>
            <a:ext cx="4058106" cy="110788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rgbClr val="ECE9C6"/>
              </a:buClr>
              <a:buSzPts val="1800"/>
              <a:buNone/>
            </a:pPr>
            <a:r>
              <a:rPr lang="en-US" sz="1800" dirty="0">
                <a:latin typeface="Arial"/>
                <a:ea typeface="Arial"/>
                <a:cs typeface="Arial"/>
                <a:sym typeface="Arial"/>
              </a:rPr>
              <a:t>Carlo Antonio Nino</a:t>
            </a:r>
            <a:endParaRPr dirty="0"/>
          </a:p>
          <a:p>
            <a:pPr marL="0" lvl="0" indent="0" algn="l" rtl="0">
              <a:spcBef>
                <a:spcPts val="360"/>
              </a:spcBef>
              <a:spcAft>
                <a:spcPts val="0"/>
              </a:spcAft>
              <a:buClr>
                <a:srgbClr val="ECE9C6"/>
              </a:buClr>
              <a:buSzPts val="1800"/>
              <a:buNone/>
            </a:pPr>
            <a:r>
              <a:rPr lang="en-US" sz="1800" dirty="0">
                <a:latin typeface="Arial"/>
                <a:ea typeface="Arial"/>
                <a:cs typeface="Arial"/>
                <a:sym typeface="Arial"/>
              </a:rPr>
              <a:t>10/03/2026</a:t>
            </a:r>
            <a:endParaRPr dirty="0"/>
          </a:p>
        </p:txBody>
      </p:sp>
      <p:sp>
        <p:nvSpPr>
          <p:cNvPr id="87" name="Google Shape;87;p22"/>
          <p:cNvSpPr/>
          <p:nvPr/>
        </p:nvSpPr>
        <p:spPr>
          <a:xfrm>
            <a:off x="2647718" y="4851"/>
            <a:ext cx="5886682" cy="120023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Clr>
                <a:srgbClr val="FFFFFF"/>
              </a:buClr>
              <a:buSzPts val="3200"/>
              <a:buFont typeface="Arial"/>
              <a:buNone/>
            </a:pPr>
            <a:r>
              <a:rPr lang="en-US" sz="3200" b="1" cap="none">
                <a:solidFill>
                  <a:srgbClr val="FFFFFF"/>
                </a:solidFill>
                <a:latin typeface="Arial"/>
                <a:ea typeface="Arial"/>
                <a:cs typeface="Arial"/>
                <a:sym typeface="Arial"/>
              </a:rPr>
              <a:t>Student Biweekly Progress Presentation to Advisor</a:t>
            </a:r>
            <a:endParaRPr/>
          </a:p>
        </p:txBody>
      </p:sp>
      <p:sp>
        <p:nvSpPr>
          <p:cNvPr id="88" name="Google Shape;88;p22"/>
          <p:cNvSpPr/>
          <p:nvPr/>
        </p:nvSpPr>
        <p:spPr>
          <a:xfrm>
            <a:off x="5084323" y="6154524"/>
            <a:ext cx="2023353" cy="3693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1800"/>
              <a:buFont typeface="Calibri"/>
              <a:buNone/>
            </a:pPr>
            <a:r>
              <a:rPr lang="en-US" sz="1800">
                <a:solidFill>
                  <a:schemeClr val="lt1"/>
                </a:solidFill>
                <a:latin typeface="Calibri"/>
                <a:ea typeface="Calibri"/>
                <a:cs typeface="Calibri"/>
                <a:sym typeface="Calibri"/>
              </a:rPr>
              <a:t>1 of 5</a:t>
            </a:r>
            <a:endParaRPr/>
          </a:p>
        </p:txBody>
      </p:sp>
      <p:sp>
        <p:nvSpPr>
          <p:cNvPr id="89" name="Google Shape;89;p22"/>
          <p:cNvSpPr/>
          <p:nvPr/>
        </p:nvSpPr>
        <p:spPr>
          <a:xfrm>
            <a:off x="422294" y="3025302"/>
            <a:ext cx="5168278" cy="394716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FFFFFF"/>
              </a:buClr>
              <a:buSzPts val="1150"/>
              <a:buFont typeface="Calibri"/>
              <a:buNone/>
            </a:pPr>
            <a:r>
              <a:rPr lang="en-US" sz="1150" b="1" dirty="0">
                <a:solidFill>
                  <a:srgbClr val="FFFFFF"/>
                </a:solidFill>
                <a:latin typeface="Calibri"/>
                <a:ea typeface="Calibri"/>
                <a:cs typeface="Calibri"/>
                <a:sym typeface="Calibri"/>
              </a:rPr>
              <a:t>Satellite systems rely on ground communications for processing and decision support. The Praxis compares a ground-centric path with bounded orbital edge processing under matched degraded-link conditions.</a:t>
            </a:r>
            <a:endParaRPr dirty="0"/>
          </a:p>
          <a:p>
            <a:pPr marL="0" marR="0" lvl="0" indent="0" algn="l" rtl="0">
              <a:spcBef>
                <a:spcPts val="0"/>
              </a:spcBef>
              <a:spcAft>
                <a:spcPts val="0"/>
              </a:spcAft>
              <a:buClr>
                <a:srgbClr val="FFFFFF"/>
              </a:buClr>
              <a:buSzPts val="1150"/>
              <a:buFont typeface="Calibri"/>
              <a:buNone/>
            </a:pPr>
            <a:r>
              <a:rPr lang="en-US" sz="1150" b="1" dirty="0">
                <a:solidFill>
                  <a:srgbClr val="FFFFFF"/>
                </a:solidFill>
                <a:latin typeface="Calibri"/>
                <a:ea typeface="Calibri"/>
                <a:cs typeface="Calibri"/>
                <a:sym typeface="Calibri"/>
              </a:rPr>
              <a:t>The working method is discrete-event simulation (DES). The Excel v9 prototype now aligns AI/ML telemetry, communications and environmental records within a common time window.</a:t>
            </a:r>
            <a:endParaRPr dirty="0"/>
          </a:p>
          <a:p>
            <a:pPr marL="0" marR="0" lvl="0" indent="0" algn="l" rtl="0">
              <a:spcBef>
                <a:spcPts val="0"/>
              </a:spcBef>
              <a:spcAft>
                <a:spcPts val="0"/>
              </a:spcAft>
              <a:buClr>
                <a:srgbClr val="FFFFFF"/>
              </a:buClr>
              <a:buSzPts val="1150"/>
              <a:buFont typeface="Calibri"/>
              <a:buNone/>
            </a:pPr>
            <a:r>
              <a:rPr lang="en-US" sz="1150" b="1" dirty="0">
                <a:solidFill>
                  <a:srgbClr val="FFFFFF"/>
                </a:solidFill>
                <a:latin typeface="Calibri"/>
                <a:ea typeface="Calibri"/>
                <a:cs typeface="Calibri"/>
                <a:sym typeface="Calibri"/>
              </a:rPr>
              <a:t>The Chapter 2 first draft was sent to Dr. Hao on 27 September. Advisor feedback, reference allocation, MATLAB/</a:t>
            </a:r>
            <a:r>
              <a:rPr lang="en-US" sz="1150" b="1" dirty="0" err="1">
                <a:solidFill>
                  <a:srgbClr val="FFFFFF"/>
                </a:solidFill>
                <a:latin typeface="Calibri"/>
                <a:ea typeface="Calibri"/>
                <a:cs typeface="Calibri"/>
                <a:sym typeface="Calibri"/>
              </a:rPr>
              <a:t>SimEvents</a:t>
            </a:r>
            <a:r>
              <a:rPr lang="en-US" sz="1150" b="1" dirty="0">
                <a:solidFill>
                  <a:srgbClr val="FFFFFF"/>
                </a:solidFill>
                <a:latin typeface="Calibri"/>
                <a:ea typeface="Calibri"/>
                <a:cs typeface="Calibri"/>
                <a:sym typeface="Calibri"/>
              </a:rPr>
              <a:t> implementation and validation remain open.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23"/>
          <p:cNvSpPr txBox="1">
            <a:spLocks noGrp="1"/>
          </p:cNvSpPr>
          <p:nvPr>
            <p:ph type="title"/>
          </p:nvPr>
        </p:nvSpPr>
        <p:spPr>
          <a:xfrm>
            <a:off x="483495" y="316733"/>
            <a:ext cx="11525951"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Response to Advisor Feedback from previous meeting(s)</a:t>
            </a:r>
            <a:endParaRPr/>
          </a:p>
        </p:txBody>
      </p:sp>
      <p:sp>
        <p:nvSpPr>
          <p:cNvPr id="96" name="Google Shape;96;p23"/>
          <p:cNvSpPr/>
          <p:nvPr/>
        </p:nvSpPr>
        <p:spPr>
          <a:xfrm>
            <a:off x="5084323" y="6154524"/>
            <a:ext cx="2023353" cy="58477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3200"/>
              <a:buFont typeface="Calibri"/>
              <a:buNone/>
            </a:pPr>
            <a:r>
              <a:rPr lang="en-US" sz="3200">
                <a:solidFill>
                  <a:schemeClr val="lt1"/>
                </a:solidFill>
                <a:latin typeface="Calibri"/>
                <a:ea typeface="Calibri"/>
                <a:cs typeface="Calibri"/>
                <a:sym typeface="Calibri"/>
              </a:rPr>
              <a:t>2 of 5</a:t>
            </a:r>
            <a:endParaRPr/>
          </a:p>
        </p:txBody>
      </p:sp>
      <p:sp>
        <p:nvSpPr>
          <p:cNvPr id="97" name="Google Shape;97;p23"/>
          <p:cNvSpPr/>
          <p:nvPr/>
        </p:nvSpPr>
        <p:spPr>
          <a:xfrm>
            <a:off x="585216" y="1517418"/>
            <a:ext cx="10972800" cy="466344"/>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0000"/>
              </a:buClr>
              <a:buSzPts val="1400"/>
              <a:buFont typeface="Times New Roman"/>
              <a:buNone/>
            </a:pPr>
            <a:r>
              <a:rPr lang="en-US" sz="1400" b="0" dirty="0">
                <a:solidFill>
                  <a:srgbClr val="FF0000"/>
                </a:solidFill>
                <a:latin typeface="Times New Roman"/>
                <a:ea typeface="Times New Roman"/>
                <a:cs typeface="Times New Roman"/>
                <a:sym typeface="Times New Roman"/>
              </a:rPr>
              <a:t>Develop Chapter 2 Literature Review and send a first draft for advisor review. [19 Sep 2026]</a:t>
            </a:r>
            <a:endParaRPr dirty="0"/>
          </a:p>
        </p:txBody>
      </p:sp>
      <p:sp>
        <p:nvSpPr>
          <p:cNvPr id="98" name="Google Shape;98;p23"/>
          <p:cNvSpPr/>
          <p:nvPr/>
        </p:nvSpPr>
        <p:spPr>
          <a:xfrm>
            <a:off x="585216" y="1802168"/>
            <a:ext cx="10972800" cy="435504"/>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b="0" dirty="0">
                <a:solidFill>
                  <a:srgbClr val="000000"/>
                </a:solidFill>
                <a:latin typeface="Times New Roman"/>
                <a:ea typeface="Times New Roman"/>
                <a:cs typeface="Times New Roman"/>
                <a:sym typeface="Times New Roman"/>
              </a:rPr>
              <a:t>First draft sent to Dr. Hao on 27 Sep 2026. The red sections still need development and formatting; advisor feedback remains pending. [27 Sep 2026]</a:t>
            </a:r>
            <a:endParaRPr sz="2000" b="0" dirty="0">
              <a:solidFill>
                <a:srgbClr val="000000"/>
              </a:solidFill>
              <a:latin typeface="Times New Roman"/>
              <a:ea typeface="Times New Roman"/>
              <a:cs typeface="Times New Roman"/>
              <a:sym typeface="Times New Roman"/>
            </a:endParaRPr>
          </a:p>
        </p:txBody>
      </p:sp>
      <p:sp>
        <p:nvSpPr>
          <p:cNvPr id="99" name="Google Shape;99;p23"/>
          <p:cNvSpPr/>
          <p:nvPr/>
        </p:nvSpPr>
        <p:spPr>
          <a:xfrm>
            <a:off x="541441" y="2824794"/>
            <a:ext cx="10972800" cy="498348"/>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0000"/>
              </a:buClr>
              <a:buSzPts val="1400"/>
              <a:buFont typeface="Times New Roman"/>
              <a:buNone/>
            </a:pPr>
            <a:r>
              <a:rPr lang="en-US" sz="1400" b="0" dirty="0">
                <a:solidFill>
                  <a:srgbClr val="FF0000"/>
                </a:solidFill>
                <a:latin typeface="Times New Roman"/>
                <a:ea typeface="Times New Roman"/>
                <a:cs typeface="Times New Roman"/>
                <a:sym typeface="Times New Roman"/>
              </a:rPr>
              <a:t>Fuse multiple data sources: normalize common variables, record rejections, and extract useful information from the initial Excel DES. [19 Sep 2026]</a:t>
            </a:r>
            <a:endParaRPr dirty="0"/>
          </a:p>
        </p:txBody>
      </p:sp>
      <p:sp>
        <p:nvSpPr>
          <p:cNvPr id="100" name="Google Shape;100;p23"/>
          <p:cNvSpPr/>
          <p:nvPr/>
        </p:nvSpPr>
        <p:spPr>
          <a:xfrm>
            <a:off x="541441" y="3125546"/>
            <a:ext cx="10972800" cy="806196"/>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Individual Excel v9 data-fit trials led to a simultaneous OPS-SAT ACE hybrid. AI/ML, communications and environmental inputs align on 28 Jan 2022, 17:42–17:55 UTC. This establishes a common input window, not a validated causal result. [27–28 Sep 2026]</a:t>
            </a:r>
            <a:endParaRPr/>
          </a:p>
        </p:txBody>
      </p:sp>
      <p:sp>
        <p:nvSpPr>
          <p:cNvPr id="101" name="Google Shape;101;p23"/>
          <p:cNvSpPr/>
          <p:nvPr/>
        </p:nvSpPr>
        <p:spPr>
          <a:xfrm>
            <a:off x="585216" y="4105541"/>
            <a:ext cx="10972800" cy="466344"/>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0000"/>
              </a:buClr>
              <a:buSzPts val="1400"/>
              <a:buFont typeface="Times New Roman"/>
              <a:buNone/>
            </a:pPr>
            <a:r>
              <a:rPr lang="en-US" sz="1400" b="0" dirty="0">
                <a:solidFill>
                  <a:srgbClr val="FF0000"/>
                </a:solidFill>
                <a:latin typeface="Times New Roman"/>
                <a:ea typeface="Times New Roman"/>
                <a:cs typeface="Times New Roman"/>
                <a:sym typeface="Times New Roman"/>
              </a:rPr>
              <a:t>Establish a controlled Praxis repository, develop the first hand-drawn OV-1, and plan the MATLAB/</a:t>
            </a:r>
            <a:r>
              <a:rPr lang="en-US" sz="1400" b="0" dirty="0" err="1">
                <a:solidFill>
                  <a:srgbClr val="FF0000"/>
                </a:solidFill>
                <a:latin typeface="Times New Roman"/>
                <a:ea typeface="Times New Roman"/>
                <a:cs typeface="Times New Roman"/>
                <a:sym typeface="Times New Roman"/>
              </a:rPr>
              <a:t>SimEvents</a:t>
            </a:r>
            <a:r>
              <a:rPr lang="en-US" sz="1400" b="0" dirty="0">
                <a:solidFill>
                  <a:srgbClr val="FF0000"/>
                </a:solidFill>
                <a:latin typeface="Times New Roman"/>
                <a:ea typeface="Times New Roman"/>
                <a:cs typeface="Times New Roman"/>
                <a:sym typeface="Times New Roman"/>
              </a:rPr>
              <a:t> scale-up. [19 Sep 2026]</a:t>
            </a:r>
            <a:endParaRPr dirty="0"/>
          </a:p>
        </p:txBody>
      </p:sp>
      <p:sp>
        <p:nvSpPr>
          <p:cNvPr id="102" name="Google Shape;102;p23"/>
          <p:cNvSpPr/>
          <p:nvPr/>
        </p:nvSpPr>
        <p:spPr>
          <a:xfrm>
            <a:off x="609599" y="4571885"/>
            <a:ext cx="10972800" cy="931164"/>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400"/>
              <a:buFont typeface="Times New Roman"/>
              <a:buNone/>
            </a:pPr>
            <a:r>
              <a:rPr lang="en-US" sz="1400" b="1" dirty="0">
                <a:solidFill>
                  <a:srgbClr val="000000"/>
                </a:solidFill>
                <a:latin typeface="Times New Roman"/>
                <a:ea typeface="Times New Roman"/>
                <a:cs typeface="Times New Roman"/>
                <a:sym typeface="Times New Roman"/>
              </a:rPr>
              <a:t>The Green Shared Praxis </a:t>
            </a:r>
            <a:r>
              <a:rPr lang="en-US" sz="1400" b="0" dirty="0">
                <a:solidFill>
                  <a:srgbClr val="000000"/>
                </a:solidFill>
                <a:latin typeface="Times New Roman"/>
                <a:ea typeface="Times New Roman"/>
                <a:cs typeface="Times New Roman"/>
                <a:sym typeface="Times New Roman"/>
              </a:rPr>
              <a:t>archive is accessible to Dr. Hao. </a:t>
            </a:r>
          </a:p>
          <a:p>
            <a:pPr marL="0" marR="0" lvl="0" indent="0" algn="l" rtl="0">
              <a:lnSpc>
                <a:spcPct val="105000"/>
              </a:lnSpc>
              <a:spcBef>
                <a:spcPts val="0"/>
              </a:spcBef>
              <a:spcAft>
                <a:spcPts val="0"/>
              </a:spcAft>
              <a:buClr>
                <a:srgbClr val="000000"/>
              </a:buClr>
              <a:buSzPts val="1400"/>
              <a:buFont typeface="Times New Roman"/>
              <a:buNone/>
            </a:pPr>
            <a:r>
              <a:rPr lang="en-US" sz="1400" b="0" dirty="0">
                <a:solidFill>
                  <a:srgbClr val="000000"/>
                </a:solidFill>
                <a:latin typeface="Times New Roman"/>
                <a:ea typeface="Times New Roman"/>
                <a:cs typeface="Times New Roman"/>
                <a:sym typeface="Times New Roman"/>
              </a:rPr>
              <a:t>The non-AI OV-1 now has </a:t>
            </a:r>
            <a:r>
              <a:rPr lang="en-US" dirty="0">
                <a:latin typeface="Times New Roman"/>
                <a:ea typeface="Times New Roman"/>
                <a:cs typeface="Times New Roman"/>
                <a:sym typeface="Times New Roman"/>
              </a:rPr>
              <a:t>(modifiable) </a:t>
            </a:r>
            <a:r>
              <a:rPr lang="en-US" sz="1400" b="0" dirty="0">
                <a:solidFill>
                  <a:srgbClr val="000000"/>
                </a:solidFill>
                <a:latin typeface="Times New Roman"/>
                <a:ea typeface="Times New Roman"/>
                <a:cs typeface="Times New Roman"/>
                <a:sym typeface="Times New Roman"/>
              </a:rPr>
              <a:t>explanatory wording. </a:t>
            </a:r>
          </a:p>
          <a:p>
            <a:pPr marL="0" marR="0" lvl="0" indent="0" algn="l" rtl="0">
              <a:lnSpc>
                <a:spcPct val="105000"/>
              </a:lnSpc>
              <a:spcBef>
                <a:spcPts val="0"/>
              </a:spcBef>
              <a:spcAft>
                <a:spcPts val="0"/>
              </a:spcAft>
              <a:buClr>
                <a:srgbClr val="000000"/>
              </a:buClr>
              <a:buSzPts val="1400"/>
              <a:buFont typeface="Times New Roman"/>
              <a:buNone/>
            </a:pPr>
            <a:r>
              <a:rPr lang="en-US" sz="1400" b="0" dirty="0">
                <a:solidFill>
                  <a:srgbClr val="000000"/>
                </a:solidFill>
                <a:latin typeface="Times New Roman"/>
                <a:ea typeface="Times New Roman"/>
                <a:cs typeface="Times New Roman"/>
                <a:sym typeface="Times New Roman"/>
              </a:rPr>
              <a:t>MATLAB/</a:t>
            </a:r>
            <a:r>
              <a:rPr lang="en-US" sz="1400" b="0" dirty="0" err="1">
                <a:solidFill>
                  <a:srgbClr val="000000"/>
                </a:solidFill>
                <a:latin typeface="Times New Roman"/>
                <a:ea typeface="Times New Roman"/>
                <a:cs typeface="Times New Roman"/>
                <a:sym typeface="Times New Roman"/>
              </a:rPr>
              <a:t>SimEvents</a:t>
            </a:r>
            <a:r>
              <a:rPr lang="en-US" sz="1400" b="0" dirty="0">
                <a:solidFill>
                  <a:srgbClr val="000000"/>
                </a:solidFill>
                <a:latin typeface="Times New Roman"/>
                <a:ea typeface="Times New Roman"/>
                <a:cs typeface="Times New Roman"/>
                <a:sym typeface="Times New Roman"/>
              </a:rPr>
              <a:t> Baseline #2 is defined as the next implementation path; a completed scaled run is </a:t>
            </a:r>
            <a:r>
              <a:rPr lang="en-US" sz="1400" b="1" i="1" dirty="0">
                <a:solidFill>
                  <a:srgbClr val="000000"/>
                </a:solidFill>
                <a:latin typeface="Times New Roman"/>
                <a:ea typeface="Times New Roman"/>
                <a:cs typeface="Times New Roman"/>
                <a:sym typeface="Times New Roman"/>
              </a:rPr>
              <a:t>still pending. </a:t>
            </a:r>
            <a:r>
              <a:rPr lang="en-US" sz="1400" b="0" dirty="0">
                <a:solidFill>
                  <a:srgbClr val="000000"/>
                </a:solidFill>
                <a:latin typeface="Times New Roman"/>
                <a:ea typeface="Times New Roman"/>
                <a:cs typeface="Times New Roman"/>
                <a:sym typeface="Times New Roman"/>
              </a:rPr>
              <a:t>[27–28 Sep 2026]</a:t>
            </a:r>
            <a:endParaRPr sz="1050" b="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4"/>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Progress Since Last Meeting</a:t>
            </a:r>
            <a:endParaRPr/>
          </a:p>
        </p:txBody>
      </p:sp>
      <p:sp>
        <p:nvSpPr>
          <p:cNvPr id="109" name="Google Shape;109;p24"/>
          <p:cNvSpPr/>
          <p:nvPr/>
        </p:nvSpPr>
        <p:spPr>
          <a:xfrm>
            <a:off x="5084323" y="6154524"/>
            <a:ext cx="2023353" cy="3693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1800"/>
              <a:buFont typeface="Calibri"/>
              <a:buNone/>
            </a:pPr>
            <a:r>
              <a:rPr lang="en-US" sz="1800">
                <a:solidFill>
                  <a:schemeClr val="lt1"/>
                </a:solidFill>
                <a:latin typeface="Calibri"/>
                <a:ea typeface="Calibri"/>
                <a:cs typeface="Calibri"/>
                <a:sym typeface="Calibri"/>
              </a:rPr>
              <a:t>3 of 5</a:t>
            </a:r>
            <a:endParaRPr/>
          </a:p>
        </p:txBody>
      </p:sp>
      <p:sp>
        <p:nvSpPr>
          <p:cNvPr id="111" name="Google Shape;111;p24"/>
          <p:cNvSpPr/>
          <p:nvPr/>
        </p:nvSpPr>
        <p:spPr>
          <a:xfrm>
            <a:off x="585216" y="1336688"/>
            <a:ext cx="10991088" cy="536448"/>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000"/>
              <a:buFont typeface="Times New Roman"/>
              <a:buNone/>
            </a:pPr>
            <a:r>
              <a:rPr lang="en-US" sz="1200" b="0" dirty="0">
                <a:solidFill>
                  <a:srgbClr val="000000"/>
                </a:solidFill>
                <a:latin typeface="Times New Roman"/>
                <a:ea typeface="Times New Roman"/>
                <a:cs typeface="Times New Roman"/>
                <a:sym typeface="Times New Roman"/>
              </a:rPr>
              <a:t>The public-data work moved from individual fit trials to a simultaneous Excel v9 baseline. OPS-SAT AI/ML telemetry, </a:t>
            </a:r>
            <a:r>
              <a:rPr lang="en-US" sz="1200" b="0" dirty="0" err="1">
                <a:solidFill>
                  <a:srgbClr val="000000"/>
                </a:solidFill>
                <a:latin typeface="Times New Roman"/>
                <a:ea typeface="Times New Roman"/>
                <a:cs typeface="Times New Roman"/>
                <a:sym typeface="Times New Roman"/>
              </a:rPr>
              <a:t>SatNOGS</a:t>
            </a:r>
            <a:r>
              <a:rPr lang="en-US" sz="1200" b="0" dirty="0">
                <a:solidFill>
                  <a:srgbClr val="000000"/>
                </a:solidFill>
                <a:latin typeface="Times New Roman"/>
                <a:ea typeface="Times New Roman"/>
                <a:cs typeface="Times New Roman"/>
                <a:sym typeface="Times New Roman"/>
              </a:rPr>
              <a:t> OPS-SAT communications observations and NASA OMNI environmental context share a bounded time window. This is the VENN diagram [27–28 Sep 2026]</a:t>
            </a:r>
            <a:endParaRPr sz="1200" b="0" dirty="0">
              <a:solidFill>
                <a:srgbClr val="000000"/>
              </a:solidFill>
              <a:latin typeface="Times New Roman"/>
              <a:ea typeface="Times New Roman"/>
              <a:cs typeface="Times New Roman"/>
              <a:sym typeface="Times New Roman"/>
            </a:endParaRPr>
          </a:p>
        </p:txBody>
      </p:sp>
      <p:sp>
        <p:nvSpPr>
          <p:cNvPr id="112" name="Google Shape;112;p24"/>
          <p:cNvSpPr/>
          <p:nvPr/>
        </p:nvSpPr>
        <p:spPr>
          <a:xfrm>
            <a:off x="585216" y="1811134"/>
            <a:ext cx="10991088" cy="536448"/>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000"/>
              <a:buFont typeface="Times New Roman"/>
              <a:buNone/>
            </a:pPr>
            <a:r>
              <a:rPr lang="en-US" b="0" dirty="0">
                <a:solidFill>
                  <a:srgbClr val="000000"/>
                </a:solidFill>
                <a:latin typeface="Times New Roman"/>
                <a:ea typeface="Times New Roman"/>
                <a:cs typeface="Times New Roman"/>
                <a:sym typeface="Times New Roman"/>
              </a:rPr>
              <a:t>The ground-centric versus bounded-edge comparison remains the controlled DES experiment. MATLAB/</a:t>
            </a:r>
            <a:r>
              <a:rPr lang="en-US" b="0" dirty="0" err="1">
                <a:solidFill>
                  <a:srgbClr val="000000"/>
                </a:solidFill>
                <a:latin typeface="Times New Roman"/>
                <a:ea typeface="Times New Roman"/>
                <a:cs typeface="Times New Roman"/>
                <a:sym typeface="Times New Roman"/>
              </a:rPr>
              <a:t>SimEvents</a:t>
            </a:r>
            <a:r>
              <a:rPr lang="en-US" b="0" dirty="0">
                <a:solidFill>
                  <a:srgbClr val="000000"/>
                </a:solidFill>
                <a:latin typeface="Times New Roman"/>
                <a:ea typeface="Times New Roman"/>
                <a:cs typeface="Times New Roman"/>
                <a:sym typeface="Times New Roman"/>
              </a:rPr>
              <a:t> Baseline #2 will reproduce the Excel logic before scaling run count and dataset size. [27 Sep 2026]</a:t>
            </a:r>
            <a:endParaRPr b="0" dirty="0">
              <a:solidFill>
                <a:srgbClr val="000000"/>
              </a:solidFill>
              <a:latin typeface="Times New Roman"/>
              <a:ea typeface="Times New Roman"/>
              <a:cs typeface="Times New Roman"/>
              <a:sym typeface="Times New Roman"/>
            </a:endParaRPr>
          </a:p>
        </p:txBody>
      </p:sp>
      <p:sp>
        <p:nvSpPr>
          <p:cNvPr id="113" name="Google Shape;113;p24"/>
          <p:cNvSpPr/>
          <p:nvPr/>
        </p:nvSpPr>
        <p:spPr>
          <a:xfrm>
            <a:off x="585216" y="2688536"/>
            <a:ext cx="10991088" cy="246888"/>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650"/>
              <a:buFont typeface="Times New Roman"/>
              <a:buNone/>
            </a:pPr>
            <a:r>
              <a:rPr lang="en-US" sz="1100" b="1" dirty="0">
                <a:solidFill>
                  <a:srgbClr val="000000"/>
                </a:solidFill>
                <a:latin typeface="Times New Roman"/>
                <a:ea typeface="Times New Roman"/>
                <a:cs typeface="Times New Roman"/>
                <a:sym typeface="Times New Roman"/>
              </a:rPr>
              <a:t>LITERATURE SNAPSHOT — methodological examples retained from the 19 Sep register</a:t>
            </a:r>
            <a:endParaRPr sz="2800" dirty="0"/>
          </a:p>
        </p:txBody>
      </p:sp>
      <p:graphicFrame>
        <p:nvGraphicFramePr>
          <p:cNvPr id="114" name="Google Shape;114;p24"/>
          <p:cNvGraphicFramePr/>
          <p:nvPr/>
        </p:nvGraphicFramePr>
        <p:xfrm>
          <a:off x="585216" y="2990288"/>
          <a:ext cx="10991100" cy="1920200"/>
        </p:xfrm>
        <a:graphic>
          <a:graphicData uri="http://schemas.openxmlformats.org/drawingml/2006/table">
            <a:tbl>
              <a:tblPr firstRow="1" bandRow="1">
                <a:noFill/>
                <a:tableStyleId>{3C1EB017-BC45-4DEE-9ABB-B4D90C79D28D}</a:tableStyleId>
              </a:tblPr>
              <a:tblGrid>
                <a:gridCol w="1828800">
                  <a:extLst>
                    <a:ext uri="{9D8B030D-6E8A-4147-A177-3AD203B41FA5}">
                      <a16:colId xmlns:a16="http://schemas.microsoft.com/office/drawing/2014/main" val="20000"/>
                    </a:ext>
                  </a:extLst>
                </a:gridCol>
                <a:gridCol w="4663450">
                  <a:extLst>
                    <a:ext uri="{9D8B030D-6E8A-4147-A177-3AD203B41FA5}">
                      <a16:colId xmlns:a16="http://schemas.microsoft.com/office/drawing/2014/main" val="20001"/>
                    </a:ext>
                  </a:extLst>
                </a:gridCol>
                <a:gridCol w="4498850">
                  <a:extLst>
                    <a:ext uri="{9D8B030D-6E8A-4147-A177-3AD203B41FA5}">
                      <a16:colId xmlns:a16="http://schemas.microsoft.com/office/drawing/2014/main" val="20002"/>
                    </a:ext>
                  </a:extLst>
                </a:gridCol>
              </a:tblGrid>
              <a:tr h="27432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Author / year</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Registered work — short title</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1" u="none" strike="noStrike" cap="none">
                          <a:solidFill>
                            <a:srgbClr val="000000"/>
                          </a:solidFill>
                          <a:latin typeface="Times New Roman"/>
                          <a:ea typeface="Times New Roman"/>
                          <a:cs typeface="Times New Roman"/>
                          <a:sym typeface="Times New Roman"/>
                        </a:rPr>
                        <a:t>Method / relevance recorded</a:t>
                      </a:r>
                      <a:endParaRPr/>
                    </a:p>
                  </a:txBody>
                  <a:tcPr marL="68575" marR="68575" marT="36575" marB="22850" anchor="ctr">
                    <a:solidFill>
                      <a:srgbClr val="E7EEF3"/>
                    </a:solidFill>
                  </a:tcPr>
                </a:tc>
                <a:extLst>
                  <a:ext uri="{0D108BD9-81ED-4DB2-BD59-A6C34878D82A}">
                    <a16:rowId xmlns:a16="http://schemas.microsoft.com/office/drawing/2014/main" val="10000"/>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Browne (2024)</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EV charging: arrivals, utilization and wait times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 Monte Carlo; queueing and congestion</a:t>
                      </a:r>
                      <a:endParaRPr/>
                    </a:p>
                  </a:txBody>
                  <a:tcPr marL="68575" marR="68575" marT="36575" marB="22850" anchor="ctr">
                    <a:solidFill>
                      <a:srgbClr val="FFFFFF"/>
                    </a:solidFill>
                  </a:tcPr>
                </a:tc>
                <a:extLst>
                  <a:ext uri="{0D108BD9-81ED-4DB2-BD59-A6C34878D82A}">
                    <a16:rowId xmlns:a16="http://schemas.microsoft.com/office/drawing/2014/main" val="10001"/>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Littlefield (2017)</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Reliability of highly parallel systems</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failures, redundancy and reliability</a:t>
                      </a:r>
                      <a:endParaRPr/>
                    </a:p>
                  </a:txBody>
                  <a:tcPr marL="68575" marR="68575" marT="36575" marB="22850" anchor="ctr">
                    <a:solidFill>
                      <a:srgbClr val="F6F8FA"/>
                    </a:solidFill>
                  </a:tcPr>
                </a:tc>
                <a:extLst>
                  <a:ext uri="{0D108BD9-81ED-4DB2-BD59-A6C34878D82A}">
                    <a16:rowId xmlns:a16="http://schemas.microsoft.com/office/drawing/2014/main" val="10002"/>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Shanbhag (2021)</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Overcommitment on cloud-computing workloads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finite compute resources and overload</a:t>
                      </a:r>
                      <a:endParaRPr/>
                    </a:p>
                  </a:txBody>
                  <a:tcPr marL="68575" marR="68575" marT="36575" marB="22850" anchor="ctr">
                    <a:solidFill>
                      <a:srgbClr val="FFFFFF"/>
                    </a:solidFill>
                  </a:tcPr>
                </a:tc>
                <a:extLst>
                  <a:ext uri="{0D108BD9-81ED-4DB2-BD59-A6C34878D82A}">
                    <a16:rowId xmlns:a16="http://schemas.microsoft.com/office/drawing/2014/main" val="10003"/>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Newell (2023)</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Spare-part quantities and obsolescence cycles</a:t>
                      </a:r>
                      <a:endParaRPr/>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failures, repair and operational availability</a:t>
                      </a:r>
                      <a:endParaRPr/>
                    </a:p>
                  </a:txBody>
                  <a:tcPr marL="68575" marR="68575" marT="36575" marB="22850" anchor="ctr">
                    <a:solidFill>
                      <a:srgbClr val="F6F8FA"/>
                    </a:solidFill>
                  </a:tcPr>
                </a:tc>
                <a:extLst>
                  <a:ext uri="{0D108BD9-81ED-4DB2-BD59-A6C34878D82A}">
                    <a16:rowId xmlns:a16="http://schemas.microsoft.com/office/drawing/2014/main" val="10004"/>
                  </a:ext>
                </a:extLst>
              </a:tr>
              <a:tr h="329175">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Devineni (2023)</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IT service incident resolution times</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000"/>
                        <a:buFont typeface="Times New Roman"/>
                        <a:buNone/>
                      </a:pPr>
                      <a:r>
                        <a:rPr lang="en-US" sz="1000" b="0" u="none" strike="noStrike" cap="none">
                          <a:solidFill>
                            <a:srgbClr val="000000"/>
                          </a:solidFill>
                          <a:latin typeface="Times New Roman"/>
                          <a:ea typeface="Times New Roman"/>
                          <a:cs typeface="Times New Roman"/>
                          <a:sym typeface="Times New Roman"/>
                        </a:rPr>
                        <a:t>DES / Monte Carlo; waiting and resolution time</a:t>
                      </a:r>
                      <a:endParaRPr/>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5"/>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Issues Encountered and Setbacks</a:t>
            </a:r>
            <a:endParaRPr/>
          </a:p>
        </p:txBody>
      </p:sp>
      <p:sp>
        <p:nvSpPr>
          <p:cNvPr id="122" name="Google Shape;122;p25"/>
          <p:cNvSpPr/>
          <p:nvPr/>
        </p:nvSpPr>
        <p:spPr>
          <a:xfrm>
            <a:off x="5084323" y="6171935"/>
            <a:ext cx="2023353" cy="3693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1800"/>
              <a:buFont typeface="Calibri"/>
              <a:buNone/>
            </a:pPr>
            <a:r>
              <a:rPr lang="en-US" sz="1800">
                <a:solidFill>
                  <a:schemeClr val="lt1"/>
                </a:solidFill>
                <a:latin typeface="Calibri"/>
                <a:ea typeface="Calibri"/>
                <a:cs typeface="Calibri"/>
                <a:sym typeface="Calibri"/>
              </a:rPr>
              <a:t>4 of 5</a:t>
            </a:r>
            <a:endParaRPr/>
          </a:p>
        </p:txBody>
      </p:sp>
      <p:sp>
        <p:nvSpPr>
          <p:cNvPr id="123" name="Google Shape;123;p25"/>
          <p:cNvSpPr/>
          <p:nvPr/>
        </p:nvSpPr>
        <p:spPr>
          <a:xfrm>
            <a:off x="600455" y="1308681"/>
            <a:ext cx="10991088" cy="786384"/>
          </a:xfrm>
          <a:prstGeom prst="rect">
            <a:avLst/>
          </a:prstGeom>
          <a:solidFill>
            <a:schemeClr val="tx2"/>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600"/>
              <a:buFont typeface="Times New Roman"/>
              <a:buNone/>
            </a:pPr>
            <a:r>
              <a:rPr lang="en-US" sz="1600" b="0" i="1" dirty="0">
                <a:solidFill>
                  <a:srgbClr val="000000"/>
                </a:solidFill>
                <a:latin typeface="Times New Roman"/>
                <a:ea typeface="Times New Roman"/>
                <a:cs typeface="Times New Roman"/>
                <a:sym typeface="Times New Roman"/>
              </a:rPr>
              <a:t>Chapter 2 in first draft awaiting advisor feedback</a:t>
            </a:r>
            <a:r>
              <a:rPr lang="en-US" sz="1600" b="0" dirty="0">
                <a:solidFill>
                  <a:srgbClr val="000000"/>
                </a:solidFill>
                <a:latin typeface="Times New Roman"/>
                <a:ea typeface="Times New Roman"/>
                <a:cs typeface="Times New Roman"/>
                <a:sym typeface="Times New Roman"/>
              </a:rPr>
              <a:t>. </a:t>
            </a:r>
          </a:p>
          <a:p>
            <a:pPr marL="0" marR="0" lvl="0" indent="0" algn="l" rtl="0">
              <a:lnSpc>
                <a:spcPct val="105000"/>
              </a:lnSpc>
              <a:spcBef>
                <a:spcPts val="0"/>
              </a:spcBef>
              <a:spcAft>
                <a:spcPts val="0"/>
              </a:spcAft>
              <a:buClr>
                <a:srgbClr val="000000"/>
              </a:buClr>
              <a:buSzPts val="1600"/>
              <a:buFont typeface="Times New Roman"/>
              <a:buNone/>
            </a:pPr>
            <a:r>
              <a:rPr lang="en-US" sz="1600" b="0" dirty="0">
                <a:solidFill>
                  <a:srgbClr val="000000"/>
                </a:solidFill>
                <a:latin typeface="Times New Roman"/>
                <a:ea typeface="Times New Roman"/>
                <a:cs typeface="Times New Roman"/>
                <a:sym typeface="Times New Roman"/>
              </a:rPr>
              <a:t>The </a:t>
            </a:r>
            <a:r>
              <a:rPr lang="en-US" sz="1600" b="0" dirty="0">
                <a:solidFill>
                  <a:srgbClr val="FF0000"/>
                </a:solidFill>
                <a:latin typeface="Times New Roman"/>
                <a:ea typeface="Times New Roman"/>
                <a:cs typeface="Times New Roman"/>
                <a:sym typeface="Times New Roman"/>
              </a:rPr>
              <a:t>red</a:t>
            </a:r>
            <a:r>
              <a:rPr lang="en-US" sz="1600" b="0" dirty="0">
                <a:solidFill>
                  <a:srgbClr val="000000"/>
                </a:solidFill>
                <a:latin typeface="Times New Roman"/>
                <a:ea typeface="Times New Roman"/>
                <a:cs typeface="Times New Roman"/>
                <a:sym typeface="Times New Roman"/>
              </a:rPr>
              <a:t> sections need further development and formatting; citation allocation across the outline remains open. [27 Sep 2026]</a:t>
            </a:r>
            <a:endParaRPr sz="1600" b="0" dirty="0">
              <a:solidFill>
                <a:srgbClr val="000000"/>
              </a:solidFill>
              <a:latin typeface="Times New Roman"/>
              <a:ea typeface="Times New Roman"/>
              <a:cs typeface="Times New Roman"/>
              <a:sym typeface="Times New Roman"/>
            </a:endParaRPr>
          </a:p>
        </p:txBody>
      </p:sp>
      <p:sp>
        <p:nvSpPr>
          <p:cNvPr id="124" name="Google Shape;124;p25"/>
          <p:cNvSpPr/>
          <p:nvPr/>
        </p:nvSpPr>
        <p:spPr>
          <a:xfrm>
            <a:off x="585216" y="2393127"/>
            <a:ext cx="10991088" cy="593766"/>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400"/>
              <a:buFont typeface="Times New Roman"/>
              <a:buNone/>
            </a:pPr>
            <a:r>
              <a:rPr lang="en-US" sz="1600" b="0" dirty="0">
                <a:solidFill>
                  <a:srgbClr val="000000"/>
                </a:solidFill>
                <a:latin typeface="Times New Roman"/>
                <a:ea typeface="Times New Roman"/>
                <a:cs typeface="Times New Roman"/>
                <a:sym typeface="Times New Roman"/>
              </a:rPr>
              <a:t>A shared timestamp doesn’t by itself establish a causal link among the AI/ML, communications and environmental records.  </a:t>
            </a:r>
          </a:p>
          <a:p>
            <a:pPr marL="0" marR="0" lvl="0" indent="0" algn="l" rtl="0">
              <a:lnSpc>
                <a:spcPct val="105000"/>
              </a:lnSpc>
              <a:spcBef>
                <a:spcPts val="0"/>
              </a:spcBef>
              <a:spcAft>
                <a:spcPts val="0"/>
              </a:spcAft>
              <a:buClr>
                <a:srgbClr val="000000"/>
              </a:buClr>
              <a:buSzPts val="1400"/>
              <a:buFont typeface="Times New Roman"/>
              <a:buNone/>
            </a:pPr>
            <a:r>
              <a:rPr lang="en-US" sz="1600" dirty="0">
                <a:latin typeface="Times New Roman"/>
                <a:ea typeface="Times New Roman"/>
                <a:cs typeface="Times New Roman"/>
                <a:sym typeface="Times New Roman"/>
              </a:rPr>
              <a:t>Using NOAA to establish type/nature of the natural disruption.  A qualifier.</a:t>
            </a:r>
            <a:r>
              <a:rPr lang="en-US" sz="1600" b="0" dirty="0">
                <a:solidFill>
                  <a:srgbClr val="000000"/>
                </a:solidFill>
                <a:latin typeface="Times New Roman"/>
                <a:ea typeface="Times New Roman"/>
                <a:cs typeface="Times New Roman"/>
                <a:sym typeface="Times New Roman"/>
              </a:rPr>
              <a:t>  </a:t>
            </a:r>
            <a:endParaRPr lang="en-US" sz="1600" dirty="0">
              <a:latin typeface="Times New Roman"/>
              <a:ea typeface="Times New Roman"/>
              <a:cs typeface="Times New Roman"/>
              <a:sym typeface="Times New Roman"/>
            </a:endParaRPr>
          </a:p>
          <a:p>
            <a:pPr marL="0" marR="0" lvl="0" indent="0" algn="l" rtl="0">
              <a:lnSpc>
                <a:spcPct val="105000"/>
              </a:lnSpc>
              <a:spcBef>
                <a:spcPts val="0"/>
              </a:spcBef>
              <a:spcAft>
                <a:spcPts val="0"/>
              </a:spcAft>
              <a:buClr>
                <a:srgbClr val="000000"/>
              </a:buClr>
              <a:buSzPts val="1400"/>
              <a:buFont typeface="Times New Roman"/>
              <a:buNone/>
            </a:pPr>
            <a:r>
              <a:rPr lang="en-US" sz="1600" b="0" dirty="0">
                <a:solidFill>
                  <a:srgbClr val="000000"/>
                </a:solidFill>
                <a:latin typeface="Times New Roman"/>
                <a:ea typeface="Times New Roman"/>
                <a:cs typeface="Times New Roman"/>
                <a:sym typeface="Times New Roman"/>
              </a:rPr>
              <a:t>Record source cadence, field acceptance/rejection and observed versus derived variables before simulation. [28 Sep 2026]</a:t>
            </a:r>
            <a:endParaRPr sz="1100" b="0" dirty="0">
              <a:solidFill>
                <a:srgbClr val="000000"/>
              </a:solidFill>
              <a:latin typeface="Times New Roman"/>
              <a:ea typeface="Times New Roman"/>
              <a:cs typeface="Times New Roman"/>
              <a:sym typeface="Times New Roman"/>
            </a:endParaRPr>
          </a:p>
        </p:txBody>
      </p:sp>
      <p:sp>
        <p:nvSpPr>
          <p:cNvPr id="125" name="Google Shape;125;p25"/>
          <p:cNvSpPr/>
          <p:nvPr/>
        </p:nvSpPr>
        <p:spPr>
          <a:xfrm>
            <a:off x="585216" y="3500227"/>
            <a:ext cx="10991088" cy="717804"/>
          </a:xfrm>
          <a:prstGeom prst="rect">
            <a:avLst/>
          </a:prstGeom>
          <a:solidFill>
            <a:schemeClr val="tx2"/>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400"/>
              <a:buFont typeface="Times New Roman"/>
              <a:buNone/>
            </a:pPr>
            <a:r>
              <a:rPr lang="en-US" sz="1600" b="0" dirty="0">
                <a:solidFill>
                  <a:srgbClr val="000000"/>
                </a:solidFill>
                <a:latin typeface="Times New Roman"/>
                <a:ea typeface="Times New Roman"/>
                <a:cs typeface="Times New Roman"/>
                <a:sym typeface="Times New Roman"/>
              </a:rPr>
              <a:t>Environmental data provide scenario context, not measured network latency or loss. </a:t>
            </a:r>
            <a:r>
              <a:rPr lang="en-US" sz="1600" b="0" dirty="0" err="1">
                <a:solidFill>
                  <a:srgbClr val="000000"/>
                </a:solidFill>
                <a:latin typeface="Times New Roman"/>
                <a:ea typeface="Times New Roman"/>
                <a:cs typeface="Times New Roman"/>
                <a:sym typeface="Times New Roman"/>
              </a:rPr>
              <a:t>SatNOGS</a:t>
            </a:r>
            <a:r>
              <a:rPr lang="en-US" sz="1600" b="0" dirty="0">
                <a:solidFill>
                  <a:srgbClr val="000000"/>
                </a:solidFill>
                <a:latin typeface="Times New Roman"/>
                <a:ea typeface="Times New Roman"/>
                <a:cs typeface="Times New Roman"/>
                <a:sym typeface="Times New Roman"/>
              </a:rPr>
              <a:t> telemetry is not a substitute for direct link-performance measurements; architecture comparisons will use matched, explicitly bounded assumptions. [28 Sep 2026]</a:t>
            </a:r>
            <a:endParaRPr sz="1100" b="0" dirty="0">
              <a:solidFill>
                <a:srgbClr val="000000"/>
              </a:solidFill>
              <a:latin typeface="Times New Roman"/>
              <a:ea typeface="Times New Roman"/>
              <a:cs typeface="Times New Roman"/>
              <a:sym typeface="Times New Roman"/>
            </a:endParaRPr>
          </a:p>
        </p:txBody>
      </p:sp>
      <p:sp>
        <p:nvSpPr>
          <p:cNvPr id="126" name="Google Shape;126;p25"/>
          <p:cNvSpPr/>
          <p:nvPr/>
        </p:nvSpPr>
        <p:spPr>
          <a:xfrm>
            <a:off x="585216" y="4469522"/>
            <a:ext cx="10991088" cy="81229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600"/>
              <a:buFont typeface="Times New Roman"/>
              <a:buNone/>
            </a:pPr>
            <a:r>
              <a:rPr lang="en-US" sz="1600" b="0" dirty="0">
                <a:solidFill>
                  <a:srgbClr val="000000"/>
                </a:solidFill>
                <a:latin typeface="Times New Roman"/>
                <a:ea typeface="Times New Roman"/>
                <a:cs typeface="Times New Roman"/>
                <a:sym typeface="Times New Roman"/>
              </a:rPr>
              <a:t>The Excel v9 ACE hybrid is a data-fit/prototype baseline. </a:t>
            </a:r>
          </a:p>
          <a:p>
            <a:pPr marL="0" marR="0" lvl="0" indent="0" algn="l" rtl="0">
              <a:lnSpc>
                <a:spcPct val="105000"/>
              </a:lnSpc>
              <a:spcBef>
                <a:spcPts val="0"/>
              </a:spcBef>
              <a:spcAft>
                <a:spcPts val="0"/>
              </a:spcAft>
              <a:buClr>
                <a:srgbClr val="000000"/>
              </a:buClr>
              <a:buSzPts val="1600"/>
              <a:buFont typeface="Times New Roman"/>
              <a:buNone/>
            </a:pPr>
            <a:r>
              <a:rPr lang="en-US" sz="1600" b="0" dirty="0">
                <a:solidFill>
                  <a:srgbClr val="000000"/>
                </a:solidFill>
                <a:latin typeface="Times New Roman"/>
                <a:ea typeface="Times New Roman"/>
                <a:cs typeface="Times New Roman"/>
                <a:sym typeface="Times New Roman"/>
              </a:rPr>
              <a:t>MATLAB/</a:t>
            </a:r>
            <a:r>
              <a:rPr lang="en-US" sz="1600" b="0" dirty="0" err="1">
                <a:solidFill>
                  <a:srgbClr val="000000"/>
                </a:solidFill>
                <a:latin typeface="Times New Roman"/>
                <a:ea typeface="Times New Roman"/>
                <a:cs typeface="Times New Roman"/>
                <a:sym typeface="Times New Roman"/>
              </a:rPr>
              <a:t>SimEvents</a:t>
            </a:r>
            <a:r>
              <a:rPr lang="en-US" sz="1600" b="0" dirty="0">
                <a:solidFill>
                  <a:srgbClr val="000000"/>
                </a:solidFill>
                <a:latin typeface="Times New Roman"/>
                <a:ea typeface="Times New Roman"/>
                <a:cs typeface="Times New Roman"/>
                <a:sym typeface="Times New Roman"/>
              </a:rPr>
              <a:t> repeated runs, sensitivity analysis and validation evidence </a:t>
            </a:r>
            <a:r>
              <a:rPr lang="en-US" sz="1600" b="1" dirty="0">
                <a:solidFill>
                  <a:srgbClr val="000000"/>
                </a:solidFill>
                <a:latin typeface="Times New Roman"/>
                <a:ea typeface="Times New Roman"/>
                <a:cs typeface="Times New Roman"/>
                <a:sym typeface="Times New Roman"/>
              </a:rPr>
              <a:t>pending following successful coding. </a:t>
            </a:r>
            <a:r>
              <a:rPr lang="en-US" sz="1600" b="0" dirty="0">
                <a:solidFill>
                  <a:srgbClr val="000000"/>
                </a:solidFill>
                <a:latin typeface="Times New Roman"/>
                <a:ea typeface="Times New Roman"/>
                <a:cs typeface="Times New Roman"/>
                <a:sym typeface="Times New Roman"/>
              </a:rPr>
              <a:t>[28 Sep 2026]</a:t>
            </a:r>
            <a:endParaRPr sz="1100" b="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6"/>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Tasks for the Next Two Weeks</a:t>
            </a:r>
            <a:endParaRPr/>
          </a:p>
        </p:txBody>
      </p:sp>
      <p:sp>
        <p:nvSpPr>
          <p:cNvPr id="133" name="Google Shape;133;p26"/>
          <p:cNvSpPr/>
          <p:nvPr/>
        </p:nvSpPr>
        <p:spPr>
          <a:xfrm>
            <a:off x="5084323" y="6171935"/>
            <a:ext cx="2023353" cy="369332"/>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1800"/>
              <a:buFont typeface="Calibri"/>
              <a:buNone/>
            </a:pPr>
            <a:r>
              <a:rPr lang="en-US" sz="1800">
                <a:solidFill>
                  <a:schemeClr val="lt1"/>
                </a:solidFill>
                <a:latin typeface="Calibri"/>
                <a:ea typeface="Calibri"/>
                <a:cs typeface="Calibri"/>
                <a:sym typeface="Calibri"/>
              </a:rPr>
              <a:t>5 of 5</a:t>
            </a:r>
            <a:endParaRPr/>
          </a:p>
        </p:txBody>
      </p:sp>
      <p:sp>
        <p:nvSpPr>
          <p:cNvPr id="134" name="Google Shape;134;p26"/>
          <p:cNvSpPr/>
          <p:nvPr/>
        </p:nvSpPr>
        <p:spPr>
          <a:xfrm>
            <a:off x="400390" y="1116564"/>
            <a:ext cx="10991088" cy="781812"/>
          </a:xfrm>
          <a:prstGeom prst="rect">
            <a:avLst/>
          </a:prstGeom>
          <a:solidFill>
            <a:schemeClr val="tx2"/>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600"/>
              <a:buFont typeface="Times New Roman"/>
              <a:buNone/>
            </a:pPr>
            <a:r>
              <a:rPr lang="en-US" sz="1600" b="1" dirty="0">
                <a:solidFill>
                  <a:srgbClr val="000000"/>
                </a:solidFill>
                <a:latin typeface="Times New Roman"/>
                <a:ea typeface="Times New Roman"/>
                <a:cs typeface="Times New Roman"/>
                <a:sym typeface="Times New Roman"/>
              </a:rPr>
              <a:t>Finish the Chapter 2 red sections and reference allocation. Review advisor feedback when received; keep the first-draft status explicit. [Before 01 Oct 2026]</a:t>
            </a:r>
            <a:endParaRPr sz="1100" b="1" dirty="0">
              <a:solidFill>
                <a:srgbClr val="000000"/>
              </a:solidFill>
              <a:latin typeface="Times New Roman"/>
              <a:ea typeface="Times New Roman"/>
              <a:cs typeface="Times New Roman"/>
              <a:sym typeface="Times New Roman"/>
            </a:endParaRPr>
          </a:p>
        </p:txBody>
      </p:sp>
      <p:sp>
        <p:nvSpPr>
          <p:cNvPr id="135" name="Google Shape;135;p26"/>
          <p:cNvSpPr/>
          <p:nvPr/>
        </p:nvSpPr>
        <p:spPr>
          <a:xfrm>
            <a:off x="400390" y="3163824"/>
            <a:ext cx="10991088" cy="530352"/>
          </a:xfrm>
          <a:prstGeom prst="rect">
            <a:avLst/>
          </a:prstGeom>
          <a:solidFill>
            <a:schemeClr val="tx2"/>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600"/>
              <a:buFont typeface="Times New Roman"/>
              <a:buNone/>
            </a:pPr>
            <a:r>
              <a:rPr lang="en-US" sz="1600" b="1" dirty="0">
                <a:solidFill>
                  <a:srgbClr val="000000"/>
                </a:solidFill>
                <a:latin typeface="Times New Roman"/>
                <a:ea typeface="Times New Roman"/>
                <a:cs typeface="Times New Roman"/>
                <a:sym typeface="Times New Roman"/>
              </a:rPr>
              <a:t>Translate the synchronized Excel v9 A/C/E input and DES logic into MATLAB/</a:t>
            </a:r>
            <a:r>
              <a:rPr lang="en-US" sz="1600" b="1" dirty="0" err="1">
                <a:solidFill>
                  <a:srgbClr val="000000"/>
                </a:solidFill>
                <a:latin typeface="Times New Roman"/>
                <a:ea typeface="Times New Roman"/>
                <a:cs typeface="Times New Roman"/>
                <a:sym typeface="Times New Roman"/>
              </a:rPr>
              <a:t>SimEvents</a:t>
            </a:r>
            <a:r>
              <a:rPr lang="en-US" sz="1600" b="1" dirty="0">
                <a:solidFill>
                  <a:srgbClr val="000000"/>
                </a:solidFill>
                <a:latin typeface="Times New Roman"/>
                <a:ea typeface="Times New Roman"/>
                <a:cs typeface="Times New Roman"/>
                <a:sym typeface="Times New Roman"/>
              </a:rPr>
              <a:t> Baseline #2</a:t>
            </a:r>
            <a:r>
              <a:rPr lang="en-US" sz="1600" b="0" dirty="0">
                <a:solidFill>
                  <a:srgbClr val="000000"/>
                </a:solidFill>
                <a:latin typeface="Times New Roman"/>
                <a:ea typeface="Times New Roman"/>
                <a:cs typeface="Times New Roman"/>
                <a:sym typeface="Times New Roman"/>
              </a:rPr>
              <a:t>; reproduce the workbook behavior before increasing scale. </a:t>
            </a:r>
            <a:r>
              <a:rPr lang="en-US" sz="1600" dirty="0">
                <a:latin typeface="Times New Roman"/>
                <a:ea typeface="Times New Roman"/>
                <a:cs typeface="Times New Roman"/>
                <a:sym typeface="Times New Roman"/>
              </a:rPr>
              <a:t>Will include a Random Number Generator (simultaneity)</a:t>
            </a:r>
            <a:endParaRPr dirty="0"/>
          </a:p>
        </p:txBody>
      </p:sp>
      <p:sp>
        <p:nvSpPr>
          <p:cNvPr id="136" name="Google Shape;136;p26"/>
          <p:cNvSpPr/>
          <p:nvPr/>
        </p:nvSpPr>
        <p:spPr>
          <a:xfrm>
            <a:off x="400390" y="3980525"/>
            <a:ext cx="10991088" cy="5303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600"/>
              <a:buFont typeface="Times New Roman"/>
              <a:buNone/>
            </a:pPr>
            <a:r>
              <a:rPr lang="en-US" sz="1600" b="0" dirty="0">
                <a:solidFill>
                  <a:srgbClr val="000000"/>
                </a:solidFill>
                <a:latin typeface="Times New Roman"/>
                <a:ea typeface="Times New Roman"/>
                <a:cs typeface="Times New Roman"/>
                <a:sym typeface="Times New Roman"/>
              </a:rPr>
              <a:t>Plan matched repeated runs, seeds, sensitivity checks and validation against independent evidence. </a:t>
            </a:r>
            <a:r>
              <a:rPr lang="en-US" sz="1600" b="1" i="1" dirty="0">
                <a:solidFill>
                  <a:srgbClr val="000000"/>
                </a:solidFill>
                <a:latin typeface="Times New Roman"/>
                <a:ea typeface="Times New Roman"/>
                <a:cs typeface="Times New Roman"/>
                <a:sym typeface="Times New Roman"/>
              </a:rPr>
              <a:t>Tighten the MATLAB (</a:t>
            </a:r>
            <a:r>
              <a:rPr lang="en-US" sz="1600" b="1" i="1" dirty="0" err="1">
                <a:solidFill>
                  <a:srgbClr val="000000"/>
                </a:solidFill>
                <a:latin typeface="Times New Roman"/>
                <a:ea typeface="Times New Roman"/>
                <a:cs typeface="Times New Roman"/>
                <a:sym typeface="Times New Roman"/>
              </a:rPr>
              <a:t>Fuzed</a:t>
            </a:r>
            <a:r>
              <a:rPr lang="en-US" sz="1600" b="1" i="1" dirty="0">
                <a:solidFill>
                  <a:srgbClr val="000000"/>
                </a:solidFill>
                <a:latin typeface="Times New Roman"/>
                <a:ea typeface="Times New Roman"/>
                <a:cs typeface="Times New Roman"/>
                <a:sym typeface="Times New Roman"/>
              </a:rPr>
              <a:t> data) model </a:t>
            </a:r>
            <a:endParaRPr dirty="0"/>
          </a:p>
        </p:txBody>
      </p:sp>
      <p:sp>
        <p:nvSpPr>
          <p:cNvPr id="137" name="Google Shape;137;p26"/>
          <p:cNvSpPr/>
          <p:nvPr/>
        </p:nvSpPr>
        <p:spPr>
          <a:xfrm>
            <a:off x="400390" y="4787408"/>
            <a:ext cx="10991088" cy="369332"/>
          </a:xfrm>
          <a:prstGeom prst="rect">
            <a:avLst/>
          </a:prstGeom>
          <a:solidFill>
            <a:schemeClr val="tx2"/>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600"/>
              <a:buFont typeface="Times New Roman"/>
              <a:buNone/>
            </a:pPr>
            <a:r>
              <a:rPr lang="en-US" sz="1600" b="0" dirty="0">
                <a:solidFill>
                  <a:srgbClr val="000000"/>
                </a:solidFill>
                <a:latin typeface="Times New Roman"/>
                <a:ea typeface="Times New Roman"/>
                <a:cs typeface="Times New Roman"/>
                <a:sym typeface="Times New Roman"/>
              </a:rPr>
              <a:t>Complete the advisor-update figures and tables: the hand-drawn OV-1, the ACE simultaneity workflow and the schedule. </a:t>
            </a:r>
            <a:endParaRPr sz="1100" b="0" dirty="0">
              <a:solidFill>
                <a:srgbClr val="000000"/>
              </a:solidFill>
              <a:latin typeface="Times New Roman"/>
              <a:ea typeface="Times New Roman"/>
              <a:cs typeface="Times New Roman"/>
              <a:sym typeface="Times New Roman"/>
            </a:endParaRPr>
          </a:p>
        </p:txBody>
      </p:sp>
      <p:sp>
        <p:nvSpPr>
          <p:cNvPr id="3" name="Google Shape;135;p26">
            <a:extLst>
              <a:ext uri="{FF2B5EF4-FFF2-40B4-BE49-F238E27FC236}">
                <a16:creationId xmlns:a16="http://schemas.microsoft.com/office/drawing/2014/main" id="{F79DE6A2-4095-DEF6-6DA4-2AD70755592D}"/>
              </a:ext>
            </a:extLst>
          </p:cNvPr>
          <p:cNvSpPr/>
          <p:nvPr/>
        </p:nvSpPr>
        <p:spPr>
          <a:xfrm>
            <a:off x="400390" y="2137912"/>
            <a:ext cx="10991088" cy="5303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600"/>
              <a:buFont typeface="Times New Roman"/>
              <a:buNone/>
            </a:pPr>
            <a:r>
              <a:rPr lang="en-US" sz="1600" dirty="0">
                <a:latin typeface="Times New Roman"/>
                <a:cs typeface="Times New Roman"/>
                <a:sym typeface="Times New Roman"/>
              </a:rPr>
              <a:t>Build out the Chapter 2: Literature Review.  Going with “in-line” citations.  I have 60+.  Got the organic writing down, putting the rest of the 60+ sources into CH2 and </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2"/>
        <p:cNvGrpSpPr/>
        <p:nvPr/>
      </p:nvGrpSpPr>
      <p:grpSpPr>
        <a:xfrm>
          <a:off x="0" y="0"/>
          <a:ext cx="0" cy="0"/>
          <a:chOff x="0" y="0"/>
          <a:chExt cx="0" cy="0"/>
        </a:xfrm>
      </p:grpSpPr>
      <p:sp>
        <p:nvSpPr>
          <p:cNvPr id="2" name="TextBox 1"/>
          <p:cNvSpPr txBox="1"/>
          <p:nvPr/>
        </p:nvSpPr>
        <p:spPr>
          <a:xfrm>
            <a:off x="384048" y="256032"/>
            <a:ext cx="10241280" cy="411480"/>
          </a:xfrm>
          <a:prstGeom prst="rect">
            <a:avLst/>
          </a:prstGeom>
          <a:noFill/>
        </p:spPr>
        <p:txBody>
          <a:bodyPr wrap="square">
            <a:normAutofit/>
          </a:bodyPr>
          <a:lstStyle/>
          <a:p>
            <a:r>
              <a:rPr sz="2600" b="1">
                <a:solidFill>
                  <a:srgbClr val="091C2D"/>
                </a:solidFill>
                <a:latin typeface="Arial"/>
              </a:rPr>
              <a:t>Completed Work Package: Sep. 19–Oct. 1 baseline</a:t>
            </a:r>
          </a:p>
        </p:txBody>
      </p:sp>
      <p:sp>
        <p:nvSpPr>
          <p:cNvPr id="3" name="TextBox 2"/>
          <p:cNvSpPr txBox="1"/>
          <p:nvPr/>
        </p:nvSpPr>
        <p:spPr>
          <a:xfrm>
            <a:off x="384048" y="777240"/>
            <a:ext cx="10424160" cy="256032"/>
          </a:xfrm>
          <a:prstGeom prst="rect">
            <a:avLst/>
          </a:prstGeom>
          <a:noFill/>
        </p:spPr>
        <p:txBody>
          <a:bodyPr wrap="square">
            <a:normAutofit/>
          </a:bodyPr>
          <a:lstStyle/>
          <a:p>
            <a:r>
              <a:rPr sz="1300" b="0">
                <a:solidFill>
                  <a:srgbClr val="5A5A5A"/>
                </a:solidFill>
                <a:latin typeface="Arial"/>
              </a:rPr>
              <a:t>Focus now: what was completed after the Sep. 19 advising session and baselined for the Oct. 1 update.</a:t>
            </a:r>
          </a:p>
        </p:txBody>
      </p:sp>
      <p:cxnSp>
        <p:nvCxnSpPr>
          <p:cNvPr id="4" name="Connector 3"/>
          <p:cNvCxnSpPr/>
          <p:nvPr/>
        </p:nvCxnSpPr>
        <p:spPr>
          <a:xfrm>
            <a:off x="384048" y="1051560"/>
            <a:ext cx="11320272" cy="0"/>
          </a:xfrm>
          <a:prstGeom prst="line">
            <a:avLst/>
          </a:prstGeom>
          <a:ln w="19050">
            <a:solidFill>
              <a:srgbClr val="1F4E79"/>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85800" y="2880360"/>
            <a:ext cx="10652760" cy="0"/>
          </a:xfrm>
          <a:prstGeom prst="line">
            <a:avLst/>
          </a:prstGeom>
          <a:ln w="25400">
            <a:solidFill>
              <a:srgbClr val="696969"/>
            </a:solidFill>
          </a:ln>
        </p:spPr>
        <p:style>
          <a:lnRef idx="2">
            <a:schemeClr val="accent1"/>
          </a:lnRef>
          <a:fillRef idx="0">
            <a:schemeClr val="accent1"/>
          </a:fillRef>
          <a:effectRef idx="1">
            <a:schemeClr val="accent1"/>
          </a:effectRef>
          <a:fontRef idx="minor">
            <a:schemeClr val="tx1"/>
          </a:fontRef>
        </p:style>
      </p:cxnSp>
      <p:sp>
        <p:nvSpPr>
          <p:cNvPr id="6" name="Oval 5"/>
          <p:cNvSpPr/>
          <p:nvPr/>
        </p:nvSpPr>
        <p:spPr>
          <a:xfrm>
            <a:off x="740664" y="2752344"/>
            <a:ext cx="256032" cy="256032"/>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19" y="3127248"/>
            <a:ext cx="822960" cy="228600"/>
          </a:xfrm>
          <a:prstGeom prst="rect">
            <a:avLst/>
          </a:prstGeom>
          <a:noFill/>
        </p:spPr>
        <p:txBody>
          <a:bodyPr wrap="square">
            <a:normAutofit/>
          </a:bodyPr>
          <a:lstStyle/>
          <a:p>
            <a:pPr algn="ctr"/>
            <a:r>
              <a:rPr sz="1300" b="1">
                <a:solidFill>
                  <a:srgbClr val="091C2D"/>
                </a:solidFill>
                <a:latin typeface="Arial"/>
              </a:rPr>
              <a:t>Sep 19</a:t>
            </a:r>
          </a:p>
        </p:txBody>
      </p:sp>
      <p:sp>
        <p:nvSpPr>
          <p:cNvPr id="8" name="TextBox 7"/>
          <p:cNvSpPr txBox="1"/>
          <p:nvPr/>
        </p:nvSpPr>
        <p:spPr>
          <a:xfrm>
            <a:off x="182879" y="3584448"/>
            <a:ext cx="1417320" cy="594360"/>
          </a:xfrm>
          <a:prstGeom prst="rect">
            <a:avLst/>
          </a:prstGeom>
          <a:noFill/>
        </p:spPr>
        <p:txBody>
          <a:bodyPr wrap="square">
            <a:normAutofit/>
          </a:bodyPr>
          <a:lstStyle/>
          <a:p>
            <a:pPr algn="ctr"/>
            <a:r>
              <a:rPr sz="950" b="0">
                <a:solidFill>
                  <a:srgbClr val="000000"/>
                </a:solidFill>
                <a:latin typeface="Arial"/>
              </a:rPr>
              <a:t>Advisor feedback
received</a:t>
            </a:r>
          </a:p>
        </p:txBody>
      </p:sp>
      <p:sp>
        <p:nvSpPr>
          <p:cNvPr id="9" name="Oval 8"/>
          <p:cNvSpPr/>
          <p:nvPr/>
        </p:nvSpPr>
        <p:spPr>
          <a:xfrm>
            <a:off x="2478024" y="2752344"/>
            <a:ext cx="256032" cy="256032"/>
          </a:xfrm>
          <a:prstGeom prst="ellipse">
            <a:avLst/>
          </a:prstGeom>
          <a:solidFill>
            <a:srgbClr val="00C9DC"/>
          </a:solidFill>
          <a:ln>
            <a:solidFill>
              <a:srgbClr val="00C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40280" y="3127248"/>
            <a:ext cx="822960" cy="228600"/>
          </a:xfrm>
          <a:prstGeom prst="rect">
            <a:avLst/>
          </a:prstGeom>
          <a:noFill/>
        </p:spPr>
        <p:txBody>
          <a:bodyPr wrap="square">
            <a:normAutofit/>
          </a:bodyPr>
          <a:lstStyle/>
          <a:p>
            <a:pPr algn="ctr"/>
            <a:r>
              <a:rPr sz="1300" b="1">
                <a:solidFill>
                  <a:srgbClr val="091C2D"/>
                </a:solidFill>
                <a:latin typeface="Arial"/>
              </a:rPr>
              <a:t>Sep 21</a:t>
            </a:r>
          </a:p>
        </p:txBody>
      </p:sp>
      <p:sp>
        <p:nvSpPr>
          <p:cNvPr id="11" name="TextBox 10"/>
          <p:cNvSpPr txBox="1"/>
          <p:nvPr/>
        </p:nvSpPr>
        <p:spPr>
          <a:xfrm>
            <a:off x="1920240" y="3584448"/>
            <a:ext cx="1417320" cy="594360"/>
          </a:xfrm>
          <a:prstGeom prst="rect">
            <a:avLst/>
          </a:prstGeom>
          <a:noFill/>
        </p:spPr>
        <p:txBody>
          <a:bodyPr wrap="square">
            <a:normAutofit/>
          </a:bodyPr>
          <a:lstStyle/>
          <a:p>
            <a:pPr algn="ctr"/>
            <a:r>
              <a:rPr sz="950" b="0">
                <a:solidFill>
                  <a:srgbClr val="000000"/>
                </a:solidFill>
                <a:latin typeface="Arial"/>
              </a:rPr>
              <a:t>Repository +
archive control</a:t>
            </a:r>
          </a:p>
        </p:txBody>
      </p:sp>
      <p:sp>
        <p:nvSpPr>
          <p:cNvPr id="12" name="Oval 11"/>
          <p:cNvSpPr/>
          <p:nvPr/>
        </p:nvSpPr>
        <p:spPr>
          <a:xfrm>
            <a:off x="4215384" y="2752344"/>
            <a:ext cx="256032" cy="256032"/>
          </a:xfrm>
          <a:prstGeom prst="ellipse">
            <a:avLst/>
          </a:prstGeom>
          <a:solidFill>
            <a:srgbClr val="FF8C00"/>
          </a:solidFill>
          <a:ln>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77639" y="3127248"/>
            <a:ext cx="822960" cy="228600"/>
          </a:xfrm>
          <a:prstGeom prst="rect">
            <a:avLst/>
          </a:prstGeom>
          <a:noFill/>
        </p:spPr>
        <p:txBody>
          <a:bodyPr wrap="square">
            <a:normAutofit/>
          </a:bodyPr>
          <a:lstStyle/>
          <a:p>
            <a:pPr algn="ctr"/>
            <a:r>
              <a:rPr sz="1300" b="1">
                <a:solidFill>
                  <a:srgbClr val="091C2D"/>
                </a:solidFill>
                <a:latin typeface="Arial"/>
              </a:rPr>
              <a:t>Sep 23</a:t>
            </a:r>
          </a:p>
        </p:txBody>
      </p:sp>
      <p:sp>
        <p:nvSpPr>
          <p:cNvPr id="14" name="TextBox 13"/>
          <p:cNvSpPr txBox="1"/>
          <p:nvPr/>
        </p:nvSpPr>
        <p:spPr>
          <a:xfrm>
            <a:off x="3657600" y="3584448"/>
            <a:ext cx="1417320" cy="594360"/>
          </a:xfrm>
          <a:prstGeom prst="rect">
            <a:avLst/>
          </a:prstGeom>
          <a:noFill/>
        </p:spPr>
        <p:txBody>
          <a:bodyPr wrap="square">
            <a:normAutofit/>
          </a:bodyPr>
          <a:lstStyle/>
          <a:p>
            <a:pPr algn="ctr"/>
            <a:r>
              <a:rPr sz="950" b="0">
                <a:solidFill>
                  <a:srgbClr val="000000"/>
                </a:solidFill>
                <a:latin typeface="Arial"/>
              </a:rPr>
              <a:t>ACE / v9 workbook
+ Yasir package</a:t>
            </a:r>
          </a:p>
        </p:txBody>
      </p:sp>
      <p:sp>
        <p:nvSpPr>
          <p:cNvPr id="15" name="Oval 14"/>
          <p:cNvSpPr/>
          <p:nvPr/>
        </p:nvSpPr>
        <p:spPr>
          <a:xfrm>
            <a:off x="5952744" y="2752344"/>
            <a:ext cx="256032" cy="256032"/>
          </a:xfrm>
          <a:prstGeom prst="ellipse">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5000" y="3127248"/>
            <a:ext cx="822960" cy="228600"/>
          </a:xfrm>
          <a:prstGeom prst="rect">
            <a:avLst/>
          </a:prstGeom>
          <a:noFill/>
        </p:spPr>
        <p:txBody>
          <a:bodyPr wrap="square">
            <a:normAutofit/>
          </a:bodyPr>
          <a:lstStyle/>
          <a:p>
            <a:pPr algn="ctr"/>
            <a:r>
              <a:rPr sz="1300" b="1">
                <a:solidFill>
                  <a:srgbClr val="091C2D"/>
                </a:solidFill>
                <a:latin typeface="Arial"/>
              </a:rPr>
              <a:t>Sep 27</a:t>
            </a:r>
          </a:p>
        </p:txBody>
      </p:sp>
      <p:sp>
        <p:nvSpPr>
          <p:cNvPr id="17" name="TextBox 16"/>
          <p:cNvSpPr txBox="1"/>
          <p:nvPr/>
        </p:nvSpPr>
        <p:spPr>
          <a:xfrm>
            <a:off x="5394960" y="3584448"/>
            <a:ext cx="1417320" cy="594360"/>
          </a:xfrm>
          <a:prstGeom prst="rect">
            <a:avLst/>
          </a:prstGeom>
          <a:noFill/>
        </p:spPr>
        <p:txBody>
          <a:bodyPr wrap="square">
            <a:normAutofit/>
          </a:bodyPr>
          <a:lstStyle/>
          <a:p>
            <a:pPr algn="ctr"/>
            <a:r>
              <a:rPr sz="950" b="0">
                <a:solidFill>
                  <a:srgbClr val="000000"/>
                </a:solidFill>
                <a:latin typeface="Arial"/>
              </a:rPr>
              <a:t>Ch. 2 first
draft sent</a:t>
            </a:r>
          </a:p>
        </p:txBody>
      </p:sp>
      <p:sp>
        <p:nvSpPr>
          <p:cNvPr id="18" name="Oval 17"/>
          <p:cNvSpPr/>
          <p:nvPr/>
        </p:nvSpPr>
        <p:spPr>
          <a:xfrm>
            <a:off x="7690104" y="2752344"/>
            <a:ext cx="256032" cy="256032"/>
          </a:xfrm>
          <a:prstGeom prst="ellipse">
            <a:avLst/>
          </a:prstGeom>
          <a:solidFill>
            <a:srgbClr val="8F4CFF"/>
          </a:solidFill>
          <a:ln>
            <a:solidFill>
              <a:srgbClr val="8F4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3127248"/>
            <a:ext cx="822960" cy="228600"/>
          </a:xfrm>
          <a:prstGeom prst="rect">
            <a:avLst/>
          </a:prstGeom>
          <a:noFill/>
        </p:spPr>
        <p:txBody>
          <a:bodyPr wrap="square">
            <a:normAutofit/>
          </a:bodyPr>
          <a:lstStyle/>
          <a:p>
            <a:pPr algn="ctr"/>
            <a:r>
              <a:rPr sz="1300" b="1">
                <a:solidFill>
                  <a:srgbClr val="091C2D"/>
                </a:solidFill>
                <a:latin typeface="Arial"/>
              </a:rPr>
              <a:t>Sep 29</a:t>
            </a:r>
          </a:p>
        </p:txBody>
      </p:sp>
      <p:sp>
        <p:nvSpPr>
          <p:cNvPr id="20" name="TextBox 19"/>
          <p:cNvSpPr txBox="1"/>
          <p:nvPr/>
        </p:nvSpPr>
        <p:spPr>
          <a:xfrm>
            <a:off x="7132320" y="3584448"/>
            <a:ext cx="1417320" cy="594360"/>
          </a:xfrm>
          <a:prstGeom prst="rect">
            <a:avLst/>
          </a:prstGeom>
          <a:noFill/>
        </p:spPr>
        <p:txBody>
          <a:bodyPr wrap="square">
            <a:normAutofit/>
          </a:bodyPr>
          <a:lstStyle/>
          <a:p>
            <a:pPr algn="ctr"/>
            <a:r>
              <a:rPr sz="950" b="0">
                <a:solidFill>
                  <a:srgbClr val="000000"/>
                </a:solidFill>
                <a:latin typeface="Arial"/>
              </a:rPr>
              <a:t>Gold copies +
60-source register</a:t>
            </a:r>
          </a:p>
        </p:txBody>
      </p:sp>
      <p:sp>
        <p:nvSpPr>
          <p:cNvPr id="21" name="Oval 20"/>
          <p:cNvSpPr/>
          <p:nvPr/>
        </p:nvSpPr>
        <p:spPr>
          <a:xfrm>
            <a:off x="9427463" y="2752344"/>
            <a:ext cx="256032" cy="256032"/>
          </a:xfrm>
          <a:prstGeom prst="ellipse">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9719" y="3127248"/>
            <a:ext cx="822960" cy="228600"/>
          </a:xfrm>
          <a:prstGeom prst="rect">
            <a:avLst/>
          </a:prstGeom>
          <a:noFill/>
        </p:spPr>
        <p:txBody>
          <a:bodyPr wrap="square">
            <a:normAutofit/>
          </a:bodyPr>
          <a:lstStyle/>
          <a:p>
            <a:pPr algn="ctr"/>
            <a:r>
              <a:rPr sz="1300" b="1">
                <a:solidFill>
                  <a:srgbClr val="091C2D"/>
                </a:solidFill>
                <a:latin typeface="Arial"/>
              </a:rPr>
              <a:t>Oct 1</a:t>
            </a:r>
          </a:p>
        </p:txBody>
      </p:sp>
      <p:sp>
        <p:nvSpPr>
          <p:cNvPr id="23" name="TextBox 22"/>
          <p:cNvSpPr txBox="1"/>
          <p:nvPr/>
        </p:nvSpPr>
        <p:spPr>
          <a:xfrm>
            <a:off x="8869680" y="3584448"/>
            <a:ext cx="1417320" cy="594360"/>
          </a:xfrm>
          <a:prstGeom prst="rect">
            <a:avLst/>
          </a:prstGeom>
          <a:noFill/>
        </p:spPr>
        <p:txBody>
          <a:bodyPr wrap="square">
            <a:normAutofit/>
          </a:bodyPr>
          <a:lstStyle/>
          <a:p>
            <a:pPr algn="ctr"/>
            <a:r>
              <a:rPr sz="950" b="0">
                <a:solidFill>
                  <a:srgbClr val="000000"/>
                </a:solidFill>
                <a:latin typeface="Arial"/>
              </a:rPr>
              <a:t>Baseline
submission line</a:t>
            </a:r>
          </a:p>
        </p:txBody>
      </p:sp>
      <p:sp>
        <p:nvSpPr>
          <p:cNvPr id="24" name="Oval 23"/>
          <p:cNvSpPr/>
          <p:nvPr/>
        </p:nvSpPr>
        <p:spPr>
          <a:xfrm>
            <a:off x="10844784" y="2752344"/>
            <a:ext cx="256032" cy="256032"/>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07040" y="3127248"/>
            <a:ext cx="822960" cy="228600"/>
          </a:xfrm>
          <a:prstGeom prst="rect">
            <a:avLst/>
          </a:prstGeom>
          <a:noFill/>
        </p:spPr>
        <p:txBody>
          <a:bodyPr wrap="square">
            <a:normAutofit/>
          </a:bodyPr>
          <a:lstStyle/>
          <a:p>
            <a:pPr algn="ctr"/>
            <a:r>
              <a:rPr sz="1300" b="1">
                <a:solidFill>
                  <a:srgbClr val="091C2D"/>
                </a:solidFill>
                <a:latin typeface="Arial"/>
              </a:rPr>
              <a:t>Oct 3</a:t>
            </a:r>
          </a:p>
        </p:txBody>
      </p:sp>
      <p:sp>
        <p:nvSpPr>
          <p:cNvPr id="26" name="TextBox 25"/>
          <p:cNvSpPr txBox="1"/>
          <p:nvPr/>
        </p:nvSpPr>
        <p:spPr>
          <a:xfrm>
            <a:off x="10287000" y="3584448"/>
            <a:ext cx="1417320" cy="594360"/>
          </a:xfrm>
          <a:prstGeom prst="rect">
            <a:avLst/>
          </a:prstGeom>
          <a:noFill/>
        </p:spPr>
        <p:txBody>
          <a:bodyPr wrap="square">
            <a:normAutofit/>
          </a:bodyPr>
          <a:lstStyle/>
          <a:p>
            <a:pPr algn="ctr"/>
            <a:r>
              <a:rPr sz="950" b="0">
                <a:solidFill>
                  <a:srgbClr val="000000"/>
                </a:solidFill>
                <a:latin typeface="Arial"/>
              </a:rPr>
              <a:t>Advisor
session</a:t>
            </a:r>
          </a:p>
        </p:txBody>
      </p:sp>
      <p:cxnSp>
        <p:nvCxnSpPr>
          <p:cNvPr id="27" name="Connector 26"/>
          <p:cNvCxnSpPr/>
          <p:nvPr/>
        </p:nvCxnSpPr>
        <p:spPr>
          <a:xfrm>
            <a:off x="9555480" y="1234440"/>
            <a:ext cx="0" cy="4389120"/>
          </a:xfrm>
          <a:prstGeom prst="line">
            <a:avLst/>
          </a:prstGeom>
          <a:ln w="38100">
            <a:solidFill>
              <a:srgbClr val="00B05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144000" y="1417320"/>
            <a:ext cx="822960" cy="457200"/>
          </a:xfrm>
          <a:prstGeom prst="rect">
            <a:avLst/>
          </a:prstGeom>
          <a:noFill/>
        </p:spPr>
        <p:txBody>
          <a:bodyPr wrap="square">
            <a:normAutofit/>
          </a:bodyPr>
          <a:lstStyle/>
          <a:p>
            <a:pPr algn="ctr"/>
            <a:r>
              <a:rPr sz="1400" b="1">
                <a:solidFill>
                  <a:srgbClr val="00B050"/>
                </a:solidFill>
                <a:latin typeface="Arial"/>
              </a:rPr>
              <a:t>OCT 1
BASELINED</a:t>
            </a:r>
          </a:p>
        </p:txBody>
      </p:sp>
      <p:sp>
        <p:nvSpPr>
          <p:cNvPr id="29" name="TextBox 28"/>
          <p:cNvSpPr txBox="1"/>
          <p:nvPr/>
        </p:nvSpPr>
        <p:spPr>
          <a:xfrm>
            <a:off x="685800" y="5166360"/>
            <a:ext cx="1463040" cy="457200"/>
          </a:xfrm>
          <a:prstGeom prst="rect">
            <a:avLst/>
          </a:prstGeom>
          <a:noFill/>
        </p:spPr>
        <p:txBody>
          <a:bodyPr wrap="square">
            <a:normAutofit/>
          </a:bodyPr>
          <a:lstStyle/>
          <a:p>
            <a:r>
              <a:rPr sz="1700" b="1">
                <a:solidFill>
                  <a:srgbClr val="091C2D"/>
                </a:solidFill>
                <a:latin typeface="Arial"/>
              </a:rPr>
              <a:t>Status at baseline</a:t>
            </a:r>
          </a:p>
        </p:txBody>
      </p:sp>
      <p:sp>
        <p:nvSpPr>
          <p:cNvPr id="30" name="TextBox 29"/>
          <p:cNvSpPr txBox="1"/>
          <p:nvPr/>
        </p:nvSpPr>
        <p:spPr>
          <a:xfrm>
            <a:off x="2331720" y="5166360"/>
            <a:ext cx="8686800" cy="457200"/>
          </a:xfrm>
          <a:prstGeom prst="rect">
            <a:avLst/>
          </a:prstGeom>
          <a:noFill/>
        </p:spPr>
        <p:txBody>
          <a:bodyPr wrap="square">
            <a:normAutofit/>
          </a:bodyPr>
          <a:lstStyle/>
          <a:p>
            <a:r>
              <a:rPr sz="1500" b="0">
                <a:solidFill>
                  <a:srgbClr val="000000"/>
                </a:solidFill>
                <a:latin typeface="Arial"/>
              </a:rPr>
              <a:t>Chapter 2 first draft sent; ACE simultaneity workbook and MASDMCE guide controlled; Dr. Hao folder organized; MATLAB/SimEvents Baseline #2 queued.</a:t>
            </a:r>
          </a:p>
        </p:txBody>
      </p:sp>
      <p:sp>
        <p:nvSpPr>
          <p:cNvPr id="31" name="TextBox 30"/>
          <p:cNvSpPr txBox="1"/>
          <p:nvPr/>
        </p:nvSpPr>
        <p:spPr>
          <a:xfrm>
            <a:off x="384048" y="6537960"/>
            <a:ext cx="4572000" cy="228600"/>
          </a:xfrm>
          <a:prstGeom prst="rect">
            <a:avLst/>
          </a:prstGeom>
          <a:noFill/>
        </p:spPr>
        <p:txBody>
          <a:bodyPr wrap="square">
            <a:normAutofit/>
          </a:bodyPr>
          <a:lstStyle/>
          <a:p>
            <a:r>
              <a:t>Config: 2026-10-01 | advisor update baseline — v08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84048" y="256032"/>
            <a:ext cx="10241280" cy="411480"/>
          </a:xfrm>
          <a:prstGeom prst="rect">
            <a:avLst/>
          </a:prstGeom>
          <a:noFill/>
        </p:spPr>
        <p:txBody>
          <a:bodyPr wrap="square">
            <a:normAutofit/>
          </a:bodyPr>
          <a:lstStyle/>
          <a:p>
            <a:r>
              <a:rPr sz="2600" b="1">
                <a:solidFill>
                  <a:srgbClr val="091C2D"/>
                </a:solidFill>
                <a:latin typeface="Arial"/>
              </a:rPr>
              <a:t>Tasks for the Next Two Weeks: Oct. 1–17, 2026</a:t>
            </a:r>
          </a:p>
        </p:txBody>
      </p:sp>
      <p:sp>
        <p:nvSpPr>
          <p:cNvPr id="3" name="TextBox 2"/>
          <p:cNvSpPr txBox="1"/>
          <p:nvPr/>
        </p:nvSpPr>
        <p:spPr>
          <a:xfrm>
            <a:off x="384048" y="777240"/>
            <a:ext cx="10424160" cy="256032"/>
          </a:xfrm>
          <a:prstGeom prst="rect">
            <a:avLst/>
          </a:prstGeom>
          <a:noFill/>
        </p:spPr>
        <p:txBody>
          <a:bodyPr wrap="square">
            <a:normAutofit/>
          </a:bodyPr>
          <a:lstStyle/>
          <a:p>
            <a:r>
              <a:rPr sz="1300" b="0">
                <a:solidFill>
                  <a:srgbClr val="5A5A5A"/>
                </a:solidFill>
                <a:latin typeface="Arial"/>
              </a:rPr>
              <a:t>Focus now: turn the Oct. 1 baseline into the next advisor-ready increment for the Oct. 17 session.</a:t>
            </a:r>
          </a:p>
        </p:txBody>
      </p:sp>
      <p:cxnSp>
        <p:nvCxnSpPr>
          <p:cNvPr id="4" name="Connector 3"/>
          <p:cNvCxnSpPr/>
          <p:nvPr/>
        </p:nvCxnSpPr>
        <p:spPr>
          <a:xfrm>
            <a:off x="384048" y="1051560"/>
            <a:ext cx="11320272" cy="0"/>
          </a:xfrm>
          <a:prstGeom prst="line">
            <a:avLst/>
          </a:prstGeom>
          <a:ln w="19050">
            <a:solidFill>
              <a:srgbClr val="1F4E7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1417320"/>
            <a:ext cx="5074920" cy="320040"/>
          </a:xfrm>
          <a:prstGeom prst="rect">
            <a:avLst/>
          </a:prstGeom>
          <a:noFill/>
        </p:spPr>
        <p:txBody>
          <a:bodyPr wrap="square">
            <a:normAutofit/>
          </a:bodyPr>
          <a:lstStyle/>
          <a:p>
            <a:r>
              <a:rPr sz="1800" b="1">
                <a:solidFill>
                  <a:srgbClr val="1F4E79"/>
                </a:solidFill>
                <a:latin typeface="Arial"/>
              </a:rPr>
              <a:t>Chapter 2 / literature track</a:t>
            </a:r>
          </a:p>
        </p:txBody>
      </p:sp>
      <p:sp>
        <p:nvSpPr>
          <p:cNvPr id="6" name="TextBox 5"/>
          <p:cNvSpPr txBox="1"/>
          <p:nvPr/>
        </p:nvSpPr>
        <p:spPr>
          <a:xfrm>
            <a:off x="594360" y="1783080"/>
            <a:ext cx="5120640" cy="2286000"/>
          </a:xfrm>
          <a:prstGeom prst="rect">
            <a:avLst/>
          </a:prstGeom>
          <a:noFill/>
        </p:spPr>
        <p:txBody>
          <a:bodyPr wrap="square">
            <a:normAutofit/>
          </a:bodyPr>
          <a:lstStyle/>
          <a:p>
            <a:pPr>
              <a:spcAft>
                <a:spcPts val="400"/>
              </a:spcAft>
              <a:defRPr sz="1400">
                <a:solidFill>
                  <a:srgbClr val="000000"/>
                </a:solidFill>
                <a:latin typeface="Arial"/>
              </a:defRPr>
            </a:pPr>
            <a:r>
              <a:t>• Incorporate Dr. Hao feedback on Chapter 2 and the draft OV-1 when received.</a:t>
            </a:r>
          </a:p>
          <a:p>
            <a:pPr>
              <a:spcAft>
                <a:spcPts val="400"/>
              </a:spcAft>
              <a:defRPr sz="1400">
                <a:solidFill>
                  <a:srgbClr val="000000"/>
                </a:solidFill>
                <a:latin typeface="Arial"/>
              </a:defRPr>
            </a:pPr>
            <a:r>
              <a:t>• Finish the remaining red Chapter 2 sections and citation allocation.</a:t>
            </a:r>
          </a:p>
          <a:p>
            <a:pPr>
              <a:spcAft>
                <a:spcPts val="400"/>
              </a:spcAft>
              <a:defRPr sz="1400">
                <a:solidFill>
                  <a:srgbClr val="000000"/>
                </a:solidFill>
                <a:latin typeface="Arial"/>
              </a:defRPr>
            </a:pPr>
            <a:r>
              <a:t>• Hand-jam the 60+ source register into Chapter 2 as inline citations and reference entries.</a:t>
            </a:r>
          </a:p>
          <a:p>
            <a:pPr>
              <a:spcAft>
                <a:spcPts val="400"/>
              </a:spcAft>
              <a:defRPr sz="1400">
                <a:solidFill>
                  <a:srgbClr val="000000"/>
                </a:solidFill>
                <a:latin typeface="Arial"/>
              </a:defRPr>
            </a:pPr>
            <a:r>
              <a:t>• Lock the Ground-vs-Edge literature roots for DES, ACE fusion, equations and later comparisons.</a:t>
            </a:r>
          </a:p>
        </p:txBody>
      </p:sp>
      <p:sp>
        <p:nvSpPr>
          <p:cNvPr id="7" name="TextBox 6"/>
          <p:cNvSpPr txBox="1"/>
          <p:nvPr/>
        </p:nvSpPr>
        <p:spPr>
          <a:xfrm>
            <a:off x="6172200" y="1417320"/>
            <a:ext cx="5074920" cy="320040"/>
          </a:xfrm>
          <a:prstGeom prst="rect">
            <a:avLst/>
          </a:prstGeom>
          <a:noFill/>
        </p:spPr>
        <p:txBody>
          <a:bodyPr wrap="square">
            <a:normAutofit/>
          </a:bodyPr>
          <a:lstStyle/>
          <a:p>
            <a:r>
              <a:rPr sz="1800" b="1">
                <a:solidFill>
                  <a:srgbClr val="1F4E79"/>
                </a:solidFill>
                <a:latin typeface="Arial"/>
              </a:rPr>
              <a:t>Model / validation track</a:t>
            </a:r>
          </a:p>
        </p:txBody>
      </p:sp>
      <p:sp>
        <p:nvSpPr>
          <p:cNvPr id="8" name="TextBox 7"/>
          <p:cNvSpPr txBox="1"/>
          <p:nvPr/>
        </p:nvSpPr>
        <p:spPr>
          <a:xfrm>
            <a:off x="6172200" y="1783080"/>
            <a:ext cx="5166360" cy="2286000"/>
          </a:xfrm>
          <a:prstGeom prst="rect">
            <a:avLst/>
          </a:prstGeom>
          <a:noFill/>
        </p:spPr>
        <p:txBody>
          <a:bodyPr wrap="square">
            <a:normAutofit/>
          </a:bodyPr>
          <a:lstStyle/>
          <a:p>
            <a:pPr>
              <a:spcAft>
                <a:spcPts val="400"/>
              </a:spcAft>
              <a:defRPr sz="1400">
                <a:solidFill>
                  <a:srgbClr val="000000"/>
                </a:solidFill>
                <a:latin typeface="Arial"/>
              </a:defRPr>
            </a:pPr>
            <a:r>
              <a:t>• Translate the Excel ASOT logic into MATLAB/SimEvents Baseline #2.</a:t>
            </a:r>
          </a:p>
          <a:p>
            <a:pPr>
              <a:spcAft>
                <a:spcPts val="400"/>
              </a:spcAft>
              <a:defRPr sz="1400">
                <a:solidFill>
                  <a:srgbClr val="000000"/>
                </a:solidFill>
                <a:latin typeface="Arial"/>
              </a:defRPr>
            </a:pPr>
            <a:r>
              <a:t>• Reproduce workbook behavior first; then expand replications, seeds and dataset size.</a:t>
            </a:r>
          </a:p>
          <a:p>
            <a:pPr>
              <a:spcAft>
                <a:spcPts val="400"/>
              </a:spcAft>
              <a:defRPr sz="1400">
                <a:solidFill>
                  <a:srgbClr val="000000"/>
                </a:solidFill>
                <a:latin typeface="Arial"/>
              </a:defRPr>
            </a:pPr>
            <a:r>
              <a:t>• Prepare matched repeated runs, sensitivity checks and validation against independent evidence.</a:t>
            </a:r>
          </a:p>
          <a:p>
            <a:pPr>
              <a:spcAft>
                <a:spcPts val="400"/>
              </a:spcAft>
              <a:defRPr sz="1400">
                <a:solidFill>
                  <a:srgbClr val="000000"/>
                </a:solidFill>
                <a:latin typeface="Arial"/>
              </a:defRPr>
            </a:pPr>
            <a:r>
              <a:t>• Build the next advisor update package for Oct. 17 with figures, schedule and model status.</a:t>
            </a:r>
          </a:p>
        </p:txBody>
      </p:sp>
      <p:sp>
        <p:nvSpPr>
          <p:cNvPr id="9" name="TextBox 8"/>
          <p:cNvSpPr txBox="1"/>
          <p:nvPr/>
        </p:nvSpPr>
        <p:spPr>
          <a:xfrm>
            <a:off x="594360" y="4480560"/>
            <a:ext cx="1280160" cy="320040"/>
          </a:xfrm>
          <a:prstGeom prst="rect">
            <a:avLst/>
          </a:prstGeom>
          <a:noFill/>
        </p:spPr>
        <p:txBody>
          <a:bodyPr wrap="square">
            <a:normAutofit/>
          </a:bodyPr>
          <a:lstStyle/>
          <a:p>
            <a:r>
              <a:rPr sz="1700" b="1">
                <a:solidFill>
                  <a:srgbClr val="091C2D"/>
                </a:solidFill>
                <a:latin typeface="Arial"/>
              </a:rPr>
              <a:t>Marching line</a:t>
            </a:r>
          </a:p>
        </p:txBody>
      </p:sp>
      <p:cxnSp>
        <p:nvCxnSpPr>
          <p:cNvPr id="10" name="Connector 9"/>
          <p:cNvCxnSpPr/>
          <p:nvPr/>
        </p:nvCxnSpPr>
        <p:spPr>
          <a:xfrm>
            <a:off x="1874519" y="4663440"/>
            <a:ext cx="9189721" cy="0"/>
          </a:xfrm>
          <a:prstGeom prst="line">
            <a:avLst/>
          </a:prstGeom>
          <a:ln w="25400">
            <a:solidFill>
              <a:srgbClr val="696969"/>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943100" y="4549140"/>
            <a:ext cx="228600" cy="228600"/>
          </a:xfrm>
          <a:prstGeom prst="ellipse">
            <a:avLst/>
          </a:prstGeom>
          <a:solidFill>
            <a:srgbClr val="00B050"/>
          </a:solidFill>
          <a:ln>
            <a:solidFill>
              <a:srgbClr val="00B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4892040"/>
            <a:ext cx="822960" cy="228600"/>
          </a:xfrm>
          <a:prstGeom prst="rect">
            <a:avLst/>
          </a:prstGeom>
          <a:noFill/>
        </p:spPr>
        <p:txBody>
          <a:bodyPr wrap="square">
            <a:normAutofit/>
          </a:bodyPr>
          <a:lstStyle/>
          <a:p>
            <a:pPr algn="ctr"/>
            <a:r>
              <a:rPr sz="1200" b="1">
                <a:solidFill>
                  <a:srgbClr val="091C2D"/>
                </a:solidFill>
                <a:latin typeface="Arial"/>
              </a:rPr>
              <a:t>Oct 1</a:t>
            </a:r>
          </a:p>
        </p:txBody>
      </p:sp>
      <p:sp>
        <p:nvSpPr>
          <p:cNvPr id="13" name="TextBox 12"/>
          <p:cNvSpPr txBox="1"/>
          <p:nvPr/>
        </p:nvSpPr>
        <p:spPr>
          <a:xfrm>
            <a:off x="1463040" y="5230368"/>
            <a:ext cx="1234440" cy="411480"/>
          </a:xfrm>
          <a:prstGeom prst="rect">
            <a:avLst/>
          </a:prstGeom>
          <a:noFill/>
        </p:spPr>
        <p:txBody>
          <a:bodyPr wrap="square">
            <a:normAutofit/>
          </a:bodyPr>
          <a:lstStyle/>
          <a:p>
            <a:pPr algn="ctr"/>
            <a:r>
              <a:rPr sz="919" b="0">
                <a:solidFill>
                  <a:srgbClr val="000000"/>
                </a:solidFill>
                <a:latin typeface="Arial"/>
              </a:rPr>
              <a:t>Baseline</a:t>
            </a:r>
          </a:p>
        </p:txBody>
      </p:sp>
      <p:sp>
        <p:nvSpPr>
          <p:cNvPr id="14" name="Oval 13"/>
          <p:cNvSpPr/>
          <p:nvPr/>
        </p:nvSpPr>
        <p:spPr>
          <a:xfrm>
            <a:off x="3726180" y="4549140"/>
            <a:ext cx="228600" cy="228600"/>
          </a:xfrm>
          <a:prstGeom prst="ellipse">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4892040"/>
            <a:ext cx="822960" cy="228600"/>
          </a:xfrm>
          <a:prstGeom prst="rect">
            <a:avLst/>
          </a:prstGeom>
          <a:noFill/>
        </p:spPr>
        <p:txBody>
          <a:bodyPr wrap="square">
            <a:normAutofit/>
          </a:bodyPr>
          <a:lstStyle/>
          <a:p>
            <a:pPr algn="ctr"/>
            <a:r>
              <a:rPr sz="1200" b="1">
                <a:solidFill>
                  <a:srgbClr val="091C2D"/>
                </a:solidFill>
                <a:latin typeface="Arial"/>
              </a:rPr>
              <a:t>Oct 3</a:t>
            </a:r>
          </a:p>
        </p:txBody>
      </p:sp>
      <p:sp>
        <p:nvSpPr>
          <p:cNvPr id="16" name="TextBox 15"/>
          <p:cNvSpPr txBox="1"/>
          <p:nvPr/>
        </p:nvSpPr>
        <p:spPr>
          <a:xfrm>
            <a:off x="3246120" y="5230368"/>
            <a:ext cx="1234440" cy="411480"/>
          </a:xfrm>
          <a:prstGeom prst="rect">
            <a:avLst/>
          </a:prstGeom>
          <a:noFill/>
        </p:spPr>
        <p:txBody>
          <a:bodyPr wrap="square">
            <a:normAutofit/>
          </a:bodyPr>
          <a:lstStyle/>
          <a:p>
            <a:pPr algn="ctr"/>
            <a:r>
              <a:rPr sz="919" b="0">
                <a:solidFill>
                  <a:srgbClr val="000000"/>
                </a:solidFill>
                <a:latin typeface="Arial"/>
              </a:rPr>
              <a:t>Advisor
session</a:t>
            </a:r>
          </a:p>
        </p:txBody>
      </p:sp>
      <p:sp>
        <p:nvSpPr>
          <p:cNvPr id="17" name="Oval 16"/>
          <p:cNvSpPr/>
          <p:nvPr/>
        </p:nvSpPr>
        <p:spPr>
          <a:xfrm>
            <a:off x="5509260" y="4549140"/>
            <a:ext cx="228600" cy="228600"/>
          </a:xfrm>
          <a:prstGeom prst="ellipse">
            <a:avLst/>
          </a:prstGeom>
          <a:solidFill>
            <a:srgbClr val="FF8C00"/>
          </a:solidFill>
          <a:ln>
            <a:solidFill>
              <a:srgbClr val="FF8C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0" y="4892040"/>
            <a:ext cx="822960" cy="228600"/>
          </a:xfrm>
          <a:prstGeom prst="rect">
            <a:avLst/>
          </a:prstGeom>
          <a:noFill/>
        </p:spPr>
        <p:txBody>
          <a:bodyPr wrap="square">
            <a:normAutofit/>
          </a:bodyPr>
          <a:lstStyle/>
          <a:p>
            <a:pPr algn="ctr"/>
            <a:r>
              <a:rPr sz="1200" b="1">
                <a:solidFill>
                  <a:srgbClr val="091C2D"/>
                </a:solidFill>
                <a:latin typeface="Arial"/>
              </a:rPr>
              <a:t>Oct 7</a:t>
            </a:r>
          </a:p>
        </p:txBody>
      </p:sp>
      <p:sp>
        <p:nvSpPr>
          <p:cNvPr id="19" name="TextBox 18"/>
          <p:cNvSpPr txBox="1"/>
          <p:nvPr/>
        </p:nvSpPr>
        <p:spPr>
          <a:xfrm>
            <a:off x="5029200" y="5230368"/>
            <a:ext cx="1234440" cy="411480"/>
          </a:xfrm>
          <a:prstGeom prst="rect">
            <a:avLst/>
          </a:prstGeom>
          <a:noFill/>
        </p:spPr>
        <p:txBody>
          <a:bodyPr wrap="square">
            <a:normAutofit/>
          </a:bodyPr>
          <a:lstStyle/>
          <a:p>
            <a:pPr algn="ctr"/>
            <a:r>
              <a:rPr sz="919" b="0">
                <a:solidFill>
                  <a:srgbClr val="000000"/>
                </a:solidFill>
                <a:latin typeface="Arial"/>
              </a:rPr>
              <a:t>Editor/source
cleanup</a:t>
            </a:r>
          </a:p>
        </p:txBody>
      </p:sp>
      <p:sp>
        <p:nvSpPr>
          <p:cNvPr id="20" name="Oval 19"/>
          <p:cNvSpPr/>
          <p:nvPr/>
        </p:nvSpPr>
        <p:spPr>
          <a:xfrm>
            <a:off x="7292340" y="4549140"/>
            <a:ext cx="228600" cy="228600"/>
          </a:xfrm>
          <a:prstGeom prst="ellipse">
            <a:avLst/>
          </a:prstGeom>
          <a:solidFill>
            <a:srgbClr val="8F4CFF"/>
          </a:solidFill>
          <a:ln>
            <a:solidFill>
              <a:srgbClr val="8F4C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95159" y="4892040"/>
            <a:ext cx="822960" cy="228600"/>
          </a:xfrm>
          <a:prstGeom prst="rect">
            <a:avLst/>
          </a:prstGeom>
          <a:noFill/>
        </p:spPr>
        <p:txBody>
          <a:bodyPr wrap="square">
            <a:normAutofit/>
          </a:bodyPr>
          <a:lstStyle/>
          <a:p>
            <a:pPr algn="ctr"/>
            <a:r>
              <a:rPr sz="1200" b="1">
                <a:solidFill>
                  <a:srgbClr val="091C2D"/>
                </a:solidFill>
                <a:latin typeface="Arial"/>
              </a:rPr>
              <a:t>Oct 10</a:t>
            </a:r>
          </a:p>
        </p:txBody>
      </p:sp>
      <p:sp>
        <p:nvSpPr>
          <p:cNvPr id="22" name="TextBox 21"/>
          <p:cNvSpPr txBox="1"/>
          <p:nvPr/>
        </p:nvSpPr>
        <p:spPr>
          <a:xfrm>
            <a:off x="6812279" y="5230368"/>
            <a:ext cx="1234440" cy="411480"/>
          </a:xfrm>
          <a:prstGeom prst="rect">
            <a:avLst/>
          </a:prstGeom>
          <a:noFill/>
        </p:spPr>
        <p:txBody>
          <a:bodyPr wrap="square">
            <a:normAutofit/>
          </a:bodyPr>
          <a:lstStyle/>
          <a:p>
            <a:pPr algn="ctr"/>
            <a:r>
              <a:rPr sz="919" b="0">
                <a:solidFill>
                  <a:srgbClr val="000000"/>
                </a:solidFill>
                <a:latin typeface="Arial"/>
              </a:rPr>
              <a:t>Ch. 2 figures
+ citations</a:t>
            </a:r>
          </a:p>
        </p:txBody>
      </p:sp>
      <p:sp>
        <p:nvSpPr>
          <p:cNvPr id="23" name="Oval 22"/>
          <p:cNvSpPr/>
          <p:nvPr/>
        </p:nvSpPr>
        <p:spPr>
          <a:xfrm>
            <a:off x="9075420" y="4549140"/>
            <a:ext cx="228600" cy="228600"/>
          </a:xfrm>
          <a:prstGeom prst="ellipse">
            <a:avLst/>
          </a:prstGeom>
          <a:solidFill>
            <a:srgbClr val="00C9DC"/>
          </a:solidFill>
          <a:ln>
            <a:solidFill>
              <a:srgbClr val="00C9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78240" y="4892040"/>
            <a:ext cx="822960" cy="228600"/>
          </a:xfrm>
          <a:prstGeom prst="rect">
            <a:avLst/>
          </a:prstGeom>
          <a:noFill/>
        </p:spPr>
        <p:txBody>
          <a:bodyPr wrap="square">
            <a:normAutofit/>
          </a:bodyPr>
          <a:lstStyle/>
          <a:p>
            <a:pPr algn="ctr"/>
            <a:r>
              <a:rPr sz="1200" b="1">
                <a:solidFill>
                  <a:srgbClr val="091C2D"/>
                </a:solidFill>
                <a:latin typeface="Arial"/>
              </a:rPr>
              <a:t>Oct 14</a:t>
            </a:r>
          </a:p>
        </p:txBody>
      </p:sp>
      <p:sp>
        <p:nvSpPr>
          <p:cNvPr id="25" name="TextBox 24"/>
          <p:cNvSpPr txBox="1"/>
          <p:nvPr/>
        </p:nvSpPr>
        <p:spPr>
          <a:xfrm>
            <a:off x="8595360" y="5230368"/>
            <a:ext cx="1234440" cy="411480"/>
          </a:xfrm>
          <a:prstGeom prst="rect">
            <a:avLst/>
          </a:prstGeom>
          <a:noFill/>
        </p:spPr>
        <p:txBody>
          <a:bodyPr wrap="square">
            <a:normAutofit/>
          </a:bodyPr>
          <a:lstStyle/>
          <a:p>
            <a:pPr algn="ctr"/>
            <a:r>
              <a:rPr sz="919" b="0">
                <a:solidFill>
                  <a:srgbClr val="000000"/>
                </a:solidFill>
                <a:latin typeface="Arial"/>
              </a:rPr>
              <a:t>MATLAB
checkpoint</a:t>
            </a:r>
          </a:p>
        </p:txBody>
      </p:sp>
      <p:sp>
        <p:nvSpPr>
          <p:cNvPr id="26" name="Oval 25"/>
          <p:cNvSpPr/>
          <p:nvPr/>
        </p:nvSpPr>
        <p:spPr>
          <a:xfrm>
            <a:off x="10675620" y="4549140"/>
            <a:ext cx="228600" cy="228600"/>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78440" y="4892040"/>
            <a:ext cx="822960" cy="228600"/>
          </a:xfrm>
          <a:prstGeom prst="rect">
            <a:avLst/>
          </a:prstGeom>
          <a:noFill/>
        </p:spPr>
        <p:txBody>
          <a:bodyPr wrap="square">
            <a:normAutofit/>
          </a:bodyPr>
          <a:lstStyle/>
          <a:p>
            <a:pPr algn="ctr"/>
            <a:r>
              <a:rPr sz="1200" b="1">
                <a:solidFill>
                  <a:srgbClr val="091C2D"/>
                </a:solidFill>
                <a:latin typeface="Arial"/>
              </a:rPr>
              <a:t>Oct 17</a:t>
            </a:r>
          </a:p>
        </p:txBody>
      </p:sp>
      <p:sp>
        <p:nvSpPr>
          <p:cNvPr id="28" name="TextBox 27"/>
          <p:cNvSpPr txBox="1"/>
          <p:nvPr/>
        </p:nvSpPr>
        <p:spPr>
          <a:xfrm>
            <a:off x="10195560" y="5230368"/>
            <a:ext cx="1234440" cy="411480"/>
          </a:xfrm>
          <a:prstGeom prst="rect">
            <a:avLst/>
          </a:prstGeom>
          <a:noFill/>
        </p:spPr>
        <p:txBody>
          <a:bodyPr wrap="square">
            <a:normAutofit/>
          </a:bodyPr>
          <a:lstStyle/>
          <a:p>
            <a:pPr algn="ctr"/>
            <a:r>
              <a:rPr sz="919" b="0">
                <a:solidFill>
                  <a:srgbClr val="000000"/>
                </a:solidFill>
                <a:latin typeface="Arial"/>
              </a:rPr>
              <a:t>Next
advisor line</a:t>
            </a:r>
          </a:p>
        </p:txBody>
      </p:sp>
      <p:cxnSp>
        <p:nvCxnSpPr>
          <p:cNvPr id="29" name="Connector 28"/>
          <p:cNvCxnSpPr/>
          <p:nvPr/>
        </p:nvCxnSpPr>
        <p:spPr>
          <a:xfrm>
            <a:off x="2057400" y="3794760"/>
            <a:ext cx="0" cy="2240280"/>
          </a:xfrm>
          <a:prstGeom prst="line">
            <a:avLst/>
          </a:prstGeom>
          <a:ln w="31750">
            <a:solidFill>
              <a:srgbClr val="00B05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627632" y="3913632"/>
            <a:ext cx="868680" cy="411480"/>
          </a:xfrm>
          <a:prstGeom prst="rect">
            <a:avLst/>
          </a:prstGeom>
          <a:noFill/>
        </p:spPr>
        <p:txBody>
          <a:bodyPr wrap="square">
            <a:normAutofit/>
          </a:bodyPr>
          <a:lstStyle/>
          <a:p>
            <a:pPr algn="ctr"/>
            <a:r>
              <a:rPr sz="1100" b="1">
                <a:solidFill>
                  <a:srgbClr val="00B050"/>
                </a:solidFill>
                <a:latin typeface="Arial"/>
              </a:rPr>
              <a:t>OCT 1
BASELINE</a:t>
            </a:r>
          </a:p>
        </p:txBody>
      </p:sp>
      <p:cxnSp>
        <p:nvCxnSpPr>
          <p:cNvPr id="31" name="Connector 30"/>
          <p:cNvCxnSpPr/>
          <p:nvPr/>
        </p:nvCxnSpPr>
        <p:spPr>
          <a:xfrm>
            <a:off x="10789920" y="3794760"/>
            <a:ext cx="0" cy="2240280"/>
          </a:xfrm>
          <a:prstGeom prst="line">
            <a:avLst/>
          </a:prstGeom>
          <a:ln w="31750">
            <a:solidFill>
              <a:srgbClr val="C0000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0378440" y="3913632"/>
            <a:ext cx="868680" cy="411480"/>
          </a:xfrm>
          <a:prstGeom prst="rect">
            <a:avLst/>
          </a:prstGeom>
          <a:noFill/>
        </p:spPr>
        <p:txBody>
          <a:bodyPr wrap="square">
            <a:normAutofit/>
          </a:bodyPr>
          <a:lstStyle/>
          <a:p>
            <a:pPr algn="ctr"/>
            <a:r>
              <a:rPr sz="1100" b="1">
                <a:solidFill>
                  <a:srgbClr val="C00000"/>
                </a:solidFill>
                <a:latin typeface="Arial"/>
              </a:rPr>
              <a:t>OCT 17
NEXT</a:t>
            </a:r>
          </a:p>
        </p:txBody>
      </p:sp>
      <p:sp>
        <p:nvSpPr>
          <p:cNvPr id="33" name="TextBox 32"/>
          <p:cNvSpPr txBox="1"/>
          <p:nvPr/>
        </p:nvSpPr>
        <p:spPr>
          <a:xfrm>
            <a:off x="384048" y="6537960"/>
            <a:ext cx="5120640" cy="228600"/>
          </a:xfrm>
          <a:prstGeom prst="rect">
            <a:avLst/>
          </a:prstGeom>
          <a:noFill/>
        </p:spPr>
        <p:txBody>
          <a:bodyPr wrap="square">
            <a:normAutofit/>
          </a:bodyPr>
          <a:lstStyle/>
          <a:p>
            <a:r>
              <a:t>Config: 2026-10-01 | next two-week execution plan — v08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8"/>
          <p:cNvSpPr txBox="1">
            <a:spLocks noGrp="1"/>
          </p:cNvSpPr>
          <p:nvPr>
            <p:ph type="body" idx="1"/>
          </p:nvPr>
        </p:nvSpPr>
        <p:spPr>
          <a:xfrm>
            <a:off x="564204" y="2081719"/>
            <a:ext cx="10695467" cy="2949986"/>
          </a:xfrm>
          <a:prstGeom prst="rect">
            <a:avLst/>
          </a:prstGeom>
          <a:noFill/>
          <a:ln>
            <a:noFill/>
          </a:ln>
        </p:spPr>
        <p:txBody>
          <a:bodyPr spcFirstLastPara="1" wrap="square" lIns="91425" tIns="45700" rIns="91425" bIns="45700" anchor="t" anchorCtr="0">
            <a:noAutofit/>
          </a:bodyPr>
          <a:lstStyle/>
          <a:p>
            <a:pPr marL="0" lvl="0" indent="0" algn="ctr" rtl="0">
              <a:spcBef>
                <a:spcPts val="0"/>
              </a:spcBef>
              <a:spcAft>
                <a:spcPts val="0"/>
              </a:spcAft>
              <a:buClr>
                <a:schemeClr val="dk1"/>
              </a:buClr>
              <a:buSzPts val="6000"/>
              <a:buNone/>
            </a:pPr>
            <a:r>
              <a:rPr lang="en-US" sz="6000" b="1">
                <a:solidFill>
                  <a:schemeClr val="dk1"/>
                </a:solidFill>
              </a:rPr>
              <a:t>Appendix</a:t>
            </a:r>
            <a:endParaRPr sz="3600" b="1">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9"/>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Problem and Thesis Statements</a:t>
            </a:r>
            <a:endParaRPr/>
          </a:p>
        </p:txBody>
      </p:sp>
      <p:sp>
        <p:nvSpPr>
          <p:cNvPr id="156" name="Google Shape;156;p29"/>
          <p:cNvSpPr/>
          <p:nvPr/>
        </p:nvSpPr>
        <p:spPr>
          <a:xfrm>
            <a:off x="621792" y="1444752"/>
            <a:ext cx="10927080" cy="199927"/>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Problem statement</a:t>
            </a:r>
            <a:endParaRPr/>
          </a:p>
        </p:txBody>
      </p:sp>
      <p:sp>
        <p:nvSpPr>
          <p:cNvPr id="157" name="Google Shape;157;p29"/>
          <p:cNvSpPr/>
          <p:nvPr/>
        </p:nvSpPr>
        <p:spPr>
          <a:xfrm>
            <a:off x="621792" y="1728216"/>
            <a:ext cx="10899648" cy="393826"/>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Ground-dependent satellite data-processing architectures can create decision-support latency, bandwidth bottlenecks and operator workload when communications are degraded or intermittent.</a:t>
            </a:r>
            <a:endParaRPr/>
          </a:p>
        </p:txBody>
      </p:sp>
      <p:sp>
        <p:nvSpPr>
          <p:cNvPr id="158" name="Google Shape;158;p29"/>
          <p:cNvSpPr/>
          <p:nvPr/>
        </p:nvSpPr>
        <p:spPr>
          <a:xfrm>
            <a:off x="621792" y="2432304"/>
            <a:ext cx="10899648" cy="199927"/>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Thesis statement</a:t>
            </a:r>
            <a:endParaRPr/>
          </a:p>
        </p:txBody>
      </p:sp>
      <p:sp>
        <p:nvSpPr>
          <p:cNvPr id="159" name="Google Shape;159;p29"/>
          <p:cNvSpPr/>
          <p:nvPr/>
        </p:nvSpPr>
        <p:spPr>
          <a:xfrm>
            <a:off x="621792" y="2715768"/>
            <a:ext cx="10899648" cy="393826"/>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This Praxis will deliver a simulation-based systems engineering model comparing ground-centric processing with bounded orbital edge processing under degraded communications.</a:t>
            </a:r>
            <a:endParaRPr/>
          </a:p>
        </p:txBody>
      </p:sp>
      <p:graphicFrame>
        <p:nvGraphicFramePr>
          <p:cNvPr id="160" name="Google Shape;160;p29"/>
          <p:cNvGraphicFramePr/>
          <p:nvPr>
            <p:extLst>
              <p:ext uri="{D42A27DB-BD31-4B8C-83A1-F6EECF244321}">
                <p14:modId xmlns:p14="http://schemas.microsoft.com/office/powerpoint/2010/main" val="484890876"/>
              </p:ext>
            </p:extLst>
          </p:nvPr>
        </p:nvGraphicFramePr>
        <p:xfrm>
          <a:off x="621792" y="3410712"/>
          <a:ext cx="10917950" cy="1298450"/>
        </p:xfrm>
        <a:graphic>
          <a:graphicData uri="http://schemas.openxmlformats.org/drawingml/2006/table">
            <a:tbl>
              <a:tblPr firstRow="1" bandRow="1">
                <a:noFill/>
                <a:tableStyleId>{3C1EB017-BC45-4DEE-9ABB-B4D90C79D28D}</a:tableStyleId>
              </a:tblPr>
              <a:tblGrid>
                <a:gridCol w="1920250">
                  <a:extLst>
                    <a:ext uri="{9D8B030D-6E8A-4147-A177-3AD203B41FA5}">
                      <a16:colId xmlns:a16="http://schemas.microsoft.com/office/drawing/2014/main" val="20000"/>
                    </a:ext>
                  </a:extLst>
                </a:gridCol>
                <a:gridCol w="8997700">
                  <a:extLst>
                    <a:ext uri="{9D8B030D-6E8A-4147-A177-3AD203B41FA5}">
                      <a16:colId xmlns:a16="http://schemas.microsoft.com/office/drawing/2014/main" val="20001"/>
                    </a:ext>
                  </a:extLst>
                </a:gridCol>
              </a:tblGrid>
              <a:tr h="301750">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u="none" strike="noStrike" cap="none">
                          <a:solidFill>
                            <a:srgbClr val="000000"/>
                          </a:solidFill>
                          <a:latin typeface="Times New Roman"/>
                          <a:ea typeface="Times New Roman"/>
                          <a:cs typeface="Times New Roman"/>
                          <a:sym typeface="Times New Roman"/>
                        </a:rPr>
                        <a:t>Research product</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u="none" strike="noStrike" cap="none">
                          <a:solidFill>
                            <a:srgbClr val="000000"/>
                          </a:solidFill>
                          <a:latin typeface="Times New Roman"/>
                          <a:ea typeface="Times New Roman"/>
                          <a:cs typeface="Times New Roman"/>
                          <a:sym typeface="Times New Roman"/>
                        </a:rPr>
                        <a:t>Intended use / contribution</a:t>
                      </a:r>
                      <a:endParaRPr/>
                    </a:p>
                  </a:txBody>
                  <a:tcPr marL="68575" marR="68575" marT="36575" marB="22850" anchor="ctr">
                    <a:solidFill>
                      <a:srgbClr val="E7EEF3"/>
                    </a:solidFill>
                  </a:tcPr>
                </a:tc>
                <a:extLst>
                  <a:ext uri="{0D108BD9-81ED-4DB2-BD59-A6C34878D82A}">
                    <a16:rowId xmlns:a16="http://schemas.microsoft.com/office/drawing/2014/main" val="10000"/>
                  </a:ext>
                </a:extLst>
              </a:tr>
              <a:tr h="4937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0" u="none" strike="noStrike" cap="none">
                          <a:solidFill>
                            <a:srgbClr val="000000"/>
                          </a:solidFill>
                          <a:latin typeface="Times New Roman"/>
                          <a:ea typeface="Times New Roman"/>
                          <a:cs typeface="Times New Roman"/>
                          <a:sym typeface="Times New Roman"/>
                        </a:rPr>
                        <a:t>Simulation-Based Evaluation Framework</a:t>
                      </a:r>
                      <a:endParaRPr/>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u="sng" strike="noStrike" cap="none" dirty="0">
                          <a:solidFill>
                            <a:srgbClr val="000000"/>
                          </a:solidFill>
                          <a:latin typeface="Times New Roman"/>
                          <a:ea typeface="Times New Roman"/>
                          <a:cs typeface="Times New Roman"/>
                          <a:sym typeface="Times New Roman"/>
                        </a:rPr>
                        <a:t>Systems engineers will use the framework during early architecture trades </a:t>
                      </a:r>
                      <a:r>
                        <a:rPr lang="en-US" sz="1200" b="0" u="none" strike="noStrike" cap="none" dirty="0">
                          <a:solidFill>
                            <a:srgbClr val="000000"/>
                          </a:solidFill>
                          <a:latin typeface="Times New Roman"/>
                          <a:ea typeface="Times New Roman"/>
                          <a:cs typeface="Times New Roman"/>
                          <a:sym typeface="Times New Roman"/>
                        </a:rPr>
                        <a:t>for onboard processing under degraded communications.</a:t>
                      </a:r>
                      <a:endParaRPr sz="1600" dirty="0"/>
                    </a:p>
                  </a:txBody>
                  <a:tcPr marL="68575" marR="68575" marT="36575" marB="22850" anchor="ctr">
                    <a:solidFill>
                      <a:srgbClr val="FFFFFF"/>
                    </a:solidFill>
                  </a:tcPr>
                </a:tc>
                <a:extLst>
                  <a:ext uri="{0D108BD9-81ED-4DB2-BD59-A6C34878D82A}">
                    <a16:rowId xmlns:a16="http://schemas.microsoft.com/office/drawing/2014/main" val="10001"/>
                  </a:ext>
                </a:extLst>
              </a:tr>
              <a:tr h="502925">
                <a:tc>
                  <a:txBody>
                    <a:bodyPr/>
                    <a:lstStyle/>
                    <a:p>
                      <a:pPr marL="0" marR="0" lvl="0" indent="0" algn="l" rtl="0">
                        <a:lnSpc>
                          <a:spcPct val="103000"/>
                        </a:lnSpc>
                        <a:spcBef>
                          <a:spcPts val="0"/>
                        </a:spcBef>
                        <a:spcAft>
                          <a:spcPts val="0"/>
                        </a:spcAft>
                        <a:buClr>
                          <a:srgbClr val="000000"/>
                        </a:buClr>
                        <a:buSzPts val="700"/>
                        <a:buFont typeface="Times New Roman"/>
                        <a:buNone/>
                      </a:pPr>
                      <a:r>
                        <a:rPr lang="en-US" sz="1000" b="1" u="none" strike="noStrike" cap="none" dirty="0">
                          <a:solidFill>
                            <a:srgbClr val="000000"/>
                          </a:solidFill>
                          <a:latin typeface="Times New Roman"/>
                          <a:ea typeface="Times New Roman"/>
                          <a:cs typeface="Times New Roman"/>
                          <a:sym typeface="Times New Roman"/>
                        </a:rPr>
                        <a:t>MATLAB/</a:t>
                      </a:r>
                      <a:r>
                        <a:rPr lang="en-US" sz="1000" b="1" u="none" strike="noStrike" cap="none" dirty="0" err="1">
                          <a:solidFill>
                            <a:srgbClr val="000000"/>
                          </a:solidFill>
                          <a:latin typeface="Times New Roman"/>
                          <a:ea typeface="Times New Roman"/>
                          <a:cs typeface="Times New Roman"/>
                          <a:sym typeface="Times New Roman"/>
                        </a:rPr>
                        <a:t>SimEvents</a:t>
                      </a:r>
                      <a:r>
                        <a:rPr lang="en-US" sz="1000" b="1" u="none" strike="noStrike" cap="none" dirty="0">
                          <a:solidFill>
                            <a:srgbClr val="000000"/>
                          </a:solidFill>
                          <a:latin typeface="Times New Roman"/>
                          <a:ea typeface="Times New Roman"/>
                          <a:cs typeface="Times New Roman"/>
                          <a:sym typeface="Times New Roman"/>
                        </a:rPr>
                        <a:t> Model</a:t>
                      </a:r>
                      <a:endParaRPr sz="2000" dirty="0"/>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700"/>
                        <a:buFont typeface="Times New Roman"/>
                        <a:buNone/>
                      </a:pPr>
                      <a:r>
                        <a:rPr lang="en-US" sz="1050" b="0" u="none" strike="noStrike" cap="none" dirty="0">
                          <a:solidFill>
                            <a:srgbClr val="000000"/>
                          </a:solidFill>
                          <a:latin typeface="Times New Roman"/>
                          <a:ea typeface="Times New Roman"/>
                          <a:cs typeface="Times New Roman"/>
                          <a:sym typeface="Times New Roman"/>
                        </a:rPr>
                        <a:t>This work contributes a public, repeatable method for evaluating orbital edge-processing performance without classified data, restricted data, or new algorithms.</a:t>
                      </a:r>
                      <a:endParaRPr sz="2400" dirty="0"/>
                    </a:p>
                  </a:txBody>
                  <a:tcPr marL="68575" marR="68575" marT="36575" marB="22850" anchor="ctr">
                    <a:solidFill>
                      <a:srgbClr val="F6F8FA"/>
                    </a:solidFill>
                  </a:tcPr>
                </a:tc>
                <a:extLst>
                  <a:ext uri="{0D108BD9-81ED-4DB2-BD59-A6C34878D82A}">
                    <a16:rowId xmlns:a16="http://schemas.microsoft.com/office/drawing/2014/main" val="10002"/>
                  </a:ext>
                </a:extLst>
              </a:tr>
            </a:tbl>
          </a:graphicData>
        </a:graphic>
      </p:graphicFrame>
      <p:sp>
        <p:nvSpPr>
          <p:cNvPr id="161" name="Google Shape;161;p29"/>
          <p:cNvSpPr/>
          <p:nvPr/>
        </p:nvSpPr>
        <p:spPr>
          <a:xfrm>
            <a:off x="621791" y="4919472"/>
            <a:ext cx="11284863"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200"/>
              <a:buFont typeface="Times New Roman"/>
              <a:buNone/>
            </a:pPr>
            <a:r>
              <a:rPr lang="en-US" sz="1200" b="1">
                <a:solidFill>
                  <a:srgbClr val="FFFF00"/>
                </a:solidFill>
                <a:latin typeface="Times New Roman"/>
                <a:ea typeface="Times New Roman"/>
                <a:cs typeface="Times New Roman"/>
                <a:sym typeface="Times New Roman"/>
              </a:rPr>
              <a:t>Current working direction: civil ground-centric versus orbital-edge processing under matched degradation using DES, with core measures of uptime/service availability, downtime/recovery, latency, packet loss and queueing delay.</a:t>
            </a:r>
            <a:endParaRPr sz="1400" b="1">
              <a:solidFill>
                <a:srgbClr val="FFFF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Research Objectives and Questions</a:t>
            </a:r>
            <a:endParaRPr/>
          </a:p>
        </p:txBody>
      </p:sp>
      <p:sp>
        <p:nvSpPr>
          <p:cNvPr id="169" name="Google Shape;169;p30"/>
          <p:cNvSpPr/>
          <p:nvPr/>
        </p:nvSpPr>
        <p:spPr>
          <a:xfrm>
            <a:off x="621792" y="151790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RQ1</a:t>
            </a:r>
            <a:endParaRPr/>
          </a:p>
        </p:txBody>
      </p:sp>
      <p:sp>
        <p:nvSpPr>
          <p:cNvPr id="170" name="Google Shape;170;p30"/>
          <p:cNvSpPr/>
          <p:nvPr/>
        </p:nvSpPr>
        <p:spPr>
          <a:xfrm>
            <a:off x="1207008" y="1517904"/>
            <a:ext cx="10195560" cy="518988"/>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600"/>
              <a:buFont typeface="Times New Roman"/>
              <a:buNone/>
            </a:pPr>
            <a:r>
              <a:rPr lang="en-US" sz="1600" b="1">
                <a:solidFill>
                  <a:srgbClr val="FFFF00"/>
                </a:solidFill>
                <a:latin typeface="Times New Roman"/>
                <a:ea typeface="Times New Roman"/>
                <a:cs typeface="Times New Roman"/>
                <a:sym typeface="Times New Roman"/>
              </a:rPr>
              <a:t>Can a discrete-event systems engineering model represent satellite data-processing latency and service availability under degraded communications?</a:t>
            </a:r>
            <a:endParaRPr/>
          </a:p>
        </p:txBody>
      </p:sp>
      <p:sp>
        <p:nvSpPr>
          <p:cNvPr id="171" name="Google Shape;171;p30"/>
          <p:cNvSpPr/>
          <p:nvPr/>
        </p:nvSpPr>
        <p:spPr>
          <a:xfrm>
            <a:off x="621792" y="229514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RQ2</a:t>
            </a:r>
            <a:endParaRPr/>
          </a:p>
        </p:txBody>
      </p:sp>
      <p:sp>
        <p:nvSpPr>
          <p:cNvPr id="172" name="Google Shape;172;p30"/>
          <p:cNvSpPr/>
          <p:nvPr/>
        </p:nvSpPr>
        <p:spPr>
          <a:xfrm>
            <a:off x="1207008" y="2295144"/>
            <a:ext cx="1019556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1">
                <a:solidFill>
                  <a:srgbClr val="FFFF00"/>
                </a:solidFill>
                <a:latin typeface="Times New Roman"/>
                <a:ea typeface="Times New Roman"/>
                <a:cs typeface="Times New Roman"/>
                <a:sym typeface="Times New Roman"/>
              </a:rPr>
              <a:t>Does bounded orbital edge processing reduce end-to-end decision-support latency and preserve service compared with a ground-centric architecture under matched degradation?</a:t>
            </a:r>
            <a:endParaRPr/>
          </a:p>
        </p:txBody>
      </p:sp>
      <p:sp>
        <p:nvSpPr>
          <p:cNvPr id="173" name="Google Shape;173;p30"/>
          <p:cNvSpPr/>
          <p:nvPr/>
        </p:nvSpPr>
        <p:spPr>
          <a:xfrm>
            <a:off x="621792" y="3072384"/>
            <a:ext cx="502920" cy="301752"/>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200"/>
              <a:buFont typeface="Times New Roman"/>
              <a:buNone/>
            </a:pPr>
            <a:r>
              <a:rPr lang="en-US" sz="1200" b="1">
                <a:solidFill>
                  <a:srgbClr val="000000"/>
                </a:solidFill>
                <a:latin typeface="Times New Roman"/>
                <a:ea typeface="Times New Roman"/>
                <a:cs typeface="Times New Roman"/>
                <a:sym typeface="Times New Roman"/>
              </a:rPr>
              <a:t>RQ3</a:t>
            </a:r>
            <a:endParaRPr/>
          </a:p>
        </p:txBody>
      </p:sp>
      <p:sp>
        <p:nvSpPr>
          <p:cNvPr id="174" name="Google Shape;174;p30"/>
          <p:cNvSpPr/>
          <p:nvPr/>
        </p:nvSpPr>
        <p:spPr>
          <a:xfrm>
            <a:off x="1207008" y="3072384"/>
            <a:ext cx="1019556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1">
                <a:solidFill>
                  <a:srgbClr val="FFFF00"/>
                </a:solidFill>
                <a:latin typeface="Times New Roman"/>
                <a:ea typeface="Times New Roman"/>
                <a:cs typeface="Times New Roman"/>
                <a:sym typeface="Times New Roman"/>
              </a:rPr>
              <a:t>Which parameters most affect performance: communications delay/loss, bandwidth, outage duration, processing time and alert/data priority?</a:t>
            </a:r>
            <a:endParaRPr/>
          </a:p>
        </p:txBody>
      </p:sp>
      <p:sp>
        <p:nvSpPr>
          <p:cNvPr id="175" name="Google Shape;175;p30"/>
          <p:cNvSpPr/>
          <p:nvPr/>
        </p:nvSpPr>
        <p:spPr>
          <a:xfrm>
            <a:off x="585216" y="3995928"/>
            <a:ext cx="10991088" cy="26045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600"/>
              <a:buFont typeface="Times New Roman"/>
              <a:buNone/>
            </a:pPr>
            <a:r>
              <a:rPr lang="en-US" sz="1600" b="1">
                <a:solidFill>
                  <a:srgbClr val="000000"/>
                </a:solidFill>
                <a:latin typeface="Times New Roman"/>
                <a:ea typeface="Times New Roman"/>
                <a:cs typeface="Times New Roman"/>
                <a:sym typeface="Times New Roman"/>
              </a:rPr>
              <a:t>PURPOSE — current scope</a:t>
            </a:r>
            <a:endParaRPr/>
          </a:p>
        </p:txBody>
      </p:sp>
      <p:sp>
        <p:nvSpPr>
          <p:cNvPr id="176" name="Google Shape;176;p30"/>
          <p:cNvSpPr/>
          <p:nvPr/>
        </p:nvSpPr>
        <p:spPr>
          <a:xfrm>
            <a:off x="621792" y="4379976"/>
            <a:ext cx="1092708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0">
                <a:solidFill>
                  <a:srgbClr val="FFFF00"/>
                </a:solidFill>
                <a:latin typeface="Times New Roman"/>
                <a:ea typeface="Times New Roman"/>
                <a:cs typeface="Times New Roman"/>
                <a:sym typeface="Times New Roman"/>
              </a:rPr>
              <a:t>Evaluate bounded orbital edge processing under degraded communications; compare ground-centric routing with an edge-enabled path; provide a repeatable public-data simulation framework for early architecture trades.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1"/>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Research Hypotheses — Proposed Refinement</a:t>
            </a:r>
            <a:endParaRPr/>
          </a:p>
        </p:txBody>
      </p:sp>
      <p:sp>
        <p:nvSpPr>
          <p:cNvPr id="183" name="Google Shape;183;p31"/>
          <p:cNvSpPr/>
          <p:nvPr/>
        </p:nvSpPr>
        <p:spPr>
          <a:xfrm>
            <a:off x="621792" y="1536192"/>
            <a:ext cx="438912" cy="292608"/>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750"/>
              <a:buFont typeface="Times New Roman"/>
              <a:buNone/>
            </a:pPr>
            <a:r>
              <a:rPr lang="en-US" sz="750" b="1">
                <a:solidFill>
                  <a:srgbClr val="000000"/>
                </a:solidFill>
                <a:latin typeface="Times New Roman"/>
                <a:ea typeface="Times New Roman"/>
                <a:cs typeface="Times New Roman"/>
                <a:sym typeface="Times New Roman"/>
              </a:rPr>
              <a:t>H0</a:t>
            </a:r>
            <a:endParaRPr/>
          </a:p>
        </p:txBody>
      </p:sp>
      <p:sp>
        <p:nvSpPr>
          <p:cNvPr id="184" name="Google Shape;184;p31"/>
          <p:cNvSpPr/>
          <p:nvPr/>
        </p:nvSpPr>
        <p:spPr>
          <a:xfrm>
            <a:off x="1143000" y="1536192"/>
            <a:ext cx="1024128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0" dirty="0">
                <a:solidFill>
                  <a:srgbClr val="FFFF00"/>
                </a:solidFill>
                <a:latin typeface="Times New Roman"/>
                <a:ea typeface="Times New Roman"/>
                <a:cs typeface="Times New Roman"/>
                <a:sym typeface="Times New Roman"/>
              </a:rPr>
              <a:t>Under matched degradation, the ground-centric and bounded orbital-edge architectures show no measurable difference in end-to-end latency or service availability.</a:t>
            </a:r>
            <a:endParaRPr dirty="0"/>
          </a:p>
        </p:txBody>
      </p:sp>
      <p:sp>
        <p:nvSpPr>
          <p:cNvPr id="185" name="Google Shape;185;p31"/>
          <p:cNvSpPr/>
          <p:nvPr/>
        </p:nvSpPr>
        <p:spPr>
          <a:xfrm>
            <a:off x="1143000" y="2020824"/>
            <a:ext cx="1024128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0" dirty="0">
                <a:solidFill>
                  <a:srgbClr val="FFFF00"/>
                </a:solidFill>
                <a:latin typeface="Times New Roman"/>
                <a:ea typeface="Times New Roman"/>
                <a:cs typeface="Times New Roman"/>
                <a:sym typeface="Times New Roman"/>
              </a:rPr>
              <a:t>Test: matched DES runs; compare latency distributions, availability and downtime/recovery using confidence intervals and two-sample K-S tests.</a:t>
            </a:r>
            <a:endParaRPr dirty="0"/>
          </a:p>
        </p:txBody>
      </p:sp>
      <p:sp>
        <p:nvSpPr>
          <p:cNvPr id="186" name="Google Shape;186;p31"/>
          <p:cNvSpPr/>
          <p:nvPr/>
        </p:nvSpPr>
        <p:spPr>
          <a:xfrm>
            <a:off x="621792" y="2706624"/>
            <a:ext cx="438912" cy="292608"/>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750"/>
              <a:buFont typeface="Times New Roman"/>
              <a:buNone/>
            </a:pPr>
            <a:r>
              <a:rPr lang="en-US" sz="750" b="1">
                <a:solidFill>
                  <a:srgbClr val="000000"/>
                </a:solidFill>
                <a:latin typeface="Times New Roman"/>
                <a:ea typeface="Times New Roman"/>
                <a:cs typeface="Times New Roman"/>
                <a:sym typeface="Times New Roman"/>
              </a:rPr>
              <a:t>H1</a:t>
            </a:r>
            <a:endParaRPr/>
          </a:p>
        </p:txBody>
      </p:sp>
      <p:sp>
        <p:nvSpPr>
          <p:cNvPr id="187" name="Google Shape;187;p31"/>
          <p:cNvSpPr/>
          <p:nvPr/>
        </p:nvSpPr>
        <p:spPr>
          <a:xfrm>
            <a:off x="1143000" y="2706624"/>
            <a:ext cx="1024128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0">
                <a:solidFill>
                  <a:srgbClr val="FFFF00"/>
                </a:solidFill>
                <a:latin typeface="Times New Roman"/>
                <a:ea typeface="Times New Roman"/>
                <a:cs typeface="Times New Roman"/>
                <a:sym typeface="Times New Roman"/>
              </a:rPr>
              <a:t>Bounded orbital edge processing reduces end-to-end decision-support latency and improves service availability relative to a ground-centric architecture under degraded communications.</a:t>
            </a:r>
            <a:endParaRPr/>
          </a:p>
        </p:txBody>
      </p:sp>
      <p:sp>
        <p:nvSpPr>
          <p:cNvPr id="188" name="Google Shape;188;p31"/>
          <p:cNvSpPr/>
          <p:nvPr/>
        </p:nvSpPr>
        <p:spPr>
          <a:xfrm>
            <a:off x="1143000" y="3191256"/>
            <a:ext cx="10241280" cy="456472"/>
          </a:xfrm>
          <a:prstGeom prst="rect">
            <a:avLst/>
          </a:prstGeom>
          <a:solidFill>
            <a:schemeClr val="dk1"/>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FFFF00"/>
              </a:buClr>
              <a:buSzPts val="1400"/>
              <a:buFont typeface="Times New Roman"/>
              <a:buNone/>
            </a:pPr>
            <a:r>
              <a:rPr lang="en-US" sz="1400" b="0">
                <a:solidFill>
                  <a:srgbClr val="FFFF00"/>
                </a:solidFill>
                <a:latin typeface="Times New Roman"/>
                <a:ea typeface="Times New Roman"/>
                <a:cs typeface="Times New Roman"/>
                <a:sym typeface="Times New Roman"/>
              </a:rPr>
              <a:t>Test: run identical arrival/disruption streams for both architectures; compare mean/P80/P90 latency, uptime/downtime, dropped messages and queueing delay.</a:t>
            </a:r>
            <a:endParaRPr/>
          </a:p>
        </p:txBody>
      </p:sp>
      <p:sp>
        <p:nvSpPr>
          <p:cNvPr id="189" name="Google Shape;189;p31"/>
          <p:cNvSpPr/>
          <p:nvPr/>
        </p:nvSpPr>
        <p:spPr>
          <a:xfrm>
            <a:off x="621792" y="5120640"/>
            <a:ext cx="10927080" cy="169726"/>
          </a:xfrm>
          <a:prstGeom prst="rect">
            <a:avLst/>
          </a:prstGeom>
          <a:no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700"/>
              <a:buFont typeface="Times New Roman"/>
              <a:buNone/>
            </a:pPr>
            <a:r>
              <a:rPr lang="en-US" sz="700" b="0">
                <a:solidFill>
                  <a:srgbClr val="000000"/>
                </a:solidFill>
                <a:latin typeface="Times New Roman"/>
                <a:ea typeface="Times New Roman"/>
                <a:cs typeface="Times New Roman"/>
                <a:sym typeface="Times New Roman"/>
              </a:rPr>
              <a:t>For advisor discussion: effect-size thresholds and final hypothesis wording remain open. [28 Sep 2026]</a:t>
            </a:r>
            <a:endParaRPr sz="1000" b="0">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2"/>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5 Foundational References</a:t>
            </a:r>
            <a:endParaRPr/>
          </a:p>
        </p:txBody>
      </p:sp>
      <p:sp>
        <p:nvSpPr>
          <p:cNvPr id="196" name="Google Shape;196;p32"/>
          <p:cNvSpPr/>
          <p:nvPr/>
        </p:nvSpPr>
        <p:spPr>
          <a:xfrm>
            <a:off x="585216" y="1051560"/>
            <a:ext cx="10991088" cy="16972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000"/>
              <a:buFont typeface="Times New Roman"/>
              <a:buNone/>
            </a:pPr>
            <a:r>
              <a:rPr lang="en-US" sz="1000" b="1">
                <a:solidFill>
                  <a:srgbClr val="000000"/>
                </a:solidFill>
                <a:latin typeface="Times New Roman"/>
                <a:ea typeface="Times New Roman"/>
                <a:cs typeface="Times New Roman"/>
                <a:sym typeface="Times New Roman"/>
              </a:rPr>
              <a:t>EXTERNAL REFERENCE - slides 9–13</a:t>
            </a:r>
            <a:endParaRPr/>
          </a:p>
        </p:txBody>
      </p:sp>
      <p:graphicFrame>
        <p:nvGraphicFramePr>
          <p:cNvPr id="197" name="Google Shape;197;p32"/>
          <p:cNvGraphicFramePr/>
          <p:nvPr>
            <p:extLst>
              <p:ext uri="{D42A27DB-BD31-4B8C-83A1-F6EECF244321}">
                <p14:modId xmlns:p14="http://schemas.microsoft.com/office/powerpoint/2010/main" val="2014247529"/>
              </p:ext>
            </p:extLst>
          </p:nvPr>
        </p:nvGraphicFramePr>
        <p:xfrm>
          <a:off x="585216" y="1463040"/>
          <a:ext cx="10991100" cy="3438175"/>
        </p:xfrm>
        <a:graphic>
          <a:graphicData uri="http://schemas.openxmlformats.org/drawingml/2006/table">
            <a:tbl>
              <a:tblPr firstRow="1" bandRow="1">
                <a:noFill/>
                <a:tableStyleId>{3C1EB017-BC45-4DEE-9ABB-B4D90C79D28D}</a:tableStyleId>
              </a:tblPr>
              <a:tblGrid>
                <a:gridCol w="8229600">
                  <a:extLst>
                    <a:ext uri="{9D8B030D-6E8A-4147-A177-3AD203B41FA5}">
                      <a16:colId xmlns:a16="http://schemas.microsoft.com/office/drawing/2014/main" val="20000"/>
                    </a:ext>
                  </a:extLst>
                </a:gridCol>
                <a:gridCol w="2761500">
                  <a:extLst>
                    <a:ext uri="{9D8B030D-6E8A-4147-A177-3AD203B41FA5}">
                      <a16:colId xmlns:a16="http://schemas.microsoft.com/office/drawing/2014/main" val="20001"/>
                    </a:ext>
                  </a:extLst>
                </a:gridCol>
              </a:tblGrid>
              <a:tr h="320050">
                <a:tc>
                  <a:txBody>
                    <a:bodyPr/>
                    <a:lstStyle/>
                    <a:p>
                      <a:pPr marL="0" marR="0" lvl="0" indent="0" algn="l" rtl="0">
                        <a:spcBef>
                          <a:spcPts val="0"/>
                        </a:spcBef>
                        <a:spcAft>
                          <a:spcPts val="0"/>
                        </a:spcAft>
                        <a:buClr>
                          <a:srgbClr val="000000"/>
                        </a:buClr>
                        <a:buSzPts val="800"/>
                        <a:buFont typeface="Times New Roman"/>
                        <a:buNone/>
                      </a:pPr>
                      <a:r>
                        <a:rPr lang="en-US" sz="1200" b="1" u="none" strike="noStrike" cap="none">
                          <a:solidFill>
                            <a:srgbClr val="000000"/>
                          </a:solidFill>
                          <a:latin typeface="Times New Roman"/>
                          <a:ea typeface="Times New Roman"/>
                          <a:cs typeface="Times New Roman"/>
                          <a:sym typeface="Times New Roman"/>
                        </a:rPr>
                        <a:t>Foundational / Domestic Sources</a:t>
                      </a:r>
                      <a:endParaRPr sz="2800"/>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800"/>
                        <a:buFont typeface="Times New Roman"/>
                        <a:buNone/>
                      </a:pPr>
                      <a:r>
                        <a:rPr lang="en-US" sz="1200" b="1">
                          <a:solidFill>
                            <a:srgbClr val="000000"/>
                          </a:solidFill>
                          <a:latin typeface="Times New Roman"/>
                          <a:ea typeface="Times New Roman"/>
                          <a:cs typeface="Times New Roman"/>
                          <a:sym typeface="Times New Roman"/>
                        </a:rPr>
                        <a:t>Stated role in the Praxis</a:t>
                      </a:r>
                      <a:endParaRPr sz="2800"/>
                    </a:p>
                  </a:txBody>
                  <a:tcPr marL="68575" marR="68575" marT="36575" marB="22850" anchor="ctr">
                    <a:solidFill>
                      <a:srgbClr val="E7EEF3"/>
                    </a:solidFill>
                  </a:tcPr>
                </a:tc>
                <a:extLst>
                  <a:ext uri="{0D108BD9-81ED-4DB2-BD59-A6C34878D82A}">
                    <a16:rowId xmlns:a16="http://schemas.microsoft.com/office/drawing/2014/main" val="10000"/>
                  </a:ext>
                </a:extLst>
              </a:tr>
              <a:tr h="77725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dirty="0">
                          <a:solidFill>
                            <a:srgbClr val="000000"/>
                          </a:solidFill>
                          <a:latin typeface="Times New Roman"/>
                          <a:ea typeface="Times New Roman"/>
                          <a:cs typeface="Times New Roman"/>
                          <a:sym typeface="Times New Roman"/>
                        </a:rPr>
                        <a:t>Osoba, O. A., </a:t>
                      </a:r>
                      <a:r>
                        <a:rPr lang="en-US" sz="1100" b="0" dirty="0" err="1">
                          <a:solidFill>
                            <a:srgbClr val="000000"/>
                          </a:solidFill>
                          <a:latin typeface="Times New Roman"/>
                          <a:ea typeface="Times New Roman"/>
                          <a:cs typeface="Times New Roman"/>
                          <a:sym typeface="Times New Roman"/>
                        </a:rPr>
                        <a:t>Nacouzi</a:t>
                      </a:r>
                      <a:r>
                        <a:rPr lang="en-US" sz="1100" b="0" dirty="0">
                          <a:solidFill>
                            <a:srgbClr val="000000"/>
                          </a:solidFill>
                          <a:latin typeface="Times New Roman"/>
                          <a:ea typeface="Times New Roman"/>
                          <a:cs typeface="Times New Roman"/>
                          <a:sym typeface="Times New Roman"/>
                        </a:rPr>
                        <a:t>, G., Hagen, J., Tran, J., Zhang, L. A., Herron, M., Lynch, C., Eisman, M., &amp; Barton, C. (2023). The resilience assessment framework: Assessing commercial contributions to U.S. Space Force mission resilience (RR-A980-1). RAND Corporation. https://doi.org/10.7249/RRA980-1 https://www.rand.org/content/dam/rand/pubs/research_reports/RRA900/RRA980-1/RAND_RRA980-1.pdf</a:t>
                      </a:r>
                      <a:endParaRPr sz="2800" dirty="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Resilience assessment and degraded-performance comparison.</a:t>
                      </a:r>
                      <a:endParaRPr sz="2800"/>
                    </a:p>
                  </a:txBody>
                  <a:tcPr marL="68575" marR="68575" marT="36575" marB="22850" anchor="ctr">
                    <a:solidFill>
                      <a:srgbClr val="FFFFFF"/>
                    </a:solidFill>
                  </a:tcPr>
                </a:tc>
                <a:extLst>
                  <a:ext uri="{0D108BD9-81ED-4DB2-BD59-A6C34878D82A}">
                    <a16:rowId xmlns:a16="http://schemas.microsoft.com/office/drawing/2014/main" val="10001"/>
                  </a:ext>
                </a:extLst>
              </a:tr>
              <a:tr h="68580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dirty="0">
                          <a:solidFill>
                            <a:srgbClr val="000000"/>
                          </a:solidFill>
                          <a:latin typeface="Times New Roman"/>
                          <a:ea typeface="Times New Roman"/>
                          <a:cs typeface="Times New Roman"/>
                          <a:sym typeface="Times New Roman"/>
                        </a:rPr>
                        <a:t>National Aeronautics and Space Administration. (2013). Space Communications and Navigation (</a:t>
                      </a:r>
                      <a:r>
                        <a:rPr lang="en-US" sz="1100" b="0" dirty="0" err="1">
                          <a:solidFill>
                            <a:srgbClr val="000000"/>
                          </a:solidFill>
                          <a:latin typeface="Times New Roman"/>
                          <a:ea typeface="Times New Roman"/>
                          <a:cs typeface="Times New Roman"/>
                          <a:sym typeface="Times New Roman"/>
                        </a:rPr>
                        <a:t>SCaN</a:t>
                      </a:r>
                      <a:r>
                        <a:rPr lang="en-US" sz="1100" b="0" dirty="0">
                          <a:solidFill>
                            <a:srgbClr val="000000"/>
                          </a:solidFill>
                          <a:latin typeface="Times New Roman"/>
                          <a:ea typeface="Times New Roman"/>
                          <a:cs typeface="Times New Roman"/>
                          <a:sym typeface="Times New Roman"/>
                        </a:rPr>
                        <a:t>) Network Architecture Definition Document (ADD) Executive Summary, Volume 1, Revision 4. NASA. (https://www.nasa.gov/wp-content/uploads/2023/09/scan-add-vol1rev4.pdf)</a:t>
                      </a:r>
                      <a:endParaRPr sz="2800" dirty="0"/>
                    </a:p>
                  </a:txBody>
                  <a:tcPr marL="68575" marR="68575" marT="36575" marB="22850" anchor="ctr">
                    <a:solidFill>
                      <a:srgbClr val="F6F8FA"/>
                    </a:solidFill>
                  </a:tcPr>
                </a:tc>
                <a:tc>
                  <a:txBody>
                    <a:bodyPr/>
                    <a:lstStyle/>
                    <a:p>
                      <a:pPr marL="0" marR="0" lvl="0" indent="0" algn="l" rtl="0">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Ground-station and relay-network architecture; not live performance data.</a:t>
                      </a:r>
                      <a:endParaRPr sz="2800"/>
                    </a:p>
                  </a:txBody>
                  <a:tcPr marL="68575" marR="68575" marT="36575" marB="22850" anchor="ctr">
                    <a:solidFill>
                      <a:srgbClr val="F6F8FA"/>
                    </a:solidFill>
                  </a:tcPr>
                </a:tc>
                <a:extLst>
                  <a:ext uri="{0D108BD9-81ED-4DB2-BD59-A6C34878D82A}">
                    <a16:rowId xmlns:a16="http://schemas.microsoft.com/office/drawing/2014/main" val="10002"/>
                  </a:ext>
                </a:extLst>
              </a:tr>
              <a:tr h="585225">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Kodheli, O., Lagunas, E., Maturo, N., et al. (2021). Satellite communications in the new space era: A survey and future challenges. IEEE Communications Surveys &amp; Tutorials, 23, 70–109. https://ieeexplore.ieee.org/document/9210567</a:t>
                      </a:r>
                      <a:endParaRPr sz="280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Satellite communications survey and onboard-processing context.</a:t>
                      </a:r>
                      <a:endParaRPr sz="2800"/>
                    </a:p>
                  </a:txBody>
                  <a:tcPr marL="68575" marR="68575" marT="36575" marB="22850" anchor="ctr">
                    <a:solidFill>
                      <a:srgbClr val="FFFFFF"/>
                    </a:solidFill>
                  </a:tcPr>
                </a:tc>
                <a:extLst>
                  <a:ext uri="{0D108BD9-81ED-4DB2-BD59-A6C34878D82A}">
                    <a16:rowId xmlns:a16="http://schemas.microsoft.com/office/drawing/2014/main" val="10003"/>
                  </a:ext>
                </a:extLst>
              </a:tr>
              <a:tr h="47550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CelesTrak. (n.d.). NORAD GP element sets: Current data. https://celestrak.org/NORAD/elements/?</a:t>
                      </a:r>
                      <a:endParaRPr sz="2800"/>
                    </a:p>
                  </a:txBody>
                  <a:tcPr marL="68575" marR="68575" marT="36575" marB="22850" anchor="ctr">
                    <a:solidFill>
                      <a:srgbClr val="F6F8FA"/>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a:solidFill>
                            <a:srgbClr val="000000"/>
                          </a:solidFill>
                          <a:latin typeface="Times New Roman"/>
                          <a:ea typeface="Times New Roman"/>
                          <a:cs typeface="Times New Roman"/>
                          <a:sym typeface="Times New Roman"/>
                        </a:rPr>
                        <a:t>Orbital elements for visibility/access assumptions.</a:t>
                      </a:r>
                      <a:endParaRPr sz="2800"/>
                    </a:p>
                  </a:txBody>
                  <a:tcPr marL="68575" marR="68575" marT="36575" marB="22850" anchor="ctr">
                    <a:solidFill>
                      <a:srgbClr val="F6F8FA"/>
                    </a:solidFill>
                  </a:tcPr>
                </a:tc>
                <a:extLst>
                  <a:ext uri="{0D108BD9-81ED-4DB2-BD59-A6C34878D82A}">
                    <a16:rowId xmlns:a16="http://schemas.microsoft.com/office/drawing/2014/main" val="10004"/>
                  </a:ext>
                </a:extLst>
              </a:tr>
              <a:tr h="594350">
                <a:tc>
                  <a:txBody>
                    <a:bodyPr/>
                    <a:lstStyle/>
                    <a:p>
                      <a:pPr marL="0" marR="0" lvl="0" indent="0" algn="l" rtl="0">
                        <a:lnSpc>
                          <a:spcPct val="103000"/>
                        </a:lnSpc>
                        <a:spcBef>
                          <a:spcPts val="0"/>
                        </a:spcBef>
                        <a:spcAft>
                          <a:spcPts val="0"/>
                        </a:spcAft>
                        <a:buClr>
                          <a:srgbClr val="000000"/>
                        </a:buClr>
                        <a:buSzPts val="680"/>
                        <a:buFont typeface="Times New Roman"/>
                        <a:buNone/>
                      </a:pPr>
                      <a:r>
                        <a:rPr lang="en-US" sz="1100" b="0">
                          <a:solidFill>
                            <a:srgbClr val="000000"/>
                          </a:solidFill>
                          <a:latin typeface="Times New Roman"/>
                          <a:ea typeface="Times New Roman"/>
                          <a:cs typeface="Times New Roman"/>
                          <a:sym typeface="Times New Roman"/>
                        </a:rPr>
                        <a:t>National Oceanic and Atmospheric Administration, Space Weather Prediction Center. (n.d.). Planetary K-index. https://www.spaceweather.gov/products/planetary-k-index?</a:t>
                      </a:r>
                      <a:endParaRPr sz="2800"/>
                    </a:p>
                  </a:txBody>
                  <a:tcPr marL="68575" marR="68575" marT="36575" marB="22850" anchor="ctr">
                    <a:solidFill>
                      <a:srgbClr val="FFFFFF"/>
                    </a:solidFill>
                  </a:tcPr>
                </a:tc>
                <a:tc>
                  <a:txBody>
                    <a:bodyPr/>
                    <a:lstStyle/>
                    <a:p>
                      <a:pPr marL="0" marR="0" lvl="0" indent="0" algn="l" rtl="0">
                        <a:lnSpc>
                          <a:spcPct val="103000"/>
                        </a:lnSpc>
                        <a:spcBef>
                          <a:spcPts val="0"/>
                        </a:spcBef>
                        <a:spcAft>
                          <a:spcPts val="0"/>
                        </a:spcAft>
                        <a:buClr>
                          <a:srgbClr val="000000"/>
                        </a:buClr>
                        <a:buSzPts val="730"/>
                        <a:buFont typeface="Times New Roman"/>
                        <a:buNone/>
                      </a:pPr>
                      <a:r>
                        <a:rPr lang="en-US" sz="1100" b="0" dirty="0">
                          <a:solidFill>
                            <a:srgbClr val="000000"/>
                          </a:solidFill>
                          <a:latin typeface="Times New Roman"/>
                          <a:ea typeface="Times New Roman"/>
                          <a:cs typeface="Times New Roman"/>
                          <a:sym typeface="Times New Roman"/>
                        </a:rPr>
                        <a:t>Environmental proxy for degradation scenarios; not direct latency.</a:t>
                      </a:r>
                      <a:endParaRPr sz="2800" dirty="0"/>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TextBox 202"/>
          <p:cNvSpPr txBox="1"/>
          <p:nvPr/>
        </p:nvSpPr>
        <p:spPr>
          <a:xfrm>
            <a:off x="502920" y="246888"/>
            <a:ext cx="10607040" cy="411480"/>
          </a:xfrm>
          <a:prstGeom prst="rect">
            <a:avLst/>
          </a:prstGeom>
          <a:noFill/>
        </p:spPr>
        <p:txBody>
          <a:bodyPr wrap="none" lIns="27432" tIns="18288" rIns="27432" bIns="18288">
            <a:spAutoFit/>
          </a:bodyPr>
          <a:lstStyle/>
          <a:p>
            <a:pPr>
              <a:defRPr sz="2200" b="1">
                <a:solidFill>
                  <a:srgbClr val="2C3137"/>
                </a:solidFill>
                <a:latin typeface="Arial"/>
              </a:defRPr>
            </a:pPr>
            <a:r>
              <a:t>Data Sources — Current Simultaneity Stack and Supporting Candidates</a:t>
            </a:r>
          </a:p>
        </p:txBody>
      </p:sp>
      <p:sp>
        <p:nvSpPr>
          <p:cNvPr id="204" name="TextBox 203"/>
          <p:cNvSpPr txBox="1"/>
          <p:nvPr/>
        </p:nvSpPr>
        <p:spPr>
          <a:xfrm>
            <a:off x="530352" y="749808"/>
            <a:ext cx="10332720" cy="411480"/>
          </a:xfrm>
          <a:prstGeom prst="rect">
            <a:avLst/>
          </a:prstGeom>
          <a:noFill/>
        </p:spPr>
        <p:txBody>
          <a:bodyPr wrap="none" lIns="27432" tIns="18288" rIns="27432" bIns="18288">
            <a:spAutoFit/>
          </a:bodyPr>
          <a:lstStyle/>
          <a:p>
            <a:pPr>
              <a:defRPr sz="1050" b="0">
                <a:solidFill>
                  <a:srgbClr val="414141"/>
                </a:solidFill>
                <a:latin typeface="Arial"/>
              </a:defRPr>
            </a:pPr>
            <a:r>
              <a:t>ASOT event window: 28 Jan. 2022, 17:42–17:55 UTC. The first three sources are the simultaneous baseline; the last two remain supporting / foreign context candidates.</a:t>
            </a:r>
          </a:p>
        </p:txBody>
      </p:sp>
      <p:graphicFrame>
        <p:nvGraphicFramePr>
          <p:cNvPr id="205" name="Table 204"/>
          <p:cNvGraphicFramePr>
            <a:graphicFrameLocks noGrp="1"/>
          </p:cNvGraphicFramePr>
          <p:nvPr/>
        </p:nvGraphicFramePr>
        <p:xfrm>
          <a:off x="502920" y="1234440"/>
          <a:ext cx="11064240" cy="4160520"/>
        </p:xfrm>
        <a:graphic>
          <a:graphicData uri="http://schemas.openxmlformats.org/drawingml/2006/table">
            <a:tbl>
              <a:tblPr firstRow="1" bandRow="1">
                <a:tableStyleId>{5C22544A-7EE6-4342-B048-85BDC9FD1C3A}</a:tableStyleId>
              </a:tblPr>
              <a:tblGrid>
                <a:gridCol w="105156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788920">
                  <a:extLst>
                    <a:ext uri="{9D8B030D-6E8A-4147-A177-3AD203B41FA5}">
                      <a16:colId xmlns:a16="http://schemas.microsoft.com/office/drawing/2014/main" val="20004"/>
                    </a:ext>
                  </a:extLst>
                </a:gridCol>
              </a:tblGrid>
              <a:tr h="693420">
                <a:tc>
                  <a:txBody>
                    <a:bodyPr/>
                    <a:lstStyle/>
                    <a:p>
                      <a:pPr algn="ctr">
                        <a:defRPr sz="850" b="1">
                          <a:solidFill>
                            <a:srgbClr val="FFFFFF"/>
                          </a:solidFill>
                          <a:latin typeface="Arial"/>
                        </a:defRPr>
                      </a:pPr>
                      <a:r>
                        <a:t>ACE role</a:t>
                      </a:r>
                    </a:p>
                  </a:txBody>
                  <a:tcPr>
                    <a:solidFill>
                      <a:srgbClr val="1F4E79"/>
                    </a:solidFill>
                  </a:tcPr>
                </a:tc>
                <a:tc>
                  <a:txBody>
                    <a:bodyPr/>
                    <a:lstStyle/>
                    <a:p>
                      <a:pPr algn="ctr">
                        <a:defRPr sz="850" b="1">
                          <a:solidFill>
                            <a:srgbClr val="FFFFFF"/>
                          </a:solidFill>
                          <a:latin typeface="Arial"/>
                        </a:defRPr>
                      </a:pPr>
                      <a:r>
                        <a:t>Source / owner</a:t>
                      </a:r>
                    </a:p>
                  </a:txBody>
                  <a:tcPr>
                    <a:solidFill>
                      <a:srgbClr val="1F4E79"/>
                    </a:solidFill>
                  </a:tcPr>
                </a:tc>
                <a:tc>
                  <a:txBody>
                    <a:bodyPr/>
                    <a:lstStyle/>
                    <a:p>
                      <a:pPr algn="ctr">
                        <a:defRPr sz="850" b="1">
                          <a:solidFill>
                            <a:srgbClr val="FFFFFF"/>
                          </a:solidFill>
                          <a:latin typeface="Arial"/>
                        </a:defRPr>
                      </a:pPr>
                      <a:r>
                        <a:t>Status</a:t>
                      </a:r>
                    </a:p>
                  </a:txBody>
                  <a:tcPr>
                    <a:solidFill>
                      <a:srgbClr val="1F4E79"/>
                    </a:solidFill>
                  </a:tcPr>
                </a:tc>
                <a:tc>
                  <a:txBody>
                    <a:bodyPr/>
                    <a:lstStyle/>
                    <a:p>
                      <a:pPr algn="ctr">
                        <a:defRPr sz="850" b="1">
                          <a:solidFill>
                            <a:srgbClr val="FFFFFF"/>
                          </a:solidFill>
                          <a:latin typeface="Arial"/>
                        </a:defRPr>
                      </a:pPr>
                      <a:r>
                        <a:t>Use in workbook</a:t>
                      </a:r>
                    </a:p>
                  </a:txBody>
                  <a:tcPr>
                    <a:solidFill>
                      <a:srgbClr val="1F4E79"/>
                    </a:solidFill>
                  </a:tcPr>
                </a:tc>
                <a:tc>
                  <a:txBody>
                    <a:bodyPr/>
                    <a:lstStyle/>
                    <a:p>
                      <a:pPr algn="ctr">
                        <a:defRPr sz="850" b="1">
                          <a:solidFill>
                            <a:srgbClr val="FFFFFF"/>
                          </a:solidFill>
                          <a:latin typeface="Arial"/>
                        </a:defRPr>
                      </a:pPr>
                      <a:r>
                        <a:t>Boundary / note</a:t>
                      </a:r>
                    </a:p>
                  </a:txBody>
                  <a:tcPr>
                    <a:solidFill>
                      <a:srgbClr val="1F4E79"/>
                    </a:solidFill>
                  </a:tcPr>
                </a:tc>
                <a:extLst>
                  <a:ext uri="{0D108BD9-81ED-4DB2-BD59-A6C34878D82A}">
                    <a16:rowId xmlns:a16="http://schemas.microsoft.com/office/drawing/2014/main" val="10000"/>
                  </a:ext>
                </a:extLst>
              </a:tr>
              <a:tr h="693420">
                <a:tc>
                  <a:txBody>
                    <a:bodyPr/>
                    <a:lstStyle/>
                    <a:p>
                      <a:pPr algn="l">
                        <a:defRPr sz="800" b="1">
                          <a:solidFill>
                            <a:srgbClr val="000000"/>
                          </a:solidFill>
                          <a:latin typeface="Arial"/>
                        </a:defRPr>
                      </a:pPr>
                      <a:r>
                        <a:t>A — AI/ML</a:t>
                      </a:r>
                    </a:p>
                  </a:txBody>
                  <a:tcPr>
                    <a:solidFill>
                      <a:srgbClr val="CAE4F4"/>
                    </a:solidFill>
                  </a:tcPr>
                </a:tc>
                <a:tc>
                  <a:txBody>
                    <a:bodyPr/>
                    <a:lstStyle/>
                    <a:p>
                      <a:pPr algn="l">
                        <a:defRPr sz="760" b="0">
                          <a:solidFill>
                            <a:srgbClr val="000000"/>
                          </a:solidFill>
                          <a:latin typeface="Arial"/>
                        </a:defRPr>
                      </a:pPr>
                      <a:r>
                        <a:t>OPSSAT-AD v2</a:t>
                      </a:r>
                    </a:p>
                    <a:p>
                      <a:pPr algn="l">
                        <a:defRPr sz="760" b="0">
                          <a:solidFill>
                            <a:srgbClr val="000000"/>
                          </a:solidFill>
                          <a:latin typeface="Arial"/>
                        </a:defRPr>
                      </a:pPr>
                      <a:r>
                        <a:t>(dataset.csv + segments.csv)</a:t>
                      </a:r>
                    </a:p>
                  </a:txBody>
                  <a:tcPr>
                    <a:solidFill>
                      <a:srgbClr val="FFFFFF"/>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Direct OPS-SAT</a:t>
                      </a:r>
                    </a:p>
                  </a:txBody>
                  <a:tcPr>
                    <a:solidFill>
                      <a:srgbClr val="FFFFFF"/>
                    </a:solidFill>
                  </a:tcPr>
                </a:tc>
                <a:tc>
                  <a:txBody>
                    <a:bodyPr/>
                    <a:lstStyle/>
                    <a:p>
                      <a:pPr algn="l">
                        <a:defRPr sz="800" b="0">
                          <a:solidFill>
                            <a:srgbClr val="000000"/>
                          </a:solidFill>
                          <a:latin typeface="Arial"/>
                        </a:defRPr>
                      </a:pPr>
                      <a:r>
                        <a:t>Telemetry / task leg; establishes observation and AI/ML workload timing.</a:t>
                      </a:r>
                    </a:p>
                  </a:txBody>
                  <a:tcPr>
                    <a:solidFill>
                      <a:srgbClr val="FFFFFF"/>
                    </a:solidFill>
                  </a:tcPr>
                </a:tc>
                <a:tc>
                  <a:txBody>
                    <a:bodyPr/>
                    <a:lstStyle/>
                    <a:p>
                      <a:pPr algn="l">
                        <a:defRPr sz="800" b="0">
                          <a:solidFill>
                            <a:srgbClr val="000000"/>
                          </a:solidFill>
                          <a:latin typeface="Arial"/>
                        </a:defRPr>
                      </a:pPr>
                      <a:r>
                        <a:t>Same OPS-SAT event window; bounded to accepted cohort.</a:t>
                      </a:r>
                    </a:p>
                  </a:txBody>
                  <a:tcPr>
                    <a:solidFill>
                      <a:srgbClr val="FFFFFF"/>
                    </a:solidFill>
                  </a:tcPr>
                </a:tc>
                <a:extLst>
                  <a:ext uri="{0D108BD9-81ED-4DB2-BD59-A6C34878D82A}">
                    <a16:rowId xmlns:a16="http://schemas.microsoft.com/office/drawing/2014/main" val="10001"/>
                  </a:ext>
                </a:extLst>
              </a:tr>
              <a:tr h="693420">
                <a:tc>
                  <a:txBody>
                    <a:bodyPr/>
                    <a:lstStyle/>
                    <a:p>
                      <a:pPr algn="l">
                        <a:defRPr sz="800" b="1">
                          <a:solidFill>
                            <a:srgbClr val="000000"/>
                          </a:solidFill>
                          <a:latin typeface="Arial"/>
                        </a:defRPr>
                      </a:pPr>
                      <a:r>
                        <a:t>C — Comms</a:t>
                      </a:r>
                    </a:p>
                  </a:txBody>
                  <a:tcPr>
                    <a:solidFill>
                      <a:srgbClr val="E2EFDA"/>
                    </a:solidFill>
                  </a:tcPr>
                </a:tc>
                <a:tc>
                  <a:txBody>
                    <a:bodyPr/>
                    <a:lstStyle/>
                    <a:p>
                      <a:pPr algn="l">
                        <a:defRPr sz="760" b="0">
                          <a:solidFill>
                            <a:srgbClr val="000000"/>
                          </a:solidFill>
                          <a:latin typeface="Arial"/>
                        </a:defRPr>
                      </a:pPr>
                      <a:r>
                        <a:t>SatNOGS OPS-SAT telemetry</a:t>
                      </a:r>
                    </a:p>
                    <a:p>
                      <a:pPr algn="l">
                        <a:defRPr sz="760" b="0">
                          <a:solidFill>
                            <a:srgbClr val="000000"/>
                          </a:solidFill>
                          <a:latin typeface="Arial"/>
                        </a:defRPr>
                      </a:pPr>
                      <a:r>
                        <a:t>OPS-SAT / NORAD 44878</a:t>
                      </a:r>
                    </a:p>
                  </a:txBody>
                  <a:tcPr>
                    <a:solidFill>
                      <a:srgbClr val="F8F8F8"/>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Direct OPS-SAT</a:t>
                      </a:r>
                    </a:p>
                  </a:txBody>
                  <a:tcPr>
                    <a:solidFill>
                      <a:srgbClr val="F8F8F8"/>
                    </a:solidFill>
                  </a:tcPr>
                </a:tc>
                <a:tc>
                  <a:txBody>
                    <a:bodyPr/>
                    <a:lstStyle/>
                    <a:p>
                      <a:pPr algn="l">
                        <a:defRPr sz="800" b="0">
                          <a:solidFill>
                            <a:srgbClr val="000000"/>
                          </a:solidFill>
                          <a:latin typeface="Arial"/>
                        </a:defRPr>
                      </a:pPr>
                      <a:r>
                        <a:t>Communications leg; reception / decoded telemetry and accepted link associations.</a:t>
                      </a:r>
                    </a:p>
                  </a:txBody>
                  <a:tcPr>
                    <a:solidFill>
                      <a:srgbClr val="F8F8F8"/>
                    </a:solidFill>
                  </a:tcPr>
                </a:tc>
                <a:tc>
                  <a:txBody>
                    <a:bodyPr/>
                    <a:lstStyle/>
                    <a:p>
                      <a:pPr algn="l">
                        <a:defRPr sz="800" b="0">
                          <a:solidFill>
                            <a:srgbClr val="000000"/>
                          </a:solidFill>
                          <a:latin typeface="Arial"/>
                        </a:defRPr>
                      </a:pPr>
                      <a:r>
                        <a:t>Same spacecraft; not treated as full network-performance truth.</a:t>
                      </a:r>
                    </a:p>
                  </a:txBody>
                  <a:tcPr>
                    <a:solidFill>
                      <a:srgbClr val="F8F8F8"/>
                    </a:solidFill>
                  </a:tcPr>
                </a:tc>
                <a:extLst>
                  <a:ext uri="{0D108BD9-81ED-4DB2-BD59-A6C34878D82A}">
                    <a16:rowId xmlns:a16="http://schemas.microsoft.com/office/drawing/2014/main" val="10002"/>
                  </a:ext>
                </a:extLst>
              </a:tr>
              <a:tr h="693420">
                <a:tc>
                  <a:txBody>
                    <a:bodyPr/>
                    <a:lstStyle/>
                    <a:p>
                      <a:pPr algn="l">
                        <a:defRPr sz="800" b="1">
                          <a:solidFill>
                            <a:srgbClr val="000000"/>
                          </a:solidFill>
                          <a:latin typeface="Arial"/>
                        </a:defRPr>
                      </a:pPr>
                      <a:r>
                        <a:t>E — Environmental</a:t>
                      </a:r>
                    </a:p>
                  </a:txBody>
                  <a:tcPr>
                    <a:solidFill>
                      <a:srgbClr val="EDE1F6"/>
                    </a:solidFill>
                  </a:tcPr>
                </a:tc>
                <a:tc>
                  <a:txBody>
                    <a:bodyPr/>
                    <a:lstStyle/>
                    <a:p>
                      <a:pPr algn="l">
                        <a:defRPr sz="760" b="0">
                          <a:solidFill>
                            <a:srgbClr val="000000"/>
                          </a:solidFill>
                          <a:latin typeface="Arial"/>
                        </a:defRPr>
                      </a:pPr>
                      <a:r>
                        <a:t>NASA OMNI 1-minute</a:t>
                      </a:r>
                    </a:p>
                    <a:p>
                      <a:pPr algn="l">
                        <a:defRPr sz="760" b="0">
                          <a:solidFill>
                            <a:srgbClr val="000000"/>
                          </a:solidFill>
                          <a:latin typeface="Arial"/>
                        </a:defRPr>
                      </a:pPr>
                      <a:r>
                        <a:t>High-res space environment</a:t>
                      </a:r>
                    </a:p>
                  </a:txBody>
                  <a:tcPr>
                    <a:solidFill>
                      <a:srgbClr val="FFFFFF"/>
                    </a:solidFill>
                  </a:tcPr>
                </a:tc>
                <a:tc>
                  <a:txBody>
                    <a:bodyPr/>
                    <a:lstStyle/>
                    <a:p>
                      <a:pPr algn="l">
                        <a:defRPr sz="800" b="0">
                          <a:solidFill>
                            <a:srgbClr val="000000"/>
                          </a:solidFill>
                          <a:latin typeface="Arial"/>
                        </a:defRPr>
                      </a:pPr>
                      <a:r>
                        <a:t>SIMULTANEOUS</a:t>
                      </a:r>
                    </a:p>
                    <a:p>
                      <a:pPr algn="l">
                        <a:defRPr sz="800" b="0">
                          <a:solidFill>
                            <a:srgbClr val="000000"/>
                          </a:solidFill>
                          <a:latin typeface="Arial"/>
                        </a:defRPr>
                      </a:pPr>
                      <a:r>
                        <a:t>Context window</a:t>
                      </a:r>
                    </a:p>
                  </a:txBody>
                  <a:tcPr>
                    <a:solidFill>
                      <a:srgbClr val="FFFFFF"/>
                    </a:solidFill>
                  </a:tcPr>
                </a:tc>
                <a:tc>
                  <a:txBody>
                    <a:bodyPr/>
                    <a:lstStyle/>
                    <a:p>
                      <a:pPr algn="l">
                        <a:defRPr sz="800" b="0">
                          <a:solidFill>
                            <a:srgbClr val="000000"/>
                          </a:solidFill>
                          <a:latin typeface="Arial"/>
                        </a:defRPr>
                      </a:pPr>
                      <a:r>
                        <a:t>Environmental context for the same UTC interval.</a:t>
                      </a:r>
                    </a:p>
                  </a:txBody>
                  <a:tcPr>
                    <a:solidFill>
                      <a:srgbClr val="FFFFFF"/>
                    </a:solidFill>
                  </a:tcPr>
                </a:tc>
                <a:tc>
                  <a:txBody>
                    <a:bodyPr/>
                    <a:lstStyle/>
                    <a:p>
                      <a:pPr algn="l">
                        <a:defRPr sz="800" b="0">
                          <a:solidFill>
                            <a:srgbClr val="000000"/>
                          </a:solidFill>
                          <a:latin typeface="Arial"/>
                        </a:defRPr>
                      </a:pPr>
                      <a:r>
                        <a:t>Not OPS-SAT telemetry; association/context, not automatic causation.</a:t>
                      </a:r>
                    </a:p>
                  </a:txBody>
                  <a:tcPr>
                    <a:solidFill>
                      <a:srgbClr val="FFFFFF"/>
                    </a:solidFill>
                  </a:tcPr>
                </a:tc>
                <a:extLst>
                  <a:ext uri="{0D108BD9-81ED-4DB2-BD59-A6C34878D82A}">
                    <a16:rowId xmlns:a16="http://schemas.microsoft.com/office/drawing/2014/main" val="10003"/>
                  </a:ext>
                </a:extLst>
              </a:tr>
              <a:tr h="693420">
                <a:tc>
                  <a:txBody>
                    <a:bodyPr/>
                    <a:lstStyle/>
                    <a:p>
                      <a:pPr algn="l">
                        <a:defRPr sz="800" b="1">
                          <a:solidFill>
                            <a:srgbClr val="000000"/>
                          </a:solidFill>
                          <a:latin typeface="Arial"/>
                        </a:defRPr>
                      </a:pPr>
                      <a:r>
                        <a:t>Support — ENV</a:t>
                      </a:r>
                    </a:p>
                  </a:txBody>
                  <a:tcPr>
                    <a:solidFill>
                      <a:srgbClr val="F2F2F2"/>
                    </a:solidFill>
                  </a:tcPr>
                </a:tc>
                <a:tc>
                  <a:txBody>
                    <a:bodyPr/>
                    <a:lstStyle/>
                    <a:p>
                      <a:pPr algn="l">
                        <a:defRPr sz="760" b="0">
                          <a:solidFill>
                            <a:srgbClr val="000000"/>
                          </a:solidFill>
                          <a:latin typeface="Arial"/>
                        </a:defRPr>
                      </a:pPr>
                      <a:r>
                        <a:t>Antarctica / CINC ionosonde</a:t>
                      </a:r>
                    </a:p>
                    <a:p>
                      <a:pPr algn="l">
                        <a:defRPr sz="760" b="0">
                          <a:solidFill>
                            <a:srgbClr val="000000"/>
                          </a:solidFill>
                          <a:latin typeface="Arial"/>
                        </a:defRPr>
                      </a:pPr>
                      <a:r>
                        <a:t>foreign environmental context</a:t>
                      </a:r>
                    </a:p>
                  </a:txBody>
                  <a:tcPr>
                    <a:solidFill>
                      <a:srgbClr val="F8F8F8"/>
                    </a:solidFill>
                  </a:tcPr>
                </a:tc>
                <a:tc>
                  <a:txBody>
                    <a:bodyPr/>
                    <a:lstStyle/>
                    <a:p>
                      <a:pPr algn="l">
                        <a:defRPr sz="800" b="0">
                          <a:solidFill>
                            <a:srgbClr val="000000"/>
                          </a:solidFill>
                          <a:latin typeface="Arial"/>
                        </a:defRPr>
                      </a:pPr>
                      <a:r>
                        <a:t>SUPPORTING</a:t>
                      </a:r>
                    </a:p>
                    <a:p>
                      <a:pPr algn="l">
                        <a:defRPr sz="800" b="0">
                          <a:solidFill>
                            <a:srgbClr val="000000"/>
                          </a:solidFill>
                          <a:latin typeface="Arial"/>
                        </a:defRPr>
                      </a:pPr>
                      <a:r>
                        <a:t>Non-ASOT</a:t>
                      </a:r>
                    </a:p>
                  </a:txBody>
                  <a:tcPr>
                    <a:solidFill>
                      <a:srgbClr val="F8F8F8"/>
                    </a:solidFill>
                  </a:tcPr>
                </a:tc>
                <a:tc>
                  <a:txBody>
                    <a:bodyPr/>
                    <a:lstStyle/>
                    <a:p>
                      <a:pPr algn="l">
                        <a:defRPr sz="800" b="0">
                          <a:solidFill>
                            <a:srgbClr val="000000"/>
                          </a:solidFill>
                          <a:latin typeface="Arial"/>
                        </a:defRPr>
                      </a:pPr>
                      <a:r>
                        <a:t>Adds environmental/ionospheric precedent and citation support.</a:t>
                      </a:r>
                    </a:p>
                  </a:txBody>
                  <a:tcPr>
                    <a:solidFill>
                      <a:srgbClr val="F8F8F8"/>
                    </a:solidFill>
                  </a:tcPr>
                </a:tc>
                <a:tc>
                  <a:txBody>
                    <a:bodyPr/>
                    <a:lstStyle/>
                    <a:p>
                      <a:pPr algn="l">
                        <a:defRPr sz="800" b="0">
                          <a:solidFill>
                            <a:srgbClr val="000000"/>
                          </a:solidFill>
                          <a:latin typeface="Arial"/>
                        </a:defRPr>
                      </a:pPr>
                      <a:r>
                        <a:t>Not part of current simultaneous OPS-SAT cohort.</a:t>
                      </a:r>
                    </a:p>
                  </a:txBody>
                  <a:tcPr>
                    <a:solidFill>
                      <a:srgbClr val="F8F8F8"/>
                    </a:solidFill>
                  </a:tcPr>
                </a:tc>
                <a:extLst>
                  <a:ext uri="{0D108BD9-81ED-4DB2-BD59-A6C34878D82A}">
                    <a16:rowId xmlns:a16="http://schemas.microsoft.com/office/drawing/2014/main" val="10004"/>
                  </a:ext>
                </a:extLst>
              </a:tr>
              <a:tr h="693420">
                <a:tc>
                  <a:txBody>
                    <a:bodyPr/>
                    <a:lstStyle/>
                    <a:p>
                      <a:pPr algn="l">
                        <a:defRPr sz="800" b="1">
                          <a:solidFill>
                            <a:srgbClr val="000000"/>
                          </a:solidFill>
                          <a:latin typeface="Arial"/>
                        </a:defRPr>
                      </a:pPr>
                      <a:r>
                        <a:t>Support — COMM</a:t>
                      </a:r>
                    </a:p>
                  </a:txBody>
                  <a:tcPr>
                    <a:solidFill>
                      <a:srgbClr val="F2F2F2"/>
                    </a:solidFill>
                  </a:tcPr>
                </a:tc>
                <a:tc>
                  <a:txBody>
                    <a:bodyPr/>
                    <a:lstStyle/>
                    <a:p>
                      <a:pPr algn="l">
                        <a:defRPr sz="760" b="0">
                          <a:solidFill>
                            <a:srgbClr val="000000"/>
                          </a:solidFill>
                          <a:latin typeface="Arial"/>
                        </a:defRPr>
                      </a:pPr>
                      <a:r>
                        <a:t>CAIDA / external network-measurement candidate</a:t>
                      </a:r>
                    </a:p>
                  </a:txBody>
                  <a:tcPr>
                    <a:solidFill>
                      <a:srgbClr val="FFFFFF"/>
                    </a:solidFill>
                  </a:tcPr>
                </a:tc>
                <a:tc>
                  <a:txBody>
                    <a:bodyPr/>
                    <a:lstStyle/>
                    <a:p>
                      <a:pPr algn="l">
                        <a:defRPr sz="800" b="0">
                          <a:solidFill>
                            <a:srgbClr val="000000"/>
                          </a:solidFill>
                          <a:latin typeface="Arial"/>
                        </a:defRPr>
                      </a:pPr>
                      <a:r>
                        <a:t>SUPPORTING</a:t>
                      </a:r>
                    </a:p>
                    <a:p>
                      <a:pPr algn="l">
                        <a:defRPr sz="800" b="0">
                          <a:solidFill>
                            <a:srgbClr val="000000"/>
                          </a:solidFill>
                          <a:latin typeface="Arial"/>
                        </a:defRPr>
                      </a:pPr>
                      <a:r>
                        <a:t>Non-ASOT</a:t>
                      </a:r>
                    </a:p>
                  </a:txBody>
                  <a:tcPr>
                    <a:solidFill>
                      <a:srgbClr val="FFFFFF"/>
                    </a:solidFill>
                  </a:tcPr>
                </a:tc>
                <a:tc>
                  <a:txBody>
                    <a:bodyPr/>
                    <a:lstStyle/>
                    <a:p>
                      <a:pPr algn="l">
                        <a:defRPr sz="800" b="0">
                          <a:solidFill>
                            <a:srgbClr val="000000"/>
                          </a:solidFill>
                          <a:latin typeface="Arial"/>
                        </a:defRPr>
                      </a:pPr>
                      <a:r>
                        <a:t>Supports comms-measurement framing and degradation literature.</a:t>
                      </a:r>
                    </a:p>
                  </a:txBody>
                  <a:tcPr>
                    <a:solidFill>
                      <a:srgbClr val="FFFFFF"/>
                    </a:solidFill>
                  </a:tcPr>
                </a:tc>
                <a:tc>
                  <a:txBody>
                    <a:bodyPr/>
                    <a:lstStyle/>
                    <a:p>
                      <a:pPr algn="l">
                        <a:defRPr sz="800" b="0">
                          <a:solidFill>
                            <a:srgbClr val="000000"/>
                          </a:solidFill>
                          <a:latin typeface="Arial"/>
                        </a:defRPr>
                      </a:pPr>
                      <a:r>
                        <a:t>Keep separate from ASOT unless time-overlap is later verified.</a:t>
                      </a:r>
                    </a:p>
                  </a:txBody>
                  <a:tcPr>
                    <a:solidFill>
                      <a:srgbClr val="FFFFFF"/>
                    </a:solidFill>
                  </a:tcPr>
                </a:tc>
                <a:extLst>
                  <a:ext uri="{0D108BD9-81ED-4DB2-BD59-A6C34878D82A}">
                    <a16:rowId xmlns:a16="http://schemas.microsoft.com/office/drawing/2014/main" val="10005"/>
                  </a:ext>
                </a:extLst>
              </a:tr>
            </a:tbl>
          </a:graphicData>
        </a:graphic>
      </p:graphicFrame>
      <p:sp>
        <p:nvSpPr>
          <p:cNvPr id="206" name="TextBox 205"/>
          <p:cNvSpPr txBox="1"/>
          <p:nvPr/>
        </p:nvSpPr>
        <p:spPr>
          <a:xfrm>
            <a:off x="624840" y="5029200"/>
            <a:ext cx="9694257" cy="319831"/>
          </a:xfrm>
          <a:prstGeom prst="rect">
            <a:avLst/>
          </a:prstGeom>
          <a:noFill/>
        </p:spPr>
        <p:txBody>
          <a:bodyPr wrap="none" lIns="27432" tIns="18288" rIns="27432" bIns="18288">
            <a:spAutoFit/>
          </a:bodyPr>
          <a:lstStyle/>
          <a:p>
            <a:pPr>
              <a:defRPr sz="919" b="1">
                <a:solidFill>
                  <a:srgbClr val="780000"/>
                </a:solidFill>
                <a:latin typeface="Arial"/>
              </a:defRPr>
            </a:pPr>
            <a:r>
              <a:rPr dirty="0">
                <a:highlight>
                  <a:srgbClr val="FFFF00"/>
                </a:highlight>
              </a:rPr>
              <a:t>ASOT = first three simultaneous sources only. Supporting sources strengthen Chapter 2 and scenario logic, but they do not replace the synchronized OPS-SAT ACE cohort.</a:t>
            </a:r>
            <a:endParaRPr lang="en-US" dirty="0">
              <a:highlight>
                <a:srgbClr val="FFFF00"/>
              </a:highlight>
            </a:endParaRPr>
          </a:p>
          <a:p>
            <a:pPr>
              <a:defRPr sz="919" b="1">
                <a:solidFill>
                  <a:srgbClr val="780000"/>
                </a:solidFill>
                <a:latin typeface="Arial"/>
              </a:defRPr>
            </a:pPr>
            <a:r>
              <a:rPr lang="en-US" dirty="0">
                <a:highlight>
                  <a:srgbClr val="FFFF00"/>
                </a:highlight>
              </a:rPr>
              <a:t>The supporting sources established and support the Env/Comm buckets.</a:t>
            </a:r>
            <a:endParaRPr dirty="0">
              <a:highlight>
                <a:srgbClr val="FFFF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4"/>
          <p:cNvSpPr txBox="1">
            <a:spLocks noGrp="1"/>
          </p:cNvSpPr>
          <p:nvPr>
            <p:ph type="title"/>
          </p:nvPr>
        </p:nvSpPr>
        <p:spPr>
          <a:xfrm>
            <a:off x="483495" y="316733"/>
            <a:ext cx="7756263" cy="593766"/>
          </a:xfrm>
          <a:prstGeom prst="rect">
            <a:avLst/>
          </a:prstGeom>
          <a:noFill/>
          <a:ln>
            <a:noFill/>
          </a:ln>
        </p:spPr>
        <p:txBody>
          <a:bodyPr spcFirstLastPara="1" wrap="square" lIns="91425" tIns="45700" rIns="91425" bIns="45700" anchor="t" anchorCtr="0">
            <a:normAutofit fontScale="90000"/>
          </a:bodyPr>
          <a:lstStyle/>
          <a:p>
            <a:pPr marL="0" lvl="0" indent="0" algn="l" rtl="0">
              <a:spcBef>
                <a:spcPts val="0"/>
              </a:spcBef>
              <a:spcAft>
                <a:spcPts val="0"/>
              </a:spcAft>
              <a:buClr>
                <a:srgbClr val="3F3F3F"/>
              </a:buClr>
              <a:buSzPct val="100000"/>
              <a:buFont typeface="Arial"/>
              <a:buNone/>
            </a:pPr>
            <a:r>
              <a:rPr lang="en-US" sz="3600"/>
              <a:t>Summary of Methodology</a:t>
            </a:r>
            <a:endParaRPr/>
          </a:p>
        </p:txBody>
      </p:sp>
      <p:sp>
        <p:nvSpPr>
          <p:cNvPr id="214" name="Google Shape;214;p34"/>
          <p:cNvSpPr/>
          <p:nvPr/>
        </p:nvSpPr>
        <p:spPr>
          <a:xfrm>
            <a:off x="585216" y="1051560"/>
            <a:ext cx="10991088" cy="169726"/>
          </a:xfrm>
          <a:prstGeom prst="rect">
            <a:avLst/>
          </a:prstGeom>
          <a:solidFill>
            <a:srgbClr val="E7EEF3"/>
          </a:solidFill>
          <a:ln>
            <a:noFill/>
          </a:ln>
        </p:spPr>
        <p:txBody>
          <a:bodyPr spcFirstLastPara="1" wrap="square" lIns="13700" tIns="9125" rIns="13700" bIns="9125" anchor="t" anchorCtr="0">
            <a:noAutofit/>
          </a:bodyPr>
          <a:lstStyle/>
          <a:p>
            <a:pPr marL="0" marR="0" lvl="0" indent="0" algn="l" rtl="0">
              <a:lnSpc>
                <a:spcPct val="105000"/>
              </a:lnSpc>
              <a:spcBef>
                <a:spcPts val="0"/>
              </a:spcBef>
              <a:spcAft>
                <a:spcPts val="0"/>
              </a:spcAft>
              <a:buClr>
                <a:srgbClr val="000000"/>
              </a:buClr>
              <a:buSzPts val="1000"/>
              <a:buFont typeface="Times New Roman"/>
              <a:buNone/>
            </a:pPr>
            <a:r>
              <a:rPr lang="en-US" sz="1000" b="1" dirty="0">
                <a:solidFill>
                  <a:srgbClr val="000000"/>
                </a:solidFill>
                <a:latin typeface="Times New Roman"/>
                <a:ea typeface="Times New Roman"/>
                <a:cs typeface="Times New Roman"/>
                <a:sym typeface="Times New Roman"/>
              </a:rPr>
              <a:t>DES — WORKING SELECTION </a:t>
            </a:r>
            <a:endParaRPr dirty="0"/>
          </a:p>
        </p:txBody>
      </p:sp>
      <p:graphicFrame>
        <p:nvGraphicFramePr>
          <p:cNvPr id="215" name="Google Shape;215;p34"/>
          <p:cNvGraphicFramePr/>
          <p:nvPr>
            <p:extLst>
              <p:ext uri="{D42A27DB-BD31-4B8C-83A1-F6EECF244321}">
                <p14:modId xmlns:p14="http://schemas.microsoft.com/office/powerpoint/2010/main" val="2227060357"/>
              </p:ext>
            </p:extLst>
          </p:nvPr>
        </p:nvGraphicFramePr>
        <p:xfrm>
          <a:off x="585216" y="1463040"/>
          <a:ext cx="10991075" cy="3639325"/>
        </p:xfrm>
        <a:graphic>
          <a:graphicData uri="http://schemas.openxmlformats.org/drawingml/2006/table">
            <a:tbl>
              <a:tblPr firstRow="1" bandRow="1">
                <a:noFill/>
                <a:tableStyleId>{3C1EB017-BC45-4DEE-9ABB-B4D90C79D28D}</a:tableStyleId>
              </a:tblPr>
              <a:tblGrid>
                <a:gridCol w="2011675">
                  <a:extLst>
                    <a:ext uri="{9D8B030D-6E8A-4147-A177-3AD203B41FA5}">
                      <a16:colId xmlns:a16="http://schemas.microsoft.com/office/drawing/2014/main" val="20000"/>
                    </a:ext>
                  </a:extLst>
                </a:gridCol>
                <a:gridCol w="8979400">
                  <a:extLst>
                    <a:ext uri="{9D8B030D-6E8A-4147-A177-3AD203B41FA5}">
                      <a16:colId xmlns:a16="http://schemas.microsoft.com/office/drawing/2014/main" val="20001"/>
                    </a:ext>
                  </a:extLst>
                </a:gridCol>
              </a:tblGrid>
              <a:tr h="320050">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a:solidFill>
                            <a:srgbClr val="000000"/>
                          </a:solidFill>
                          <a:latin typeface="Times New Roman"/>
                          <a:ea typeface="Times New Roman"/>
                          <a:cs typeface="Times New Roman"/>
                          <a:sym typeface="Times New Roman"/>
                        </a:rPr>
                        <a:t>Element</a:t>
                      </a:r>
                      <a:endParaRPr/>
                    </a:p>
                  </a:txBody>
                  <a:tcPr marL="68575" marR="68575" marT="36575" marB="22850" anchor="ctr">
                    <a:solidFill>
                      <a:srgbClr val="E7EEF3"/>
                    </a:solidFill>
                  </a:tcPr>
                </a:tc>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100" b="1">
                          <a:solidFill>
                            <a:srgbClr val="000000"/>
                          </a:solidFill>
                          <a:latin typeface="Times New Roman"/>
                          <a:ea typeface="Times New Roman"/>
                          <a:cs typeface="Times New Roman"/>
                          <a:sym typeface="Times New Roman"/>
                        </a:rPr>
                        <a:t>Working design / source-derived content</a:t>
                      </a:r>
                      <a:endParaRPr/>
                    </a:p>
                  </a:txBody>
                  <a:tcPr marL="68575" marR="68575" marT="36575" marB="22850" anchor="ctr">
                    <a:solidFill>
                      <a:srgbClr val="E7EEF3"/>
                    </a:solidFill>
                  </a:tcPr>
                </a:tc>
                <a:extLst>
                  <a:ext uri="{0D108BD9-81ED-4DB2-BD59-A6C34878D82A}">
                    <a16:rowId xmlns:a16="http://schemas.microsoft.com/office/drawing/2014/main" val="10000"/>
                  </a:ext>
                </a:extLst>
              </a:tr>
              <a:tr h="63092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a:solidFill>
                            <a:srgbClr val="000000"/>
                          </a:solidFill>
                          <a:latin typeface="Times New Roman"/>
                          <a:ea typeface="Times New Roman"/>
                          <a:cs typeface="Times New Roman"/>
                          <a:sym typeface="Times New Roman"/>
                        </a:rPr>
                        <a:t>Method</a:t>
                      </a:r>
                      <a:endParaRPr sz="1200" b="1"/>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a:solidFill>
                            <a:srgbClr val="000000"/>
                          </a:solidFill>
                          <a:latin typeface="Times New Roman"/>
                          <a:ea typeface="Times New Roman"/>
                          <a:cs typeface="Times New Roman"/>
                          <a:sym typeface="Times New Roman"/>
                        </a:rPr>
                        <a:t>Follow individual observations, disruptions, routing, processing, responses and recovery in event order.</a:t>
                      </a:r>
                      <a:endParaRPr sz="3200" b="1">
                        <a:solidFill>
                          <a:srgbClr val="000000"/>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Calibri"/>
                        <a:buNone/>
                      </a:pPr>
                      <a:r>
                        <a:rPr lang="en-US" sz="1400"/>
                        <a:t>Compare ground-centric and orbital-edge paths under matched degradation.</a:t>
                      </a:r>
                      <a:endParaRPr/>
                    </a:p>
                  </a:txBody>
                  <a:tcPr marL="68575" marR="68575" marT="36575" marB="22850" anchor="ctr">
                    <a:solidFill>
                      <a:srgbClr val="FFFFFF"/>
                    </a:solidFill>
                  </a:tcPr>
                </a:tc>
                <a:extLst>
                  <a:ext uri="{0D108BD9-81ED-4DB2-BD59-A6C34878D82A}">
                    <a16:rowId xmlns:a16="http://schemas.microsoft.com/office/drawing/2014/main" val="10001"/>
                  </a:ext>
                </a:extLst>
              </a:tr>
              <a:tr h="71322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dirty="0">
                          <a:solidFill>
                            <a:srgbClr val="000000"/>
                          </a:solidFill>
                          <a:latin typeface="Times New Roman"/>
                          <a:ea typeface="Times New Roman"/>
                          <a:cs typeface="Times New Roman"/>
                          <a:sym typeface="Times New Roman"/>
                        </a:rPr>
                        <a:t>Inputs</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dirty="0">
                          <a:solidFill>
                            <a:srgbClr val="000000"/>
                          </a:solidFill>
                          <a:latin typeface="Times New Roman"/>
                          <a:ea typeface="Times New Roman"/>
                          <a:cs typeface="Times New Roman"/>
                          <a:sym typeface="Times New Roman"/>
                        </a:rPr>
                        <a:t>Disruption type/start/duration; communication lag; ground-station availability; visibility window; bandwidth capacity; data volume; packet loss; edge processing time; resource availability.</a:t>
                      </a:r>
                      <a:endParaRPr dirty="0"/>
                    </a:p>
                  </a:txBody>
                  <a:tcPr marL="68575" marR="68575" marT="36575" marB="22850" anchor="ctr">
                    <a:solidFill>
                      <a:srgbClr val="F6F8FA"/>
                    </a:solidFill>
                  </a:tcPr>
                </a:tc>
                <a:extLst>
                  <a:ext uri="{0D108BD9-81ED-4DB2-BD59-A6C34878D82A}">
                    <a16:rowId xmlns:a16="http://schemas.microsoft.com/office/drawing/2014/main" val="10002"/>
                  </a:ext>
                </a:extLst>
              </a:tr>
              <a:tr h="658375">
                <a:tc>
                  <a:txBody>
                    <a:bodyPr/>
                    <a:lstStyle/>
                    <a:p>
                      <a:pPr marL="0" marR="0" lvl="0" indent="0" algn="l" rtl="0">
                        <a:lnSpc>
                          <a:spcPct val="103000"/>
                        </a:lnSpc>
                        <a:spcBef>
                          <a:spcPts val="0"/>
                        </a:spcBef>
                        <a:spcAft>
                          <a:spcPts val="0"/>
                        </a:spcAft>
                        <a:buClr>
                          <a:srgbClr val="000000"/>
                        </a:buClr>
                        <a:buSzPts val="700"/>
                        <a:buFont typeface="Times New Roman"/>
                        <a:buNone/>
                      </a:pPr>
                      <a:r>
                        <a:rPr lang="en-US" sz="1200" b="1" dirty="0">
                          <a:solidFill>
                            <a:srgbClr val="000000"/>
                          </a:solidFill>
                          <a:latin typeface="Times New Roman"/>
                          <a:ea typeface="Times New Roman"/>
                          <a:cs typeface="Times New Roman"/>
                          <a:sym typeface="Times New Roman"/>
                        </a:rPr>
                        <a:t>Outputs</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a:solidFill>
                            <a:srgbClr val="000000"/>
                          </a:solidFill>
                          <a:latin typeface="Times New Roman"/>
                          <a:ea typeface="Times New Roman"/>
                          <a:cs typeface="Times New Roman"/>
                          <a:sym typeface="Times New Roman"/>
                        </a:rPr>
                        <a:t>Uptime/service availability; downtime/recovery; response latency; packet loss; queueing delay.</a:t>
                      </a:r>
                      <a:endParaRPr sz="3200" b="1">
                        <a:solidFill>
                          <a:srgbClr val="000000"/>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Calibri"/>
                        <a:buNone/>
                      </a:pPr>
                      <a:r>
                        <a:rPr lang="en-US" sz="1400"/>
                        <a:t>Recovery and dropped messages remain supporting observations. Definitions and thresholds still need to be fixed.</a:t>
                      </a:r>
                      <a:endParaRPr/>
                    </a:p>
                  </a:txBody>
                  <a:tcPr marL="68575" marR="68575" marT="36575" marB="22850" anchor="ctr">
                    <a:solidFill>
                      <a:srgbClr val="FFFFFF"/>
                    </a:solidFill>
                  </a:tcPr>
                </a:tc>
                <a:extLst>
                  <a:ext uri="{0D108BD9-81ED-4DB2-BD59-A6C34878D82A}">
                    <a16:rowId xmlns:a16="http://schemas.microsoft.com/office/drawing/2014/main" val="10003"/>
                  </a:ext>
                </a:extLst>
              </a:tr>
              <a:tr h="6583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a:solidFill>
                            <a:srgbClr val="000000"/>
                          </a:solidFill>
                          <a:latin typeface="Times New Roman"/>
                          <a:ea typeface="Times New Roman"/>
                          <a:cs typeface="Times New Roman"/>
                          <a:sym typeface="Times New Roman"/>
                        </a:rPr>
                        <a:t>Analysis</a:t>
                      </a:r>
                      <a:endParaRPr sz="1200" b="1"/>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1">
                          <a:solidFill>
                            <a:srgbClr val="000000"/>
                          </a:solidFill>
                          <a:latin typeface="Times New Roman"/>
                          <a:ea typeface="Times New Roman"/>
                          <a:cs typeface="Times New Roman"/>
                          <a:sym typeface="Times New Roman"/>
                        </a:rPr>
                        <a:t>Public benchmarks and theoretical delay calculations; matched repeated runs; latency-distribution comparison; sensitivity analysis. </a:t>
                      </a:r>
                      <a:endParaRPr sz="1400" b="1">
                        <a:solidFill>
                          <a:srgbClr val="000000"/>
                        </a:solidFill>
                        <a:latin typeface="Times New Roman"/>
                        <a:ea typeface="Times New Roman"/>
                        <a:cs typeface="Times New Roman"/>
                        <a:sym typeface="Times New Roman"/>
                      </a:endParaRPr>
                    </a:p>
                  </a:txBody>
                  <a:tcPr marL="68575" marR="68575" marT="36575" marB="22850" anchor="ctr">
                    <a:solidFill>
                      <a:srgbClr val="F6F8FA"/>
                    </a:solidFill>
                  </a:tcPr>
                </a:tc>
                <a:extLst>
                  <a:ext uri="{0D108BD9-81ED-4DB2-BD59-A6C34878D82A}">
                    <a16:rowId xmlns:a16="http://schemas.microsoft.com/office/drawing/2014/main" val="10004"/>
                  </a:ext>
                </a:extLst>
              </a:tr>
              <a:tr h="658375">
                <a:tc>
                  <a:txBody>
                    <a:bodyPr/>
                    <a:lstStyle/>
                    <a:p>
                      <a:pPr marL="0" marR="0" lvl="0" indent="0" algn="l" rtl="0">
                        <a:lnSpc>
                          <a:spcPct val="103000"/>
                        </a:lnSpc>
                        <a:spcBef>
                          <a:spcPts val="0"/>
                        </a:spcBef>
                        <a:spcAft>
                          <a:spcPts val="0"/>
                        </a:spcAft>
                        <a:buClr>
                          <a:srgbClr val="000000"/>
                        </a:buClr>
                        <a:buSzPts val="1100"/>
                        <a:buFont typeface="Times New Roman"/>
                        <a:buNone/>
                      </a:pPr>
                      <a:r>
                        <a:rPr lang="en-US" sz="1200" b="1" dirty="0">
                          <a:solidFill>
                            <a:srgbClr val="000000"/>
                          </a:solidFill>
                          <a:latin typeface="Times New Roman"/>
                          <a:ea typeface="Times New Roman"/>
                          <a:cs typeface="Times New Roman"/>
                          <a:sym typeface="Times New Roman"/>
                        </a:rPr>
                        <a:t>Implementation / boundary</a:t>
                      </a:r>
                      <a:endParaRPr sz="1200" b="1" dirty="0"/>
                    </a:p>
                  </a:txBody>
                  <a:tcPr marL="68575" marR="68575" marT="36575" marB="22850" anchor="ctr">
                    <a:solidFill>
                      <a:schemeClr val="tx2">
                        <a:lumMod val="90000"/>
                      </a:schemeClr>
                    </a:solidFill>
                  </a:tcPr>
                </a:tc>
                <a:tc>
                  <a:txBody>
                    <a:bodyPr/>
                    <a:lstStyle/>
                    <a:p>
                      <a:pPr marL="0" marR="0" lvl="0" indent="0" algn="l" rtl="0">
                        <a:lnSpc>
                          <a:spcPct val="103000"/>
                        </a:lnSpc>
                        <a:spcBef>
                          <a:spcPts val="0"/>
                        </a:spcBef>
                        <a:spcAft>
                          <a:spcPts val="0"/>
                        </a:spcAft>
                        <a:buClr>
                          <a:srgbClr val="000000"/>
                        </a:buClr>
                        <a:buSzPts val="1400"/>
                        <a:buFont typeface="Times New Roman"/>
                        <a:buNone/>
                      </a:pPr>
                      <a:r>
                        <a:rPr lang="en-US" sz="1400" b="0" dirty="0">
                          <a:solidFill>
                            <a:srgbClr val="000000"/>
                          </a:solidFill>
                          <a:latin typeface="Times New Roman"/>
                          <a:ea typeface="Times New Roman"/>
                          <a:cs typeface="Times New Roman"/>
                          <a:sym typeface="Times New Roman"/>
                        </a:rPr>
                        <a:t>MATLAB/</a:t>
                      </a:r>
                      <a:r>
                        <a:rPr lang="en-US" sz="1400" b="0" dirty="0" err="1">
                          <a:solidFill>
                            <a:srgbClr val="000000"/>
                          </a:solidFill>
                          <a:latin typeface="Times New Roman"/>
                          <a:ea typeface="Times New Roman"/>
                          <a:cs typeface="Times New Roman"/>
                          <a:sym typeface="Times New Roman"/>
                        </a:rPr>
                        <a:t>SimEvents</a:t>
                      </a:r>
                      <a:r>
                        <a:rPr lang="en-US" sz="1400" b="0" dirty="0">
                          <a:solidFill>
                            <a:srgbClr val="000000"/>
                          </a:solidFill>
                          <a:latin typeface="Times New Roman"/>
                          <a:ea typeface="Times New Roman"/>
                          <a:cs typeface="Times New Roman"/>
                          <a:sym typeface="Times New Roman"/>
                        </a:rPr>
                        <a:t> primary; Python only optional for data ingestion/preprocessing; reproducible scenario tables with fixed random seeds.</a:t>
                      </a:r>
                      <a:endParaRPr sz="3200" b="1" dirty="0">
                        <a:solidFill>
                          <a:srgbClr val="000000"/>
                        </a:solidFill>
                        <a:latin typeface="Times New Roman"/>
                        <a:ea typeface="Times New Roman"/>
                        <a:cs typeface="Times New Roman"/>
                        <a:sym typeface="Times New Roman"/>
                      </a:endParaRPr>
                    </a:p>
                  </a:txBody>
                  <a:tcPr marL="68575" marR="68575" marT="36575" marB="22850"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40"/>
          <p:cNvPicPr preferRelativeResize="0"/>
          <p:nvPr/>
        </p:nvPicPr>
        <p:blipFill rotWithShape="1">
          <a:blip r:embed="rId3">
            <a:alphaModFix/>
          </a:blip>
          <a:srcRect/>
          <a:stretch/>
        </p:blipFill>
        <p:spPr>
          <a:xfrm>
            <a:off x="0" y="0"/>
            <a:ext cx="12192000" cy="685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9FED811-37BE-4285-E8F2-1BCF58F92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1BF20CD7-1A1F-F02C-89D8-4817159B0921}"/>
              </a:ext>
            </a:extLst>
          </p:cNvPr>
          <p:cNvSpPr txBox="1"/>
          <p:nvPr/>
        </p:nvSpPr>
        <p:spPr>
          <a:xfrm>
            <a:off x="870658" y="95700"/>
            <a:ext cx="11981742" cy="461665"/>
          </a:xfrm>
          <a:prstGeom prst="rect">
            <a:avLst/>
          </a:prstGeom>
          <a:noFill/>
        </p:spPr>
        <p:txBody>
          <a:bodyPr wrap="square" rtlCol="0">
            <a:spAutoFit/>
          </a:bodyPr>
          <a:lstStyle/>
          <a:p>
            <a:r>
              <a:rPr lang="en-US" sz="2400" b="1" dirty="0"/>
              <a:t>Modeling Autonomous Satellite Decision-Making in Contested Environments</a:t>
            </a:r>
          </a:p>
        </p:txBody>
      </p:sp>
      <p:sp>
        <p:nvSpPr>
          <p:cNvPr id="8" name="TextBox 7">
            <a:extLst>
              <a:ext uri="{FF2B5EF4-FFF2-40B4-BE49-F238E27FC236}">
                <a16:creationId xmlns:a16="http://schemas.microsoft.com/office/drawing/2014/main" id="{BEBF326E-6C51-BC15-8AC5-36F23F8F1E4A}"/>
              </a:ext>
            </a:extLst>
          </p:cNvPr>
          <p:cNvSpPr txBox="1"/>
          <p:nvPr/>
        </p:nvSpPr>
        <p:spPr>
          <a:xfrm>
            <a:off x="3285313" y="5786312"/>
            <a:ext cx="5696761" cy="1015663"/>
          </a:xfrm>
          <a:prstGeom prst="rect">
            <a:avLst/>
          </a:prstGeom>
          <a:noFill/>
        </p:spPr>
        <p:txBody>
          <a:bodyPr wrap="square">
            <a:spAutoFit/>
          </a:bodyPr>
          <a:lstStyle/>
          <a:p>
            <a:r>
              <a:rPr lang="en-US" sz="1200" dirty="0"/>
              <a:t>The Solution: MEO Edge Processing</a:t>
            </a:r>
            <a:endParaRPr lang="en-US" sz="1200" b="1" dirty="0"/>
          </a:p>
          <a:p>
            <a:pPr marL="171450" lvl="0" indent="-171450">
              <a:buFont typeface="Arial" panose="020B0604020202020204" pitchFamily="34" charset="0"/>
              <a:buChar char="•"/>
            </a:pPr>
            <a:r>
              <a:rPr lang="en-US" sz="1200" dirty="0"/>
              <a:t>Concept: Perform data processing and analysis directly on the satellite.</a:t>
            </a:r>
          </a:p>
          <a:p>
            <a:pPr marL="171450" lvl="0" indent="-171450">
              <a:buFont typeface="Arial" panose="020B0604020202020204" pitchFamily="34" charset="0"/>
              <a:buChar char="•"/>
            </a:pPr>
            <a:r>
              <a:rPr lang="en-US" sz="1200" dirty="0"/>
              <a:t>Benefit: Radically reduces latency by enabling real-time, on-board decisions.</a:t>
            </a:r>
          </a:p>
          <a:p>
            <a:pPr marL="171450" lvl="0" indent="-171450">
              <a:buFont typeface="Arial" panose="020B0604020202020204" pitchFamily="34" charset="0"/>
              <a:buChar char="•"/>
            </a:pPr>
            <a:r>
              <a:rPr lang="en-US" sz="1200" dirty="0"/>
              <a:t>Outcome: Creates a more autonomous, resilient, and cost-effective constellation.</a:t>
            </a:r>
          </a:p>
        </p:txBody>
      </p:sp>
      <p:sp>
        <p:nvSpPr>
          <p:cNvPr id="9" name="TextBox 8">
            <a:extLst>
              <a:ext uri="{FF2B5EF4-FFF2-40B4-BE49-F238E27FC236}">
                <a16:creationId xmlns:a16="http://schemas.microsoft.com/office/drawing/2014/main" id="{4E9576E9-339A-0129-16D4-A6B57C52DA8B}"/>
              </a:ext>
            </a:extLst>
          </p:cNvPr>
          <p:cNvSpPr txBox="1"/>
          <p:nvPr/>
        </p:nvSpPr>
        <p:spPr>
          <a:xfrm>
            <a:off x="0" y="5730288"/>
            <a:ext cx="2983763" cy="1223412"/>
          </a:xfrm>
          <a:prstGeom prst="rect">
            <a:avLst/>
          </a:prstGeom>
          <a:noFill/>
        </p:spPr>
        <p:txBody>
          <a:bodyPr wrap="square" rtlCol="0">
            <a:spAutoFit/>
          </a:bodyPr>
          <a:lstStyle/>
          <a:p>
            <a:r>
              <a:rPr lang="en-US" sz="1050" dirty="0"/>
              <a:t>The Challenge: Ground-Centric Operations</a:t>
            </a:r>
            <a:endParaRPr lang="en-US" sz="1050" b="1" dirty="0"/>
          </a:p>
          <a:p>
            <a:pPr marL="171450" lvl="0" indent="-171450">
              <a:buFont typeface="Arial" panose="020B0604020202020204" pitchFamily="34" charset="0"/>
              <a:buChar char="•"/>
            </a:pPr>
            <a:r>
              <a:rPr lang="en-US" sz="1050" dirty="0"/>
              <a:t>Problem: Relies on constant, vulnerable ground station links.</a:t>
            </a:r>
          </a:p>
          <a:p>
            <a:pPr marL="171450" lvl="0" indent="-171450">
              <a:buFont typeface="Arial" panose="020B0604020202020204" pitchFamily="34" charset="0"/>
              <a:buChar char="•"/>
            </a:pPr>
            <a:r>
              <a:rPr lang="en-US" sz="1050" dirty="0"/>
              <a:t>Impact: Significant decision latency from data round-trips.</a:t>
            </a:r>
          </a:p>
          <a:p>
            <a:pPr marL="171450" lvl="0" indent="-171450">
              <a:buFont typeface="Arial" panose="020B0604020202020204" pitchFamily="34" charset="0"/>
              <a:buChar char="•"/>
            </a:pPr>
            <a:r>
              <a:rPr lang="en-US" sz="1050" dirty="0"/>
              <a:t>Vulnerability: Ineffective when communications are jammed or lost.</a:t>
            </a:r>
          </a:p>
        </p:txBody>
      </p:sp>
      <p:sp>
        <p:nvSpPr>
          <p:cNvPr id="10" name="TextBox 9">
            <a:extLst>
              <a:ext uri="{FF2B5EF4-FFF2-40B4-BE49-F238E27FC236}">
                <a16:creationId xmlns:a16="http://schemas.microsoft.com/office/drawing/2014/main" id="{77829F88-3951-5DF7-0466-D78AB4648B47}"/>
              </a:ext>
            </a:extLst>
          </p:cNvPr>
          <p:cNvSpPr txBox="1"/>
          <p:nvPr/>
        </p:nvSpPr>
        <p:spPr>
          <a:xfrm>
            <a:off x="9136329" y="5682438"/>
            <a:ext cx="2901416" cy="1223412"/>
          </a:xfrm>
          <a:prstGeom prst="rect">
            <a:avLst/>
          </a:prstGeom>
          <a:noFill/>
        </p:spPr>
        <p:txBody>
          <a:bodyPr wrap="square" rtlCol="0">
            <a:spAutoFit/>
          </a:bodyPr>
          <a:lstStyle/>
          <a:p>
            <a:r>
              <a:rPr lang="en-US" sz="1050" dirty="0"/>
              <a:t>The Payoff: Quantified Mission Impact</a:t>
            </a:r>
            <a:endParaRPr lang="en-US" sz="1050" b="1" dirty="0"/>
          </a:p>
          <a:p>
            <a:pPr marL="171450" lvl="0" indent="-171450">
              <a:buFont typeface="Arial" panose="020B0604020202020204" pitchFamily="34" charset="0"/>
              <a:buChar char="•"/>
            </a:pPr>
            <a:r>
              <a:rPr lang="en-US" sz="1050" dirty="0"/>
              <a:t>Metric 1 (Latency): Measures the precise reduction in sensor-to-decision time.</a:t>
            </a:r>
          </a:p>
          <a:p>
            <a:pPr marL="171450" lvl="0" indent="-171450">
              <a:buFont typeface="Arial" panose="020B0604020202020204" pitchFamily="34" charset="0"/>
              <a:buChar char="•"/>
            </a:pPr>
            <a:r>
              <a:rPr lang="en-US" sz="1050" dirty="0"/>
              <a:t>Metric 2 (Autonomy): Assesses the satellite's ability to operate independently.</a:t>
            </a:r>
          </a:p>
          <a:p>
            <a:pPr marL="171450" lvl="0" indent="-171450">
              <a:buFont typeface="Arial" panose="020B0604020202020204" pitchFamily="34" charset="0"/>
              <a:buChar char="•"/>
            </a:pPr>
            <a:r>
              <a:rPr lang="en-US" sz="1050" dirty="0"/>
              <a:t>Metric 3 (Efficiency): Quantifies bandwidth savings and data quality improvements.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B079EA75-2097-AA90-2107-DAA7D3FB789E}"/>
                  </a:ext>
                </a:extLst>
              </p14:cNvPr>
              <p14:cNvContentPartPr/>
              <p14:nvPr/>
            </p14:nvContentPartPr>
            <p14:xfrm>
              <a:off x="4297560" y="1924400"/>
              <a:ext cx="829080" cy="110160"/>
            </p14:xfrm>
          </p:contentPart>
        </mc:Choice>
        <mc:Fallback xmlns="">
          <p:pic>
            <p:nvPicPr>
              <p:cNvPr id="3" name="Ink 2">
                <a:extLst>
                  <a:ext uri="{FF2B5EF4-FFF2-40B4-BE49-F238E27FC236}">
                    <a16:creationId xmlns:a16="http://schemas.microsoft.com/office/drawing/2014/main" id="{B079EA75-2097-AA90-2107-DAA7D3FB789E}"/>
                  </a:ext>
                </a:extLst>
              </p:cNvPr>
              <p:cNvPicPr/>
              <p:nvPr/>
            </p:nvPicPr>
            <p:blipFill>
              <a:blip r:embed="rId4"/>
              <a:stretch>
                <a:fillRect/>
              </a:stretch>
            </p:blipFill>
            <p:spPr>
              <a:xfrm>
                <a:off x="4291440" y="1918280"/>
                <a:ext cx="8413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C8B8CF3D-B210-2170-10D8-A4BB63C08BEA}"/>
                  </a:ext>
                </a:extLst>
              </p14:cNvPr>
              <p14:cNvContentPartPr/>
              <p14:nvPr/>
            </p14:nvContentPartPr>
            <p14:xfrm>
              <a:off x="7111680" y="1889480"/>
              <a:ext cx="712080" cy="241200"/>
            </p14:xfrm>
          </p:contentPart>
        </mc:Choice>
        <mc:Fallback xmlns="">
          <p:pic>
            <p:nvPicPr>
              <p:cNvPr id="4" name="Ink 3">
                <a:extLst>
                  <a:ext uri="{FF2B5EF4-FFF2-40B4-BE49-F238E27FC236}">
                    <a16:creationId xmlns:a16="http://schemas.microsoft.com/office/drawing/2014/main" id="{C8B8CF3D-B210-2170-10D8-A4BB63C08BEA}"/>
                  </a:ext>
                </a:extLst>
              </p:cNvPr>
              <p:cNvPicPr/>
              <p:nvPr/>
            </p:nvPicPr>
            <p:blipFill>
              <a:blip r:embed="rId6"/>
              <a:stretch>
                <a:fillRect/>
              </a:stretch>
            </p:blipFill>
            <p:spPr>
              <a:xfrm>
                <a:off x="7105560" y="1883360"/>
                <a:ext cx="72432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F58DA9C0-8C3E-3B0F-3EC7-58764831A41D}"/>
                  </a:ext>
                </a:extLst>
              </p14:cNvPr>
              <p14:cNvContentPartPr/>
              <p14:nvPr/>
            </p14:nvContentPartPr>
            <p14:xfrm>
              <a:off x="2752440" y="2651600"/>
              <a:ext cx="7021800" cy="1001160"/>
            </p14:xfrm>
          </p:contentPart>
        </mc:Choice>
        <mc:Fallback xmlns="">
          <p:pic>
            <p:nvPicPr>
              <p:cNvPr id="7" name="Ink 6">
                <a:extLst>
                  <a:ext uri="{FF2B5EF4-FFF2-40B4-BE49-F238E27FC236}">
                    <a16:creationId xmlns:a16="http://schemas.microsoft.com/office/drawing/2014/main" id="{F58DA9C0-8C3E-3B0F-3EC7-58764831A41D}"/>
                  </a:ext>
                </a:extLst>
              </p:cNvPr>
              <p:cNvPicPr/>
              <p:nvPr/>
            </p:nvPicPr>
            <p:blipFill>
              <a:blip r:embed="rId8"/>
              <a:stretch>
                <a:fillRect/>
              </a:stretch>
            </p:blipFill>
            <p:spPr>
              <a:xfrm>
                <a:off x="2746320" y="2645480"/>
                <a:ext cx="7034040" cy="10134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305495D2-39D0-6728-FDFB-3B34DEFF800F}"/>
                  </a:ext>
                </a:extLst>
              </p14:cNvPr>
              <p14:cNvContentPartPr/>
              <p14:nvPr/>
            </p14:nvContentPartPr>
            <p14:xfrm>
              <a:off x="9743280" y="3108800"/>
              <a:ext cx="702720" cy="678600"/>
            </p14:xfrm>
          </p:contentPart>
        </mc:Choice>
        <mc:Fallback xmlns="">
          <p:pic>
            <p:nvPicPr>
              <p:cNvPr id="11" name="Ink 10">
                <a:extLst>
                  <a:ext uri="{FF2B5EF4-FFF2-40B4-BE49-F238E27FC236}">
                    <a16:creationId xmlns:a16="http://schemas.microsoft.com/office/drawing/2014/main" id="{305495D2-39D0-6728-FDFB-3B34DEFF800F}"/>
                  </a:ext>
                </a:extLst>
              </p:cNvPr>
              <p:cNvPicPr/>
              <p:nvPr/>
            </p:nvPicPr>
            <p:blipFill>
              <a:blip r:embed="rId10"/>
              <a:stretch>
                <a:fillRect/>
              </a:stretch>
            </p:blipFill>
            <p:spPr>
              <a:xfrm>
                <a:off x="9737160" y="3102680"/>
                <a:ext cx="714960" cy="690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35B08344-5B1E-F5F4-ABF1-604A80E015B4}"/>
                  </a:ext>
                </a:extLst>
              </p14:cNvPr>
              <p14:cNvContentPartPr/>
              <p14:nvPr/>
            </p14:nvContentPartPr>
            <p14:xfrm>
              <a:off x="1626360" y="3240920"/>
              <a:ext cx="914040" cy="889200"/>
            </p14:xfrm>
          </p:contentPart>
        </mc:Choice>
        <mc:Fallback xmlns="">
          <p:pic>
            <p:nvPicPr>
              <p:cNvPr id="12" name="Ink 11">
                <a:extLst>
                  <a:ext uri="{FF2B5EF4-FFF2-40B4-BE49-F238E27FC236}">
                    <a16:creationId xmlns:a16="http://schemas.microsoft.com/office/drawing/2014/main" id="{35B08344-5B1E-F5F4-ABF1-604A80E015B4}"/>
                  </a:ext>
                </a:extLst>
              </p:cNvPr>
              <p:cNvPicPr/>
              <p:nvPr/>
            </p:nvPicPr>
            <p:blipFill>
              <a:blip r:embed="rId12"/>
              <a:stretch>
                <a:fillRect/>
              </a:stretch>
            </p:blipFill>
            <p:spPr>
              <a:xfrm>
                <a:off x="1620240" y="3234800"/>
                <a:ext cx="926280" cy="901440"/>
              </a:xfrm>
              <a:prstGeom prst="rect">
                <a:avLst/>
              </a:prstGeom>
            </p:spPr>
          </p:pic>
        </mc:Fallback>
      </mc:AlternateContent>
      <p:grpSp>
        <p:nvGrpSpPr>
          <p:cNvPr id="21" name="Group 20">
            <a:extLst>
              <a:ext uri="{FF2B5EF4-FFF2-40B4-BE49-F238E27FC236}">
                <a16:creationId xmlns:a16="http://schemas.microsoft.com/office/drawing/2014/main" id="{5D3E8331-F31D-9D61-3E8E-317921FC335C}"/>
              </a:ext>
            </a:extLst>
          </p:cNvPr>
          <p:cNvGrpSpPr/>
          <p:nvPr/>
        </p:nvGrpSpPr>
        <p:grpSpPr>
          <a:xfrm>
            <a:off x="-157440" y="1269920"/>
            <a:ext cx="2005560" cy="2372760"/>
            <a:chOff x="-157440" y="1269920"/>
            <a:chExt cx="2005560" cy="2372760"/>
          </a:xfrm>
        </p:grpSpPr>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7D8AC622-8D5B-0FAF-14F7-9FE9C74A0FC0}"/>
                    </a:ext>
                  </a:extLst>
                </p14:cNvPr>
                <p14:cNvContentPartPr/>
                <p14:nvPr/>
              </p14:nvContentPartPr>
              <p14:xfrm>
                <a:off x="639960" y="2204480"/>
                <a:ext cx="225720" cy="221400"/>
              </p14:xfrm>
            </p:contentPart>
          </mc:Choice>
          <mc:Fallback xmlns="">
            <p:pic>
              <p:nvPicPr>
                <p:cNvPr id="13" name="Ink 12">
                  <a:extLst>
                    <a:ext uri="{FF2B5EF4-FFF2-40B4-BE49-F238E27FC236}">
                      <a16:creationId xmlns:a16="http://schemas.microsoft.com/office/drawing/2014/main" id="{7D8AC622-8D5B-0FAF-14F7-9FE9C74A0FC0}"/>
                    </a:ext>
                  </a:extLst>
                </p:cNvPr>
                <p:cNvPicPr/>
                <p:nvPr/>
              </p:nvPicPr>
              <p:blipFill>
                <a:blip r:embed="rId14"/>
                <a:stretch>
                  <a:fillRect/>
                </a:stretch>
              </p:blipFill>
              <p:spPr>
                <a:xfrm>
                  <a:off x="633840" y="2198360"/>
                  <a:ext cx="23796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B17D7FC9-2C1F-4EDD-5073-841FFEC70AAE}"/>
                    </a:ext>
                  </a:extLst>
                </p14:cNvPr>
                <p14:cNvContentPartPr/>
                <p14:nvPr/>
              </p14:nvContentPartPr>
              <p14:xfrm>
                <a:off x="660120" y="2407880"/>
                <a:ext cx="288360" cy="503640"/>
              </p14:xfrm>
            </p:contentPart>
          </mc:Choice>
          <mc:Fallback xmlns="">
            <p:pic>
              <p:nvPicPr>
                <p:cNvPr id="14" name="Ink 13">
                  <a:extLst>
                    <a:ext uri="{FF2B5EF4-FFF2-40B4-BE49-F238E27FC236}">
                      <a16:creationId xmlns:a16="http://schemas.microsoft.com/office/drawing/2014/main" id="{B17D7FC9-2C1F-4EDD-5073-841FFEC70AAE}"/>
                    </a:ext>
                  </a:extLst>
                </p:cNvPr>
                <p:cNvPicPr/>
                <p:nvPr/>
              </p:nvPicPr>
              <p:blipFill>
                <a:blip r:embed="rId16"/>
                <a:stretch>
                  <a:fillRect/>
                </a:stretch>
              </p:blipFill>
              <p:spPr>
                <a:xfrm>
                  <a:off x="654000" y="2401760"/>
                  <a:ext cx="300600" cy="5158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6" name="Ink 15">
                  <a:extLst>
                    <a:ext uri="{FF2B5EF4-FFF2-40B4-BE49-F238E27FC236}">
                      <a16:creationId xmlns:a16="http://schemas.microsoft.com/office/drawing/2014/main" id="{3395F374-4E85-CF78-6E0A-A0FC2959B76C}"/>
                    </a:ext>
                  </a:extLst>
                </p14:cNvPr>
                <p14:cNvContentPartPr/>
                <p14:nvPr/>
              </p14:nvContentPartPr>
              <p14:xfrm>
                <a:off x="1280040" y="2793800"/>
                <a:ext cx="568080" cy="544680"/>
              </p14:xfrm>
            </p:contentPart>
          </mc:Choice>
          <mc:Fallback xmlns="">
            <p:pic>
              <p:nvPicPr>
                <p:cNvPr id="16" name="Ink 15">
                  <a:extLst>
                    <a:ext uri="{FF2B5EF4-FFF2-40B4-BE49-F238E27FC236}">
                      <a16:creationId xmlns:a16="http://schemas.microsoft.com/office/drawing/2014/main" id="{3395F374-4E85-CF78-6E0A-A0FC2959B76C}"/>
                    </a:ext>
                  </a:extLst>
                </p:cNvPr>
                <p:cNvPicPr/>
                <p:nvPr/>
              </p:nvPicPr>
              <p:blipFill>
                <a:blip r:embed="rId18"/>
                <a:stretch>
                  <a:fillRect/>
                </a:stretch>
              </p:blipFill>
              <p:spPr>
                <a:xfrm>
                  <a:off x="1273920" y="2787680"/>
                  <a:ext cx="580320" cy="5569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E984FD97-76E9-0C94-1AF6-F5C99BC477D0}"/>
                    </a:ext>
                  </a:extLst>
                </p14:cNvPr>
                <p14:cNvContentPartPr/>
                <p14:nvPr/>
              </p14:nvContentPartPr>
              <p14:xfrm>
                <a:off x="1462920" y="3383120"/>
                <a:ext cx="349200" cy="259560"/>
              </p14:xfrm>
            </p:contentPart>
          </mc:Choice>
          <mc:Fallback xmlns="">
            <p:pic>
              <p:nvPicPr>
                <p:cNvPr id="17" name="Ink 16">
                  <a:extLst>
                    <a:ext uri="{FF2B5EF4-FFF2-40B4-BE49-F238E27FC236}">
                      <a16:creationId xmlns:a16="http://schemas.microsoft.com/office/drawing/2014/main" id="{E984FD97-76E9-0C94-1AF6-F5C99BC477D0}"/>
                    </a:ext>
                  </a:extLst>
                </p:cNvPr>
                <p:cNvPicPr/>
                <p:nvPr/>
              </p:nvPicPr>
              <p:blipFill>
                <a:blip r:embed="rId20"/>
                <a:stretch>
                  <a:fillRect/>
                </a:stretch>
              </p:blipFill>
              <p:spPr>
                <a:xfrm>
                  <a:off x="1456800" y="3377000"/>
                  <a:ext cx="361440" cy="2718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C229FC81-0955-D2AE-FA52-3824E7C8C0E3}"/>
                    </a:ext>
                  </a:extLst>
                </p14:cNvPr>
                <p14:cNvContentPartPr/>
                <p14:nvPr/>
              </p14:nvContentPartPr>
              <p14:xfrm>
                <a:off x="-157440" y="1298000"/>
                <a:ext cx="995760" cy="873000"/>
              </p14:xfrm>
            </p:contentPart>
          </mc:Choice>
          <mc:Fallback xmlns="">
            <p:pic>
              <p:nvPicPr>
                <p:cNvPr id="19" name="Ink 18">
                  <a:extLst>
                    <a:ext uri="{FF2B5EF4-FFF2-40B4-BE49-F238E27FC236}">
                      <a16:creationId xmlns:a16="http://schemas.microsoft.com/office/drawing/2014/main" id="{C229FC81-0955-D2AE-FA52-3824E7C8C0E3}"/>
                    </a:ext>
                  </a:extLst>
                </p:cNvPr>
                <p:cNvPicPr/>
                <p:nvPr/>
              </p:nvPicPr>
              <p:blipFill>
                <a:blip r:embed="rId22"/>
                <a:stretch>
                  <a:fillRect/>
                </a:stretch>
              </p:blipFill>
              <p:spPr>
                <a:xfrm>
                  <a:off x="-163560" y="1291880"/>
                  <a:ext cx="1008000" cy="885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C5CF8A83-9669-C964-4F4E-0FD602B8F9B6}"/>
                    </a:ext>
                  </a:extLst>
                </p14:cNvPr>
                <p14:cNvContentPartPr/>
                <p14:nvPr/>
              </p14:nvContentPartPr>
              <p14:xfrm>
                <a:off x="377520" y="1269920"/>
                <a:ext cx="222120" cy="783360"/>
              </p14:xfrm>
            </p:contentPart>
          </mc:Choice>
          <mc:Fallback xmlns="">
            <p:pic>
              <p:nvPicPr>
                <p:cNvPr id="20" name="Ink 19">
                  <a:extLst>
                    <a:ext uri="{FF2B5EF4-FFF2-40B4-BE49-F238E27FC236}">
                      <a16:creationId xmlns:a16="http://schemas.microsoft.com/office/drawing/2014/main" id="{C5CF8A83-9669-C964-4F4E-0FD602B8F9B6}"/>
                    </a:ext>
                  </a:extLst>
                </p:cNvPr>
                <p:cNvPicPr/>
                <p:nvPr/>
              </p:nvPicPr>
              <p:blipFill>
                <a:blip r:embed="rId24"/>
                <a:stretch>
                  <a:fillRect/>
                </a:stretch>
              </p:blipFill>
              <p:spPr>
                <a:xfrm>
                  <a:off x="371400" y="1263800"/>
                  <a:ext cx="234360" cy="795600"/>
                </a:xfrm>
                <a:prstGeom prst="rect">
                  <a:avLst/>
                </a:prstGeom>
              </p:spPr>
            </p:pic>
          </mc:Fallback>
        </mc:AlternateContent>
      </p:grpSp>
      <p:grpSp>
        <p:nvGrpSpPr>
          <p:cNvPr id="26" name="Group 25">
            <a:extLst>
              <a:ext uri="{FF2B5EF4-FFF2-40B4-BE49-F238E27FC236}">
                <a16:creationId xmlns:a16="http://schemas.microsoft.com/office/drawing/2014/main" id="{3B1CC626-FCF4-DE2C-793B-C9DD08D3C822}"/>
              </a:ext>
            </a:extLst>
          </p:cNvPr>
          <p:cNvGrpSpPr/>
          <p:nvPr/>
        </p:nvGrpSpPr>
        <p:grpSpPr>
          <a:xfrm>
            <a:off x="10411080" y="3668240"/>
            <a:ext cx="1663560" cy="1711800"/>
            <a:chOff x="10411080" y="3668240"/>
            <a:chExt cx="1663560" cy="1711800"/>
          </a:xfrm>
        </p:grpSpPr>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EBAD8D1A-3395-F02B-91BD-01E6E84C9C69}"/>
                    </a:ext>
                  </a:extLst>
                </p14:cNvPr>
                <p14:cNvContentPartPr/>
                <p14:nvPr/>
              </p14:nvContentPartPr>
              <p14:xfrm>
                <a:off x="10932000" y="3860480"/>
                <a:ext cx="360" cy="241200"/>
              </p14:xfrm>
            </p:contentPart>
          </mc:Choice>
          <mc:Fallback xmlns="">
            <p:pic>
              <p:nvPicPr>
                <p:cNvPr id="22" name="Ink 21">
                  <a:extLst>
                    <a:ext uri="{FF2B5EF4-FFF2-40B4-BE49-F238E27FC236}">
                      <a16:creationId xmlns:a16="http://schemas.microsoft.com/office/drawing/2014/main" id="{EBAD8D1A-3395-F02B-91BD-01E6E84C9C69}"/>
                    </a:ext>
                  </a:extLst>
                </p:cNvPr>
                <p:cNvPicPr/>
                <p:nvPr/>
              </p:nvPicPr>
              <p:blipFill>
                <a:blip r:embed="rId26"/>
                <a:stretch>
                  <a:fillRect/>
                </a:stretch>
              </p:blipFill>
              <p:spPr>
                <a:xfrm>
                  <a:off x="10925880" y="3854360"/>
                  <a:ext cx="1260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527DB4FA-210F-EB45-2BBF-B22F00BBF718}"/>
                    </a:ext>
                  </a:extLst>
                </p14:cNvPr>
                <p14:cNvContentPartPr/>
                <p14:nvPr/>
              </p14:nvContentPartPr>
              <p14:xfrm>
                <a:off x="10728960" y="3974240"/>
                <a:ext cx="419040" cy="39600"/>
              </p14:xfrm>
            </p:contentPart>
          </mc:Choice>
          <mc:Fallback xmlns="">
            <p:pic>
              <p:nvPicPr>
                <p:cNvPr id="23" name="Ink 22">
                  <a:extLst>
                    <a:ext uri="{FF2B5EF4-FFF2-40B4-BE49-F238E27FC236}">
                      <a16:creationId xmlns:a16="http://schemas.microsoft.com/office/drawing/2014/main" id="{527DB4FA-210F-EB45-2BBF-B22F00BBF718}"/>
                    </a:ext>
                  </a:extLst>
                </p:cNvPr>
                <p:cNvPicPr/>
                <p:nvPr/>
              </p:nvPicPr>
              <p:blipFill>
                <a:blip r:embed="rId28"/>
                <a:stretch>
                  <a:fillRect/>
                </a:stretch>
              </p:blipFill>
              <p:spPr>
                <a:xfrm>
                  <a:off x="10722840" y="3968120"/>
                  <a:ext cx="4312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5" name="Ink 24">
                  <a:extLst>
                    <a:ext uri="{FF2B5EF4-FFF2-40B4-BE49-F238E27FC236}">
                      <a16:creationId xmlns:a16="http://schemas.microsoft.com/office/drawing/2014/main" id="{92500C28-2378-DBE3-A505-B5D690F53934}"/>
                    </a:ext>
                  </a:extLst>
                </p14:cNvPr>
                <p14:cNvContentPartPr/>
                <p14:nvPr/>
              </p14:nvContentPartPr>
              <p14:xfrm>
                <a:off x="10411080" y="3668240"/>
                <a:ext cx="1663560" cy="1711800"/>
              </p14:xfrm>
            </p:contentPart>
          </mc:Choice>
          <mc:Fallback xmlns="">
            <p:pic>
              <p:nvPicPr>
                <p:cNvPr id="25" name="Ink 24">
                  <a:extLst>
                    <a:ext uri="{FF2B5EF4-FFF2-40B4-BE49-F238E27FC236}">
                      <a16:creationId xmlns:a16="http://schemas.microsoft.com/office/drawing/2014/main" id="{92500C28-2378-DBE3-A505-B5D690F53934}"/>
                    </a:ext>
                  </a:extLst>
                </p:cNvPr>
                <p:cNvPicPr/>
                <p:nvPr/>
              </p:nvPicPr>
              <p:blipFill>
                <a:blip r:embed="rId30"/>
                <a:stretch>
                  <a:fillRect/>
                </a:stretch>
              </p:blipFill>
              <p:spPr>
                <a:xfrm>
                  <a:off x="10404960" y="3662120"/>
                  <a:ext cx="1675800" cy="1724040"/>
                </a:xfrm>
                <a:prstGeom prst="rect">
                  <a:avLst/>
                </a:prstGeom>
              </p:spPr>
            </p:pic>
          </mc:Fallback>
        </mc:AlternateContent>
      </p:grpSp>
    </p:spTree>
    <p:extLst>
      <p:ext uri="{BB962C8B-B14F-4D97-AF65-F5344CB8AC3E}">
        <p14:creationId xmlns:p14="http://schemas.microsoft.com/office/powerpoint/2010/main" val="8536934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28600"/>
            <a:ext cx="10698480" cy="411480"/>
          </a:xfrm>
          <a:prstGeom prst="rect">
            <a:avLst/>
          </a:prstGeom>
          <a:noFill/>
        </p:spPr>
        <p:txBody>
          <a:bodyPr wrap="none" lIns="27432" tIns="18288" rIns="27432" bIns="18288">
            <a:spAutoFit/>
          </a:bodyPr>
          <a:lstStyle/>
          <a:p>
            <a:pPr>
              <a:defRPr sz="2200" b="1">
                <a:solidFill>
                  <a:srgbClr val="2C3137"/>
                </a:solidFill>
                <a:latin typeface="Arial"/>
              </a:defRPr>
            </a:pPr>
            <a:r>
              <a:t>Workbook Rosetta — Tab Colors, Cohorts, and Data Flow</a:t>
            </a:r>
          </a:p>
        </p:txBody>
      </p:sp>
      <p:sp>
        <p:nvSpPr>
          <p:cNvPr id="3" name="TextBox 2"/>
          <p:cNvSpPr txBox="1"/>
          <p:nvPr/>
        </p:nvSpPr>
        <p:spPr>
          <a:xfrm>
            <a:off x="548640" y="713232"/>
            <a:ext cx="10698480" cy="411480"/>
          </a:xfrm>
          <a:prstGeom prst="rect">
            <a:avLst/>
          </a:prstGeom>
          <a:noFill/>
        </p:spPr>
        <p:txBody>
          <a:bodyPr wrap="none" lIns="27432" tIns="18288" rIns="27432" bIns="18288">
            <a:spAutoFit/>
          </a:bodyPr>
          <a:lstStyle/>
          <a:p>
            <a:pPr>
              <a:defRPr sz="1050" b="0">
                <a:solidFill>
                  <a:srgbClr val="3C3C3C"/>
                </a:solidFill>
                <a:latin typeface="Arial"/>
              </a:defRPr>
            </a:pPr>
            <a:r>
              <a:t>How to read the ASOT workbook: raw A/C/E inputs are normalized, joined, converted into arrivals, run through matched Ground and Edge paths, then summarized for dashboard and MATLAB handoff.</a:t>
            </a:r>
          </a:p>
        </p:txBody>
      </p:sp>
      <p:graphicFrame>
        <p:nvGraphicFramePr>
          <p:cNvPr id="4" name="Table 3"/>
          <p:cNvGraphicFramePr>
            <a:graphicFrameLocks noGrp="1"/>
          </p:cNvGraphicFramePr>
          <p:nvPr/>
        </p:nvGraphicFramePr>
        <p:xfrm>
          <a:off x="502920" y="1143000"/>
          <a:ext cx="10972794" cy="868680"/>
        </p:xfrm>
        <a:graphic>
          <a:graphicData uri="http://schemas.openxmlformats.org/drawingml/2006/table">
            <a:tbl>
              <a:tblPr firstRow="1" bandRow="1">
                <a:tableStyleId>{5C22544A-7EE6-4342-B048-85BDC9FD1C3A}</a:tableStyleId>
              </a:tblPr>
              <a:tblGrid>
                <a:gridCol w="1567542">
                  <a:extLst>
                    <a:ext uri="{9D8B030D-6E8A-4147-A177-3AD203B41FA5}">
                      <a16:colId xmlns:a16="http://schemas.microsoft.com/office/drawing/2014/main" val="20000"/>
                    </a:ext>
                  </a:extLst>
                </a:gridCol>
                <a:gridCol w="1567542">
                  <a:extLst>
                    <a:ext uri="{9D8B030D-6E8A-4147-A177-3AD203B41FA5}">
                      <a16:colId xmlns:a16="http://schemas.microsoft.com/office/drawing/2014/main" val="20001"/>
                    </a:ext>
                  </a:extLst>
                </a:gridCol>
                <a:gridCol w="1567542">
                  <a:extLst>
                    <a:ext uri="{9D8B030D-6E8A-4147-A177-3AD203B41FA5}">
                      <a16:colId xmlns:a16="http://schemas.microsoft.com/office/drawing/2014/main" val="20002"/>
                    </a:ext>
                  </a:extLst>
                </a:gridCol>
                <a:gridCol w="1567542">
                  <a:extLst>
                    <a:ext uri="{9D8B030D-6E8A-4147-A177-3AD203B41FA5}">
                      <a16:colId xmlns:a16="http://schemas.microsoft.com/office/drawing/2014/main" val="20003"/>
                    </a:ext>
                  </a:extLst>
                </a:gridCol>
                <a:gridCol w="1567542">
                  <a:extLst>
                    <a:ext uri="{9D8B030D-6E8A-4147-A177-3AD203B41FA5}">
                      <a16:colId xmlns:a16="http://schemas.microsoft.com/office/drawing/2014/main" val="20004"/>
                    </a:ext>
                  </a:extLst>
                </a:gridCol>
                <a:gridCol w="1567542">
                  <a:extLst>
                    <a:ext uri="{9D8B030D-6E8A-4147-A177-3AD203B41FA5}">
                      <a16:colId xmlns:a16="http://schemas.microsoft.com/office/drawing/2014/main" val="20005"/>
                    </a:ext>
                  </a:extLst>
                </a:gridCol>
                <a:gridCol w="1567542">
                  <a:extLst>
                    <a:ext uri="{9D8B030D-6E8A-4147-A177-3AD203B41FA5}">
                      <a16:colId xmlns:a16="http://schemas.microsoft.com/office/drawing/2014/main" val="20006"/>
                    </a:ext>
                  </a:extLst>
                </a:gridCol>
              </a:tblGrid>
              <a:tr h="434340">
                <a:tc>
                  <a:txBody>
                    <a:bodyPr/>
                    <a:lstStyle/>
                    <a:p>
                      <a:pPr algn="ctr">
                        <a:defRPr sz="800" b="1">
                          <a:solidFill>
                            <a:srgbClr val="000000"/>
                          </a:solidFill>
                          <a:latin typeface="Arial"/>
                        </a:defRPr>
                      </a:pPr>
                      <a:r>
                        <a:t>Raw A/C/E</a:t>
                      </a:r>
                    </a:p>
                  </a:txBody>
                  <a:tcPr>
                    <a:solidFill>
                      <a:srgbClr val="D9E1F2"/>
                    </a:solidFill>
                  </a:tcPr>
                </a:tc>
                <a:tc>
                  <a:txBody>
                    <a:bodyPr/>
                    <a:lstStyle/>
                    <a:p>
                      <a:pPr algn="ctr">
                        <a:defRPr sz="800" b="1">
                          <a:solidFill>
                            <a:srgbClr val="000000"/>
                          </a:solidFill>
                          <a:latin typeface="Arial"/>
                        </a:defRPr>
                      </a:pPr>
                      <a:r>
                        <a:t>Normalize</a:t>
                      </a:r>
                    </a:p>
                  </a:txBody>
                  <a:tcPr>
                    <a:solidFill>
                      <a:srgbClr val="EADDF7"/>
                    </a:solidFill>
                  </a:tcPr>
                </a:tc>
                <a:tc>
                  <a:txBody>
                    <a:bodyPr/>
                    <a:lstStyle/>
                    <a:p>
                      <a:pPr algn="ctr">
                        <a:defRPr sz="800" b="1">
                          <a:solidFill>
                            <a:srgbClr val="000000"/>
                          </a:solidFill>
                          <a:latin typeface="Arial"/>
                        </a:defRPr>
                      </a:pPr>
                      <a:r>
                        <a:t>Join / Audit</a:t>
                      </a:r>
                    </a:p>
                  </a:txBody>
                  <a:tcPr>
                    <a:solidFill>
                      <a:srgbClr val="EADDF7"/>
                    </a:solidFill>
                  </a:tcPr>
                </a:tc>
                <a:tc>
                  <a:txBody>
                    <a:bodyPr/>
                    <a:lstStyle/>
                    <a:p>
                      <a:pPr algn="ctr">
                        <a:defRPr sz="800" b="1">
                          <a:solidFill>
                            <a:srgbClr val="000000"/>
                          </a:solidFill>
                          <a:latin typeface="Arial"/>
                        </a:defRPr>
                      </a:pPr>
                      <a:r>
                        <a:t>Arrivals</a:t>
                      </a:r>
                    </a:p>
                  </a:txBody>
                  <a:tcPr>
                    <a:solidFill>
                      <a:srgbClr val="DAF2DA"/>
                    </a:solidFill>
                  </a:tcPr>
                </a:tc>
                <a:tc>
                  <a:txBody>
                    <a:bodyPr/>
                    <a:lstStyle/>
                    <a:p>
                      <a:pPr algn="ctr">
                        <a:defRPr sz="800" b="1">
                          <a:solidFill>
                            <a:srgbClr val="000000"/>
                          </a:solidFill>
                          <a:latin typeface="Arial"/>
                        </a:defRPr>
                      </a:pPr>
                      <a:r>
                        <a:t>Ground + Edge</a:t>
                      </a:r>
                    </a:p>
                  </a:txBody>
                  <a:tcPr>
                    <a:solidFill>
                      <a:srgbClr val="DAF2DA"/>
                    </a:solidFill>
                  </a:tcPr>
                </a:tc>
                <a:tc>
                  <a:txBody>
                    <a:bodyPr/>
                    <a:lstStyle/>
                    <a:p>
                      <a:pPr algn="ctr">
                        <a:defRPr sz="800" b="1">
                          <a:solidFill>
                            <a:srgbClr val="000000"/>
                          </a:solidFill>
                          <a:latin typeface="Arial"/>
                        </a:defRPr>
                      </a:pPr>
                      <a:r>
                        <a:t>Compare / Stats</a:t>
                      </a:r>
                    </a:p>
                  </a:txBody>
                  <a:tcPr>
                    <a:solidFill>
                      <a:srgbClr val="F4E2CC"/>
                    </a:solidFill>
                  </a:tcPr>
                </a:tc>
                <a:tc>
                  <a:txBody>
                    <a:bodyPr/>
                    <a:lstStyle/>
                    <a:p>
                      <a:pPr algn="ctr">
                        <a:defRPr sz="800" b="1">
                          <a:solidFill>
                            <a:srgbClr val="000000"/>
                          </a:solidFill>
                          <a:latin typeface="Arial"/>
                        </a:defRPr>
                      </a:pPr>
                      <a:r>
                        <a:t>Dashboard + MATLAB</a:t>
                      </a:r>
                    </a:p>
                  </a:txBody>
                  <a:tcPr>
                    <a:solidFill>
                      <a:srgbClr val="D9E1F2"/>
                    </a:solidFill>
                  </a:tcPr>
                </a:tc>
                <a:extLst>
                  <a:ext uri="{0D108BD9-81ED-4DB2-BD59-A6C34878D82A}">
                    <a16:rowId xmlns:a16="http://schemas.microsoft.com/office/drawing/2014/main" val="10000"/>
                  </a:ext>
                </a:extLst>
              </a:tr>
              <a:tr h="434340">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a:t>
                      </a:r>
                    </a:p>
                  </a:txBody>
                  <a:tcPr>
                    <a:solidFill>
                      <a:srgbClr val="FFFFFF"/>
                    </a:solidFill>
                  </a:tcPr>
                </a:tc>
                <a:tc>
                  <a:txBody>
                    <a:bodyPr/>
                    <a:lstStyle/>
                    <a:p>
                      <a:pPr algn="ctr">
                        <a:defRPr sz="1000" b="1">
                          <a:solidFill>
                            <a:srgbClr val="3C3C3C"/>
                          </a:solidFill>
                          <a:latin typeface="Arial"/>
                        </a:defRPr>
                      </a:pPr>
                      <a:r>
                        <a:t>OUTPUT</a:t>
                      </a:r>
                    </a:p>
                  </a:txBody>
                  <a:tcPr>
                    <a:solidFill>
                      <a:srgbClr val="FFFFFF"/>
                    </a:solidFill>
                  </a:tcPr>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nvGraphicFramePr>
        <p:xfrm>
          <a:off x="502920" y="2240280"/>
          <a:ext cx="11064240" cy="3246120"/>
        </p:xfrm>
        <a:graphic>
          <a:graphicData uri="http://schemas.openxmlformats.org/drawingml/2006/table">
            <a:tbl>
              <a:tblPr firstRow="1" bandRow="1">
                <a:tableStyleId>{5C22544A-7EE6-4342-B048-85BDC9FD1C3A}</a:tableStyleId>
              </a:tblPr>
              <a:tblGrid>
                <a:gridCol w="8229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gridCol w="2834640">
                  <a:extLst>
                    <a:ext uri="{9D8B030D-6E8A-4147-A177-3AD203B41FA5}">
                      <a16:colId xmlns:a16="http://schemas.microsoft.com/office/drawing/2014/main" val="20004"/>
                    </a:ext>
                  </a:extLst>
                </a:gridCol>
              </a:tblGrid>
              <a:tr h="405765">
                <a:tc>
                  <a:txBody>
                    <a:bodyPr/>
                    <a:lstStyle/>
                    <a:p>
                      <a:pPr algn="ctr">
                        <a:defRPr sz="819" b="1">
                          <a:solidFill>
                            <a:srgbClr val="FFFFFF"/>
                          </a:solidFill>
                          <a:latin typeface="Arial"/>
                        </a:defRPr>
                      </a:pPr>
                      <a:r>
                        <a:t>Color</a:t>
                      </a:r>
                    </a:p>
                  </a:txBody>
                  <a:tcPr>
                    <a:solidFill>
                      <a:srgbClr val="1F4E79"/>
                    </a:solidFill>
                  </a:tcPr>
                </a:tc>
                <a:tc>
                  <a:txBody>
                    <a:bodyPr/>
                    <a:lstStyle/>
                    <a:p>
                      <a:pPr algn="ctr">
                        <a:defRPr sz="819" b="1">
                          <a:solidFill>
                            <a:srgbClr val="FFFFFF"/>
                          </a:solidFill>
                          <a:latin typeface="Arial"/>
                        </a:defRPr>
                      </a:pPr>
                      <a:r>
                        <a:t>Family</a:t>
                      </a:r>
                    </a:p>
                  </a:txBody>
                  <a:tcPr>
                    <a:solidFill>
                      <a:srgbClr val="1F4E79"/>
                    </a:solidFill>
                  </a:tcPr>
                </a:tc>
                <a:tc>
                  <a:txBody>
                    <a:bodyPr/>
                    <a:lstStyle/>
                    <a:p>
                      <a:pPr algn="ctr">
                        <a:defRPr sz="819" b="1">
                          <a:solidFill>
                            <a:srgbClr val="FFFFFF"/>
                          </a:solidFill>
                          <a:latin typeface="Arial"/>
                        </a:defRPr>
                      </a:pPr>
                      <a:r>
                        <a:t>Representative tabs</a:t>
                      </a:r>
                    </a:p>
                  </a:txBody>
                  <a:tcPr>
                    <a:solidFill>
                      <a:srgbClr val="1F4E79"/>
                    </a:solidFill>
                  </a:tcPr>
                </a:tc>
                <a:tc>
                  <a:txBody>
                    <a:bodyPr/>
                    <a:lstStyle/>
                    <a:p>
                      <a:pPr algn="ctr">
                        <a:defRPr sz="819" b="1">
                          <a:solidFill>
                            <a:srgbClr val="FFFFFF"/>
                          </a:solidFill>
                          <a:latin typeface="Arial"/>
                        </a:defRPr>
                      </a:pPr>
                      <a:r>
                        <a:t>What happens there</a:t>
                      </a:r>
                    </a:p>
                  </a:txBody>
                  <a:tcPr>
                    <a:solidFill>
                      <a:srgbClr val="1F4E79"/>
                    </a:solidFill>
                  </a:tcPr>
                </a:tc>
                <a:tc>
                  <a:txBody>
                    <a:bodyPr/>
                    <a:lstStyle/>
                    <a:p>
                      <a:pPr algn="ctr">
                        <a:defRPr sz="819" b="1">
                          <a:solidFill>
                            <a:srgbClr val="FFFFFF"/>
                          </a:solidFill>
                          <a:latin typeface="Arial"/>
                        </a:defRPr>
                      </a:pPr>
                      <a:r>
                        <a:t>Reviewer cue</a:t>
                      </a:r>
                    </a:p>
                  </a:txBody>
                  <a:tcPr>
                    <a:solidFill>
                      <a:srgbClr val="1F4E79"/>
                    </a:solidFill>
                  </a:tcPr>
                </a:tc>
                <a:extLst>
                  <a:ext uri="{0D108BD9-81ED-4DB2-BD59-A6C34878D82A}">
                    <a16:rowId xmlns:a16="http://schemas.microsoft.com/office/drawing/2014/main" val="10000"/>
                  </a:ext>
                </a:extLst>
              </a:tr>
              <a:tr h="405765">
                <a:tc>
                  <a:txBody>
                    <a:bodyPr/>
                    <a:lstStyle/>
                    <a:p>
                      <a:pPr algn="ctr">
                        <a:defRPr sz="770" b="1">
                          <a:solidFill>
                            <a:srgbClr val="000000"/>
                          </a:solidFill>
                          <a:latin typeface="Arial"/>
                        </a:defRPr>
                      </a:pPr>
                      <a:r>
                        <a:t>Blue</a:t>
                      </a:r>
                    </a:p>
                  </a:txBody>
                  <a:tcPr>
                    <a:solidFill>
                      <a:srgbClr val="D9E1F2"/>
                    </a:solidFill>
                  </a:tcPr>
                </a:tc>
                <a:tc>
                  <a:txBody>
                    <a:bodyPr/>
                    <a:lstStyle/>
                    <a:p>
                      <a:pPr algn="l">
                        <a:defRPr sz="770" b="1">
                          <a:solidFill>
                            <a:srgbClr val="000000"/>
                          </a:solidFill>
                          <a:latin typeface="Arial"/>
                        </a:defRPr>
                      </a:pPr>
                      <a:r>
                        <a:t>Executive control</a:t>
                      </a:r>
                    </a:p>
                  </a:txBody>
                  <a:tcPr>
                    <a:solidFill>
                      <a:srgbClr val="FFFFFF"/>
                    </a:solidFill>
                  </a:tcPr>
                </a:tc>
                <a:tc>
                  <a:txBody>
                    <a:bodyPr/>
                    <a:lstStyle/>
                    <a:p>
                      <a:pPr algn="l">
                        <a:defRPr sz="730" b="0">
                          <a:solidFill>
                            <a:srgbClr val="000000"/>
                          </a:solidFill>
                          <a:latin typeface="Arial"/>
                        </a:defRPr>
                      </a:pPr>
                      <a:r>
                        <a:t>DASHBOARD, INTRO, Settings, Protocol, Provenance</a:t>
                      </a:r>
                    </a:p>
                  </a:txBody>
                  <a:tcPr>
                    <a:solidFill>
                      <a:srgbClr val="FFFFFF"/>
                    </a:solidFill>
                  </a:tcPr>
                </a:tc>
                <a:tc>
                  <a:txBody>
                    <a:bodyPr/>
                    <a:lstStyle/>
                    <a:p>
                      <a:pPr algn="l">
                        <a:defRPr sz="730" b="0">
                          <a:solidFill>
                            <a:srgbClr val="000000"/>
                          </a:solidFill>
                          <a:latin typeface="Arial"/>
                        </a:defRPr>
                      </a:pPr>
                      <a:r>
                        <a:t>Defines purpose, schema, control dials, and provenance.</a:t>
                      </a:r>
                    </a:p>
                  </a:txBody>
                  <a:tcPr>
                    <a:solidFill>
                      <a:srgbClr val="FFFFFF"/>
                    </a:solidFill>
                  </a:tcPr>
                </a:tc>
                <a:tc>
                  <a:txBody>
                    <a:bodyPr/>
                    <a:lstStyle/>
                    <a:p>
                      <a:pPr algn="l">
                        <a:defRPr sz="730" b="0">
                          <a:solidFill>
                            <a:srgbClr val="000000"/>
                          </a:solidFill>
                          <a:latin typeface="Arial"/>
                        </a:defRPr>
                      </a:pPr>
                      <a:r>
                        <a:t>Start here. Explains what the workbook is and what is adjustable.</a:t>
                      </a:r>
                    </a:p>
                  </a:txBody>
                  <a:tcPr>
                    <a:solidFill>
                      <a:srgbClr val="FFFFFF"/>
                    </a:solidFill>
                  </a:tcPr>
                </a:tc>
                <a:extLst>
                  <a:ext uri="{0D108BD9-81ED-4DB2-BD59-A6C34878D82A}">
                    <a16:rowId xmlns:a16="http://schemas.microsoft.com/office/drawing/2014/main" val="10001"/>
                  </a:ext>
                </a:extLst>
              </a:tr>
              <a:tr h="405765">
                <a:tc>
                  <a:txBody>
                    <a:bodyPr/>
                    <a:lstStyle/>
                    <a:p>
                      <a:pPr algn="ctr">
                        <a:defRPr sz="770" b="1">
                          <a:solidFill>
                            <a:srgbClr val="000000"/>
                          </a:solidFill>
                          <a:latin typeface="Arial"/>
                        </a:defRPr>
                      </a:pPr>
                      <a:r>
                        <a:t>Green</a:t>
                      </a:r>
                    </a:p>
                  </a:txBody>
                  <a:tcPr>
                    <a:solidFill>
                      <a:srgbClr val="DAF2DA"/>
                    </a:solidFill>
                  </a:tcPr>
                </a:tc>
                <a:tc>
                  <a:txBody>
                    <a:bodyPr/>
                    <a:lstStyle/>
                    <a:p>
                      <a:pPr algn="l">
                        <a:defRPr sz="770" b="1">
                          <a:solidFill>
                            <a:srgbClr val="000000"/>
                          </a:solidFill>
                          <a:latin typeface="Arial"/>
                        </a:defRPr>
                      </a:pPr>
                      <a:r>
                        <a:t>Core cohort / DES engine</a:t>
                      </a:r>
                    </a:p>
                  </a:txBody>
                  <a:tcPr>
                    <a:solidFill>
                      <a:srgbClr val="F8F8F8"/>
                    </a:solidFill>
                  </a:tcPr>
                </a:tc>
                <a:tc>
                  <a:txBody>
                    <a:bodyPr/>
                    <a:lstStyle/>
                    <a:p>
                      <a:pPr algn="l">
                        <a:defRPr sz="730" b="0">
                          <a:solidFill>
                            <a:srgbClr val="000000"/>
                          </a:solidFill>
                          <a:latin typeface="Arial"/>
                        </a:defRPr>
                      </a:pPr>
                      <a:r>
                        <a:t>Arrivals, RGS_Ground_Run, Edge_Run, Comparison</a:t>
                      </a:r>
                    </a:p>
                  </a:txBody>
                  <a:tcPr>
                    <a:solidFill>
                      <a:srgbClr val="F8F8F8"/>
                    </a:solidFill>
                  </a:tcPr>
                </a:tc>
                <a:tc>
                  <a:txBody>
                    <a:bodyPr/>
                    <a:lstStyle/>
                    <a:p>
                      <a:pPr algn="l">
                        <a:defRPr sz="730" b="0">
                          <a:solidFill>
                            <a:srgbClr val="000000"/>
                          </a:solidFill>
                          <a:latin typeface="Arial"/>
                        </a:defRPr>
                      </a:pPr>
                      <a:r>
                        <a:t>Same arrivals are processed through Ground and Edge paths; Comparison calculates latency delta.</a:t>
                      </a:r>
                    </a:p>
                  </a:txBody>
                  <a:tcPr>
                    <a:solidFill>
                      <a:srgbClr val="F8F8F8"/>
                    </a:solidFill>
                  </a:tcPr>
                </a:tc>
                <a:tc>
                  <a:txBody>
                    <a:bodyPr/>
                    <a:lstStyle/>
                    <a:p>
                      <a:pPr algn="l">
                        <a:defRPr sz="730" b="0">
                          <a:solidFill>
                            <a:srgbClr val="000000"/>
                          </a:solidFill>
                          <a:latin typeface="Arial"/>
                        </a:defRPr>
                      </a:pPr>
                      <a:r>
                        <a:t>This is the mathematical heart. Do not reorder.</a:t>
                      </a:r>
                    </a:p>
                  </a:txBody>
                  <a:tcPr>
                    <a:solidFill>
                      <a:srgbClr val="F8F8F8"/>
                    </a:solidFill>
                  </a:tcPr>
                </a:tc>
                <a:extLst>
                  <a:ext uri="{0D108BD9-81ED-4DB2-BD59-A6C34878D82A}">
                    <a16:rowId xmlns:a16="http://schemas.microsoft.com/office/drawing/2014/main" val="10002"/>
                  </a:ext>
                </a:extLst>
              </a:tr>
              <a:tr h="405765">
                <a:tc>
                  <a:txBody>
                    <a:bodyPr/>
                    <a:lstStyle/>
                    <a:p>
                      <a:pPr algn="ctr">
                        <a:defRPr sz="770" b="1">
                          <a:solidFill>
                            <a:srgbClr val="000000"/>
                          </a:solidFill>
                          <a:latin typeface="Arial"/>
                        </a:defRPr>
                      </a:pPr>
                      <a:r>
                        <a:t>Brown</a:t>
                      </a:r>
                    </a:p>
                  </a:txBody>
                  <a:tcPr>
                    <a:solidFill>
                      <a:srgbClr val="F4E2CC"/>
                    </a:solidFill>
                  </a:tcPr>
                </a:tc>
                <a:tc>
                  <a:txBody>
                    <a:bodyPr/>
                    <a:lstStyle/>
                    <a:p>
                      <a:pPr algn="l">
                        <a:defRPr sz="770" b="1">
                          <a:solidFill>
                            <a:srgbClr val="000000"/>
                          </a:solidFill>
                          <a:latin typeface="Arial"/>
                        </a:defRPr>
                      </a:pPr>
                      <a:r>
                        <a:t>Analysis and statistics</a:t>
                      </a:r>
                    </a:p>
                  </a:txBody>
                  <a:tcPr>
                    <a:solidFill>
                      <a:srgbClr val="FFFFFF"/>
                    </a:solidFill>
                  </a:tcPr>
                </a:tc>
                <a:tc>
                  <a:txBody>
                    <a:bodyPr/>
                    <a:lstStyle/>
                    <a:p>
                      <a:pPr algn="l">
                        <a:defRPr sz="730" b="0">
                          <a:solidFill>
                            <a:srgbClr val="000000"/>
                          </a:solidFill>
                          <a:latin typeface="Arial"/>
                        </a:defRPr>
                      </a:pPr>
                      <a:r>
                        <a:t>Replications, Sensitivity, Scenario_Snapshots, Latency_Bins, A/C/E snapshots</a:t>
                      </a:r>
                    </a:p>
                  </a:txBody>
                  <a:tcPr>
                    <a:solidFill>
                      <a:srgbClr val="FFFFFF"/>
                    </a:solidFill>
                  </a:tcPr>
                </a:tc>
                <a:tc>
                  <a:txBody>
                    <a:bodyPr/>
                    <a:lstStyle/>
                    <a:p>
                      <a:pPr algn="l">
                        <a:defRPr sz="730" b="0">
                          <a:solidFill>
                            <a:srgbClr val="000000"/>
                          </a:solidFill>
                          <a:latin typeface="Arial"/>
                        </a:defRPr>
                      </a:pPr>
                      <a:r>
                        <a:t>Aggregates runs, shows sensitivity, creates dashboard/histogram support.</a:t>
                      </a:r>
                    </a:p>
                  </a:txBody>
                  <a:tcPr>
                    <a:solidFill>
                      <a:srgbClr val="FFFFFF"/>
                    </a:solidFill>
                  </a:tcPr>
                </a:tc>
                <a:tc>
                  <a:txBody>
                    <a:bodyPr/>
                    <a:lstStyle/>
                    <a:p>
                      <a:pPr algn="l">
                        <a:defRPr sz="730" b="0">
                          <a:solidFill>
                            <a:srgbClr val="000000"/>
                          </a:solidFill>
                          <a:latin typeface="Arial"/>
                        </a:defRPr>
                      </a:pPr>
                      <a:r>
                        <a:t>This is where results become reviewer-readable.</a:t>
                      </a:r>
                    </a:p>
                  </a:txBody>
                  <a:tcPr>
                    <a:solidFill>
                      <a:srgbClr val="FFFFFF"/>
                    </a:solidFill>
                  </a:tcPr>
                </a:tc>
                <a:extLst>
                  <a:ext uri="{0D108BD9-81ED-4DB2-BD59-A6C34878D82A}">
                    <a16:rowId xmlns:a16="http://schemas.microsoft.com/office/drawing/2014/main" val="10003"/>
                  </a:ext>
                </a:extLst>
              </a:tr>
              <a:tr h="405765">
                <a:tc>
                  <a:txBody>
                    <a:bodyPr/>
                    <a:lstStyle/>
                    <a:p>
                      <a:pPr algn="ctr">
                        <a:defRPr sz="770" b="1">
                          <a:solidFill>
                            <a:srgbClr val="000000"/>
                          </a:solidFill>
                          <a:latin typeface="Arial"/>
                        </a:defRPr>
                      </a:pPr>
                      <a:r>
                        <a:t>Yellow</a:t>
                      </a:r>
                    </a:p>
                  </a:txBody>
                  <a:tcPr>
                    <a:solidFill>
                      <a:srgbClr val="FFF2CC"/>
                    </a:solidFill>
                  </a:tcPr>
                </a:tc>
                <a:tc>
                  <a:txBody>
                    <a:bodyPr/>
                    <a:lstStyle/>
                    <a:p>
                      <a:pPr algn="l">
                        <a:defRPr sz="770" b="1">
                          <a:solidFill>
                            <a:srgbClr val="000000"/>
                          </a:solidFill>
                          <a:latin typeface="Arial"/>
                        </a:defRPr>
                      </a:pPr>
                      <a:r>
                        <a:t>Verification and audit</a:t>
                      </a:r>
                    </a:p>
                  </a:txBody>
                  <a:tcPr>
                    <a:solidFill>
                      <a:srgbClr val="F8F8F8"/>
                    </a:solidFill>
                  </a:tcPr>
                </a:tc>
                <a:tc>
                  <a:txBody>
                    <a:bodyPr/>
                    <a:lstStyle/>
                    <a:p>
                      <a:pPr algn="l">
                        <a:defRPr sz="730" b="0">
                          <a:solidFill>
                            <a:srgbClr val="000000"/>
                          </a:solidFill>
                          <a:latin typeface="Arial"/>
                        </a:defRPr>
                      </a:pPr>
                      <a:r>
                        <a:t>Hand_Check, _Build_Check, Validation</a:t>
                      </a:r>
                    </a:p>
                  </a:txBody>
                  <a:tcPr>
                    <a:solidFill>
                      <a:srgbClr val="F8F8F8"/>
                    </a:solidFill>
                  </a:tcPr>
                </a:tc>
                <a:tc>
                  <a:txBody>
                    <a:bodyPr/>
                    <a:lstStyle/>
                    <a:p>
                      <a:pPr algn="l">
                        <a:defRPr sz="730" b="0">
                          <a:solidFill>
                            <a:srgbClr val="000000"/>
                          </a:solidFill>
                          <a:latin typeface="Arial"/>
                        </a:defRPr>
                      </a:pPr>
                      <a:r>
                        <a:t>Checks formulas, first records, validation rules, and calculation integrity.</a:t>
                      </a:r>
                    </a:p>
                  </a:txBody>
                  <a:tcPr>
                    <a:solidFill>
                      <a:srgbClr val="F8F8F8"/>
                    </a:solidFill>
                  </a:tcPr>
                </a:tc>
                <a:tc>
                  <a:txBody>
                    <a:bodyPr/>
                    <a:lstStyle/>
                    <a:p>
                      <a:pPr algn="l">
                        <a:defRPr sz="730" b="0">
                          <a:solidFill>
                            <a:srgbClr val="000000"/>
                          </a:solidFill>
                          <a:latin typeface="Arial"/>
                        </a:defRPr>
                      </a:pPr>
                      <a:r>
                        <a:t>Evidence that the workbook was checked.</a:t>
                      </a:r>
                    </a:p>
                  </a:txBody>
                  <a:tcPr>
                    <a:solidFill>
                      <a:srgbClr val="F8F8F8"/>
                    </a:solidFill>
                  </a:tcPr>
                </a:tc>
                <a:extLst>
                  <a:ext uri="{0D108BD9-81ED-4DB2-BD59-A6C34878D82A}">
                    <a16:rowId xmlns:a16="http://schemas.microsoft.com/office/drawing/2014/main" val="10004"/>
                  </a:ext>
                </a:extLst>
              </a:tr>
              <a:tr h="405765">
                <a:tc>
                  <a:txBody>
                    <a:bodyPr/>
                    <a:lstStyle/>
                    <a:p>
                      <a:pPr algn="ctr">
                        <a:defRPr sz="770" b="1">
                          <a:solidFill>
                            <a:srgbClr val="000000"/>
                          </a:solidFill>
                          <a:latin typeface="Arial"/>
                        </a:defRPr>
                      </a:pPr>
                      <a:r>
                        <a:t>Purple</a:t>
                      </a:r>
                    </a:p>
                  </a:txBody>
                  <a:tcPr>
                    <a:solidFill>
                      <a:srgbClr val="EADDF7"/>
                    </a:solidFill>
                  </a:tcPr>
                </a:tc>
                <a:tc>
                  <a:txBody>
                    <a:bodyPr/>
                    <a:lstStyle/>
                    <a:p>
                      <a:pPr algn="l">
                        <a:defRPr sz="770" b="1">
                          <a:solidFill>
                            <a:srgbClr val="000000"/>
                          </a:solidFill>
                          <a:latin typeface="Arial"/>
                        </a:defRPr>
                      </a:pPr>
                      <a:r>
                        <a:t>Integration blenders</a:t>
                      </a:r>
                    </a:p>
                  </a:txBody>
                  <a:tcPr>
                    <a:solidFill>
                      <a:srgbClr val="FFFFFF"/>
                    </a:solidFill>
                  </a:tcPr>
                </a:tc>
                <a:tc>
                  <a:txBody>
                    <a:bodyPr/>
                    <a:lstStyle/>
                    <a:p>
                      <a:pPr algn="l">
                        <a:defRPr sz="730" b="0">
                          <a:solidFill>
                            <a:srgbClr val="000000"/>
                          </a:solidFill>
                          <a:latin typeface="Arial"/>
                        </a:defRPr>
                      </a:pPr>
                      <a:r>
                        <a:t>Simul_Enviro_OMNI_Normalized, Integration_Join_Audit, Integration_Common_Timeline</a:t>
                      </a:r>
                    </a:p>
                  </a:txBody>
                  <a:tcPr>
                    <a:solidFill>
                      <a:srgbClr val="FFFFFF"/>
                    </a:solidFill>
                  </a:tcPr>
                </a:tc>
                <a:tc>
                  <a:txBody>
                    <a:bodyPr/>
                    <a:lstStyle/>
                    <a:p>
                      <a:pPr algn="l">
                        <a:defRPr sz="730" b="0">
                          <a:solidFill>
                            <a:srgbClr val="000000"/>
                          </a:solidFill>
                          <a:latin typeface="Arial"/>
                        </a:defRPr>
                      </a:pPr>
                      <a:r>
                        <a:t>Normalizes and time-aligns AI/ML, COMM, and ENV into the common ACE timeline.</a:t>
                      </a:r>
                    </a:p>
                  </a:txBody>
                  <a:tcPr>
                    <a:solidFill>
                      <a:srgbClr val="FFFFFF"/>
                    </a:solidFill>
                  </a:tcPr>
                </a:tc>
                <a:tc>
                  <a:txBody>
                    <a:bodyPr/>
                    <a:lstStyle/>
                    <a:p>
                      <a:pPr algn="l">
                        <a:defRPr sz="730" b="0">
                          <a:solidFill>
                            <a:srgbClr val="000000"/>
                          </a:solidFill>
                          <a:latin typeface="Arial"/>
                        </a:defRPr>
                      </a:pPr>
                      <a:r>
                        <a:t>Shows how raw data became model input.</a:t>
                      </a:r>
                    </a:p>
                  </a:txBody>
                  <a:tcPr>
                    <a:solidFill>
                      <a:srgbClr val="FFFFFF"/>
                    </a:solidFill>
                  </a:tcPr>
                </a:tc>
                <a:extLst>
                  <a:ext uri="{0D108BD9-81ED-4DB2-BD59-A6C34878D82A}">
                    <a16:rowId xmlns:a16="http://schemas.microsoft.com/office/drawing/2014/main" val="10005"/>
                  </a:ext>
                </a:extLst>
              </a:tr>
              <a:tr h="405765">
                <a:tc>
                  <a:txBody>
                    <a:bodyPr/>
                    <a:lstStyle/>
                    <a:p>
                      <a:pPr algn="ctr">
                        <a:defRPr sz="770" b="1">
                          <a:solidFill>
                            <a:srgbClr val="000000"/>
                          </a:solidFill>
                          <a:latin typeface="Arial"/>
                        </a:defRPr>
                      </a:pPr>
                      <a:r>
                        <a:t>Orange</a:t>
                      </a:r>
                    </a:p>
                  </a:txBody>
                  <a:tcPr>
                    <a:solidFill>
                      <a:srgbClr val="FCE4D6"/>
                    </a:solidFill>
                  </a:tcPr>
                </a:tc>
                <a:tc>
                  <a:txBody>
                    <a:bodyPr/>
                    <a:lstStyle/>
                    <a:p>
                      <a:pPr algn="l">
                        <a:defRPr sz="770" b="1">
                          <a:solidFill>
                            <a:srgbClr val="000000"/>
                          </a:solidFill>
                          <a:latin typeface="Arial"/>
                        </a:defRPr>
                      </a:pPr>
                      <a:r>
                        <a:t>COMM decoders</a:t>
                      </a:r>
                    </a:p>
                  </a:txBody>
                  <a:tcPr>
                    <a:solidFill>
                      <a:srgbClr val="F8F8F8"/>
                    </a:solidFill>
                  </a:tcPr>
                </a:tc>
                <a:tc>
                  <a:txBody>
                    <a:bodyPr/>
                    <a:lstStyle/>
                    <a:p>
                      <a:pPr algn="l">
                        <a:defRPr sz="730" b="0">
                          <a:solidFill>
                            <a:srgbClr val="000000"/>
                          </a:solidFill>
                          <a:latin typeface="Arial"/>
                        </a:defRPr>
                      </a:pPr>
                      <a:r>
                        <a:t>COMM_Decoded, COMM_Beacons, COMM_Counter_Deltas, COMM_Rejected, Field Map, Decode QC</a:t>
                      </a:r>
                    </a:p>
                  </a:txBody>
                  <a:tcPr>
                    <a:solidFill>
                      <a:srgbClr val="F8F8F8"/>
                    </a:solidFill>
                  </a:tcPr>
                </a:tc>
                <a:tc>
                  <a:txBody>
                    <a:bodyPr/>
                    <a:lstStyle/>
                    <a:p>
                      <a:pPr algn="l">
                        <a:defRPr sz="730" b="0">
                          <a:solidFill>
                            <a:srgbClr val="000000"/>
                          </a:solidFill>
                          <a:latin typeface="Arial"/>
                        </a:defRPr>
                      </a:pPr>
                      <a:r>
                        <a:t>Decodes SatNOGS telemetry and records accepted/rejected communication fields.</a:t>
                      </a:r>
                    </a:p>
                  </a:txBody>
                  <a:tcPr>
                    <a:solidFill>
                      <a:srgbClr val="F8F8F8"/>
                    </a:solidFill>
                  </a:tcPr>
                </a:tc>
                <a:tc>
                  <a:txBody>
                    <a:bodyPr/>
                    <a:lstStyle/>
                    <a:p>
                      <a:pPr algn="l">
                        <a:defRPr sz="730" b="0">
                          <a:solidFill>
                            <a:srgbClr val="000000"/>
                          </a:solidFill>
                          <a:latin typeface="Arial"/>
                        </a:defRPr>
                      </a:pPr>
                      <a:r>
                        <a:t>Supports the C leg and QC traceability.</a:t>
                      </a:r>
                    </a:p>
                  </a:txBody>
                  <a:tcPr>
                    <a:solidFill>
                      <a:srgbClr val="F8F8F8"/>
                    </a:solidFill>
                  </a:tcPr>
                </a:tc>
                <a:extLst>
                  <a:ext uri="{0D108BD9-81ED-4DB2-BD59-A6C34878D82A}">
                    <a16:rowId xmlns:a16="http://schemas.microsoft.com/office/drawing/2014/main" val="10006"/>
                  </a:ext>
                </a:extLst>
              </a:tr>
              <a:tr h="405765">
                <a:tc>
                  <a:txBody>
                    <a:bodyPr/>
                    <a:lstStyle/>
                    <a:p>
                      <a:pPr algn="ctr">
                        <a:defRPr sz="770" b="1">
                          <a:solidFill>
                            <a:srgbClr val="000000"/>
                          </a:solidFill>
                          <a:latin typeface="Arial"/>
                        </a:defRPr>
                      </a:pPr>
                      <a:r>
                        <a:t>Grey</a:t>
                      </a:r>
                    </a:p>
                  </a:txBody>
                  <a:tcPr>
                    <a:solidFill>
                      <a:srgbClr val="E6E6E6"/>
                    </a:solidFill>
                  </a:tcPr>
                </a:tc>
                <a:tc>
                  <a:txBody>
                    <a:bodyPr/>
                    <a:lstStyle/>
                    <a:p>
                      <a:pPr algn="l">
                        <a:defRPr sz="770" b="1">
                          <a:solidFill>
                            <a:srgbClr val="000000"/>
                          </a:solidFill>
                          <a:latin typeface="Arial"/>
                        </a:defRPr>
                      </a:pPr>
                      <a:r>
                        <a:t>Raw / utility / history</a:t>
                      </a:r>
                    </a:p>
                  </a:txBody>
                  <a:tcPr>
                    <a:solidFill>
                      <a:srgbClr val="FFFFFF"/>
                    </a:solidFill>
                  </a:tcPr>
                </a:tc>
                <a:tc>
                  <a:txBody>
                    <a:bodyPr/>
                    <a:lstStyle/>
                    <a:p>
                      <a:pPr algn="l">
                        <a:defRPr sz="730" b="0">
                          <a:solidFill>
                            <a:srgbClr val="000000"/>
                          </a:solidFill>
                          <a:latin typeface="Arial"/>
                        </a:defRPr>
                      </a:pPr>
                      <a:r>
                        <a:t>Raw Simultaneity sheets, MATLAB_Map, MATLAB_Handoff, Change_Log, v9 Readme, ACE legacy input</a:t>
                      </a:r>
                    </a:p>
                  </a:txBody>
                  <a:tcPr>
                    <a:solidFill>
                      <a:srgbClr val="FFFFFF"/>
                    </a:solidFill>
                  </a:tcPr>
                </a:tc>
                <a:tc>
                  <a:txBody>
                    <a:bodyPr/>
                    <a:lstStyle/>
                    <a:p>
                      <a:pPr algn="l">
                        <a:defRPr sz="730" b="0">
                          <a:solidFill>
                            <a:srgbClr val="000000"/>
                          </a:solidFill>
                          <a:latin typeface="Arial"/>
                        </a:defRPr>
                      </a:pPr>
                      <a:r>
                        <a:t>Stores raw data, handoff tables, history, and MATLAB support.</a:t>
                      </a:r>
                    </a:p>
                  </a:txBody>
                  <a:tcPr>
                    <a:solidFill>
                      <a:srgbClr val="FFFFFF"/>
                    </a:solidFill>
                  </a:tcPr>
                </a:tc>
                <a:tc>
                  <a:txBody>
                    <a:bodyPr/>
                    <a:lstStyle/>
                    <a:p>
                      <a:pPr algn="l">
                        <a:defRPr sz="730" b="0">
                          <a:solidFill>
                            <a:srgbClr val="000000"/>
                          </a:solidFill>
                          <a:latin typeface="Arial"/>
                        </a:defRPr>
                      </a:pPr>
                      <a:r>
                        <a:t>Reference and configuration control layer.</a:t>
                      </a:r>
                    </a:p>
                  </a:txBody>
                  <a:tcPr>
                    <a:solidFill>
                      <a:srgbClr val="FFFFFF"/>
                    </a:solidFill>
                  </a:tcPr>
                </a:tc>
                <a:extLst>
                  <a:ext uri="{0D108BD9-81ED-4DB2-BD59-A6C34878D82A}">
                    <a16:rowId xmlns:a16="http://schemas.microsoft.com/office/drawing/2014/main" val="10007"/>
                  </a:ext>
                </a:extLst>
              </a:tr>
            </a:tbl>
          </a:graphicData>
        </a:graphic>
      </p:graphicFrame>
      <p:sp>
        <p:nvSpPr>
          <p:cNvPr id="6" name="TextBox 5"/>
          <p:cNvSpPr txBox="1"/>
          <p:nvPr/>
        </p:nvSpPr>
        <p:spPr>
          <a:xfrm>
            <a:off x="594360" y="5596128"/>
            <a:ext cx="10698480" cy="320040"/>
          </a:xfrm>
          <a:prstGeom prst="rect">
            <a:avLst/>
          </a:prstGeom>
          <a:noFill/>
        </p:spPr>
        <p:txBody>
          <a:bodyPr wrap="none" lIns="27432" tIns="18288" rIns="27432" bIns="18288">
            <a:spAutoFit/>
          </a:bodyPr>
          <a:lstStyle/>
          <a:p>
            <a:pPr>
              <a:defRPr sz="880" b="1">
                <a:solidFill>
                  <a:srgbClr val="780000"/>
                </a:solidFill>
                <a:latin typeface="Arial"/>
              </a:defRPr>
            </a:pPr>
            <a:r>
              <a:t>Immutable sequence rule: names may be interpreted dynamically, but the 1–38 tab order is treated as ASOT configuration control; do not drag/reorder tabs.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58"/>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28600"/>
            <a:ext cx="7772400" cy="411480"/>
          </a:xfrm>
          <a:prstGeom prst="rect">
            <a:avLst/>
          </a:prstGeom>
          <a:noFill/>
        </p:spPr>
        <p:txBody>
          <a:bodyPr wrap="square">
            <a:normAutofit/>
          </a:bodyPr>
          <a:lstStyle/>
          <a:p>
            <a:r>
              <a:rPr sz="2400" b="1">
                <a:solidFill>
                  <a:srgbClr val="FFFFFF"/>
                </a:solidFill>
                <a:latin typeface="Arial"/>
              </a:rPr>
              <a:t>Praxis Schedule &amp; Gantt Overview</a:t>
            </a:r>
          </a:p>
        </p:txBody>
      </p:sp>
      <p:sp>
        <p:nvSpPr>
          <p:cNvPr id="4" name="TextBox 3"/>
          <p:cNvSpPr txBox="1"/>
          <p:nvPr/>
        </p:nvSpPr>
        <p:spPr>
          <a:xfrm>
            <a:off x="338328" y="658368"/>
            <a:ext cx="8229600" cy="228600"/>
          </a:xfrm>
          <a:prstGeom prst="rect">
            <a:avLst/>
          </a:prstGeom>
          <a:noFill/>
        </p:spPr>
        <p:txBody>
          <a:bodyPr wrap="square">
            <a:normAutofit/>
          </a:bodyPr>
          <a:lstStyle/>
          <a:p>
            <a:r>
              <a:rPr sz="1100" b="0">
                <a:solidFill>
                  <a:srgbClr val="FFFFFF"/>
                </a:solidFill>
                <a:latin typeface="Arial"/>
              </a:rPr>
              <a:t>Updated 01 Oct 2026 • Oct. 1 baseline complete • Oct. 17 next advisor deadline</a:t>
            </a:r>
          </a:p>
        </p:txBody>
      </p:sp>
      <p:sp>
        <p:nvSpPr>
          <p:cNvPr id="5" name="TextBox 4"/>
          <p:cNvSpPr txBox="1"/>
          <p:nvPr/>
        </p:nvSpPr>
        <p:spPr>
          <a:xfrm>
            <a:off x="338328" y="960120"/>
            <a:ext cx="10789920" cy="228600"/>
          </a:xfrm>
          <a:prstGeom prst="rect">
            <a:avLst/>
          </a:prstGeom>
          <a:noFill/>
        </p:spPr>
        <p:txBody>
          <a:bodyPr wrap="square">
            <a:normAutofit/>
          </a:bodyPr>
          <a:lstStyle/>
          <a:p>
            <a:r>
              <a:rPr sz="1000" b="0">
                <a:solidFill>
                  <a:srgbClr val="FFD700"/>
                </a:solidFill>
                <a:latin typeface="Arial"/>
              </a:rPr>
              <a:t>Important note: Chapter 2 appears first because GWU expects Chapter 2 in Semester 1; Chapter 3 follows after the literature foundation is satisfactory.</a:t>
            </a:r>
          </a:p>
        </p:txBody>
      </p:sp>
      <p:sp>
        <p:nvSpPr>
          <p:cNvPr id="6" name="Rectangle 5"/>
          <p:cNvSpPr/>
          <p:nvPr/>
        </p:nvSpPr>
        <p:spPr>
          <a:xfrm>
            <a:off x="256032" y="1234440"/>
            <a:ext cx="6675120" cy="5257800"/>
          </a:xfrm>
          <a:prstGeom prst="rect">
            <a:avLst/>
          </a:prstGeom>
          <a:solidFill>
            <a:srgbClr val="0F0F12"/>
          </a:solidFill>
          <a:ln w="1270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84048" y="1783080"/>
            <a:ext cx="1691640" cy="292608"/>
          </a:xfrm>
          <a:prstGeom prst="rect">
            <a:avLst/>
          </a:prstGeom>
          <a:noFill/>
        </p:spPr>
        <p:txBody>
          <a:bodyPr wrap="square">
            <a:normAutofit/>
          </a:bodyPr>
          <a:lstStyle/>
          <a:p>
            <a:r>
              <a:rPr sz="950" b="0">
                <a:solidFill>
                  <a:srgbClr val="FFFFFF"/>
                </a:solidFill>
                <a:latin typeface="Arial"/>
              </a:rPr>
              <a:t>Research archive &amp; public data sources</a:t>
            </a:r>
          </a:p>
        </p:txBody>
      </p:sp>
      <p:sp>
        <p:nvSpPr>
          <p:cNvPr id="25" name="TextBox 24"/>
          <p:cNvSpPr txBox="1"/>
          <p:nvPr/>
        </p:nvSpPr>
        <p:spPr>
          <a:xfrm>
            <a:off x="384048" y="2240280"/>
            <a:ext cx="1691640" cy="292608"/>
          </a:xfrm>
          <a:prstGeom prst="rect">
            <a:avLst/>
          </a:prstGeom>
          <a:noFill/>
        </p:spPr>
        <p:txBody>
          <a:bodyPr wrap="square">
            <a:normAutofit/>
          </a:bodyPr>
          <a:lstStyle/>
          <a:p>
            <a:r>
              <a:rPr sz="950" b="0">
                <a:solidFill>
                  <a:srgbClr val="FFFFFF"/>
                </a:solidFill>
                <a:latin typeface="Arial"/>
              </a:rPr>
              <a:t>Chapter 2 LR draft + advisor review</a:t>
            </a:r>
          </a:p>
        </p:txBody>
      </p:sp>
      <p:sp>
        <p:nvSpPr>
          <p:cNvPr id="27" name="TextBox 26"/>
          <p:cNvSpPr txBox="1"/>
          <p:nvPr/>
        </p:nvSpPr>
        <p:spPr>
          <a:xfrm>
            <a:off x="384048" y="2697480"/>
            <a:ext cx="1691640" cy="292608"/>
          </a:xfrm>
          <a:prstGeom prst="rect">
            <a:avLst/>
          </a:prstGeom>
          <a:noFill/>
        </p:spPr>
        <p:txBody>
          <a:bodyPr wrap="square">
            <a:normAutofit/>
          </a:bodyPr>
          <a:lstStyle/>
          <a:p>
            <a:r>
              <a:rPr sz="950" b="0">
                <a:solidFill>
                  <a:srgbClr val="FFFFFF"/>
                </a:solidFill>
                <a:latin typeface="Arial"/>
              </a:rPr>
              <a:t>Excel DES v9 + simultaneous ACE</a:t>
            </a:r>
          </a:p>
        </p:txBody>
      </p:sp>
      <p:sp>
        <p:nvSpPr>
          <p:cNvPr id="29" name="TextBox 28"/>
          <p:cNvSpPr txBox="1"/>
          <p:nvPr/>
        </p:nvSpPr>
        <p:spPr>
          <a:xfrm>
            <a:off x="384048" y="3154680"/>
            <a:ext cx="1691640" cy="292608"/>
          </a:xfrm>
          <a:prstGeom prst="rect">
            <a:avLst/>
          </a:prstGeom>
          <a:noFill/>
        </p:spPr>
        <p:txBody>
          <a:bodyPr wrap="square">
            <a:normAutofit/>
          </a:bodyPr>
          <a:lstStyle/>
          <a:p>
            <a:r>
              <a:rPr sz="950" b="0">
                <a:solidFill>
                  <a:srgbClr val="FFFFFF"/>
                </a:solidFill>
                <a:latin typeface="Arial"/>
              </a:rPr>
              <a:t>Prepare 30-page milestone draft</a:t>
            </a:r>
          </a:p>
        </p:txBody>
      </p:sp>
      <p:sp>
        <p:nvSpPr>
          <p:cNvPr id="31" name="TextBox 30"/>
          <p:cNvSpPr txBox="1"/>
          <p:nvPr/>
        </p:nvSpPr>
        <p:spPr>
          <a:xfrm>
            <a:off x="384048" y="3611880"/>
            <a:ext cx="1691640" cy="292608"/>
          </a:xfrm>
          <a:prstGeom prst="rect">
            <a:avLst/>
          </a:prstGeom>
          <a:noFill/>
        </p:spPr>
        <p:txBody>
          <a:bodyPr wrap="square">
            <a:normAutofit/>
          </a:bodyPr>
          <a:lstStyle/>
          <a:p>
            <a:r>
              <a:rPr sz="950" b="0">
                <a:solidFill>
                  <a:srgbClr val="FFFFFF"/>
                </a:solidFill>
                <a:latin typeface="Arial"/>
              </a:rPr>
              <a:t>Build MATLAB / SimEvents model</a:t>
            </a:r>
          </a:p>
        </p:txBody>
      </p:sp>
      <p:sp>
        <p:nvSpPr>
          <p:cNvPr id="33" name="TextBox 32"/>
          <p:cNvSpPr txBox="1"/>
          <p:nvPr/>
        </p:nvSpPr>
        <p:spPr>
          <a:xfrm>
            <a:off x="384048" y="4069080"/>
            <a:ext cx="1691640" cy="292608"/>
          </a:xfrm>
          <a:prstGeom prst="rect">
            <a:avLst/>
          </a:prstGeom>
          <a:noFill/>
        </p:spPr>
        <p:txBody>
          <a:bodyPr wrap="square">
            <a:normAutofit/>
          </a:bodyPr>
          <a:lstStyle/>
          <a:p>
            <a:r>
              <a:rPr sz="950" b="0">
                <a:solidFill>
                  <a:srgbClr val="FFFFFF"/>
                </a:solidFill>
                <a:latin typeface="Arial"/>
              </a:rPr>
              <a:t>Write Chapter 3 methodology</a:t>
            </a:r>
          </a:p>
        </p:txBody>
      </p:sp>
      <p:sp>
        <p:nvSpPr>
          <p:cNvPr id="35" name="TextBox 34"/>
          <p:cNvSpPr txBox="1"/>
          <p:nvPr/>
        </p:nvSpPr>
        <p:spPr>
          <a:xfrm>
            <a:off x="384048" y="4526280"/>
            <a:ext cx="1691640" cy="292608"/>
          </a:xfrm>
          <a:prstGeom prst="rect">
            <a:avLst/>
          </a:prstGeom>
          <a:noFill/>
        </p:spPr>
        <p:txBody>
          <a:bodyPr wrap="square">
            <a:normAutofit/>
          </a:bodyPr>
          <a:lstStyle/>
          <a:p>
            <a:r>
              <a:rPr sz="950" b="0">
                <a:solidFill>
                  <a:srgbClr val="FFFFFF"/>
                </a:solidFill>
                <a:latin typeface="Arial"/>
              </a:rPr>
              <a:t>Run experiments, sensitivity, and V&amp;V</a:t>
            </a:r>
          </a:p>
        </p:txBody>
      </p:sp>
      <p:sp>
        <p:nvSpPr>
          <p:cNvPr id="37" name="TextBox 36"/>
          <p:cNvSpPr txBox="1"/>
          <p:nvPr/>
        </p:nvSpPr>
        <p:spPr>
          <a:xfrm>
            <a:off x="384048" y="4983480"/>
            <a:ext cx="1691640" cy="292608"/>
          </a:xfrm>
          <a:prstGeom prst="rect">
            <a:avLst/>
          </a:prstGeom>
          <a:noFill/>
        </p:spPr>
        <p:txBody>
          <a:bodyPr wrap="square">
            <a:normAutofit/>
          </a:bodyPr>
          <a:lstStyle/>
          <a:p>
            <a:r>
              <a:rPr sz="950" b="0">
                <a:solidFill>
                  <a:srgbClr val="FFFFFF"/>
                </a:solidFill>
                <a:latin typeface="Arial"/>
              </a:rPr>
              <a:t>Draft Chapters 1, 4, and 5</a:t>
            </a:r>
          </a:p>
        </p:txBody>
      </p:sp>
      <p:sp>
        <p:nvSpPr>
          <p:cNvPr id="39" name="TextBox 38"/>
          <p:cNvSpPr txBox="1"/>
          <p:nvPr/>
        </p:nvSpPr>
        <p:spPr>
          <a:xfrm>
            <a:off x="384048" y="5440680"/>
            <a:ext cx="1691640" cy="292608"/>
          </a:xfrm>
          <a:prstGeom prst="rect">
            <a:avLst/>
          </a:prstGeom>
          <a:noFill/>
        </p:spPr>
        <p:txBody>
          <a:bodyPr wrap="square">
            <a:normAutofit/>
          </a:bodyPr>
          <a:lstStyle/>
          <a:p>
            <a:r>
              <a:rPr sz="950" b="0">
                <a:solidFill>
                  <a:srgbClr val="FFFFFF"/>
                </a:solidFill>
                <a:latin typeface="Arial"/>
              </a:rPr>
              <a:t>AIR, committee package, defense</a:t>
            </a:r>
          </a:p>
        </p:txBody>
      </p:sp>
      <p:sp>
        <p:nvSpPr>
          <p:cNvPr id="40" name="Rounded Rectangle 39"/>
          <p:cNvSpPr/>
          <p:nvPr/>
        </p:nvSpPr>
        <p:spPr>
          <a:xfrm>
            <a:off x="6903720" y="1225296"/>
            <a:ext cx="4206240" cy="1664208"/>
          </a:xfrm>
          <a:prstGeom prst="roundRect">
            <a:avLst/>
          </a:prstGeom>
          <a:solidFill>
            <a:srgbClr val="051D2D"/>
          </a:solidFill>
          <a:ln w="20320">
            <a:solidFill>
              <a:srgbClr val="00D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040880" y="1362456"/>
            <a:ext cx="3931920" cy="274320"/>
          </a:xfrm>
          <a:prstGeom prst="rect">
            <a:avLst/>
          </a:prstGeom>
          <a:noFill/>
        </p:spPr>
        <p:txBody>
          <a:bodyPr wrap="none" anchor="t">
            <a:spAutoFit/>
          </a:bodyPr>
          <a:lstStyle/>
          <a:p>
            <a:pPr algn="ctr"/>
            <a:r>
              <a:rPr sz="1500" b="1">
                <a:solidFill>
                  <a:srgbClr val="00D2EB"/>
                </a:solidFill>
                <a:latin typeface="Arial"/>
              </a:rPr>
              <a:t>Milestone key</a:t>
            </a:r>
          </a:p>
        </p:txBody>
      </p:sp>
      <p:sp>
        <p:nvSpPr>
          <p:cNvPr id="42" name="Oval 41"/>
          <p:cNvSpPr/>
          <p:nvPr/>
        </p:nvSpPr>
        <p:spPr>
          <a:xfrm>
            <a:off x="7114032" y="1645920"/>
            <a:ext cx="164592" cy="164592"/>
          </a:xfrm>
          <a:prstGeom prst="ellipse">
            <a:avLst/>
          </a:prstGeom>
          <a:solidFill>
            <a:srgbClr val="00CD6E"/>
          </a:solidFill>
          <a:ln>
            <a:solidFill>
              <a:srgbClr val="00CD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14032" y="1655064"/>
            <a:ext cx="164592" cy="164592"/>
          </a:xfrm>
          <a:prstGeom prst="rect">
            <a:avLst/>
          </a:prstGeom>
          <a:noFill/>
        </p:spPr>
        <p:txBody>
          <a:bodyPr wrap="none" lIns="0" rIns="0" tIns="0" bIns="0">
            <a:spAutoFit/>
          </a:bodyPr>
          <a:lstStyle/>
          <a:p>
            <a:pPr algn="ctr"/>
            <a:r>
              <a:rPr sz="750" b="1">
                <a:solidFill>
                  <a:srgbClr val="FFFFFF"/>
                </a:solidFill>
                <a:latin typeface="Arial"/>
              </a:rPr>
              <a:t>1</a:t>
            </a:r>
          </a:p>
        </p:txBody>
      </p:sp>
      <p:sp>
        <p:nvSpPr>
          <p:cNvPr id="44" name="TextBox 43"/>
          <p:cNvSpPr txBox="1"/>
          <p:nvPr/>
        </p:nvSpPr>
        <p:spPr>
          <a:xfrm>
            <a:off x="7424928" y="1641348"/>
            <a:ext cx="3246120" cy="228600"/>
          </a:xfrm>
          <a:prstGeom prst="rect">
            <a:avLst/>
          </a:prstGeom>
          <a:noFill/>
        </p:spPr>
        <p:txBody>
          <a:bodyPr wrap="square" lIns="0" rIns="0" tIns="0" bIns="0">
            <a:spAutoFit/>
          </a:bodyPr>
          <a:lstStyle/>
          <a:p>
            <a:pPr algn="l"/>
            <a:r>
              <a:rPr sz="940" b="0">
                <a:solidFill>
                  <a:srgbClr val="FFFFFF"/>
                </a:solidFill>
                <a:latin typeface="Arial"/>
              </a:rPr>
              <a:t>Oct. 1 — baseline package</a:t>
            </a:r>
          </a:p>
        </p:txBody>
      </p:sp>
      <p:sp>
        <p:nvSpPr>
          <p:cNvPr id="45" name="Oval 44"/>
          <p:cNvSpPr/>
          <p:nvPr/>
        </p:nvSpPr>
        <p:spPr>
          <a:xfrm>
            <a:off x="7114032" y="1874519"/>
            <a:ext cx="164592" cy="164592"/>
          </a:xfrm>
          <a:prstGeom prst="ellipse">
            <a:avLst/>
          </a:prstGeom>
          <a:solidFill>
            <a:srgbClr val="1A5787"/>
          </a:solidFill>
          <a:ln>
            <a:solidFill>
              <a:srgbClr val="1A57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14032" y="1883663"/>
            <a:ext cx="164592" cy="164592"/>
          </a:xfrm>
          <a:prstGeom prst="rect">
            <a:avLst/>
          </a:prstGeom>
          <a:noFill/>
        </p:spPr>
        <p:txBody>
          <a:bodyPr wrap="none" lIns="0" rIns="0" tIns="0" bIns="0">
            <a:spAutoFit/>
          </a:bodyPr>
          <a:lstStyle/>
          <a:p>
            <a:pPr algn="ctr"/>
            <a:r>
              <a:rPr sz="750" b="1">
                <a:solidFill>
                  <a:srgbClr val="FFFFFF"/>
                </a:solidFill>
                <a:latin typeface="Arial"/>
              </a:rPr>
              <a:t>2</a:t>
            </a:r>
          </a:p>
        </p:txBody>
      </p:sp>
      <p:sp>
        <p:nvSpPr>
          <p:cNvPr id="47" name="TextBox 46"/>
          <p:cNvSpPr txBox="1"/>
          <p:nvPr/>
        </p:nvSpPr>
        <p:spPr>
          <a:xfrm>
            <a:off x="7424928" y="1869948"/>
            <a:ext cx="3246120" cy="228600"/>
          </a:xfrm>
          <a:prstGeom prst="rect">
            <a:avLst/>
          </a:prstGeom>
          <a:noFill/>
        </p:spPr>
        <p:txBody>
          <a:bodyPr wrap="square" lIns="0" rIns="0" tIns="0" bIns="0">
            <a:spAutoFit/>
          </a:bodyPr>
          <a:lstStyle/>
          <a:p>
            <a:pPr algn="l"/>
            <a:r>
              <a:rPr sz="940" b="0">
                <a:solidFill>
                  <a:srgbClr val="FFFFFF"/>
                </a:solidFill>
                <a:latin typeface="Arial"/>
              </a:rPr>
              <a:t>Oct. 3 — advisor session</a:t>
            </a:r>
          </a:p>
        </p:txBody>
      </p:sp>
      <p:sp>
        <p:nvSpPr>
          <p:cNvPr id="48" name="Oval 47"/>
          <p:cNvSpPr/>
          <p:nvPr/>
        </p:nvSpPr>
        <p:spPr>
          <a:xfrm>
            <a:off x="7114032" y="2103120"/>
            <a:ext cx="164592" cy="164592"/>
          </a:xfrm>
          <a:prstGeom prst="ellipse">
            <a:avLst/>
          </a:prstGeom>
          <a:solidFill>
            <a:srgbClr val="E60000"/>
          </a:solidFill>
          <a:ln>
            <a:solidFill>
              <a:srgbClr val="E6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14032" y="2112263"/>
            <a:ext cx="164592" cy="164592"/>
          </a:xfrm>
          <a:prstGeom prst="rect">
            <a:avLst/>
          </a:prstGeom>
          <a:noFill/>
        </p:spPr>
        <p:txBody>
          <a:bodyPr wrap="none" lIns="0" rIns="0" tIns="0" bIns="0">
            <a:spAutoFit/>
          </a:bodyPr>
          <a:lstStyle/>
          <a:p>
            <a:pPr algn="ctr"/>
            <a:r>
              <a:rPr sz="750" b="1">
                <a:solidFill>
                  <a:srgbClr val="FFFFFF"/>
                </a:solidFill>
                <a:latin typeface="Arial"/>
              </a:rPr>
              <a:t>3</a:t>
            </a:r>
          </a:p>
        </p:txBody>
      </p:sp>
      <p:sp>
        <p:nvSpPr>
          <p:cNvPr id="50" name="TextBox 49"/>
          <p:cNvSpPr txBox="1"/>
          <p:nvPr/>
        </p:nvSpPr>
        <p:spPr>
          <a:xfrm>
            <a:off x="7424928" y="2098548"/>
            <a:ext cx="3246120" cy="228600"/>
          </a:xfrm>
          <a:prstGeom prst="rect">
            <a:avLst/>
          </a:prstGeom>
          <a:noFill/>
        </p:spPr>
        <p:txBody>
          <a:bodyPr wrap="square" lIns="0" rIns="0" tIns="0" bIns="0">
            <a:spAutoFit/>
          </a:bodyPr>
          <a:lstStyle/>
          <a:p>
            <a:pPr algn="l"/>
            <a:r>
              <a:rPr sz="940" b="0">
                <a:solidFill>
                  <a:srgbClr val="FFFFFF"/>
                </a:solidFill>
                <a:latin typeface="Arial"/>
              </a:rPr>
              <a:t>Oct. 17 — next deck/advising line</a:t>
            </a:r>
          </a:p>
        </p:txBody>
      </p:sp>
      <p:sp>
        <p:nvSpPr>
          <p:cNvPr id="51" name="Oval 50"/>
          <p:cNvSpPr/>
          <p:nvPr/>
        </p:nvSpPr>
        <p:spPr>
          <a:xfrm>
            <a:off x="7114032" y="2331720"/>
            <a:ext cx="164592" cy="164592"/>
          </a:xfrm>
          <a:prstGeom prst="ellipse">
            <a:avLst/>
          </a:prstGeom>
          <a:solidFill>
            <a:srgbClr val="FF6277"/>
          </a:solidFill>
          <a:ln>
            <a:solidFill>
              <a:srgbClr val="FF62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114032" y="2340863"/>
            <a:ext cx="164592" cy="164592"/>
          </a:xfrm>
          <a:prstGeom prst="rect">
            <a:avLst/>
          </a:prstGeom>
          <a:noFill/>
        </p:spPr>
        <p:txBody>
          <a:bodyPr wrap="none" lIns="0" rIns="0" tIns="0" bIns="0">
            <a:spAutoFit/>
          </a:bodyPr>
          <a:lstStyle/>
          <a:p>
            <a:pPr algn="ctr"/>
            <a:r>
              <a:rPr sz="750" b="1">
                <a:solidFill>
                  <a:srgbClr val="FFFFFF"/>
                </a:solidFill>
                <a:latin typeface="Arial"/>
              </a:rPr>
              <a:t>4</a:t>
            </a:r>
          </a:p>
        </p:txBody>
      </p:sp>
      <p:sp>
        <p:nvSpPr>
          <p:cNvPr id="53" name="TextBox 52"/>
          <p:cNvSpPr txBox="1"/>
          <p:nvPr/>
        </p:nvSpPr>
        <p:spPr>
          <a:xfrm>
            <a:off x="7424928" y="2327148"/>
            <a:ext cx="3246120" cy="228600"/>
          </a:xfrm>
          <a:prstGeom prst="rect">
            <a:avLst/>
          </a:prstGeom>
          <a:noFill/>
        </p:spPr>
        <p:txBody>
          <a:bodyPr wrap="square" lIns="0" rIns="0" tIns="0" bIns="0">
            <a:spAutoFit/>
          </a:bodyPr>
          <a:lstStyle/>
          <a:p>
            <a:pPr algn="l"/>
            <a:r>
              <a:rPr sz="940" b="0">
                <a:solidFill>
                  <a:srgbClr val="FFFFFF"/>
                </a:solidFill>
                <a:latin typeface="Arial"/>
              </a:rPr>
              <a:t>Oct. 29 — advisor deck due</a:t>
            </a:r>
          </a:p>
        </p:txBody>
      </p:sp>
      <p:sp>
        <p:nvSpPr>
          <p:cNvPr id="54" name="Oval 53"/>
          <p:cNvSpPr/>
          <p:nvPr/>
        </p:nvSpPr>
        <p:spPr>
          <a:xfrm>
            <a:off x="7114032" y="2560320"/>
            <a:ext cx="164592" cy="164592"/>
          </a:xfrm>
          <a:prstGeom prst="ellipse">
            <a:avLst/>
          </a:prstGeom>
          <a:solidFill>
            <a:srgbClr val="00CD6E"/>
          </a:solidFill>
          <a:ln>
            <a:solidFill>
              <a:srgbClr val="00CD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114032" y="2569463"/>
            <a:ext cx="164592" cy="164592"/>
          </a:xfrm>
          <a:prstGeom prst="rect">
            <a:avLst/>
          </a:prstGeom>
          <a:noFill/>
        </p:spPr>
        <p:txBody>
          <a:bodyPr wrap="none" lIns="0" rIns="0" tIns="0" bIns="0">
            <a:spAutoFit/>
          </a:bodyPr>
          <a:lstStyle/>
          <a:p>
            <a:pPr algn="ctr"/>
            <a:r>
              <a:rPr sz="750" b="1">
                <a:solidFill>
                  <a:srgbClr val="FFFFFF"/>
                </a:solidFill>
                <a:latin typeface="Arial"/>
              </a:rPr>
              <a:t>5</a:t>
            </a:r>
          </a:p>
        </p:txBody>
      </p:sp>
      <p:sp>
        <p:nvSpPr>
          <p:cNvPr id="56" name="TextBox 55"/>
          <p:cNvSpPr txBox="1"/>
          <p:nvPr/>
        </p:nvSpPr>
        <p:spPr>
          <a:xfrm>
            <a:off x="7424928" y="2555748"/>
            <a:ext cx="3246120" cy="228600"/>
          </a:xfrm>
          <a:prstGeom prst="rect">
            <a:avLst/>
          </a:prstGeom>
          <a:noFill/>
        </p:spPr>
        <p:txBody>
          <a:bodyPr wrap="square" lIns="0" rIns="0" tIns="0" bIns="0">
            <a:spAutoFit/>
          </a:bodyPr>
          <a:lstStyle/>
          <a:p>
            <a:pPr algn="l"/>
            <a:r>
              <a:rPr sz="940" b="0">
                <a:solidFill>
                  <a:srgbClr val="FFFFFF"/>
                </a:solidFill>
                <a:latin typeface="Arial"/>
              </a:rPr>
              <a:t>Nov. 1 — 30-page milestone</a:t>
            </a:r>
          </a:p>
        </p:txBody>
      </p:sp>
      <p:sp>
        <p:nvSpPr>
          <p:cNvPr id="57" name="Rounded Rectangle 56"/>
          <p:cNvSpPr/>
          <p:nvPr/>
        </p:nvSpPr>
        <p:spPr>
          <a:xfrm>
            <a:off x="6903720" y="3127248"/>
            <a:ext cx="4206240" cy="1417320"/>
          </a:xfrm>
          <a:prstGeom prst="roundRect">
            <a:avLst/>
          </a:prstGeom>
          <a:solidFill>
            <a:srgbClr val="0E0E11"/>
          </a:solidFill>
          <a:ln w="20320">
            <a:solidFill>
              <a:srgbClr val="8C41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040880" y="3264408"/>
            <a:ext cx="3931920" cy="274320"/>
          </a:xfrm>
          <a:prstGeom prst="rect">
            <a:avLst/>
          </a:prstGeom>
          <a:noFill/>
        </p:spPr>
        <p:txBody>
          <a:bodyPr wrap="none" anchor="t">
            <a:spAutoFit/>
          </a:bodyPr>
          <a:lstStyle/>
          <a:p>
            <a:pPr algn="ctr"/>
            <a:r>
              <a:rPr sz="1500" b="1">
                <a:solidFill>
                  <a:srgbClr val="8C41F0"/>
                </a:solidFill>
                <a:latin typeface="Arial"/>
              </a:rPr>
              <a:t>Status after Oct. 1 baseline</a:t>
            </a:r>
          </a:p>
        </p:txBody>
      </p:sp>
      <p:sp>
        <p:nvSpPr>
          <p:cNvPr id="59" name="TextBox 58"/>
          <p:cNvSpPr txBox="1"/>
          <p:nvPr/>
        </p:nvSpPr>
        <p:spPr>
          <a:xfrm>
            <a:off x="7223759" y="3694176"/>
            <a:ext cx="3611879" cy="731520"/>
          </a:xfrm>
          <a:prstGeom prst="rect">
            <a:avLst/>
          </a:prstGeom>
          <a:noFill/>
        </p:spPr>
        <p:txBody>
          <a:bodyPr wrap="square" lIns="0" rIns="0" tIns="0" bIns="0">
            <a:spAutoFit/>
          </a:bodyPr>
          <a:lstStyle/>
          <a:p>
            <a:pPr>
              <a:spcAft>
                <a:spcPts val="400"/>
              </a:spcAft>
              <a:defRPr sz="1019">
                <a:solidFill>
                  <a:srgbClr val="FFFFFF"/>
                </a:solidFill>
                <a:latin typeface="Arial"/>
              </a:defRPr>
            </a:pPr>
            <a:r>
              <a:t>• Chapter 2 first draft sent; advisor feedback pending.</a:t>
            </a:r>
          </a:p>
          <a:p>
            <a:pPr>
              <a:spcAft>
                <a:spcPts val="400"/>
              </a:spcAft>
              <a:defRPr sz="1019">
                <a:solidFill>
                  <a:srgbClr val="FFFFFF"/>
                </a:solidFill>
                <a:latin typeface="Arial"/>
              </a:defRPr>
            </a:pPr>
            <a:r>
              <a:t>• ACE ASOT workbook + MASDMCE guide controlled.</a:t>
            </a:r>
          </a:p>
          <a:p>
            <a:pPr>
              <a:spcAft>
                <a:spcPts val="400"/>
              </a:spcAft>
              <a:defRPr sz="1019">
                <a:solidFill>
                  <a:srgbClr val="FFFFFF"/>
                </a:solidFill>
                <a:latin typeface="Arial"/>
              </a:defRPr>
            </a:pPr>
            <a:r>
              <a:t>• Gold copies and 60+ source register in folder.</a:t>
            </a:r>
          </a:p>
          <a:p>
            <a:pPr>
              <a:spcAft>
                <a:spcPts val="400"/>
              </a:spcAft>
              <a:defRPr sz="1019">
                <a:solidFill>
                  <a:srgbClr val="FFFFFF"/>
                </a:solidFill>
                <a:latin typeface="Arial"/>
              </a:defRPr>
            </a:pPr>
            <a:r>
              <a:t>• Next: Chapter 2 citations, figures, MATLAB baseline.</a:t>
            </a:r>
          </a:p>
        </p:txBody>
      </p:sp>
      <p:sp>
        <p:nvSpPr>
          <p:cNvPr id="60" name="Rounded Rectangle 59"/>
          <p:cNvSpPr/>
          <p:nvPr/>
        </p:nvSpPr>
        <p:spPr>
          <a:xfrm>
            <a:off x="6903720" y="4901184"/>
            <a:ext cx="4206240" cy="1024128"/>
          </a:xfrm>
          <a:prstGeom prst="roundRect">
            <a:avLst/>
          </a:prstGeom>
          <a:solidFill>
            <a:srgbClr val="0E0E11"/>
          </a:solidFill>
          <a:ln w="20320">
            <a:solidFill>
              <a:srgbClr val="00CD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040880" y="5038344"/>
            <a:ext cx="3931920" cy="274320"/>
          </a:xfrm>
          <a:prstGeom prst="rect">
            <a:avLst/>
          </a:prstGeom>
          <a:noFill/>
        </p:spPr>
        <p:txBody>
          <a:bodyPr wrap="none" anchor="t">
            <a:spAutoFit/>
          </a:bodyPr>
          <a:lstStyle/>
          <a:p>
            <a:pPr algn="ctr"/>
            <a:r>
              <a:rPr sz="1500" b="1">
                <a:solidFill>
                  <a:srgbClr val="00CD6E"/>
                </a:solidFill>
                <a:latin typeface="Arial"/>
              </a:rPr>
              <a:t>Color key</a:t>
            </a:r>
          </a:p>
        </p:txBody>
      </p:sp>
      <p:sp>
        <p:nvSpPr>
          <p:cNvPr id="62" name="Rectangle 61"/>
          <p:cNvSpPr/>
          <p:nvPr/>
        </p:nvSpPr>
        <p:spPr>
          <a:xfrm>
            <a:off x="7150608" y="5321807"/>
            <a:ext cx="209854" cy="101041"/>
          </a:xfrm>
          <a:prstGeom prst="rect">
            <a:avLst/>
          </a:prstGeom>
          <a:solidFill>
            <a:srgbClr val="00D2EB"/>
          </a:solidFill>
          <a:ln>
            <a:solidFill>
              <a:srgbClr val="00D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461504" y="5298948"/>
            <a:ext cx="1234440" cy="228600"/>
          </a:xfrm>
          <a:prstGeom prst="rect">
            <a:avLst/>
          </a:prstGeom>
          <a:noFill/>
        </p:spPr>
        <p:txBody>
          <a:bodyPr wrap="square" lIns="0" rIns="0" tIns="0" bIns="0">
            <a:spAutoFit/>
          </a:bodyPr>
          <a:lstStyle/>
          <a:p>
            <a:pPr algn="l"/>
            <a:r>
              <a:rPr sz="819" b="0">
                <a:solidFill>
                  <a:srgbClr val="FFFFFF"/>
                </a:solidFill>
                <a:latin typeface="Arial"/>
              </a:rPr>
              <a:t>Data</a:t>
            </a:r>
          </a:p>
        </p:txBody>
      </p:sp>
      <p:sp>
        <p:nvSpPr>
          <p:cNvPr id="64" name="Rectangle 63"/>
          <p:cNvSpPr/>
          <p:nvPr/>
        </p:nvSpPr>
        <p:spPr>
          <a:xfrm>
            <a:off x="7150608" y="5513831"/>
            <a:ext cx="209854" cy="101041"/>
          </a:xfrm>
          <a:prstGeom prst="rect">
            <a:avLst/>
          </a:prstGeom>
          <a:solidFill>
            <a:srgbClr val="00CD6E"/>
          </a:solidFill>
          <a:ln>
            <a:solidFill>
              <a:srgbClr val="00CD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461504" y="5490972"/>
            <a:ext cx="1234440" cy="228600"/>
          </a:xfrm>
          <a:prstGeom prst="rect">
            <a:avLst/>
          </a:prstGeom>
          <a:noFill/>
        </p:spPr>
        <p:txBody>
          <a:bodyPr wrap="square" lIns="0" rIns="0" tIns="0" bIns="0">
            <a:spAutoFit/>
          </a:bodyPr>
          <a:lstStyle/>
          <a:p>
            <a:pPr algn="l"/>
            <a:r>
              <a:rPr sz="819" b="0">
                <a:solidFill>
                  <a:srgbClr val="FFFFFF"/>
                </a:solidFill>
                <a:latin typeface="Arial"/>
              </a:rPr>
              <a:t>Writing</a:t>
            </a:r>
          </a:p>
        </p:txBody>
      </p:sp>
      <p:sp>
        <p:nvSpPr>
          <p:cNvPr id="66" name="Rectangle 65"/>
          <p:cNvSpPr/>
          <p:nvPr/>
        </p:nvSpPr>
        <p:spPr>
          <a:xfrm>
            <a:off x="7150608" y="5705855"/>
            <a:ext cx="209854" cy="101041"/>
          </a:xfrm>
          <a:prstGeom prst="rect">
            <a:avLst/>
          </a:prstGeom>
          <a:solidFill>
            <a:srgbClr val="FF8C05"/>
          </a:solidFill>
          <a:ln>
            <a:solidFill>
              <a:srgbClr val="FF8C0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461504" y="5682996"/>
            <a:ext cx="1234440" cy="228600"/>
          </a:xfrm>
          <a:prstGeom prst="rect">
            <a:avLst/>
          </a:prstGeom>
          <a:noFill/>
        </p:spPr>
        <p:txBody>
          <a:bodyPr wrap="square" lIns="0" rIns="0" tIns="0" bIns="0">
            <a:spAutoFit/>
          </a:bodyPr>
          <a:lstStyle/>
          <a:p>
            <a:pPr algn="l"/>
            <a:r>
              <a:rPr sz="819" b="0">
                <a:solidFill>
                  <a:srgbClr val="FFFFFF"/>
                </a:solidFill>
                <a:latin typeface="Arial"/>
              </a:rPr>
              <a:t>Model build</a:t>
            </a:r>
          </a:p>
        </p:txBody>
      </p:sp>
      <p:sp>
        <p:nvSpPr>
          <p:cNvPr id="68" name="Rectangle 67"/>
          <p:cNvSpPr/>
          <p:nvPr/>
        </p:nvSpPr>
        <p:spPr>
          <a:xfrm>
            <a:off x="9116568" y="5321807"/>
            <a:ext cx="209854" cy="101041"/>
          </a:xfrm>
          <a:prstGeom prst="rect">
            <a:avLst/>
          </a:prstGeom>
          <a:solidFill>
            <a:srgbClr val="FFDC14"/>
          </a:solidFill>
          <a:ln>
            <a:solidFill>
              <a:srgbClr val="FFDC1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427464" y="5298948"/>
            <a:ext cx="1234440" cy="228600"/>
          </a:xfrm>
          <a:prstGeom prst="rect">
            <a:avLst/>
          </a:prstGeom>
          <a:noFill/>
        </p:spPr>
        <p:txBody>
          <a:bodyPr wrap="square" lIns="0" rIns="0" tIns="0" bIns="0">
            <a:spAutoFit/>
          </a:bodyPr>
          <a:lstStyle/>
          <a:p>
            <a:pPr algn="l"/>
            <a:r>
              <a:rPr sz="819" b="0">
                <a:solidFill>
                  <a:srgbClr val="FFFFFF"/>
                </a:solidFill>
                <a:latin typeface="Arial"/>
              </a:rPr>
              <a:t>Milestone draft</a:t>
            </a:r>
          </a:p>
        </p:txBody>
      </p:sp>
      <p:sp>
        <p:nvSpPr>
          <p:cNvPr id="70" name="Rectangle 69"/>
          <p:cNvSpPr/>
          <p:nvPr/>
        </p:nvSpPr>
        <p:spPr>
          <a:xfrm>
            <a:off x="9116568" y="5513831"/>
            <a:ext cx="209854" cy="101041"/>
          </a:xfrm>
          <a:prstGeom prst="rect">
            <a:avLst/>
          </a:prstGeom>
          <a:solidFill>
            <a:srgbClr val="8C41F0"/>
          </a:solidFill>
          <a:ln>
            <a:solidFill>
              <a:srgbClr val="8C41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427464" y="5490972"/>
            <a:ext cx="1234440" cy="228600"/>
          </a:xfrm>
          <a:prstGeom prst="rect">
            <a:avLst/>
          </a:prstGeom>
          <a:noFill/>
        </p:spPr>
        <p:txBody>
          <a:bodyPr wrap="square" lIns="0" rIns="0" tIns="0" bIns="0">
            <a:spAutoFit/>
          </a:bodyPr>
          <a:lstStyle/>
          <a:p>
            <a:pPr algn="l"/>
            <a:r>
              <a:rPr sz="819" b="0">
                <a:solidFill>
                  <a:srgbClr val="FFFFFF"/>
                </a:solidFill>
                <a:latin typeface="Arial"/>
              </a:rPr>
              <a:t>Method / scenario</a:t>
            </a:r>
          </a:p>
        </p:txBody>
      </p:sp>
      <p:sp>
        <p:nvSpPr>
          <p:cNvPr id="72" name="Rectangle 71"/>
          <p:cNvSpPr/>
          <p:nvPr/>
        </p:nvSpPr>
        <p:spPr>
          <a:xfrm>
            <a:off x="9116568" y="5705855"/>
            <a:ext cx="209854" cy="101041"/>
          </a:xfrm>
          <a:prstGeom prst="rect">
            <a:avLst/>
          </a:prstGeom>
          <a:solidFill>
            <a:srgbClr val="FF6277"/>
          </a:solidFill>
          <a:ln>
            <a:solidFill>
              <a:srgbClr val="FF627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427464" y="5682996"/>
            <a:ext cx="1234440" cy="228600"/>
          </a:xfrm>
          <a:prstGeom prst="rect">
            <a:avLst/>
          </a:prstGeom>
          <a:noFill/>
        </p:spPr>
        <p:txBody>
          <a:bodyPr wrap="square" lIns="0" rIns="0" tIns="0" bIns="0">
            <a:spAutoFit/>
          </a:bodyPr>
          <a:lstStyle/>
          <a:p>
            <a:pPr algn="l"/>
            <a:r>
              <a:rPr sz="819" b="0">
                <a:solidFill>
                  <a:srgbClr val="FFFFFF"/>
                </a:solidFill>
                <a:latin typeface="Arial"/>
              </a:rPr>
              <a:t>Late-stage gates</a:t>
            </a:r>
          </a:p>
        </p:txBody>
      </p:sp>
      <p:sp>
        <p:nvSpPr>
          <p:cNvPr id="74" name="TextBox 73"/>
          <p:cNvSpPr txBox="1"/>
          <p:nvPr/>
        </p:nvSpPr>
        <p:spPr>
          <a:xfrm>
            <a:off x="9354312" y="6510528"/>
            <a:ext cx="1463040" cy="137160"/>
          </a:xfrm>
          <a:prstGeom prst="rect">
            <a:avLst/>
          </a:prstGeom>
          <a:noFill/>
        </p:spPr>
        <p:txBody>
          <a:bodyPr wrap="square" lIns="0" rIns="0" tIns="0" bIns="0">
            <a:spAutoFit/>
          </a:bodyPr>
          <a:lstStyle/>
          <a:p>
            <a:r>
              <a:t>Config: 2026-10-01 | v08</a:t>
            </a:r>
          </a:p>
        </p:txBody>
      </p:sp>
      <p:sp>
        <p:nvSpPr>
          <p:cNvPr id="75" name="TextBox 74"/>
          <p:cNvSpPr txBox="1"/>
          <p:nvPr/>
        </p:nvSpPr>
        <p:spPr>
          <a:xfrm>
            <a:off x="2127182" y="1325880"/>
            <a:ext cx="640080" cy="201168"/>
          </a:xfrm>
          <a:prstGeom prst="rect">
            <a:avLst/>
          </a:prstGeom>
          <a:noFill/>
        </p:spPr>
        <p:txBody>
          <a:bodyPr wrap="none">
            <a:spAutoFit/>
          </a:bodyPr>
          <a:lstStyle/>
          <a:p>
            <a:pPr algn="ctr"/>
            <a:r>
              <a:rPr sz="900" b="1">
                <a:solidFill>
                  <a:srgbClr val="EBEBEB"/>
                </a:solidFill>
              </a:rPr>
              <a:t>Oct '26</a:t>
            </a:r>
          </a:p>
        </p:txBody>
      </p:sp>
      <p:cxnSp>
        <p:nvCxnSpPr>
          <p:cNvPr id="76" name="Connector 75"/>
          <p:cNvCxnSpPr/>
          <p:nvPr/>
        </p:nvCxnSpPr>
        <p:spPr>
          <a:xfrm>
            <a:off x="2447222" y="1627632"/>
            <a:ext cx="0" cy="4590288"/>
          </a:xfrm>
          <a:prstGeom prst="line">
            <a:avLst/>
          </a:prstGeom>
          <a:ln w="9525">
            <a:solidFill>
              <a:srgbClr val="50505A"/>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2606175" y="1325880"/>
            <a:ext cx="640080" cy="201168"/>
          </a:xfrm>
          <a:prstGeom prst="rect">
            <a:avLst/>
          </a:prstGeom>
          <a:noFill/>
        </p:spPr>
        <p:txBody>
          <a:bodyPr wrap="none">
            <a:spAutoFit/>
          </a:bodyPr>
          <a:lstStyle/>
          <a:p>
            <a:pPr algn="ctr"/>
            <a:r>
              <a:rPr sz="900" b="1">
                <a:solidFill>
                  <a:srgbClr val="EBEBEB"/>
                </a:solidFill>
              </a:rPr>
              <a:t>Nov '26</a:t>
            </a:r>
          </a:p>
        </p:txBody>
      </p:sp>
      <p:cxnSp>
        <p:nvCxnSpPr>
          <p:cNvPr id="78" name="Connector 77"/>
          <p:cNvCxnSpPr/>
          <p:nvPr/>
        </p:nvCxnSpPr>
        <p:spPr>
          <a:xfrm>
            <a:off x="2926215" y="1627632"/>
            <a:ext cx="0" cy="4590288"/>
          </a:xfrm>
          <a:prstGeom prst="line">
            <a:avLst/>
          </a:prstGeom>
          <a:ln w="9525">
            <a:solidFill>
              <a:srgbClr val="50505A"/>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3069716" y="1325880"/>
            <a:ext cx="640080" cy="201168"/>
          </a:xfrm>
          <a:prstGeom prst="rect">
            <a:avLst/>
          </a:prstGeom>
          <a:noFill/>
        </p:spPr>
        <p:txBody>
          <a:bodyPr wrap="none">
            <a:spAutoFit/>
          </a:bodyPr>
          <a:lstStyle/>
          <a:p>
            <a:pPr algn="ctr"/>
            <a:r>
              <a:rPr sz="900" b="1">
                <a:solidFill>
                  <a:srgbClr val="EBEBEB"/>
                </a:solidFill>
              </a:rPr>
              <a:t>Dec '26</a:t>
            </a:r>
          </a:p>
        </p:txBody>
      </p:sp>
      <p:cxnSp>
        <p:nvCxnSpPr>
          <p:cNvPr id="80" name="Connector 79"/>
          <p:cNvCxnSpPr/>
          <p:nvPr/>
        </p:nvCxnSpPr>
        <p:spPr>
          <a:xfrm>
            <a:off x="3389756" y="1627632"/>
            <a:ext cx="0" cy="4590288"/>
          </a:xfrm>
          <a:prstGeom prst="line">
            <a:avLst/>
          </a:prstGeom>
          <a:ln w="9525">
            <a:solidFill>
              <a:srgbClr val="50505A"/>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4460341" y="1325880"/>
            <a:ext cx="640080" cy="201168"/>
          </a:xfrm>
          <a:prstGeom prst="rect">
            <a:avLst/>
          </a:prstGeom>
          <a:noFill/>
        </p:spPr>
        <p:txBody>
          <a:bodyPr wrap="none">
            <a:spAutoFit/>
          </a:bodyPr>
          <a:lstStyle/>
          <a:p>
            <a:pPr algn="ctr"/>
            <a:r>
              <a:rPr sz="900" b="1">
                <a:solidFill>
                  <a:srgbClr val="EBEBEB"/>
                </a:solidFill>
              </a:rPr>
              <a:t>Mar '27</a:t>
            </a:r>
          </a:p>
        </p:txBody>
      </p:sp>
      <p:cxnSp>
        <p:nvCxnSpPr>
          <p:cNvPr id="82" name="Connector 81"/>
          <p:cNvCxnSpPr/>
          <p:nvPr/>
        </p:nvCxnSpPr>
        <p:spPr>
          <a:xfrm>
            <a:off x="4780381" y="1627632"/>
            <a:ext cx="0" cy="4590288"/>
          </a:xfrm>
          <a:prstGeom prst="line">
            <a:avLst/>
          </a:prstGeom>
          <a:ln w="9525">
            <a:solidFill>
              <a:srgbClr val="50505A"/>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5881869" y="1325880"/>
            <a:ext cx="640080" cy="201168"/>
          </a:xfrm>
          <a:prstGeom prst="rect">
            <a:avLst/>
          </a:prstGeom>
          <a:noFill/>
        </p:spPr>
        <p:txBody>
          <a:bodyPr wrap="none">
            <a:spAutoFit/>
          </a:bodyPr>
          <a:lstStyle/>
          <a:p>
            <a:pPr algn="ctr"/>
            <a:r>
              <a:rPr sz="900" b="1">
                <a:solidFill>
                  <a:srgbClr val="EBEBEB"/>
                </a:solidFill>
              </a:rPr>
              <a:t>Jun '27</a:t>
            </a:r>
          </a:p>
        </p:txBody>
      </p:sp>
      <p:cxnSp>
        <p:nvCxnSpPr>
          <p:cNvPr id="84" name="Connector 83"/>
          <p:cNvCxnSpPr/>
          <p:nvPr/>
        </p:nvCxnSpPr>
        <p:spPr>
          <a:xfrm>
            <a:off x="6201909" y="1627632"/>
            <a:ext cx="0" cy="4590288"/>
          </a:xfrm>
          <a:prstGeom prst="line">
            <a:avLst/>
          </a:prstGeom>
          <a:ln w="9525">
            <a:solidFill>
              <a:srgbClr val="50505A"/>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2447222" y="1508760"/>
            <a:ext cx="0" cy="4709160"/>
          </a:xfrm>
          <a:prstGeom prst="line">
            <a:avLst/>
          </a:prstGeom>
          <a:ln w="25400">
            <a:solidFill>
              <a:srgbClr val="00CC66"/>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2694444" y="1508760"/>
            <a:ext cx="0" cy="4709160"/>
          </a:xfrm>
          <a:prstGeom prst="line">
            <a:avLst/>
          </a:prstGeom>
          <a:ln w="25400">
            <a:solidFill>
              <a:srgbClr val="DC232D"/>
            </a:solidFill>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2127182" y="1691640"/>
            <a:ext cx="640080" cy="384048"/>
          </a:xfrm>
          <a:prstGeom prst="rect">
            <a:avLst/>
          </a:prstGeom>
          <a:noFill/>
        </p:spPr>
        <p:txBody>
          <a:bodyPr wrap="none">
            <a:spAutoFit/>
          </a:bodyPr>
          <a:lstStyle/>
          <a:p>
            <a:pPr algn="ctr"/>
            <a:r>
              <a:rPr sz="800" b="1">
                <a:solidFill>
                  <a:srgbClr val="00CC66"/>
                </a:solidFill>
              </a:rPr>
              <a:t>01 OCT
BASELINE</a:t>
            </a:r>
          </a:p>
        </p:txBody>
      </p:sp>
      <p:sp>
        <p:nvSpPr>
          <p:cNvPr id="88" name="TextBox 87"/>
          <p:cNvSpPr txBox="1"/>
          <p:nvPr/>
        </p:nvSpPr>
        <p:spPr>
          <a:xfrm>
            <a:off x="2420124" y="1691640"/>
            <a:ext cx="548640" cy="384048"/>
          </a:xfrm>
          <a:prstGeom prst="rect">
            <a:avLst/>
          </a:prstGeom>
          <a:noFill/>
        </p:spPr>
        <p:txBody>
          <a:bodyPr wrap="none">
            <a:spAutoFit/>
          </a:bodyPr>
          <a:lstStyle/>
          <a:p>
            <a:pPr algn="ctr"/>
            <a:r>
              <a:rPr sz="800" b="1">
                <a:solidFill>
                  <a:srgbClr val="DC232D"/>
                </a:solidFill>
              </a:rPr>
              <a:t>17 OCT
NEXT</a:t>
            </a:r>
          </a:p>
        </p:txBody>
      </p:sp>
      <p:sp>
        <p:nvSpPr>
          <p:cNvPr id="89" name="Rounded Rectangle 88"/>
          <p:cNvSpPr/>
          <p:nvPr/>
        </p:nvSpPr>
        <p:spPr>
          <a:xfrm>
            <a:off x="2277256" y="1828800"/>
            <a:ext cx="602605" cy="164592"/>
          </a:xfrm>
          <a:prstGeom prst="roundRect">
            <a:avLst/>
          </a:prstGeom>
          <a:solidFill>
            <a:srgbClr val="00BCE6"/>
          </a:solidFill>
          <a:ln w="1587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2290423" y="18534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2759710" y="18534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2318404" y="1848551"/>
            <a:ext cx="520309" cy="3621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2369965" y="2286000"/>
            <a:ext cx="818923" cy="164592"/>
          </a:xfrm>
          <a:prstGeom prst="roundRect">
            <a:avLst/>
          </a:prstGeom>
          <a:solidFill>
            <a:srgbClr val="00D278"/>
          </a:solidFill>
          <a:ln w="1587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2383132" y="23106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3068737" y="23106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2411113" y="2305751"/>
            <a:ext cx="736627" cy="3621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ed Rectangle 96"/>
          <p:cNvSpPr/>
          <p:nvPr/>
        </p:nvSpPr>
        <p:spPr>
          <a:xfrm>
            <a:off x="2416319" y="2743200"/>
            <a:ext cx="262674" cy="164592"/>
          </a:xfrm>
          <a:prstGeom prst="roundRect">
            <a:avLst/>
          </a:prstGeom>
          <a:solidFill>
            <a:srgbClr val="FFA500"/>
          </a:solidFill>
          <a:ln w="1587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2429486" y="27678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2558842" y="27678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2457467" y="2762951"/>
            <a:ext cx="180378" cy="3621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ounded Rectangle 100"/>
          <p:cNvSpPr/>
          <p:nvPr/>
        </p:nvSpPr>
        <p:spPr>
          <a:xfrm>
            <a:off x="2447222" y="3200400"/>
            <a:ext cx="293576" cy="164592"/>
          </a:xfrm>
          <a:prstGeom prst="roundRect">
            <a:avLst/>
          </a:prstGeom>
          <a:solidFill>
            <a:srgbClr val="FFDE2D"/>
          </a:solidFill>
          <a:ln w="1587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2460389" y="32250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2620647" y="32250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2488370" y="3220151"/>
            <a:ext cx="211280" cy="3621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2555381" y="3657600"/>
            <a:ext cx="1127952" cy="164592"/>
          </a:xfrm>
          <a:prstGeom prst="roundRect">
            <a:avLst/>
          </a:prstGeom>
          <a:solidFill>
            <a:srgbClr val="FFA500"/>
          </a:solidFill>
          <a:ln w="1587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2568548" y="36822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3563182" y="36822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2596529" y="3677351"/>
            <a:ext cx="1045656" cy="3621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ounded Rectangle 108"/>
          <p:cNvSpPr/>
          <p:nvPr/>
        </p:nvSpPr>
        <p:spPr>
          <a:xfrm>
            <a:off x="3297048" y="4114800"/>
            <a:ext cx="865278" cy="164592"/>
          </a:xfrm>
          <a:prstGeom prst="roundRect">
            <a:avLst/>
          </a:prstGeom>
          <a:solidFill>
            <a:srgbClr val="8C50F0"/>
          </a:solidFill>
          <a:ln w="1587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3310215" y="41394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4042175" y="41394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3338196" y="4134551"/>
            <a:ext cx="782982" cy="3621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Rounded Rectangle 112"/>
          <p:cNvSpPr/>
          <p:nvPr/>
        </p:nvSpPr>
        <p:spPr>
          <a:xfrm>
            <a:off x="4780381" y="4572000"/>
            <a:ext cx="772570" cy="164592"/>
          </a:xfrm>
          <a:prstGeom prst="roundRect">
            <a:avLst/>
          </a:prstGeom>
          <a:solidFill>
            <a:srgbClr val="00BCE6"/>
          </a:solidFill>
          <a:ln w="1587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4793548" y="45966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5432800" y="45966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ounded Rectangle 115"/>
          <p:cNvSpPr/>
          <p:nvPr/>
        </p:nvSpPr>
        <p:spPr>
          <a:xfrm>
            <a:off x="4821529" y="4591751"/>
            <a:ext cx="690274" cy="3621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ounded Rectangle 116"/>
          <p:cNvSpPr/>
          <p:nvPr/>
        </p:nvSpPr>
        <p:spPr>
          <a:xfrm>
            <a:off x="5073958" y="5029200"/>
            <a:ext cx="710764" cy="164592"/>
          </a:xfrm>
          <a:prstGeom prst="roundRect">
            <a:avLst/>
          </a:prstGeom>
          <a:solidFill>
            <a:srgbClr val="00D278"/>
          </a:solidFill>
          <a:ln w="1587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Oval 117"/>
          <p:cNvSpPr/>
          <p:nvPr/>
        </p:nvSpPr>
        <p:spPr>
          <a:xfrm>
            <a:off x="5087125" y="50538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Oval 118"/>
          <p:cNvSpPr/>
          <p:nvPr/>
        </p:nvSpPr>
        <p:spPr>
          <a:xfrm>
            <a:off x="5664571" y="50538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ounded Rectangle 119"/>
          <p:cNvSpPr/>
          <p:nvPr/>
        </p:nvSpPr>
        <p:spPr>
          <a:xfrm>
            <a:off x="5115106" y="5048951"/>
            <a:ext cx="628468" cy="3621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ounded Rectangle 120"/>
          <p:cNvSpPr/>
          <p:nvPr/>
        </p:nvSpPr>
        <p:spPr>
          <a:xfrm>
            <a:off x="6201909" y="5486400"/>
            <a:ext cx="355382" cy="164592"/>
          </a:xfrm>
          <a:prstGeom prst="roundRect">
            <a:avLst/>
          </a:prstGeom>
          <a:solidFill>
            <a:srgbClr val="FF5F87"/>
          </a:solidFill>
          <a:ln w="15875">
            <a:solidFill>
              <a:srgbClr val="E6E6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6215076" y="55110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6437140" y="5511088"/>
            <a:ext cx="106984" cy="115214"/>
          </a:xfrm>
          <a:prstGeom prst="ellipse">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ounded Rectangle 123"/>
          <p:cNvSpPr/>
          <p:nvPr/>
        </p:nvSpPr>
        <p:spPr>
          <a:xfrm>
            <a:off x="6243057" y="5506151"/>
            <a:ext cx="273086" cy="3621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Shape 264"/>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00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20040" y="228600"/>
            <a:ext cx="9875520" cy="411480"/>
          </a:xfrm>
          <a:prstGeom prst="rect">
            <a:avLst/>
          </a:prstGeom>
          <a:noFill/>
        </p:spPr>
        <p:txBody>
          <a:bodyPr wrap="square">
            <a:normAutofit/>
          </a:bodyPr>
          <a:lstStyle/>
          <a:p>
            <a:r>
              <a:rPr sz="2400" b="1">
                <a:solidFill>
                  <a:srgbClr val="FFFFFF"/>
                </a:solidFill>
                <a:latin typeface="Arial"/>
              </a:rPr>
              <a:t>Near-Term Execution Plan (Oct. 1–17, 2026)</a:t>
            </a:r>
          </a:p>
        </p:txBody>
      </p:sp>
      <p:sp>
        <p:nvSpPr>
          <p:cNvPr id="4" name="TextBox 3"/>
          <p:cNvSpPr txBox="1"/>
          <p:nvPr/>
        </p:nvSpPr>
        <p:spPr>
          <a:xfrm>
            <a:off x="338328" y="658368"/>
            <a:ext cx="9875520" cy="228600"/>
          </a:xfrm>
          <a:prstGeom prst="rect">
            <a:avLst/>
          </a:prstGeom>
          <a:noFill/>
        </p:spPr>
        <p:txBody>
          <a:bodyPr wrap="square">
            <a:normAutofit/>
          </a:bodyPr>
          <a:lstStyle/>
          <a:p>
            <a:r>
              <a:rPr sz="1100" b="0">
                <a:solidFill>
                  <a:srgbClr val="FFFFFF"/>
                </a:solidFill>
                <a:latin typeface="Arial"/>
              </a:rPr>
              <a:t>Baseline: Oct. 1 submission package • Next advisor-deck deadline / session line: Oct. 17</a:t>
            </a:r>
          </a:p>
        </p:txBody>
      </p:sp>
      <p:sp>
        <p:nvSpPr>
          <p:cNvPr id="5" name="Rectangle 4"/>
          <p:cNvSpPr/>
          <p:nvPr/>
        </p:nvSpPr>
        <p:spPr>
          <a:xfrm>
            <a:off x="256032" y="1143000"/>
            <a:ext cx="6858000" cy="5349240"/>
          </a:xfrm>
          <a:prstGeom prst="rect">
            <a:avLst/>
          </a:prstGeom>
          <a:solidFill>
            <a:srgbClr val="0F0F12"/>
          </a:solidFill>
          <a:ln w="12700">
            <a:solidFill>
              <a:srgbClr val="6969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65960" y="1261872"/>
            <a:ext cx="731520" cy="201168"/>
          </a:xfrm>
          <a:prstGeom prst="rect">
            <a:avLst/>
          </a:prstGeom>
          <a:noFill/>
        </p:spPr>
        <p:txBody>
          <a:bodyPr wrap="square">
            <a:normAutofit/>
          </a:bodyPr>
          <a:lstStyle/>
          <a:p>
            <a:pPr algn="ctr"/>
            <a:r>
              <a:rPr sz="900" b="1">
                <a:solidFill>
                  <a:srgbClr val="FFFFFF"/>
                </a:solidFill>
                <a:latin typeface="Arial"/>
              </a:rPr>
              <a:t>01 Oct</a:t>
            </a:r>
          </a:p>
        </p:txBody>
      </p:sp>
      <p:sp>
        <p:nvSpPr>
          <p:cNvPr id="7" name="TextBox 6"/>
          <p:cNvSpPr txBox="1"/>
          <p:nvPr/>
        </p:nvSpPr>
        <p:spPr>
          <a:xfrm>
            <a:off x="2971800" y="1261872"/>
            <a:ext cx="731520" cy="201168"/>
          </a:xfrm>
          <a:prstGeom prst="rect">
            <a:avLst/>
          </a:prstGeom>
          <a:noFill/>
        </p:spPr>
        <p:txBody>
          <a:bodyPr wrap="square">
            <a:normAutofit/>
          </a:bodyPr>
          <a:lstStyle/>
          <a:p>
            <a:pPr algn="ctr"/>
            <a:r>
              <a:rPr sz="900" b="1">
                <a:solidFill>
                  <a:srgbClr val="FFFFFF"/>
                </a:solidFill>
                <a:latin typeface="Arial"/>
              </a:rPr>
              <a:t>03 Oct</a:t>
            </a:r>
          </a:p>
        </p:txBody>
      </p:sp>
      <p:sp>
        <p:nvSpPr>
          <p:cNvPr id="8" name="TextBox 7"/>
          <p:cNvSpPr txBox="1"/>
          <p:nvPr/>
        </p:nvSpPr>
        <p:spPr>
          <a:xfrm>
            <a:off x="3977639" y="1261872"/>
            <a:ext cx="731520" cy="201168"/>
          </a:xfrm>
          <a:prstGeom prst="rect">
            <a:avLst/>
          </a:prstGeom>
          <a:noFill/>
        </p:spPr>
        <p:txBody>
          <a:bodyPr wrap="square">
            <a:normAutofit/>
          </a:bodyPr>
          <a:lstStyle/>
          <a:p>
            <a:pPr algn="ctr"/>
            <a:r>
              <a:rPr sz="900" b="1">
                <a:solidFill>
                  <a:srgbClr val="FFFFFF"/>
                </a:solidFill>
                <a:latin typeface="Arial"/>
              </a:rPr>
              <a:t>07 Oct</a:t>
            </a:r>
          </a:p>
        </p:txBody>
      </p:sp>
      <p:sp>
        <p:nvSpPr>
          <p:cNvPr id="9" name="TextBox 8"/>
          <p:cNvSpPr txBox="1"/>
          <p:nvPr/>
        </p:nvSpPr>
        <p:spPr>
          <a:xfrm>
            <a:off x="4983480" y="1261872"/>
            <a:ext cx="731520" cy="201168"/>
          </a:xfrm>
          <a:prstGeom prst="rect">
            <a:avLst/>
          </a:prstGeom>
          <a:noFill/>
        </p:spPr>
        <p:txBody>
          <a:bodyPr wrap="square">
            <a:normAutofit/>
          </a:bodyPr>
          <a:lstStyle/>
          <a:p>
            <a:pPr algn="ctr"/>
            <a:r>
              <a:rPr sz="900" b="1">
                <a:solidFill>
                  <a:srgbClr val="FFFFFF"/>
                </a:solidFill>
                <a:latin typeface="Arial"/>
              </a:rPr>
              <a:t>10 Oct</a:t>
            </a:r>
          </a:p>
        </p:txBody>
      </p:sp>
      <p:sp>
        <p:nvSpPr>
          <p:cNvPr id="10" name="TextBox 9"/>
          <p:cNvSpPr txBox="1"/>
          <p:nvPr/>
        </p:nvSpPr>
        <p:spPr>
          <a:xfrm>
            <a:off x="5989320" y="1261872"/>
            <a:ext cx="731520" cy="201168"/>
          </a:xfrm>
          <a:prstGeom prst="rect">
            <a:avLst/>
          </a:prstGeom>
          <a:noFill/>
        </p:spPr>
        <p:txBody>
          <a:bodyPr wrap="square">
            <a:normAutofit/>
          </a:bodyPr>
          <a:lstStyle/>
          <a:p>
            <a:pPr algn="ctr"/>
            <a:r>
              <a:rPr sz="900" b="1">
                <a:solidFill>
                  <a:srgbClr val="FFFFFF"/>
                </a:solidFill>
                <a:latin typeface="Arial"/>
              </a:rPr>
              <a:t>14 Oct</a:t>
            </a:r>
          </a:p>
        </p:txBody>
      </p:sp>
      <p:cxnSp>
        <p:nvCxnSpPr>
          <p:cNvPr id="12" name="Connector 11"/>
          <p:cNvCxnSpPr/>
          <p:nvPr/>
        </p:nvCxnSpPr>
        <p:spPr>
          <a:xfrm>
            <a:off x="2240280" y="1078992"/>
            <a:ext cx="0" cy="5184648"/>
          </a:xfrm>
          <a:prstGeom prst="line">
            <a:avLst/>
          </a:prstGeom>
          <a:ln w="38100">
            <a:solidFill>
              <a:srgbClr val="00B05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1892808" y="1481328"/>
            <a:ext cx="694944" cy="365760"/>
          </a:xfrm>
          <a:prstGeom prst="rect">
            <a:avLst/>
          </a:prstGeom>
          <a:noFill/>
        </p:spPr>
        <p:txBody>
          <a:bodyPr wrap="square">
            <a:normAutofit/>
          </a:bodyPr>
          <a:lstStyle/>
          <a:p>
            <a:pPr algn="ctr"/>
            <a:r>
              <a:rPr sz="800" b="1">
                <a:solidFill>
                  <a:srgbClr val="00B050"/>
                </a:solidFill>
                <a:latin typeface="Arial"/>
              </a:rPr>
              <a:t>1 OCT
BASELINE</a:t>
            </a:r>
          </a:p>
        </p:txBody>
      </p:sp>
      <p:sp>
        <p:nvSpPr>
          <p:cNvPr id="15" name="TextBox 14"/>
          <p:cNvSpPr txBox="1"/>
          <p:nvPr/>
        </p:nvSpPr>
        <p:spPr>
          <a:xfrm>
            <a:off x="6327648" y="1481328"/>
            <a:ext cx="621792" cy="365760"/>
          </a:xfrm>
          <a:prstGeom prst="rect">
            <a:avLst/>
          </a:prstGeom>
          <a:noFill/>
        </p:spPr>
        <p:txBody>
          <a:bodyPr wrap="square">
            <a:normAutofit/>
          </a:bodyPr>
          <a:lstStyle/>
          <a:p>
            <a:pPr algn="ctr"/>
            <a:r>
              <a:rPr sz="800" b="1">
                <a:solidFill>
                  <a:srgbClr val="C00000"/>
                </a:solidFill>
                <a:latin typeface="Arial"/>
              </a:rPr>
              <a:t>17 OCT
NEXT</a:t>
            </a:r>
          </a:p>
        </p:txBody>
      </p:sp>
      <p:sp>
        <p:nvSpPr>
          <p:cNvPr id="16" name="TextBox 15"/>
          <p:cNvSpPr txBox="1"/>
          <p:nvPr/>
        </p:nvSpPr>
        <p:spPr>
          <a:xfrm>
            <a:off x="502920" y="1783080"/>
            <a:ext cx="1783080" cy="201168"/>
          </a:xfrm>
          <a:prstGeom prst="rect">
            <a:avLst/>
          </a:prstGeom>
          <a:noFill/>
        </p:spPr>
        <p:txBody>
          <a:bodyPr wrap="square">
            <a:normAutofit/>
          </a:bodyPr>
          <a:lstStyle/>
          <a:p>
            <a:r>
              <a:rPr sz="850" b="1">
                <a:solidFill>
                  <a:srgbClr val="FFFFFF"/>
                </a:solidFill>
                <a:latin typeface="Arial"/>
              </a:rPr>
              <a:t>Advisor session / questions</a:t>
            </a:r>
          </a:p>
        </p:txBody>
      </p:sp>
      <p:sp>
        <p:nvSpPr>
          <p:cNvPr id="17" name="Rounded Rectangle 16"/>
          <p:cNvSpPr/>
          <p:nvPr/>
        </p:nvSpPr>
        <p:spPr>
          <a:xfrm>
            <a:off x="2468880" y="1810512"/>
            <a:ext cx="548640" cy="164592"/>
          </a:xfrm>
          <a:prstGeom prst="roundRect">
            <a:avLst/>
          </a:prstGeom>
          <a:solidFill>
            <a:srgbClr val="1F4E79"/>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68880" y="2011680"/>
            <a:ext cx="1645919" cy="219456"/>
          </a:xfrm>
          <a:prstGeom prst="rect">
            <a:avLst/>
          </a:prstGeom>
          <a:noFill/>
        </p:spPr>
        <p:txBody>
          <a:bodyPr wrap="square">
            <a:normAutofit/>
          </a:bodyPr>
          <a:lstStyle/>
          <a:p>
            <a:r>
              <a:rPr sz="720" b="0">
                <a:solidFill>
                  <a:srgbClr val="FFFFFF"/>
                </a:solidFill>
                <a:latin typeface="Arial"/>
              </a:rPr>
              <a:t>Ask: Ch. 2 sufficiency, OV-1, figures, equations</a:t>
            </a:r>
          </a:p>
        </p:txBody>
      </p:sp>
      <p:sp>
        <p:nvSpPr>
          <p:cNvPr id="19" name="TextBox 18"/>
          <p:cNvSpPr txBox="1"/>
          <p:nvPr/>
        </p:nvSpPr>
        <p:spPr>
          <a:xfrm>
            <a:off x="502920" y="2331720"/>
            <a:ext cx="1783080" cy="201168"/>
          </a:xfrm>
          <a:prstGeom prst="rect">
            <a:avLst/>
          </a:prstGeom>
          <a:noFill/>
        </p:spPr>
        <p:txBody>
          <a:bodyPr wrap="square">
            <a:normAutofit/>
          </a:bodyPr>
          <a:lstStyle/>
          <a:p>
            <a:r>
              <a:rPr sz="850" b="1">
                <a:solidFill>
                  <a:srgbClr val="FFFFFF"/>
                </a:solidFill>
                <a:latin typeface="Arial"/>
              </a:rPr>
              <a:t>Chapter 2 red sections + inline citations</a:t>
            </a:r>
          </a:p>
        </p:txBody>
      </p:sp>
      <p:sp>
        <p:nvSpPr>
          <p:cNvPr id="20" name="Rounded Rectangle 19"/>
          <p:cNvSpPr/>
          <p:nvPr/>
        </p:nvSpPr>
        <p:spPr>
          <a:xfrm>
            <a:off x="2240280" y="2359151"/>
            <a:ext cx="4251960" cy="164592"/>
          </a:xfrm>
          <a:prstGeom prst="roundRect">
            <a:avLst/>
          </a:prstGeom>
          <a:solidFill>
            <a:srgbClr val="00B05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40280" y="2560320"/>
            <a:ext cx="3017520" cy="219456"/>
          </a:xfrm>
          <a:prstGeom prst="rect">
            <a:avLst/>
          </a:prstGeom>
          <a:noFill/>
        </p:spPr>
        <p:txBody>
          <a:bodyPr wrap="square">
            <a:normAutofit/>
          </a:bodyPr>
          <a:lstStyle/>
          <a:p>
            <a:r>
              <a:rPr sz="720" b="0">
                <a:solidFill>
                  <a:srgbClr val="FFFFFF"/>
                </a:solidFill>
                <a:latin typeface="Arial"/>
              </a:rPr>
              <a:t>Finish prose; integrate 60+ register sources</a:t>
            </a:r>
          </a:p>
        </p:txBody>
      </p:sp>
      <p:sp>
        <p:nvSpPr>
          <p:cNvPr id="22" name="TextBox 21"/>
          <p:cNvSpPr txBox="1"/>
          <p:nvPr/>
        </p:nvSpPr>
        <p:spPr>
          <a:xfrm>
            <a:off x="502920" y="2880360"/>
            <a:ext cx="1783080" cy="201168"/>
          </a:xfrm>
          <a:prstGeom prst="rect">
            <a:avLst/>
          </a:prstGeom>
          <a:noFill/>
        </p:spPr>
        <p:txBody>
          <a:bodyPr wrap="square">
            <a:normAutofit/>
          </a:bodyPr>
          <a:lstStyle/>
          <a:p>
            <a:r>
              <a:rPr sz="850" b="1">
                <a:solidFill>
                  <a:srgbClr val="FFFFFF"/>
                </a:solidFill>
                <a:latin typeface="Arial"/>
              </a:rPr>
              <a:t>Editor reference cleanup</a:t>
            </a:r>
          </a:p>
        </p:txBody>
      </p:sp>
      <p:sp>
        <p:nvSpPr>
          <p:cNvPr id="23" name="Rounded Rectangle 22"/>
          <p:cNvSpPr/>
          <p:nvPr/>
        </p:nvSpPr>
        <p:spPr>
          <a:xfrm>
            <a:off x="2606040" y="2907791"/>
            <a:ext cx="1828800" cy="164592"/>
          </a:xfrm>
          <a:prstGeom prst="roundRect">
            <a:avLst/>
          </a:prstGeom>
          <a:solidFill>
            <a:srgbClr val="FFD7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606040" y="3108960"/>
            <a:ext cx="2926080" cy="219456"/>
          </a:xfrm>
          <a:prstGeom prst="rect">
            <a:avLst/>
          </a:prstGeom>
          <a:noFill/>
        </p:spPr>
        <p:txBody>
          <a:bodyPr wrap="square">
            <a:normAutofit/>
          </a:bodyPr>
          <a:lstStyle/>
          <a:p>
            <a:r>
              <a:rPr sz="720" b="0">
                <a:solidFill>
                  <a:srgbClr val="FFFFFF"/>
                </a:solidFill>
                <a:latin typeface="Arial"/>
              </a:rPr>
              <a:t>Resolve incomplete APA entries</a:t>
            </a:r>
          </a:p>
        </p:txBody>
      </p:sp>
      <p:sp>
        <p:nvSpPr>
          <p:cNvPr id="25" name="TextBox 24"/>
          <p:cNvSpPr txBox="1"/>
          <p:nvPr/>
        </p:nvSpPr>
        <p:spPr>
          <a:xfrm>
            <a:off x="502920" y="3429000"/>
            <a:ext cx="1783080" cy="201168"/>
          </a:xfrm>
          <a:prstGeom prst="rect">
            <a:avLst/>
          </a:prstGeom>
          <a:noFill/>
        </p:spPr>
        <p:txBody>
          <a:bodyPr wrap="square">
            <a:normAutofit/>
          </a:bodyPr>
          <a:lstStyle/>
          <a:p>
            <a:r>
              <a:rPr sz="850" b="1">
                <a:solidFill>
                  <a:srgbClr val="FFFFFF"/>
                </a:solidFill>
                <a:latin typeface="Arial"/>
              </a:rPr>
              <a:t>OV-1 + DES / ACE figures</a:t>
            </a:r>
          </a:p>
        </p:txBody>
      </p:sp>
      <p:sp>
        <p:nvSpPr>
          <p:cNvPr id="26" name="Rounded Rectangle 25"/>
          <p:cNvSpPr/>
          <p:nvPr/>
        </p:nvSpPr>
        <p:spPr>
          <a:xfrm>
            <a:off x="2971800" y="3456432"/>
            <a:ext cx="2834640" cy="164592"/>
          </a:xfrm>
          <a:prstGeom prst="roundRect">
            <a:avLst/>
          </a:prstGeom>
          <a:solidFill>
            <a:srgbClr val="8F4C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71800" y="3657600"/>
            <a:ext cx="3017520" cy="219456"/>
          </a:xfrm>
          <a:prstGeom prst="rect">
            <a:avLst/>
          </a:prstGeom>
          <a:noFill/>
        </p:spPr>
        <p:txBody>
          <a:bodyPr wrap="square">
            <a:normAutofit/>
          </a:bodyPr>
          <a:lstStyle/>
          <a:p>
            <a:r>
              <a:rPr sz="720" b="0">
                <a:solidFill>
                  <a:srgbClr val="FFFFFF"/>
                </a:solidFill>
                <a:latin typeface="Arial"/>
              </a:rPr>
              <a:t>Roberto + PPT figures; keep causal limits explicit</a:t>
            </a:r>
          </a:p>
        </p:txBody>
      </p:sp>
      <p:sp>
        <p:nvSpPr>
          <p:cNvPr id="28" name="TextBox 27"/>
          <p:cNvSpPr txBox="1"/>
          <p:nvPr/>
        </p:nvSpPr>
        <p:spPr>
          <a:xfrm>
            <a:off x="502920" y="3977639"/>
            <a:ext cx="1783080" cy="201168"/>
          </a:xfrm>
          <a:prstGeom prst="rect">
            <a:avLst/>
          </a:prstGeom>
          <a:noFill/>
        </p:spPr>
        <p:txBody>
          <a:bodyPr wrap="square">
            <a:normAutofit/>
          </a:bodyPr>
          <a:lstStyle/>
          <a:p>
            <a:r>
              <a:rPr sz="850" b="1">
                <a:solidFill>
                  <a:srgbClr val="FFFFFF"/>
                </a:solidFill>
                <a:latin typeface="Arial"/>
              </a:rPr>
              <a:t>MATLAB/SimEvents Baseline #2</a:t>
            </a:r>
          </a:p>
        </p:txBody>
      </p:sp>
      <p:sp>
        <p:nvSpPr>
          <p:cNvPr id="29" name="Rounded Rectangle 28"/>
          <p:cNvSpPr/>
          <p:nvPr/>
        </p:nvSpPr>
        <p:spPr>
          <a:xfrm>
            <a:off x="3291840" y="4005072"/>
            <a:ext cx="3291840" cy="164592"/>
          </a:xfrm>
          <a:prstGeom prst="roundRect">
            <a:avLst/>
          </a:prstGeom>
          <a:solidFill>
            <a:srgbClr val="FF8C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291840" y="4206240"/>
            <a:ext cx="3017520" cy="219456"/>
          </a:xfrm>
          <a:prstGeom prst="rect">
            <a:avLst/>
          </a:prstGeom>
          <a:noFill/>
        </p:spPr>
        <p:txBody>
          <a:bodyPr wrap="square">
            <a:normAutofit/>
          </a:bodyPr>
          <a:lstStyle/>
          <a:p>
            <a:r>
              <a:rPr sz="720" b="0">
                <a:solidFill>
                  <a:srgbClr val="FFFFFF"/>
                </a:solidFill>
                <a:latin typeface="Arial"/>
              </a:rPr>
              <a:t>Reproduce Excel ASOT; fixed RNG / seeds</a:t>
            </a:r>
          </a:p>
        </p:txBody>
      </p:sp>
      <p:sp>
        <p:nvSpPr>
          <p:cNvPr id="31" name="TextBox 30"/>
          <p:cNvSpPr txBox="1"/>
          <p:nvPr/>
        </p:nvSpPr>
        <p:spPr>
          <a:xfrm>
            <a:off x="502920" y="4526280"/>
            <a:ext cx="1783080" cy="201168"/>
          </a:xfrm>
          <a:prstGeom prst="rect">
            <a:avLst/>
          </a:prstGeom>
          <a:noFill/>
        </p:spPr>
        <p:txBody>
          <a:bodyPr wrap="square">
            <a:normAutofit/>
          </a:bodyPr>
          <a:lstStyle/>
          <a:p>
            <a:r>
              <a:rPr sz="850" b="1">
                <a:solidFill>
                  <a:srgbClr val="FFFFFF"/>
                </a:solidFill>
                <a:latin typeface="Arial"/>
              </a:rPr>
              <a:t>Validation + sensitivity plan</a:t>
            </a:r>
          </a:p>
        </p:txBody>
      </p:sp>
      <p:sp>
        <p:nvSpPr>
          <p:cNvPr id="32" name="Rounded Rectangle 31"/>
          <p:cNvSpPr/>
          <p:nvPr/>
        </p:nvSpPr>
        <p:spPr>
          <a:xfrm>
            <a:off x="4343400" y="4553712"/>
            <a:ext cx="2148840" cy="164592"/>
          </a:xfrm>
          <a:prstGeom prst="roundRect">
            <a:avLst/>
          </a:prstGeom>
          <a:solidFill>
            <a:srgbClr val="00C9DC"/>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43400" y="4754880"/>
            <a:ext cx="3017520" cy="219456"/>
          </a:xfrm>
          <a:prstGeom prst="rect">
            <a:avLst/>
          </a:prstGeom>
          <a:noFill/>
        </p:spPr>
        <p:txBody>
          <a:bodyPr wrap="square">
            <a:normAutofit/>
          </a:bodyPr>
          <a:lstStyle/>
          <a:p>
            <a:r>
              <a:rPr sz="720" b="0">
                <a:solidFill>
                  <a:srgbClr val="FFFFFF"/>
                </a:solidFill>
                <a:latin typeface="Arial"/>
              </a:rPr>
              <a:t>Matched repeated runs; confidence intervals</a:t>
            </a:r>
          </a:p>
        </p:txBody>
      </p:sp>
      <p:sp>
        <p:nvSpPr>
          <p:cNvPr id="34" name="TextBox 33"/>
          <p:cNvSpPr txBox="1"/>
          <p:nvPr/>
        </p:nvSpPr>
        <p:spPr>
          <a:xfrm>
            <a:off x="502920" y="5074920"/>
            <a:ext cx="1783080" cy="201168"/>
          </a:xfrm>
          <a:prstGeom prst="rect">
            <a:avLst/>
          </a:prstGeom>
          <a:noFill/>
        </p:spPr>
        <p:txBody>
          <a:bodyPr wrap="square">
            <a:normAutofit/>
          </a:bodyPr>
          <a:lstStyle/>
          <a:p>
            <a:r>
              <a:rPr sz="850" b="1">
                <a:solidFill>
                  <a:srgbClr val="FFFFFF"/>
                </a:solidFill>
                <a:latin typeface="Arial"/>
              </a:rPr>
              <a:t>Oct. 17 advisor deck</a:t>
            </a:r>
          </a:p>
        </p:txBody>
      </p:sp>
      <p:sp>
        <p:nvSpPr>
          <p:cNvPr id="35" name="Rounded Rectangle 34"/>
          <p:cNvSpPr/>
          <p:nvPr/>
        </p:nvSpPr>
        <p:spPr>
          <a:xfrm>
            <a:off x="5760720" y="5102352"/>
            <a:ext cx="822960" cy="164592"/>
          </a:xfrm>
          <a:prstGeom prst="roundRect">
            <a:avLst/>
          </a:prstGeom>
          <a:solidFill>
            <a:srgbClr val="FF6678"/>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760720" y="5303520"/>
            <a:ext cx="1920240" cy="219456"/>
          </a:xfrm>
          <a:prstGeom prst="rect">
            <a:avLst/>
          </a:prstGeom>
          <a:noFill/>
        </p:spPr>
        <p:txBody>
          <a:bodyPr wrap="square">
            <a:normAutofit/>
          </a:bodyPr>
          <a:lstStyle/>
          <a:p>
            <a:r>
              <a:rPr sz="720" b="0">
                <a:solidFill>
                  <a:srgbClr val="FFFFFF"/>
                </a:solidFill>
                <a:latin typeface="Arial"/>
              </a:rPr>
              <a:t>Package status, risks, asks</a:t>
            </a:r>
          </a:p>
        </p:txBody>
      </p:sp>
      <p:sp>
        <p:nvSpPr>
          <p:cNvPr id="50" name="Rounded Rectangle 49"/>
          <p:cNvSpPr/>
          <p:nvPr/>
        </p:nvSpPr>
        <p:spPr>
          <a:xfrm>
            <a:off x="594360" y="6144768"/>
            <a:ext cx="10241280" cy="411480"/>
          </a:xfrm>
          <a:prstGeom prst="roundRect">
            <a:avLst/>
          </a:prstGeom>
          <a:solidFill>
            <a:srgbClr val="000000"/>
          </a:solidFill>
          <a:ln w="127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14400" y="6236208"/>
            <a:ext cx="9601200" cy="201168"/>
          </a:xfrm>
          <a:prstGeom prst="rect">
            <a:avLst/>
          </a:prstGeom>
          <a:noFill/>
        </p:spPr>
        <p:txBody>
          <a:bodyPr wrap="square">
            <a:normAutofit/>
          </a:bodyPr>
          <a:lstStyle/>
          <a:p>
            <a:pPr algn="ctr"/>
            <a:r>
              <a:rPr sz="1100" b="1">
                <a:solidFill>
                  <a:srgbClr val="FFFFFF"/>
                </a:solidFill>
                <a:latin typeface="Arial"/>
              </a:rPr>
              <a:t>Bottom line: convert the Oct. 1 package into a cleaner Chapter 2 + reproducible MATLAB baseline by Oct. 17.</a:t>
            </a:r>
          </a:p>
        </p:txBody>
      </p:sp>
      <p:sp>
        <p:nvSpPr>
          <p:cNvPr id="52" name="Rounded Rectangle 51"/>
          <p:cNvSpPr/>
          <p:nvPr/>
        </p:nvSpPr>
        <p:spPr>
          <a:xfrm>
            <a:off x="6903720" y="1024128"/>
            <a:ext cx="4206240" cy="1508760"/>
          </a:xfrm>
          <a:prstGeom prst="roundRect">
            <a:avLst/>
          </a:prstGeom>
          <a:solidFill>
            <a:srgbClr val="051D2D"/>
          </a:solidFill>
          <a:ln w="20320">
            <a:solidFill>
              <a:srgbClr val="00D2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040880" y="1161288"/>
            <a:ext cx="3931920" cy="274320"/>
          </a:xfrm>
          <a:prstGeom prst="rect">
            <a:avLst/>
          </a:prstGeom>
          <a:noFill/>
        </p:spPr>
        <p:txBody>
          <a:bodyPr wrap="none" anchor="t">
            <a:spAutoFit/>
          </a:bodyPr>
          <a:lstStyle/>
          <a:p>
            <a:pPr algn="ctr"/>
            <a:r>
              <a:rPr sz="1500" b="1">
                <a:solidFill>
                  <a:srgbClr val="00D2EB"/>
                </a:solidFill>
                <a:latin typeface="Arial"/>
              </a:rPr>
              <a:t>Meeting / milestone key</a:t>
            </a:r>
          </a:p>
        </p:txBody>
      </p:sp>
      <p:sp>
        <p:nvSpPr>
          <p:cNvPr id="54" name="Oval 53"/>
          <p:cNvSpPr/>
          <p:nvPr/>
        </p:nvSpPr>
        <p:spPr>
          <a:xfrm>
            <a:off x="7114032" y="1463040"/>
            <a:ext cx="164592" cy="164592"/>
          </a:xfrm>
          <a:prstGeom prst="ellipse">
            <a:avLst/>
          </a:prstGeom>
          <a:solidFill>
            <a:srgbClr val="00CD6E"/>
          </a:solidFill>
          <a:ln>
            <a:solidFill>
              <a:srgbClr val="00CD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114032" y="1472184"/>
            <a:ext cx="164592" cy="164592"/>
          </a:xfrm>
          <a:prstGeom prst="rect">
            <a:avLst/>
          </a:prstGeom>
          <a:noFill/>
        </p:spPr>
        <p:txBody>
          <a:bodyPr wrap="none" lIns="0" rIns="0" tIns="0" bIns="0">
            <a:spAutoFit/>
          </a:bodyPr>
          <a:lstStyle/>
          <a:p>
            <a:pPr algn="ctr"/>
            <a:r>
              <a:rPr sz="750" b="1">
                <a:solidFill>
                  <a:srgbClr val="FFFFFF"/>
                </a:solidFill>
                <a:latin typeface="Arial"/>
              </a:rPr>
              <a:t>1</a:t>
            </a:r>
          </a:p>
        </p:txBody>
      </p:sp>
      <p:sp>
        <p:nvSpPr>
          <p:cNvPr id="56" name="TextBox 55"/>
          <p:cNvSpPr txBox="1"/>
          <p:nvPr/>
        </p:nvSpPr>
        <p:spPr>
          <a:xfrm>
            <a:off x="7424928" y="1458468"/>
            <a:ext cx="3246120" cy="228600"/>
          </a:xfrm>
          <a:prstGeom prst="rect">
            <a:avLst/>
          </a:prstGeom>
          <a:noFill/>
        </p:spPr>
        <p:txBody>
          <a:bodyPr wrap="square" lIns="0" rIns="0" tIns="0" bIns="0">
            <a:spAutoFit/>
          </a:bodyPr>
          <a:lstStyle/>
          <a:p>
            <a:pPr algn="l"/>
            <a:r>
              <a:rPr sz="940" b="0">
                <a:solidFill>
                  <a:srgbClr val="FFFFFF"/>
                </a:solidFill>
                <a:latin typeface="Arial"/>
              </a:rPr>
              <a:t>Oct. 1 — baseline submitted</a:t>
            </a:r>
          </a:p>
        </p:txBody>
      </p:sp>
      <p:sp>
        <p:nvSpPr>
          <p:cNvPr id="57" name="Oval 56"/>
          <p:cNvSpPr/>
          <p:nvPr/>
        </p:nvSpPr>
        <p:spPr>
          <a:xfrm>
            <a:off x="7114032" y="1719072"/>
            <a:ext cx="164592" cy="164592"/>
          </a:xfrm>
          <a:prstGeom prst="ellipse">
            <a:avLst/>
          </a:prstGeom>
          <a:solidFill>
            <a:srgbClr val="1A5787"/>
          </a:solidFill>
          <a:ln>
            <a:solidFill>
              <a:srgbClr val="1A578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114032" y="1728216"/>
            <a:ext cx="164592" cy="164592"/>
          </a:xfrm>
          <a:prstGeom prst="rect">
            <a:avLst/>
          </a:prstGeom>
          <a:noFill/>
        </p:spPr>
        <p:txBody>
          <a:bodyPr wrap="none" lIns="0" rIns="0" tIns="0" bIns="0">
            <a:spAutoFit/>
          </a:bodyPr>
          <a:lstStyle/>
          <a:p>
            <a:pPr algn="ctr"/>
            <a:r>
              <a:rPr sz="750" b="1">
                <a:solidFill>
                  <a:srgbClr val="FFFFFF"/>
                </a:solidFill>
                <a:latin typeface="Arial"/>
              </a:rPr>
              <a:t>2</a:t>
            </a:r>
          </a:p>
        </p:txBody>
      </p:sp>
      <p:sp>
        <p:nvSpPr>
          <p:cNvPr id="59" name="TextBox 58"/>
          <p:cNvSpPr txBox="1"/>
          <p:nvPr/>
        </p:nvSpPr>
        <p:spPr>
          <a:xfrm>
            <a:off x="7424928" y="1714500"/>
            <a:ext cx="3246120" cy="228600"/>
          </a:xfrm>
          <a:prstGeom prst="rect">
            <a:avLst/>
          </a:prstGeom>
          <a:noFill/>
        </p:spPr>
        <p:txBody>
          <a:bodyPr wrap="square" lIns="0" rIns="0" tIns="0" bIns="0">
            <a:spAutoFit/>
          </a:bodyPr>
          <a:lstStyle/>
          <a:p>
            <a:pPr algn="l"/>
            <a:r>
              <a:rPr sz="940" b="0">
                <a:solidFill>
                  <a:srgbClr val="FFFFFF"/>
                </a:solidFill>
                <a:latin typeface="Arial"/>
              </a:rPr>
              <a:t>Oct. 3 — advisor session</a:t>
            </a:r>
          </a:p>
        </p:txBody>
      </p:sp>
      <p:sp>
        <p:nvSpPr>
          <p:cNvPr id="60" name="Oval 59"/>
          <p:cNvSpPr/>
          <p:nvPr/>
        </p:nvSpPr>
        <p:spPr>
          <a:xfrm>
            <a:off x="7114032" y="1975104"/>
            <a:ext cx="164592" cy="164592"/>
          </a:xfrm>
          <a:prstGeom prst="ellipse">
            <a:avLst/>
          </a:prstGeom>
          <a:solidFill>
            <a:srgbClr val="E60000"/>
          </a:solidFill>
          <a:ln>
            <a:solidFill>
              <a:srgbClr val="E6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114032" y="1984248"/>
            <a:ext cx="164592" cy="164592"/>
          </a:xfrm>
          <a:prstGeom prst="rect">
            <a:avLst/>
          </a:prstGeom>
          <a:noFill/>
        </p:spPr>
        <p:txBody>
          <a:bodyPr wrap="none" lIns="0" rIns="0" tIns="0" bIns="0">
            <a:spAutoFit/>
          </a:bodyPr>
          <a:lstStyle/>
          <a:p>
            <a:pPr algn="ctr"/>
            <a:r>
              <a:rPr sz="750" b="1">
                <a:solidFill>
                  <a:srgbClr val="FFFFFF"/>
                </a:solidFill>
                <a:latin typeface="Arial"/>
              </a:rPr>
              <a:t>3</a:t>
            </a:r>
          </a:p>
        </p:txBody>
      </p:sp>
      <p:sp>
        <p:nvSpPr>
          <p:cNvPr id="62" name="TextBox 61"/>
          <p:cNvSpPr txBox="1"/>
          <p:nvPr/>
        </p:nvSpPr>
        <p:spPr>
          <a:xfrm>
            <a:off x="7424928" y="1970532"/>
            <a:ext cx="3246120" cy="228600"/>
          </a:xfrm>
          <a:prstGeom prst="rect">
            <a:avLst/>
          </a:prstGeom>
          <a:noFill/>
        </p:spPr>
        <p:txBody>
          <a:bodyPr wrap="square" lIns="0" rIns="0" tIns="0" bIns="0">
            <a:spAutoFit/>
          </a:bodyPr>
          <a:lstStyle/>
          <a:p>
            <a:pPr algn="l"/>
            <a:r>
              <a:rPr sz="940" b="0">
                <a:solidFill>
                  <a:srgbClr val="FFFFFF"/>
                </a:solidFill>
                <a:latin typeface="Arial"/>
              </a:rPr>
              <a:t>Oct. 17 — next update/advising line</a:t>
            </a:r>
          </a:p>
        </p:txBody>
      </p:sp>
      <p:sp>
        <p:nvSpPr>
          <p:cNvPr id="63" name="Oval 62"/>
          <p:cNvSpPr/>
          <p:nvPr/>
        </p:nvSpPr>
        <p:spPr>
          <a:xfrm>
            <a:off x="7114032" y="2231136"/>
            <a:ext cx="164592" cy="164592"/>
          </a:xfrm>
          <a:prstGeom prst="ellipse">
            <a:avLst/>
          </a:prstGeom>
          <a:solidFill>
            <a:srgbClr val="00CD6E"/>
          </a:solidFill>
          <a:ln>
            <a:solidFill>
              <a:srgbClr val="00CD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7114032" y="2240280"/>
            <a:ext cx="164592" cy="164592"/>
          </a:xfrm>
          <a:prstGeom prst="rect">
            <a:avLst/>
          </a:prstGeom>
          <a:noFill/>
        </p:spPr>
        <p:txBody>
          <a:bodyPr wrap="none" lIns="0" rIns="0" tIns="0" bIns="0">
            <a:spAutoFit/>
          </a:bodyPr>
          <a:lstStyle/>
          <a:p>
            <a:pPr algn="ctr"/>
            <a:r>
              <a:rPr sz="750" b="1">
                <a:solidFill>
                  <a:srgbClr val="FFFFFF"/>
                </a:solidFill>
                <a:latin typeface="Arial"/>
              </a:rPr>
              <a:t>4</a:t>
            </a:r>
          </a:p>
        </p:txBody>
      </p:sp>
      <p:sp>
        <p:nvSpPr>
          <p:cNvPr id="65" name="TextBox 64"/>
          <p:cNvSpPr txBox="1"/>
          <p:nvPr/>
        </p:nvSpPr>
        <p:spPr>
          <a:xfrm>
            <a:off x="7424928" y="2226564"/>
            <a:ext cx="3246120" cy="228600"/>
          </a:xfrm>
          <a:prstGeom prst="rect">
            <a:avLst/>
          </a:prstGeom>
          <a:noFill/>
        </p:spPr>
        <p:txBody>
          <a:bodyPr wrap="square" lIns="0" rIns="0" tIns="0" bIns="0">
            <a:spAutoFit/>
          </a:bodyPr>
          <a:lstStyle/>
          <a:p>
            <a:pPr algn="l"/>
            <a:r>
              <a:rPr sz="940" b="0">
                <a:solidFill>
                  <a:srgbClr val="FFFFFF"/>
                </a:solidFill>
                <a:latin typeface="Arial"/>
              </a:rPr>
              <a:t>Nov. 1 — 30-page milestone path</a:t>
            </a:r>
          </a:p>
        </p:txBody>
      </p:sp>
      <p:sp>
        <p:nvSpPr>
          <p:cNvPr id="66" name="Rounded Rectangle 65"/>
          <p:cNvSpPr/>
          <p:nvPr/>
        </p:nvSpPr>
        <p:spPr>
          <a:xfrm>
            <a:off x="6903720" y="3044952"/>
            <a:ext cx="4206240" cy="1700784"/>
          </a:xfrm>
          <a:prstGeom prst="roundRect">
            <a:avLst/>
          </a:prstGeom>
          <a:solidFill>
            <a:srgbClr val="0E0E11"/>
          </a:solidFill>
          <a:ln w="20320">
            <a:solidFill>
              <a:srgbClr val="00CD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040880" y="3182112"/>
            <a:ext cx="3931920" cy="274320"/>
          </a:xfrm>
          <a:prstGeom prst="rect">
            <a:avLst/>
          </a:prstGeom>
          <a:noFill/>
        </p:spPr>
        <p:txBody>
          <a:bodyPr wrap="none" anchor="t">
            <a:spAutoFit/>
          </a:bodyPr>
          <a:lstStyle/>
          <a:p>
            <a:pPr algn="ctr"/>
            <a:r>
              <a:rPr sz="1500" b="1">
                <a:solidFill>
                  <a:srgbClr val="00CD6E"/>
                </a:solidFill>
                <a:latin typeface="Arial"/>
              </a:rPr>
              <a:t>Bottom line</a:t>
            </a:r>
          </a:p>
        </p:txBody>
      </p:sp>
      <p:sp>
        <p:nvSpPr>
          <p:cNvPr id="68" name="TextBox 67"/>
          <p:cNvSpPr txBox="1"/>
          <p:nvPr/>
        </p:nvSpPr>
        <p:spPr>
          <a:xfrm>
            <a:off x="7223759" y="3611880"/>
            <a:ext cx="3611879" cy="1014984"/>
          </a:xfrm>
          <a:prstGeom prst="rect">
            <a:avLst/>
          </a:prstGeom>
          <a:noFill/>
        </p:spPr>
        <p:txBody>
          <a:bodyPr wrap="square" lIns="0" rIns="0" tIns="0" bIns="0">
            <a:spAutoFit/>
          </a:bodyPr>
          <a:lstStyle/>
          <a:p>
            <a:pPr>
              <a:spcAft>
                <a:spcPts val="400"/>
              </a:spcAft>
              <a:defRPr sz="1019">
                <a:solidFill>
                  <a:srgbClr val="FFFFFF"/>
                </a:solidFill>
                <a:latin typeface="Arial"/>
              </a:defRPr>
            </a:pPr>
            <a:r>
              <a:t>• Oct. 1 is the baseline, not the suspense.</a:t>
            </a:r>
          </a:p>
          <a:p>
            <a:pPr>
              <a:spcAft>
                <a:spcPts val="400"/>
              </a:spcAft>
              <a:defRPr sz="1019">
                <a:solidFill>
                  <a:srgbClr val="FFFFFF"/>
                </a:solidFill>
                <a:latin typeface="Arial"/>
              </a:defRPr>
            </a:pPr>
            <a:r>
              <a:t>• Oct. 17 is the next two-week gate.</a:t>
            </a:r>
          </a:p>
          <a:p>
            <a:pPr>
              <a:spcAft>
                <a:spcPts val="400"/>
              </a:spcAft>
              <a:defRPr sz="1019">
                <a:solidFill>
                  <a:srgbClr val="FFFFFF"/>
                </a:solidFill>
                <a:latin typeface="Arial"/>
              </a:defRPr>
            </a:pPr>
            <a:r>
              <a:t>• Primary risk: Chapter 2 source integration.</a:t>
            </a:r>
          </a:p>
          <a:p>
            <a:pPr>
              <a:spcAft>
                <a:spcPts val="400"/>
              </a:spcAft>
              <a:defRPr sz="1019">
                <a:solidFill>
                  <a:srgbClr val="FFFFFF"/>
                </a:solidFill>
                <a:latin typeface="Arial"/>
              </a:defRPr>
            </a:pPr>
            <a:r>
              <a:t>• MATLAB must reproduce Excel before scaling.</a:t>
            </a:r>
          </a:p>
        </p:txBody>
      </p:sp>
      <p:sp>
        <p:nvSpPr>
          <p:cNvPr id="69" name="TextBox 68"/>
          <p:cNvSpPr txBox="1"/>
          <p:nvPr/>
        </p:nvSpPr>
        <p:spPr>
          <a:xfrm>
            <a:off x="9326880" y="6510528"/>
            <a:ext cx="1463040" cy="137160"/>
          </a:xfrm>
          <a:prstGeom prst="rect">
            <a:avLst/>
          </a:prstGeom>
          <a:noFill/>
        </p:spPr>
        <p:txBody>
          <a:bodyPr wrap="square" lIns="0" rIns="0" tIns="0" bIns="0">
            <a:spAutoFit/>
          </a:bodyPr>
          <a:lstStyle/>
          <a:p>
            <a:r>
              <a:t>Config: 2026-10-01 | v08</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pic>
        <p:nvPicPr>
          <p:cNvPr id="221" name="Google Shape;221;p35"/>
          <p:cNvPicPr preferRelativeResize="0"/>
          <p:nvPr/>
        </p:nvPicPr>
        <p:blipFill rotWithShape="1">
          <a:blip r:embed="rId3">
            <a:alphaModFix/>
          </a:blip>
          <a:srcRect/>
          <a:stretch/>
        </p:blipFill>
        <p:spPr>
          <a:xfrm>
            <a:off x="0" y="0"/>
            <a:ext cx="12299675" cy="3252355"/>
          </a:xfrm>
          <a:prstGeom prst="rect">
            <a:avLst/>
          </a:prstGeom>
          <a:noFill/>
          <a:ln>
            <a:noFill/>
          </a:ln>
        </p:spPr>
      </p:pic>
      <p:pic>
        <p:nvPicPr>
          <p:cNvPr id="222" name="Google Shape;222;p35"/>
          <p:cNvPicPr preferRelativeResize="0"/>
          <p:nvPr/>
        </p:nvPicPr>
        <p:blipFill rotWithShape="1">
          <a:blip r:embed="rId4">
            <a:alphaModFix/>
          </a:blip>
          <a:srcRect/>
          <a:stretch/>
        </p:blipFill>
        <p:spPr>
          <a:xfrm>
            <a:off x="3570051" y="2354272"/>
            <a:ext cx="8735580" cy="3171039"/>
          </a:xfrm>
          <a:prstGeom prst="rect">
            <a:avLst/>
          </a:prstGeom>
          <a:noFill/>
          <a:ln>
            <a:noFill/>
          </a:ln>
        </p:spPr>
      </p:pic>
      <p:pic>
        <p:nvPicPr>
          <p:cNvPr id="223" name="Google Shape;223;p35"/>
          <p:cNvPicPr preferRelativeResize="0"/>
          <p:nvPr/>
        </p:nvPicPr>
        <p:blipFill rotWithShape="1">
          <a:blip r:embed="rId4">
            <a:alphaModFix/>
          </a:blip>
          <a:srcRect/>
          <a:stretch/>
        </p:blipFill>
        <p:spPr>
          <a:xfrm>
            <a:off x="0" y="4064972"/>
            <a:ext cx="7247777" cy="2630962"/>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pic>
        <p:nvPicPr>
          <p:cNvPr id="229" name="Google Shape;229;p36"/>
          <p:cNvPicPr preferRelativeResize="0"/>
          <p:nvPr/>
        </p:nvPicPr>
        <p:blipFill rotWithShape="1">
          <a:blip r:embed="rId3">
            <a:alphaModFix/>
          </a:blip>
          <a:srcRect/>
          <a:stretch/>
        </p:blipFill>
        <p:spPr>
          <a:xfrm>
            <a:off x="0" y="0"/>
            <a:ext cx="12191999" cy="4425728"/>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graphicFrame>
        <p:nvGraphicFramePr>
          <p:cNvPr id="235" name="Google Shape;235;p37"/>
          <p:cNvGraphicFramePr/>
          <p:nvPr>
            <p:extLst>
              <p:ext uri="{D42A27DB-BD31-4B8C-83A1-F6EECF244321}">
                <p14:modId xmlns:p14="http://schemas.microsoft.com/office/powerpoint/2010/main" val="716559281"/>
              </p:ext>
            </p:extLst>
          </p:nvPr>
        </p:nvGraphicFramePr>
        <p:xfrm>
          <a:off x="1146810" y="0"/>
          <a:ext cx="9898380" cy="10601332"/>
        </p:xfrm>
        <a:graphic>
          <a:graphicData uri="http://schemas.openxmlformats.org/drawingml/2006/table">
            <a:tbl>
              <a:tblPr>
                <a:noFill/>
                <a:tableStyleId>{3C1EB017-BC45-4DEE-9ABB-B4D90C79D28D}</a:tableStyleId>
              </a:tblPr>
              <a:tblGrid>
                <a:gridCol w="552692">
                  <a:extLst>
                    <a:ext uri="{9D8B030D-6E8A-4147-A177-3AD203B41FA5}">
                      <a16:colId xmlns:a16="http://schemas.microsoft.com/office/drawing/2014/main" val="20000"/>
                    </a:ext>
                  </a:extLst>
                </a:gridCol>
                <a:gridCol w="1004904">
                  <a:extLst>
                    <a:ext uri="{9D8B030D-6E8A-4147-A177-3AD203B41FA5}">
                      <a16:colId xmlns:a16="http://schemas.microsoft.com/office/drawing/2014/main" val="20001"/>
                    </a:ext>
                  </a:extLst>
                </a:gridCol>
                <a:gridCol w="1406872">
                  <a:extLst>
                    <a:ext uri="{9D8B030D-6E8A-4147-A177-3AD203B41FA5}">
                      <a16:colId xmlns:a16="http://schemas.microsoft.com/office/drawing/2014/main" val="20002"/>
                    </a:ext>
                  </a:extLst>
                </a:gridCol>
                <a:gridCol w="1105408">
                  <a:extLst>
                    <a:ext uri="{9D8B030D-6E8A-4147-A177-3AD203B41FA5}">
                      <a16:colId xmlns:a16="http://schemas.microsoft.com/office/drawing/2014/main" val="20003"/>
                    </a:ext>
                  </a:extLst>
                </a:gridCol>
                <a:gridCol w="1708363">
                  <a:extLst>
                    <a:ext uri="{9D8B030D-6E8A-4147-A177-3AD203B41FA5}">
                      <a16:colId xmlns:a16="http://schemas.microsoft.com/office/drawing/2014/main" val="20004"/>
                    </a:ext>
                  </a:extLst>
                </a:gridCol>
                <a:gridCol w="1607861">
                  <a:extLst>
                    <a:ext uri="{9D8B030D-6E8A-4147-A177-3AD203B41FA5}">
                      <a16:colId xmlns:a16="http://schemas.microsoft.com/office/drawing/2014/main" val="20005"/>
                    </a:ext>
                  </a:extLst>
                </a:gridCol>
                <a:gridCol w="502451">
                  <a:extLst>
                    <a:ext uri="{9D8B030D-6E8A-4147-A177-3AD203B41FA5}">
                      <a16:colId xmlns:a16="http://schemas.microsoft.com/office/drawing/2014/main" val="20006"/>
                    </a:ext>
                  </a:extLst>
                </a:gridCol>
                <a:gridCol w="2009829">
                  <a:extLst>
                    <a:ext uri="{9D8B030D-6E8A-4147-A177-3AD203B41FA5}">
                      <a16:colId xmlns:a16="http://schemas.microsoft.com/office/drawing/2014/main" val="20007"/>
                    </a:ext>
                  </a:extLst>
                </a:gridCol>
              </a:tblGrid>
              <a:tr h="148932">
                <a:tc gridSpan="8">
                  <a:txBody>
                    <a:bodyPr/>
                    <a:lstStyle/>
                    <a:p>
                      <a:pPr marL="0" marR="0" lvl="0" indent="0" algn="l" rtl="0">
                        <a:spcBef>
                          <a:spcPts val="0"/>
                        </a:spcBef>
                        <a:spcAft>
                          <a:spcPts val="0"/>
                        </a:spcAft>
                        <a:buClr>
                          <a:schemeClr val="dk1"/>
                        </a:buClr>
                        <a:buSzPts val="1050"/>
                        <a:buFont typeface="Calibri"/>
                        <a:buNone/>
                      </a:pPr>
                      <a:r>
                        <a:rPr lang="en-US" sz="1050" u="none"/>
                        <a:t>AIS Cohort Architecture — Company / Technology Register</a:t>
                      </a:r>
                      <a:endParaRPr sz="1050" b="1" i="0" u="none">
                        <a:solidFill>
                          <a:srgbClr val="FFFFFF"/>
                        </a:solidFill>
                        <a:latin typeface="Carlito"/>
                        <a:ea typeface="Carlito"/>
                        <a:cs typeface="Carlito"/>
                        <a:sym typeface="Carlito"/>
                      </a:endParaRPr>
                    </a:p>
                  </a:txBody>
                  <a:tcPr marL="3175" marR="3175" marT="317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28070">
                <a:tc gridSpan="8">
                  <a:txBody>
                    <a:bodyPr/>
                    <a:lstStyle/>
                    <a:p>
                      <a:pPr marL="0" marR="0" lvl="0" indent="0" algn="l" rtl="0">
                        <a:spcBef>
                          <a:spcPts val="0"/>
                        </a:spcBef>
                        <a:spcAft>
                          <a:spcPts val="0"/>
                        </a:spcAft>
                        <a:buClr>
                          <a:schemeClr val="dk1"/>
                        </a:buClr>
                        <a:buSzPts val="900"/>
                        <a:buFont typeface="Calibri"/>
                        <a:buNone/>
                      </a:pPr>
                      <a:r>
                        <a:rPr lang="en-US" sz="900" u="none"/>
                        <a:t>Heat reflects relevance to the Praxis solution space, not vendor quality or endorsement.</a:t>
                      </a:r>
                      <a:endParaRPr sz="900" b="0" i="1" u="none">
                        <a:latin typeface="Carlito"/>
                        <a:ea typeface="Carlito"/>
                        <a:cs typeface="Carlito"/>
                        <a:sym typeface="Carlito"/>
                      </a:endParaRPr>
                    </a:p>
                  </a:txBody>
                  <a:tcPr marL="3175" marR="3175" marT="317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28070">
                <a:tc>
                  <a:txBody>
                    <a:bodyPr/>
                    <a:lstStyle/>
                    <a:p>
                      <a:pPr marL="0" marR="0" lvl="0" indent="0" algn="l" rtl="0">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endParaRPr sz="900" b="0" i="0" u="none">
                        <a:latin typeface="Carlito"/>
                        <a:ea typeface="Carlito"/>
                        <a:cs typeface="Carlito"/>
                        <a:sym typeface="Carlito"/>
                      </a:endParaRPr>
                    </a:p>
                  </a:txBody>
                  <a:tcPr marL="3175" marR="3175" marT="3175" marB="0" anchor="b"/>
                </a:tc>
                <a:extLst>
                  <a:ext uri="{0D108BD9-81ED-4DB2-BD59-A6C34878D82A}">
                    <a16:rowId xmlns:a16="http://schemas.microsoft.com/office/drawing/2014/main" val="10002"/>
                  </a:ext>
                </a:extLst>
              </a:tr>
              <a:tr h="253243">
                <a:tc>
                  <a:txBody>
                    <a:bodyPr/>
                    <a:lstStyle/>
                    <a:p>
                      <a:pPr marL="0" marR="0" lvl="0" indent="0" algn="ctr" rtl="0">
                        <a:spcBef>
                          <a:spcPts val="0"/>
                        </a:spcBef>
                        <a:spcAft>
                          <a:spcPts val="0"/>
                        </a:spcAft>
                        <a:buClr>
                          <a:schemeClr val="dk1"/>
                        </a:buClr>
                        <a:buSzPts val="900"/>
                        <a:buFont typeface="Calibri"/>
                        <a:buNone/>
                      </a:pPr>
                      <a:r>
                        <a:rPr lang="en-US" sz="900" u="none"/>
                        <a:t>Layer / Tier</a:t>
                      </a:r>
                      <a:endParaRPr sz="900" b="1" i="0" u="none">
                        <a:solidFill>
                          <a:srgbClr val="FFFFFF"/>
                        </a:solidFill>
                        <a:latin typeface="Carlito"/>
                        <a:ea typeface="Carlito"/>
                        <a:cs typeface="Carlito"/>
                        <a:sym typeface="Carlito"/>
                      </a:endParaRPr>
                    </a:p>
                  </a:txBody>
                  <a:tcPr marL="3175" marR="3175" marT="3175" marB="0" anchor="ctr"/>
                </a:tc>
                <a:tc>
                  <a:txBody>
                    <a:bodyPr/>
                    <a:lstStyle/>
                    <a:p>
                      <a:pPr marL="0" marR="0" lvl="0" indent="0" algn="ctr" rtl="0">
                        <a:spcBef>
                          <a:spcPts val="0"/>
                        </a:spcBef>
                        <a:spcAft>
                          <a:spcPts val="0"/>
                        </a:spcAft>
                        <a:buClr>
                          <a:schemeClr val="dk1"/>
                        </a:buClr>
                        <a:buSzPts val="900"/>
                        <a:buFont typeface="Calibri"/>
                        <a:buNone/>
                      </a:pPr>
                      <a:r>
                        <a:rPr lang="en-US" sz="900" u="none"/>
                        <a:t>Layer Name</a:t>
                      </a:r>
                      <a:endParaRPr sz="900" b="1" i="0" u="none">
                        <a:solidFill>
                          <a:srgbClr val="FFFFFF"/>
                        </a:solidFill>
                        <a:latin typeface="Carlito"/>
                        <a:ea typeface="Carlito"/>
                        <a:cs typeface="Carlito"/>
                        <a:sym typeface="Carlito"/>
                      </a:endParaRPr>
                    </a:p>
                  </a:txBody>
                  <a:tcPr marL="3175" marR="3175" marT="3175" marB="0" anchor="ctr"/>
                </a:tc>
                <a:tc>
                  <a:txBody>
                    <a:bodyPr/>
                    <a:lstStyle/>
                    <a:p>
                      <a:pPr marL="0" marR="0" lvl="0" indent="0" algn="ctr" rtl="0">
                        <a:spcBef>
                          <a:spcPts val="0"/>
                        </a:spcBef>
                        <a:spcAft>
                          <a:spcPts val="0"/>
                        </a:spcAft>
                        <a:buClr>
                          <a:schemeClr val="dk1"/>
                        </a:buClr>
                        <a:buSzPts val="900"/>
                        <a:buFont typeface="Calibri"/>
                        <a:buNone/>
                      </a:pPr>
                      <a:r>
                        <a:rPr lang="en-US" sz="900" u="none"/>
                        <a:t>Layer Function</a:t>
                      </a:r>
                      <a:endParaRPr sz="900" b="1" i="0" u="none">
                        <a:solidFill>
                          <a:srgbClr val="FFFFFF"/>
                        </a:solidFill>
                        <a:latin typeface="Carlito"/>
                        <a:ea typeface="Carlito"/>
                        <a:cs typeface="Carlito"/>
                        <a:sym typeface="Carlito"/>
                      </a:endParaRPr>
                    </a:p>
                  </a:txBody>
                  <a:tcPr marL="3175" marR="3175" marT="3175" marB="0" anchor="ctr"/>
                </a:tc>
                <a:tc>
                  <a:txBody>
                    <a:bodyPr/>
                    <a:lstStyle/>
                    <a:p>
                      <a:pPr marL="0" marR="0" lvl="0" indent="0" algn="ctr" rtl="0">
                        <a:spcBef>
                          <a:spcPts val="0"/>
                        </a:spcBef>
                        <a:spcAft>
                          <a:spcPts val="0"/>
                        </a:spcAft>
                        <a:buClr>
                          <a:schemeClr val="dk1"/>
                        </a:buClr>
                        <a:buSzPts val="900"/>
                        <a:buFont typeface="Calibri"/>
                        <a:buNone/>
                      </a:pPr>
                      <a:r>
                        <a:rPr lang="en-US" sz="900" u="none"/>
                        <a:t>Company</a:t>
                      </a:r>
                      <a:endParaRPr sz="900" b="1" i="0" u="none">
                        <a:solidFill>
                          <a:srgbClr val="FFFFFF"/>
                        </a:solidFill>
                        <a:latin typeface="Carlito"/>
                        <a:ea typeface="Carlito"/>
                        <a:cs typeface="Carlito"/>
                        <a:sym typeface="Carlito"/>
                      </a:endParaRPr>
                    </a:p>
                  </a:txBody>
                  <a:tcPr marL="3175" marR="3175" marT="3175" marB="0" anchor="ctr"/>
                </a:tc>
                <a:tc>
                  <a:txBody>
                    <a:bodyPr/>
                    <a:lstStyle/>
                    <a:p>
                      <a:pPr marL="0" marR="0" lvl="0" indent="0" algn="ctr" rtl="0">
                        <a:spcBef>
                          <a:spcPts val="0"/>
                        </a:spcBef>
                        <a:spcAft>
                          <a:spcPts val="0"/>
                        </a:spcAft>
                        <a:buClr>
                          <a:schemeClr val="dk1"/>
                        </a:buClr>
                        <a:buSzPts val="900"/>
                        <a:buFont typeface="Calibri"/>
                        <a:buNone/>
                      </a:pPr>
                      <a:r>
                        <a:rPr lang="en-US" sz="900" u="none"/>
                        <a:t>Technology / Descriptor from Slide</a:t>
                      </a:r>
                      <a:endParaRPr sz="900" b="1" i="0" u="none">
                        <a:solidFill>
                          <a:srgbClr val="FFFFFF"/>
                        </a:solidFill>
                        <a:latin typeface="Carlito"/>
                        <a:ea typeface="Carlito"/>
                        <a:cs typeface="Carlito"/>
                        <a:sym typeface="Carlito"/>
                      </a:endParaRPr>
                    </a:p>
                  </a:txBody>
                  <a:tcPr marL="3175" marR="3175" marT="3175" marB="0" anchor="ctr"/>
                </a:tc>
                <a:tc>
                  <a:txBody>
                    <a:bodyPr/>
                    <a:lstStyle/>
                    <a:p>
                      <a:pPr marL="0" marR="0" lvl="0" indent="0" algn="ctr" rtl="0">
                        <a:spcBef>
                          <a:spcPts val="0"/>
                        </a:spcBef>
                        <a:spcAft>
                          <a:spcPts val="0"/>
                        </a:spcAft>
                        <a:buClr>
                          <a:schemeClr val="dk1"/>
                        </a:buClr>
                        <a:buSzPts val="900"/>
                        <a:buFont typeface="Calibri"/>
                        <a:buNone/>
                      </a:pPr>
                      <a:r>
                        <a:rPr lang="en-US" sz="900" u="none"/>
                        <a:t>Praxis Relevance</a:t>
                      </a:r>
                      <a:endParaRPr sz="900" b="1" i="0" u="none">
                        <a:solidFill>
                          <a:srgbClr val="FFFFFF"/>
                        </a:solidFill>
                        <a:latin typeface="Carlito"/>
                        <a:ea typeface="Carlito"/>
                        <a:cs typeface="Carlito"/>
                        <a:sym typeface="Carlito"/>
                      </a:endParaRPr>
                    </a:p>
                  </a:txBody>
                  <a:tcPr marL="3175" marR="3175" marT="3175" marB="0" anchor="ctr"/>
                </a:tc>
                <a:tc>
                  <a:txBody>
                    <a:bodyPr/>
                    <a:lstStyle/>
                    <a:p>
                      <a:pPr marL="0" marR="0" lvl="0" indent="0" algn="ctr" rtl="0">
                        <a:spcBef>
                          <a:spcPts val="0"/>
                        </a:spcBef>
                        <a:spcAft>
                          <a:spcPts val="0"/>
                        </a:spcAft>
                        <a:buClr>
                          <a:schemeClr val="dk1"/>
                        </a:buClr>
                        <a:buSzPts val="900"/>
                        <a:buFont typeface="Calibri"/>
                        <a:buNone/>
                      </a:pPr>
                      <a:r>
                        <a:rPr lang="en-US" sz="900" u="none"/>
                        <a:t>Heat</a:t>
                      </a:r>
                      <a:endParaRPr sz="900" b="1" i="0" u="none">
                        <a:solidFill>
                          <a:srgbClr val="FFFFFF"/>
                        </a:solidFill>
                        <a:latin typeface="Carlito"/>
                        <a:ea typeface="Carlito"/>
                        <a:cs typeface="Carlito"/>
                        <a:sym typeface="Carlito"/>
                      </a:endParaRPr>
                    </a:p>
                  </a:txBody>
                  <a:tcPr marL="3175" marR="3175" marT="3175" marB="0" anchor="ctr"/>
                </a:tc>
                <a:tc>
                  <a:txBody>
                    <a:bodyPr/>
                    <a:lstStyle/>
                    <a:p>
                      <a:pPr marL="0" marR="0" lvl="0" indent="0" algn="ctr" rtl="0">
                        <a:spcBef>
                          <a:spcPts val="0"/>
                        </a:spcBef>
                        <a:spcAft>
                          <a:spcPts val="0"/>
                        </a:spcAft>
                        <a:buClr>
                          <a:schemeClr val="dk1"/>
                        </a:buClr>
                        <a:buSzPts val="900"/>
                        <a:buFont typeface="Calibri"/>
                        <a:buNone/>
                      </a:pPr>
                      <a:r>
                        <a:rPr lang="en-US" sz="900" u="none"/>
                        <a:t>Rationale</a:t>
                      </a:r>
                      <a:endParaRPr sz="900" b="1" i="0" u="none">
                        <a:solidFill>
                          <a:srgbClr val="FFFFFF"/>
                        </a:solidFill>
                        <a:latin typeface="Carlito"/>
                        <a:ea typeface="Carlito"/>
                        <a:cs typeface="Carlito"/>
                        <a:sym typeface="Carlito"/>
                      </a:endParaRPr>
                    </a:p>
                  </a:txBody>
                  <a:tcPr marL="3175" marR="3175" marT="3175" marB="0" anchor="ctr"/>
                </a:tc>
                <a:extLst>
                  <a:ext uri="{0D108BD9-81ED-4DB2-BD59-A6C34878D82A}">
                    <a16:rowId xmlns:a16="http://schemas.microsoft.com/office/drawing/2014/main" val="10003"/>
                  </a:ext>
                </a:extLst>
              </a:tr>
              <a:tr h="378415">
                <a:tc>
                  <a:txBody>
                    <a:bodyPr/>
                    <a:lstStyle/>
                    <a:p>
                      <a:pPr marL="0" marR="0" lvl="0" indent="0" algn="r" rtl="0">
                        <a:spcBef>
                          <a:spcPts val="0"/>
                        </a:spcBef>
                        <a:spcAft>
                          <a:spcPts val="0"/>
                        </a:spcAft>
                        <a:buClr>
                          <a:schemeClr val="dk1"/>
                        </a:buClr>
                        <a:buSzPts val="900"/>
                        <a:buFont typeface="Calibri"/>
                        <a:buNone/>
                      </a:pPr>
                      <a:r>
                        <a:rPr lang="en-US" sz="900" u="none"/>
                        <a:t>5</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Cognitive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Autonomous Software &amp; AI/ML</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Advanced Space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SIREN autonomous OODA</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Direct AI/ML edge decision-cycle relevance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Closest fit to autonomous onboard decision support and OODA compression.</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04"/>
                  </a:ext>
                </a:extLst>
              </a:tr>
              <a:tr h="253243">
                <a:tc>
                  <a:txBody>
                    <a:bodyPr/>
                    <a:lstStyle/>
                    <a:p>
                      <a:pPr marL="0" marR="0" lvl="0" indent="0" algn="r" rtl="0">
                        <a:spcBef>
                          <a:spcPts val="0"/>
                        </a:spcBef>
                        <a:spcAft>
                          <a:spcPts val="0"/>
                        </a:spcAft>
                        <a:buClr>
                          <a:schemeClr val="dk1"/>
                        </a:buClr>
                        <a:buSzPts val="900"/>
                        <a:buFont typeface="Calibri"/>
                        <a:buNone/>
                      </a:pPr>
                      <a:r>
                        <a:rPr lang="en-US" sz="900" u="none"/>
                        <a:t>5</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Cognitive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Autonomous Software &amp; AI/ML</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dirty="0"/>
                        <a:t>Force AI</a:t>
                      </a:r>
                      <a:endParaRPr sz="900" b="0" i="0" u="none" dirty="0">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STARHELM secure Rust runtime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Edge software/runtime relevance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Directly relevant to onboard autonomous software execution.</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05"/>
                  </a:ext>
                </a:extLst>
              </a:tr>
              <a:tr h="378415">
                <a:tc>
                  <a:txBody>
                    <a:bodyPr/>
                    <a:lstStyle/>
                    <a:p>
                      <a:pPr marL="0" marR="0" lvl="0" indent="0" algn="r" rtl="0">
                        <a:spcBef>
                          <a:spcPts val="0"/>
                        </a:spcBef>
                        <a:spcAft>
                          <a:spcPts val="0"/>
                        </a:spcAft>
                        <a:buClr>
                          <a:schemeClr val="dk1"/>
                        </a:buClr>
                        <a:buSzPts val="900"/>
                        <a:buFont typeface="Calibri"/>
                        <a:buNone/>
                      </a:pPr>
                      <a:r>
                        <a:rPr lang="en-US" sz="900" u="none"/>
                        <a:t>5</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Cognitive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Autonomous Software &amp; AI/ML</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Zenith Space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Cislunar CR3BP normal forms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Autonomy / onboard reasoning adjacency</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WARM</a:t>
                      </a:r>
                      <a:endParaRPr sz="900" b="1" i="0" u="none">
                        <a:solidFill>
                          <a:srgbClr val="7F6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Useful autonomy mathematics, but less direct to latency/edge-processing experiments.</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06"/>
                  </a:ext>
                </a:extLst>
              </a:tr>
              <a:tr h="378415">
                <a:tc>
                  <a:txBody>
                    <a:bodyPr/>
                    <a:lstStyle/>
                    <a:p>
                      <a:pPr marL="0" marR="0" lvl="0" indent="0" algn="r" rtl="0">
                        <a:spcBef>
                          <a:spcPts val="0"/>
                        </a:spcBef>
                        <a:spcAft>
                          <a:spcPts val="0"/>
                        </a:spcAft>
                        <a:buClr>
                          <a:schemeClr val="dk1"/>
                        </a:buClr>
                        <a:buSzPts val="900"/>
                        <a:buFont typeface="Calibri"/>
                        <a:buNone/>
                      </a:pPr>
                      <a:r>
                        <a:rPr lang="en-US" sz="900" u="none"/>
                        <a:t>5</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Cognitive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Autonomous Software &amp; AI/ML</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EraDrive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Era-AI NLP foundation model</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AI orchestration / operator support</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Strong human-machine teaming and AI-assisted decision-support relevance.</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07"/>
                  </a:ext>
                </a:extLst>
              </a:tr>
              <a:tr h="332113">
                <a:tc>
                  <a:txBody>
                    <a:bodyPr/>
                    <a:lstStyle/>
                    <a:p>
                      <a:pPr marL="0" marR="0" lvl="0" indent="0" algn="r" rtl="0">
                        <a:spcBef>
                          <a:spcPts val="0"/>
                        </a:spcBef>
                        <a:spcAft>
                          <a:spcPts val="0"/>
                        </a:spcAft>
                        <a:buClr>
                          <a:schemeClr val="dk1"/>
                        </a:buClr>
                        <a:buSzPts val="900"/>
                        <a:buFont typeface="Calibri"/>
                        <a:buNone/>
                      </a:pPr>
                      <a:r>
                        <a:rPr lang="en-US" sz="900" u="none"/>
                        <a:t>5</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Cognitive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Autonomous Software &amp; AI/ML</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O-Astra ISR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LOGAN pre-approved guard</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Autonomous ISR / bounded action logic</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Direct fit to bounded autonomous sensing-to-action concepts.</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08"/>
                  </a:ext>
                </a:extLst>
              </a:tr>
              <a:tr h="378415">
                <a:tc>
                  <a:txBody>
                    <a:bodyPr/>
                    <a:lstStyle/>
                    <a:p>
                      <a:pPr marL="0" marR="0" lvl="0" indent="0" algn="r" rtl="0">
                        <a:spcBef>
                          <a:spcPts val="0"/>
                        </a:spcBef>
                        <a:spcAft>
                          <a:spcPts val="0"/>
                        </a:spcAft>
                        <a:buClr>
                          <a:schemeClr val="dk1"/>
                        </a:buClr>
                        <a:buSzPts val="900"/>
                        <a:buFont typeface="Calibri"/>
                        <a:buNone/>
                      </a:pPr>
                      <a:r>
                        <a:rPr lang="en-US" sz="900" u="none"/>
                        <a:t>5</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Cognitive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Autonomous Software &amp; AI/ML</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In Orbit Aerospace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INTELLACT zero-hallucination AI</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Explainable / reliable onboard AI</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Strong model-credibility and autonomous decision-support relevance.</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09"/>
                  </a:ext>
                </a:extLst>
              </a:tr>
              <a:tr h="253243">
                <a:tc>
                  <a:txBody>
                    <a:bodyPr/>
                    <a:lstStyle/>
                    <a:p>
                      <a:pPr marL="0" marR="0" lvl="0" indent="0" algn="r" rtl="0">
                        <a:spcBef>
                          <a:spcPts val="0"/>
                        </a:spcBef>
                        <a:spcAft>
                          <a:spcPts val="0"/>
                        </a:spcAft>
                        <a:buClr>
                          <a:schemeClr val="dk1"/>
                        </a:buClr>
                        <a:buSzPts val="900"/>
                        <a:buFont typeface="Calibri"/>
                        <a:buNone/>
                      </a:pPr>
                      <a:r>
                        <a:rPr lang="en-US" sz="900" u="none"/>
                        <a:t>5</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Cognitive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Autonomous Software &amp; AI/ML</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Seekr Technologies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SeekrFlow multi-agent AI</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AI orchestration / multi-agent coordination</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Strong fit to autonomous agents and workload triage.</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10"/>
                  </a:ext>
                </a:extLst>
              </a:tr>
              <a:tr h="378415">
                <a:tc>
                  <a:txBody>
                    <a:bodyPr/>
                    <a:lstStyle/>
                    <a:p>
                      <a:pPr marL="0" marR="0" lvl="0" indent="0" algn="r" rtl="0">
                        <a:spcBef>
                          <a:spcPts val="0"/>
                        </a:spcBef>
                        <a:spcAft>
                          <a:spcPts val="0"/>
                        </a:spcAft>
                        <a:buClr>
                          <a:schemeClr val="dk1"/>
                        </a:buClr>
                        <a:buSzPts val="900"/>
                        <a:buFont typeface="Calibri"/>
                        <a:buNone/>
                      </a:pPr>
                      <a:r>
                        <a:rPr lang="en-US" sz="900" u="none"/>
                        <a:t>5</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Cognitive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Autonomous Software &amp; AI/ML</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PiLogic</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Manifest exact CPU-only AI</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dirty="0"/>
                        <a:t>Compute-constrained edge AI</a:t>
                      </a:r>
                      <a:endParaRPr sz="900" b="0" i="0" u="none" dirty="0">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Directly relevant to bounded onboard compute and SWaP constraints.</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11"/>
                  </a:ext>
                </a:extLst>
              </a:tr>
              <a:tr h="253243">
                <a:tc>
                  <a:txBody>
                    <a:bodyPr/>
                    <a:lstStyle/>
                    <a:p>
                      <a:pPr marL="0" marR="0" lvl="0" indent="0" algn="r" rtl="0">
                        <a:spcBef>
                          <a:spcPts val="0"/>
                        </a:spcBef>
                        <a:spcAft>
                          <a:spcPts val="0"/>
                        </a:spcAft>
                        <a:buClr>
                          <a:schemeClr val="dk1"/>
                        </a:buClr>
                        <a:buSzPts val="900"/>
                        <a:buFont typeface="Calibri"/>
                        <a:buNone/>
                      </a:pPr>
                      <a:r>
                        <a:rPr lang="en-US" sz="900" u="none"/>
                        <a:t>5</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Cognitive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Autonomous Software &amp; AI/ML</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Synthetic</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SUBSPACE on-orbit reconfigurable ML</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On-orbit adaptive ML</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Direct edge-ML and adaptive onboard processing relevance.</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12"/>
                  </a:ext>
                </a:extLst>
              </a:tr>
              <a:tr h="378415">
                <a:tc>
                  <a:txBody>
                    <a:bodyPr/>
                    <a:lstStyle/>
                    <a:p>
                      <a:pPr marL="0" marR="0" lvl="0" indent="0" algn="r" rtl="0">
                        <a:spcBef>
                          <a:spcPts val="0"/>
                        </a:spcBef>
                        <a:spcAft>
                          <a:spcPts val="0"/>
                        </a:spcAft>
                        <a:buClr>
                          <a:schemeClr val="dk1"/>
                        </a:buClr>
                        <a:buSzPts val="900"/>
                        <a:buFont typeface="Calibri"/>
                        <a:buNone/>
                      </a:pPr>
                      <a:r>
                        <a:rPr lang="en-US" sz="900" u="none"/>
                        <a:t>4</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Networking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Secure Routing &amp; Timing</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Ephemeris Net</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SEP optical Layer 3 routing</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Optical networking / routing / DDIL</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Direct link to crosslinks, routing, downlink bypass, and communications latency.</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13"/>
                  </a:ext>
                </a:extLst>
              </a:tr>
              <a:tr h="378415">
                <a:tc>
                  <a:txBody>
                    <a:bodyPr/>
                    <a:lstStyle/>
                    <a:p>
                      <a:pPr marL="0" marR="0" lvl="0" indent="0" algn="r" rtl="0">
                        <a:spcBef>
                          <a:spcPts val="0"/>
                        </a:spcBef>
                        <a:spcAft>
                          <a:spcPts val="0"/>
                        </a:spcAft>
                        <a:buClr>
                          <a:schemeClr val="dk1"/>
                        </a:buClr>
                        <a:buSzPts val="900"/>
                        <a:buFont typeface="Calibri"/>
                        <a:buNone/>
                      </a:pPr>
                      <a:r>
                        <a:rPr lang="en-US" sz="900" u="none"/>
                        <a:t>4</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Networking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Secure Routing &amp; Timing</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Picogrid</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MARSO/Legion data middleware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Distributed data middleware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Relevant to moving and managing data across distributed space nodes.</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14"/>
                  </a:ext>
                </a:extLst>
              </a:tr>
              <a:tr h="378415">
                <a:tc>
                  <a:txBody>
                    <a:bodyPr/>
                    <a:lstStyle/>
                    <a:p>
                      <a:pPr marL="0" marR="0" lvl="0" indent="0" algn="r" rtl="0">
                        <a:spcBef>
                          <a:spcPts val="0"/>
                        </a:spcBef>
                        <a:spcAft>
                          <a:spcPts val="0"/>
                        </a:spcAft>
                        <a:buClr>
                          <a:schemeClr val="dk1"/>
                        </a:buClr>
                        <a:buSzPts val="900"/>
                        <a:buFont typeface="Calibri"/>
                        <a:buNone/>
                      </a:pPr>
                      <a:r>
                        <a:rPr lang="en-US" sz="900" u="none"/>
                        <a:t>4</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Networking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Secure Routing &amp; Timing</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R-DEX Systems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HSA sub-100ps time fabric</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Precision timing / network synchronization</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Timing is foundational to distributed sensing, networking, and latency measurement.</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15"/>
                  </a:ext>
                </a:extLst>
              </a:tr>
              <a:tr h="378415">
                <a:tc>
                  <a:txBody>
                    <a:bodyPr/>
                    <a:lstStyle/>
                    <a:p>
                      <a:pPr marL="0" marR="0" lvl="0" indent="0" algn="r" rtl="0">
                        <a:spcBef>
                          <a:spcPts val="0"/>
                        </a:spcBef>
                        <a:spcAft>
                          <a:spcPts val="0"/>
                        </a:spcAft>
                        <a:buClr>
                          <a:schemeClr val="dk1"/>
                        </a:buClr>
                        <a:buSzPts val="900"/>
                        <a:buFont typeface="Calibri"/>
                        <a:buNone/>
                      </a:pPr>
                      <a:r>
                        <a:rPr lang="en-US" sz="900" u="none"/>
                        <a:t>3</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Hardware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SWaP-C High-TOPS Silicon</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Starcloud</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H100/Blackwell orbit datacenters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Orbital edge/cloud compute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Near-direct solution-space match for orbital cloud and high-performance edge compute.</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16"/>
                  </a:ext>
                </a:extLst>
              </a:tr>
              <a:tr h="378415">
                <a:tc>
                  <a:txBody>
                    <a:bodyPr/>
                    <a:lstStyle/>
                    <a:p>
                      <a:pPr marL="0" marR="0" lvl="0" indent="0" algn="r" rtl="0">
                        <a:spcBef>
                          <a:spcPts val="0"/>
                        </a:spcBef>
                        <a:spcAft>
                          <a:spcPts val="0"/>
                        </a:spcAft>
                        <a:buClr>
                          <a:schemeClr val="dk1"/>
                        </a:buClr>
                        <a:buSzPts val="900"/>
                        <a:buFont typeface="Calibri"/>
                        <a:buNone/>
                      </a:pPr>
                      <a:r>
                        <a:rPr lang="en-US" sz="900" u="none"/>
                        <a:t>3</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Hardware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SWaP-C High-TOPS Silicon</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Neuron Dynamics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Compute-in-Memory SSM substrates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Edge compute architecture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Relevant to constrained onboard processing performance and power.</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17"/>
                  </a:ext>
                </a:extLst>
              </a:tr>
              <a:tr h="378415">
                <a:tc>
                  <a:txBody>
                    <a:bodyPr/>
                    <a:lstStyle/>
                    <a:p>
                      <a:pPr marL="0" marR="0" lvl="0" indent="0" algn="r" rtl="0">
                        <a:spcBef>
                          <a:spcPts val="0"/>
                        </a:spcBef>
                        <a:spcAft>
                          <a:spcPts val="0"/>
                        </a:spcAft>
                        <a:buClr>
                          <a:schemeClr val="dk1"/>
                        </a:buClr>
                        <a:buSzPts val="900"/>
                        <a:buFont typeface="Calibri"/>
                        <a:buNone/>
                      </a:pPr>
                      <a:r>
                        <a:rPr lang="en-US" sz="900" u="none"/>
                        <a:t>3</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Hardware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SWaP-C High-TOPS Silicon</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Sophia Space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800 TOPS modular TILEs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High-TOPS modular onboard compute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Direct hardware precedent for bounded onboard AI/ML processing.</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18"/>
                  </a:ext>
                </a:extLst>
              </a:tr>
              <a:tr h="332113">
                <a:tc>
                  <a:txBody>
                    <a:bodyPr/>
                    <a:lstStyle/>
                    <a:p>
                      <a:pPr marL="0" marR="0" lvl="0" indent="0" algn="r" rtl="0">
                        <a:spcBef>
                          <a:spcPts val="0"/>
                        </a:spcBef>
                        <a:spcAft>
                          <a:spcPts val="0"/>
                        </a:spcAft>
                        <a:buClr>
                          <a:schemeClr val="dk1"/>
                        </a:buClr>
                        <a:buSzPts val="900"/>
                        <a:buFont typeface="Calibri"/>
                        <a:buNone/>
                      </a:pPr>
                      <a:r>
                        <a:rPr lang="en-US" sz="900" u="none"/>
                        <a:t>3</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dirty="0"/>
                        <a:t>Hardware Layer</a:t>
                      </a:r>
                      <a:endParaRPr sz="900" b="0" i="0" u="none" dirty="0">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dirty="0" err="1"/>
                        <a:t>SWaP</a:t>
                      </a:r>
                      <a:r>
                        <a:rPr lang="en-US" sz="900" u="none" dirty="0"/>
                        <a:t>-C </a:t>
                      </a:r>
                      <a:r>
                        <a:rPr lang="en-US" sz="900" u="none" dirty="0" err="1"/>
                        <a:t>High-TOPS</a:t>
                      </a:r>
                      <a:r>
                        <a:rPr lang="en-US" sz="900" u="none" dirty="0"/>
                        <a:t> Silicon</a:t>
                      </a:r>
                      <a:endParaRPr sz="900" b="0" i="0" u="none" dirty="0">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Web Sensing</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SpaceCortex GPU-in-FPGA fabric</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Radiation/space compute fabric</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Strong implementation relevance for onboard compute architecture.</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19"/>
                  </a:ext>
                </a:extLst>
              </a:tr>
              <a:tr h="378415">
                <a:tc>
                  <a:txBody>
                    <a:bodyPr/>
                    <a:lstStyle/>
                    <a:p>
                      <a:pPr marL="0" marR="0" lvl="0" indent="0" algn="r" rtl="0">
                        <a:spcBef>
                          <a:spcPts val="0"/>
                        </a:spcBef>
                        <a:spcAft>
                          <a:spcPts val="0"/>
                        </a:spcAft>
                        <a:buClr>
                          <a:schemeClr val="dk1"/>
                        </a:buClr>
                        <a:buSzPts val="900"/>
                        <a:buFont typeface="Calibri"/>
                        <a:buNone/>
                      </a:pPr>
                      <a:r>
                        <a:rPr lang="en-US" sz="900" u="none"/>
                        <a:t>3</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Hardware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SWaP-C High-TOPS Silicon</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Aethero Space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Radiation-resilient GPUs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Space-qualified GPU compute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Directly relevant to edge-processing feasibility and resilience.</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20"/>
                  </a:ext>
                </a:extLst>
              </a:tr>
              <a:tr h="378415">
                <a:tc>
                  <a:txBody>
                    <a:bodyPr/>
                    <a:lstStyle/>
                    <a:p>
                      <a:pPr marL="0" marR="0" lvl="0" indent="0" algn="r" rtl="0">
                        <a:spcBef>
                          <a:spcPts val="0"/>
                        </a:spcBef>
                        <a:spcAft>
                          <a:spcPts val="0"/>
                        </a:spcAft>
                        <a:buClr>
                          <a:schemeClr val="dk1"/>
                        </a:buClr>
                        <a:buSzPts val="900"/>
                        <a:buFont typeface="Calibri"/>
                        <a:buNone/>
                      </a:pPr>
                      <a:r>
                        <a:rPr lang="en-US" sz="900" u="none"/>
                        <a:t>2</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Perception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Multi-Modal Sensor Payloads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Array Labs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GaN active radar flat tiles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SDA sensing / data-generation source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WARM</a:t>
                      </a:r>
                      <a:endParaRPr sz="900" b="1" i="0" u="none">
                        <a:solidFill>
                          <a:srgbClr val="7F6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Relevant as a high-data-rate sensing source feeding the edge-processing problem.</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21"/>
                  </a:ext>
                </a:extLst>
              </a:tr>
              <a:tr h="441970">
                <a:tc>
                  <a:txBody>
                    <a:bodyPr/>
                    <a:lstStyle/>
                    <a:p>
                      <a:pPr marL="0" marR="0" lvl="0" indent="0" algn="r" rtl="0">
                        <a:spcBef>
                          <a:spcPts val="0"/>
                        </a:spcBef>
                        <a:spcAft>
                          <a:spcPts val="0"/>
                        </a:spcAft>
                        <a:buClr>
                          <a:schemeClr val="dk1"/>
                        </a:buClr>
                        <a:buSzPts val="900"/>
                        <a:buFont typeface="Calibri"/>
                        <a:buNone/>
                      </a:pPr>
                      <a:r>
                        <a:rPr lang="en-US" sz="900" u="none"/>
                        <a:t>2</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Perception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Multi-Modal Sensor Payloads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Mithril Tech</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Electrostatically-actuated mesh</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Sensor/payload architecture adjacency</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WARM</a:t>
                      </a:r>
                      <a:endParaRPr sz="900" b="1" i="0" u="none">
                        <a:solidFill>
                          <a:srgbClr val="7F6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Supports perception-layer architecture but is less direct to modeling latency or AI processing.</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22"/>
                  </a:ext>
                </a:extLst>
              </a:tr>
              <a:tr h="378415">
                <a:tc>
                  <a:txBody>
                    <a:bodyPr/>
                    <a:lstStyle/>
                    <a:p>
                      <a:pPr marL="0" marR="0" lvl="0" indent="0" algn="r" rtl="0">
                        <a:spcBef>
                          <a:spcPts val="0"/>
                        </a:spcBef>
                        <a:spcAft>
                          <a:spcPts val="0"/>
                        </a:spcAft>
                        <a:buClr>
                          <a:schemeClr val="dk1"/>
                        </a:buClr>
                        <a:buSzPts val="900"/>
                        <a:buFont typeface="Calibri"/>
                        <a:buNone/>
                      </a:pPr>
                      <a:r>
                        <a:rPr lang="en-US" sz="900" u="none"/>
                        <a:t>2</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Perception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Multi-Modal Sensor Payloads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EO Solutions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Passive RF signature fingerprinting</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SDA sensing / RF characterization</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Directly relevant to SDA sensing and onboard exploitation opportunities.</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23"/>
                  </a:ext>
                </a:extLst>
              </a:tr>
              <a:tr h="378415">
                <a:tc>
                  <a:txBody>
                    <a:bodyPr/>
                    <a:lstStyle/>
                    <a:p>
                      <a:pPr marL="0" marR="0" lvl="0" indent="0" algn="r" rtl="0">
                        <a:spcBef>
                          <a:spcPts val="0"/>
                        </a:spcBef>
                        <a:spcAft>
                          <a:spcPts val="0"/>
                        </a:spcAft>
                        <a:buClr>
                          <a:schemeClr val="dk1"/>
                        </a:buClr>
                        <a:buSzPts val="900"/>
                        <a:buFont typeface="Calibri"/>
                        <a:buNone/>
                      </a:pPr>
                      <a:r>
                        <a:rPr lang="en-US" sz="900" u="none"/>
                        <a:t>2</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Perception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Multi-Modal Sensor Payloads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ThinkOrbital</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ThinkX space-to-space X-ray</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Novel sensing / high-data payload</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WARM</a:t>
                      </a:r>
                      <a:endParaRPr sz="900" b="1" i="0" u="none">
                        <a:solidFill>
                          <a:srgbClr val="7F6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Relevant as a sensor source; useful mainly as a workload/data-volume driver.</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24"/>
                  </a:ext>
                </a:extLst>
              </a:tr>
              <a:tr h="503588">
                <a:tc>
                  <a:txBody>
                    <a:bodyPr/>
                    <a:lstStyle/>
                    <a:p>
                      <a:pPr marL="0" marR="0" lvl="0" indent="0" algn="r" rtl="0">
                        <a:spcBef>
                          <a:spcPts val="0"/>
                        </a:spcBef>
                        <a:spcAft>
                          <a:spcPts val="0"/>
                        </a:spcAft>
                        <a:buClr>
                          <a:schemeClr val="dk1"/>
                        </a:buClr>
                        <a:buSzPts val="900"/>
                        <a:buFont typeface="Calibri"/>
                        <a:buNone/>
                      </a:pPr>
                      <a:r>
                        <a:rPr lang="en-US" sz="900" u="none"/>
                        <a:t>2</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Perception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Multi-Modal Sensor Payloads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OWL Integrations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Commodity SDR passive-RF mesh</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Distributed RF sensing / networking</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HOT</a:t>
                      </a:r>
                      <a:endParaRPr sz="900" b="1" i="0" u="none">
                        <a:solidFill>
                          <a:srgbClr val="9C0006"/>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Strong fit to distributed perception, edge processing, and communications-constrained operations.</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25"/>
                  </a:ext>
                </a:extLst>
              </a:tr>
              <a:tr h="378415">
                <a:tc>
                  <a:txBody>
                    <a:bodyPr/>
                    <a:lstStyle/>
                    <a:p>
                      <a:pPr marL="0" marR="0" lvl="0" indent="0" algn="r" rtl="0">
                        <a:spcBef>
                          <a:spcPts val="0"/>
                        </a:spcBef>
                        <a:spcAft>
                          <a:spcPts val="0"/>
                        </a:spcAft>
                        <a:buClr>
                          <a:schemeClr val="dk1"/>
                        </a:buClr>
                        <a:buSzPts val="900"/>
                        <a:buFont typeface="Calibri"/>
                        <a:buNone/>
                      </a:pPr>
                      <a:r>
                        <a:rPr lang="en-US" sz="900" u="none"/>
                        <a:t>2</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Perception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dirty="0"/>
                        <a:t>Multi-Modal Sensor Payloads</a:t>
                      </a:r>
                      <a:endParaRPr sz="900" b="0" i="0" u="none" dirty="0">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Raptor Dynamix</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ARGUS electro-optical &amp; plasma</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EO / plasma sensing</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WARM</a:t>
                      </a:r>
                      <a:endParaRPr sz="900" b="1" i="0" u="none">
                        <a:solidFill>
                          <a:srgbClr val="7F6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Relevant perception input, but not itself the core edge-processing mechanism.</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26"/>
                  </a:ext>
                </a:extLst>
              </a:tr>
              <a:tr h="378415">
                <a:tc>
                  <a:txBody>
                    <a:bodyPr/>
                    <a:lstStyle/>
                    <a:p>
                      <a:pPr marL="0" marR="0" lvl="0" indent="0" algn="r" rtl="0">
                        <a:spcBef>
                          <a:spcPts val="0"/>
                        </a:spcBef>
                        <a:spcAft>
                          <a:spcPts val="0"/>
                        </a:spcAft>
                        <a:buClr>
                          <a:schemeClr val="dk1"/>
                        </a:buClr>
                        <a:buSzPts val="900"/>
                        <a:buFont typeface="Calibri"/>
                        <a:buNone/>
                      </a:pPr>
                      <a:r>
                        <a:rPr lang="en-US" sz="900" u="none"/>
                        <a:t>1</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Platform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dirty="0"/>
                        <a:t>High-Maneuver Spacecraft</a:t>
                      </a:r>
                      <a:endParaRPr sz="900" b="0" i="0" u="none" dirty="0">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Orbital Operations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Astraeus LH2/LOX bus + active RBC cooling</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Platform / thermal / maneuver support</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COLD</a:t>
                      </a:r>
                      <a:endParaRPr sz="900" b="1" i="0" u="none">
                        <a:solidFill>
                          <a:srgbClr val="274E13"/>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Enabling spacecraft layer, but outside the likely core quantitative scope of the Praxis.</a:t>
                      </a:r>
                      <a:endParaRPr sz="900" b="0" i="0" u="none">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27"/>
                  </a:ext>
                </a:extLst>
              </a:tr>
              <a:tr h="441970">
                <a:tc>
                  <a:txBody>
                    <a:bodyPr/>
                    <a:lstStyle/>
                    <a:p>
                      <a:pPr marL="0" marR="0" lvl="0" indent="0" algn="r" rtl="0">
                        <a:spcBef>
                          <a:spcPts val="0"/>
                        </a:spcBef>
                        <a:spcAft>
                          <a:spcPts val="0"/>
                        </a:spcAft>
                        <a:buClr>
                          <a:schemeClr val="dk1"/>
                        </a:buClr>
                        <a:buSzPts val="900"/>
                        <a:buFont typeface="Calibri"/>
                        <a:buNone/>
                      </a:pPr>
                      <a:r>
                        <a:rPr lang="en-US" sz="900" u="none"/>
                        <a:t>1</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Platform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High-Maneuver Spacecraft</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Fortastra Corp</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Watchdog maneuvering platform (800+ m/s)</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Autonomous maneuver / defensive response</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WARM</a:t>
                      </a:r>
                      <a:endParaRPr sz="900" b="1" i="0" u="none">
                        <a:solidFill>
                          <a:srgbClr val="7F6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dirty="0"/>
                        <a:t>Relevant if the Praxis extends from decision support into bounded action or maneuver response.</a:t>
                      </a:r>
                      <a:endParaRPr sz="900" b="0" i="0" u="none" dirty="0">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28"/>
                  </a:ext>
                </a:extLst>
              </a:tr>
              <a:tr h="441970">
                <a:tc>
                  <a:txBody>
                    <a:bodyPr/>
                    <a:lstStyle/>
                    <a:p>
                      <a:pPr marL="0" marR="0" lvl="0" indent="0" algn="r" rtl="0">
                        <a:spcBef>
                          <a:spcPts val="0"/>
                        </a:spcBef>
                        <a:spcAft>
                          <a:spcPts val="0"/>
                        </a:spcAft>
                        <a:buClr>
                          <a:schemeClr val="dk1"/>
                        </a:buClr>
                        <a:buSzPts val="900"/>
                        <a:buFont typeface="Calibri"/>
                        <a:buNone/>
                      </a:pPr>
                      <a:r>
                        <a:rPr lang="en-US" sz="900" u="none"/>
                        <a:t>1</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Platform Layer</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High-Maneuver Spacecraft</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Space Kinetic</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Whirlwind propellantless payload deployment</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Platform / deployment</a:t>
                      </a:r>
                      <a:endParaRPr sz="900" b="0" i="0" u="none">
                        <a:solidFill>
                          <a:srgbClr val="000000"/>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a:t>COLD</a:t>
                      </a:r>
                      <a:endParaRPr sz="900" b="1" i="0" u="none">
                        <a:solidFill>
                          <a:srgbClr val="274E13"/>
                        </a:solidFill>
                        <a:latin typeface="Carlito"/>
                        <a:ea typeface="Carlito"/>
                        <a:cs typeface="Carlito"/>
                        <a:sym typeface="Carlito"/>
                      </a:endParaRPr>
                    </a:p>
                  </a:txBody>
                  <a:tcPr marL="3175" marR="3175" marT="3175" marB="0" anchor="b"/>
                </a:tc>
                <a:tc>
                  <a:txBody>
                    <a:bodyPr/>
                    <a:lstStyle/>
                    <a:p>
                      <a:pPr marL="0" marR="0" lvl="0" indent="0" algn="l" rtl="0">
                        <a:spcBef>
                          <a:spcPts val="0"/>
                        </a:spcBef>
                        <a:spcAft>
                          <a:spcPts val="0"/>
                        </a:spcAft>
                        <a:buClr>
                          <a:schemeClr val="dk1"/>
                        </a:buClr>
                        <a:buSzPts val="900"/>
                        <a:buFont typeface="Calibri"/>
                        <a:buNone/>
                      </a:pPr>
                      <a:r>
                        <a:rPr lang="en-US" sz="900" u="none" dirty="0"/>
                        <a:t>Important architecture enabler but relatively distant from edge compute, latency, and AI/ML focus.</a:t>
                      </a:r>
                      <a:endParaRPr sz="900" b="0" i="0" u="none" dirty="0">
                        <a:solidFill>
                          <a:srgbClr val="000000"/>
                        </a:solidFill>
                        <a:latin typeface="Carlito"/>
                        <a:ea typeface="Carlito"/>
                        <a:cs typeface="Carlito"/>
                        <a:sym typeface="Carlito"/>
                      </a:endParaRPr>
                    </a:p>
                  </a:txBody>
                  <a:tcPr marL="3175" marR="3175" marT="3175" marB="0" anchor="b"/>
                </a:tc>
                <a:extLst>
                  <a:ext uri="{0D108BD9-81ED-4DB2-BD59-A6C34878D82A}">
                    <a16:rowId xmlns:a16="http://schemas.microsoft.com/office/drawing/2014/main" val="10029"/>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graphicFrame>
        <p:nvGraphicFramePr>
          <p:cNvPr id="241" name="Google Shape;241;p38"/>
          <p:cNvGraphicFramePr/>
          <p:nvPr>
            <p:extLst>
              <p:ext uri="{D42A27DB-BD31-4B8C-83A1-F6EECF244321}">
                <p14:modId xmlns:p14="http://schemas.microsoft.com/office/powerpoint/2010/main" val="2298685827"/>
              </p:ext>
            </p:extLst>
          </p:nvPr>
        </p:nvGraphicFramePr>
        <p:xfrm>
          <a:off x="0" y="76200"/>
          <a:ext cx="14650718" cy="5528044"/>
        </p:xfrm>
        <a:graphic>
          <a:graphicData uri="http://schemas.openxmlformats.org/drawingml/2006/table">
            <a:tbl>
              <a:tblPr>
                <a:noFill/>
                <a:tableStyleId>{3C1EB017-BC45-4DEE-9ABB-B4D90C79D28D}</a:tableStyleId>
              </a:tblPr>
              <a:tblGrid>
                <a:gridCol w="316786">
                  <a:extLst>
                    <a:ext uri="{9D8B030D-6E8A-4147-A177-3AD203B41FA5}">
                      <a16:colId xmlns:a16="http://schemas.microsoft.com/office/drawing/2014/main" val="20000"/>
                    </a:ext>
                  </a:extLst>
                </a:gridCol>
                <a:gridCol w="712744">
                  <a:extLst>
                    <a:ext uri="{9D8B030D-6E8A-4147-A177-3AD203B41FA5}">
                      <a16:colId xmlns:a16="http://schemas.microsoft.com/office/drawing/2014/main" val="20001"/>
                    </a:ext>
                  </a:extLst>
                </a:gridCol>
                <a:gridCol w="712744">
                  <a:extLst>
                    <a:ext uri="{9D8B030D-6E8A-4147-A177-3AD203B41FA5}">
                      <a16:colId xmlns:a16="http://schemas.microsoft.com/office/drawing/2014/main" val="20002"/>
                    </a:ext>
                  </a:extLst>
                </a:gridCol>
                <a:gridCol w="1346281">
                  <a:extLst>
                    <a:ext uri="{9D8B030D-6E8A-4147-A177-3AD203B41FA5}">
                      <a16:colId xmlns:a16="http://schemas.microsoft.com/office/drawing/2014/main" val="20003"/>
                    </a:ext>
                  </a:extLst>
                </a:gridCol>
                <a:gridCol w="1187905">
                  <a:extLst>
                    <a:ext uri="{9D8B030D-6E8A-4147-A177-3AD203B41FA5}">
                      <a16:colId xmlns:a16="http://schemas.microsoft.com/office/drawing/2014/main" val="20004"/>
                    </a:ext>
                  </a:extLst>
                </a:gridCol>
                <a:gridCol w="1346281">
                  <a:extLst>
                    <a:ext uri="{9D8B030D-6E8A-4147-A177-3AD203B41FA5}">
                      <a16:colId xmlns:a16="http://schemas.microsoft.com/office/drawing/2014/main" val="20005"/>
                    </a:ext>
                  </a:extLst>
                </a:gridCol>
                <a:gridCol w="1900614">
                  <a:extLst>
                    <a:ext uri="{9D8B030D-6E8A-4147-A177-3AD203B41FA5}">
                      <a16:colId xmlns:a16="http://schemas.microsoft.com/office/drawing/2014/main" val="20006"/>
                    </a:ext>
                  </a:extLst>
                </a:gridCol>
                <a:gridCol w="1108700">
                  <a:extLst>
                    <a:ext uri="{9D8B030D-6E8A-4147-A177-3AD203B41FA5}">
                      <a16:colId xmlns:a16="http://schemas.microsoft.com/office/drawing/2014/main" val="20007"/>
                    </a:ext>
                  </a:extLst>
                </a:gridCol>
                <a:gridCol w="1346281">
                  <a:extLst>
                    <a:ext uri="{9D8B030D-6E8A-4147-A177-3AD203B41FA5}">
                      <a16:colId xmlns:a16="http://schemas.microsoft.com/office/drawing/2014/main" val="20008"/>
                    </a:ext>
                  </a:extLst>
                </a:gridCol>
                <a:gridCol w="1504658">
                  <a:extLst>
                    <a:ext uri="{9D8B030D-6E8A-4147-A177-3AD203B41FA5}">
                      <a16:colId xmlns:a16="http://schemas.microsoft.com/office/drawing/2014/main" val="20009"/>
                    </a:ext>
                  </a:extLst>
                </a:gridCol>
                <a:gridCol w="633538">
                  <a:extLst>
                    <a:ext uri="{9D8B030D-6E8A-4147-A177-3AD203B41FA5}">
                      <a16:colId xmlns:a16="http://schemas.microsoft.com/office/drawing/2014/main" val="20010"/>
                    </a:ext>
                  </a:extLst>
                </a:gridCol>
                <a:gridCol w="514764">
                  <a:extLst>
                    <a:ext uri="{9D8B030D-6E8A-4147-A177-3AD203B41FA5}">
                      <a16:colId xmlns:a16="http://schemas.microsoft.com/office/drawing/2014/main" val="20011"/>
                    </a:ext>
                  </a:extLst>
                </a:gridCol>
                <a:gridCol w="514764">
                  <a:extLst>
                    <a:ext uri="{9D8B030D-6E8A-4147-A177-3AD203B41FA5}">
                      <a16:colId xmlns:a16="http://schemas.microsoft.com/office/drawing/2014/main" val="20012"/>
                    </a:ext>
                  </a:extLst>
                </a:gridCol>
                <a:gridCol w="1504658">
                  <a:extLst>
                    <a:ext uri="{9D8B030D-6E8A-4147-A177-3AD203B41FA5}">
                      <a16:colId xmlns:a16="http://schemas.microsoft.com/office/drawing/2014/main" val="20013"/>
                    </a:ext>
                  </a:extLst>
                </a:gridCol>
              </a:tblGrid>
              <a:tr h="134283">
                <a:tc gridSpan="14">
                  <a:txBody>
                    <a:bodyPr/>
                    <a:lstStyle/>
                    <a:p>
                      <a:pPr marL="0" marR="0" lvl="0" indent="0" algn="l" rtl="0">
                        <a:spcBef>
                          <a:spcPts val="0"/>
                        </a:spcBef>
                        <a:spcAft>
                          <a:spcPts val="0"/>
                        </a:spcAft>
                        <a:buClr>
                          <a:srgbClr val="000000"/>
                        </a:buClr>
                        <a:buSzPts val="400"/>
                        <a:buFont typeface="Arial"/>
                        <a:buNone/>
                      </a:pPr>
                      <a:r>
                        <a:rPr lang="en-US" sz="700" b="1" dirty="0">
                          <a:solidFill>
                            <a:srgbClr val="000000"/>
                          </a:solidFill>
                          <a:latin typeface="Arial"/>
                          <a:ea typeface="Arial"/>
                          <a:cs typeface="Arial"/>
                          <a:sym typeface="Arial"/>
                        </a:rPr>
                        <a:t>International Research Data Requests — Priority &amp; Mailing Register</a:t>
                      </a:r>
                      <a:endParaRPr sz="1100" b="1" i="0" u="none" dirty="0">
                        <a:solidFill>
                          <a:srgbClr val="FFFFFF"/>
                        </a:solidFill>
                        <a:latin typeface="Carlito"/>
                        <a:ea typeface="Carlito"/>
                        <a:cs typeface="Carlito"/>
                        <a:sym typeface="Carlito"/>
                      </a:endParaRPr>
                    </a:p>
                  </a:txBody>
                  <a:tcPr marL="2850" marR="2850" marT="285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03754">
                <a:tc gridSpan="14">
                  <a:txBody>
                    <a:bodyPr/>
                    <a:lstStyle/>
                    <a:p>
                      <a:pPr marL="0" marR="0" lvl="0" indent="0" algn="l" rtl="0">
                        <a:spcBef>
                          <a:spcPts val="0"/>
                        </a:spcBef>
                        <a:spcAft>
                          <a:spcPts val="0"/>
                        </a:spcAft>
                        <a:buClr>
                          <a:srgbClr val="000000"/>
                        </a:buClr>
                        <a:buSzPts val="400"/>
                        <a:buFont typeface="Arial"/>
                        <a:buNone/>
                      </a:pPr>
                      <a:r>
                        <a:rPr lang="en-US" sz="700" b="1">
                          <a:solidFill>
                            <a:srgbClr val="000000"/>
                          </a:solidFill>
                          <a:latin typeface="Arial"/>
                          <a:ea typeface="Arial"/>
                          <a:cs typeface="Arial"/>
                          <a:sym typeface="Arial"/>
                        </a:rPr>
                        <a:t>Purpose: obtain public, scientifically defensible data that parameterize degraded, disrupted, intermittent, or resource-constrained conditions relevant to the Praxis.</a:t>
                      </a:r>
                      <a:endParaRPr sz="1000" b="0" i="1" u="none">
                        <a:latin typeface="Carlito"/>
                        <a:ea typeface="Carlito"/>
                        <a:cs typeface="Carlito"/>
                        <a:sym typeface="Carlito"/>
                      </a:endParaRPr>
                    </a:p>
                  </a:txBody>
                  <a:tcPr marL="2850" marR="2850" marT="285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94592">
                <a:tc gridSpan="14">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Primary outreach wave = priorities 1–6.  Main bucket = strongest reason to contact; secondary buckets show additional value.</a:t>
                      </a:r>
                      <a:endParaRPr sz="1000" b="0" i="0" u="none">
                        <a:latin typeface="Carlito"/>
                        <a:ea typeface="Carlito"/>
                        <a:cs typeface="Carlito"/>
                        <a:sym typeface="Carlito"/>
                      </a:endParaRPr>
                    </a:p>
                  </a:txBody>
                  <a:tcPr marL="2850" marR="2850" marT="2850"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r h="156802">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dirty="0">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extLst>
                  <a:ext uri="{0D108BD9-81ED-4DB2-BD59-A6C34878D82A}">
                    <a16:rowId xmlns:a16="http://schemas.microsoft.com/office/drawing/2014/main" val="10003"/>
                  </a:ext>
                </a:extLst>
              </a:tr>
              <a:tr h="155614">
                <a:tc>
                  <a:txBody>
                    <a:bodyPr/>
                    <a:lstStyle/>
                    <a:p>
                      <a:pPr marL="0" marR="0" lvl="0" indent="0" algn="ct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Priority</a:t>
                      </a:r>
                      <a:endParaRPr sz="1000" b="1" i="0" u="none">
                        <a:solidFill>
                          <a:srgbClr val="FFFFFF"/>
                        </a:solidFill>
                        <a:latin typeface="Carlito"/>
                        <a:ea typeface="Carlito"/>
                        <a:cs typeface="Carlito"/>
                        <a:sym typeface="Carlito"/>
                      </a:endParaRPr>
                    </a:p>
                  </a:txBody>
                  <a:tcPr marL="2850" marR="2850" marT="2850" marB="0" anchor="ctr"/>
                </a:tc>
                <a:tc>
                  <a:txBody>
                    <a:bodyPr/>
                    <a:lstStyle/>
                    <a:p>
                      <a:pPr marL="0" marR="0" lvl="0" indent="0" algn="ct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Tier</a:t>
                      </a:r>
                      <a:endParaRPr sz="1000" b="1" i="0" u="none">
                        <a:solidFill>
                          <a:srgbClr val="FFFFFF"/>
                        </a:solidFill>
                        <a:latin typeface="Carlito"/>
                        <a:ea typeface="Carlito"/>
                        <a:cs typeface="Carlito"/>
                        <a:sym typeface="Carlito"/>
                      </a:endParaRPr>
                    </a:p>
                  </a:txBody>
                  <a:tcPr marL="2850" marR="2850" marT="2850" marB="0" anchor="ctr"/>
                </a:tc>
                <a:tc>
                  <a:txBody>
                    <a:bodyPr/>
                    <a:lstStyle/>
                    <a:p>
                      <a:pPr marL="0" marR="0" lvl="0" indent="0" algn="ct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Country</a:t>
                      </a:r>
                      <a:endParaRPr sz="1000" b="1" i="0" u="none">
                        <a:solidFill>
                          <a:srgbClr val="FFFFFF"/>
                        </a:solidFill>
                        <a:latin typeface="Carlito"/>
                        <a:ea typeface="Carlito"/>
                        <a:cs typeface="Carlito"/>
                        <a:sym typeface="Carlito"/>
                      </a:endParaRPr>
                    </a:p>
                  </a:txBody>
                  <a:tcPr marL="2850" marR="2850" marT="2850" marB="0" anchor="ctr"/>
                </a:tc>
                <a:tc>
                  <a:txBody>
                    <a:bodyPr/>
                    <a:lstStyle/>
                    <a:p>
                      <a:pPr marL="0" marR="0" lvl="0" indent="0" algn="ct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Entity / Program</a:t>
                      </a:r>
                      <a:endParaRPr sz="1000" b="1" i="0" u="none">
                        <a:solidFill>
                          <a:srgbClr val="FFFFFF"/>
                        </a:solidFill>
                        <a:latin typeface="Carlito"/>
                        <a:ea typeface="Carlito"/>
                        <a:cs typeface="Carlito"/>
                        <a:sym typeface="Carlito"/>
                      </a:endParaRPr>
                    </a:p>
                  </a:txBody>
                  <a:tcPr marL="2850" marR="2850" marT="2850" marB="0" anchor="ctr"/>
                </a:tc>
                <a:tc>
                  <a:txBody>
                    <a:bodyPr/>
                    <a:lstStyle/>
                    <a:p>
                      <a:pPr marL="0" marR="0" lvl="0" indent="0" algn="ct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Main Data Bucket</a:t>
                      </a:r>
                      <a:endParaRPr sz="1000" b="1" i="0" u="none">
                        <a:solidFill>
                          <a:srgbClr val="FFFFFF"/>
                        </a:solidFill>
                        <a:latin typeface="Carlito"/>
                        <a:ea typeface="Carlito"/>
                        <a:cs typeface="Carlito"/>
                        <a:sym typeface="Carlito"/>
                      </a:endParaRPr>
                    </a:p>
                  </a:txBody>
                  <a:tcPr marL="2850" marR="2850" marT="2850" marB="0" anchor="ctr"/>
                </a:tc>
                <a:tc>
                  <a:txBody>
                    <a:bodyPr/>
                    <a:lstStyle/>
                    <a:p>
                      <a:pPr marL="0" marR="0" lvl="0" indent="0" algn="ct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Secondary Buckets</a:t>
                      </a:r>
                      <a:endParaRPr sz="1000" b="1" i="0" u="none">
                        <a:solidFill>
                          <a:srgbClr val="FFFFFF"/>
                        </a:solidFill>
                        <a:latin typeface="Carlito"/>
                        <a:ea typeface="Carlito"/>
                        <a:cs typeface="Carlito"/>
                        <a:sym typeface="Carlito"/>
                      </a:endParaRPr>
                    </a:p>
                  </a:txBody>
                  <a:tcPr marL="2850" marR="2850" marT="2850" marB="0" anchor="ctr"/>
                </a:tc>
                <a:tc>
                  <a:txBody>
                    <a:bodyPr/>
                    <a:lstStyle/>
                    <a:p>
                      <a:pPr marL="0" marR="0" lvl="0" indent="0" algn="ct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Mailing Address</a:t>
                      </a:r>
                      <a:endParaRPr sz="1000" b="1" i="0" u="none">
                        <a:solidFill>
                          <a:srgbClr val="FFFFFF"/>
                        </a:solidFill>
                        <a:latin typeface="Carlito"/>
                        <a:ea typeface="Carlito"/>
                        <a:cs typeface="Carlito"/>
                        <a:sym typeface="Carlito"/>
                      </a:endParaRPr>
                    </a:p>
                  </a:txBody>
                  <a:tcPr marL="2850" marR="2850" marT="2850" marB="0" anchor="ctr"/>
                </a:tc>
                <a:tc>
                  <a:txBody>
                    <a:bodyPr/>
                    <a:lstStyle/>
                    <a:p>
                      <a:pPr marL="0" marR="0" lvl="0" indent="0" algn="ct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POC / Office</a:t>
                      </a:r>
                      <a:endParaRPr sz="1000" b="1" i="0" u="none">
                        <a:solidFill>
                          <a:srgbClr val="FFFFFF"/>
                        </a:solidFill>
                        <a:latin typeface="Carlito"/>
                        <a:ea typeface="Carlito"/>
                        <a:cs typeface="Carlito"/>
                        <a:sym typeface="Carlito"/>
                      </a:endParaRPr>
                    </a:p>
                  </a:txBody>
                  <a:tcPr marL="2850" marR="2850" marT="2850" marB="0" anchor="ctr"/>
                </a:tc>
                <a:tc>
                  <a:txBody>
                    <a:bodyPr/>
                    <a:lstStyle/>
                    <a:p>
                      <a:pPr marL="0" marR="0" lvl="0" indent="0" algn="ct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Email</a:t>
                      </a:r>
                      <a:endParaRPr sz="1000" b="1" i="0" u="none">
                        <a:solidFill>
                          <a:srgbClr val="FFFFFF"/>
                        </a:solidFill>
                        <a:latin typeface="Carlito"/>
                        <a:ea typeface="Carlito"/>
                        <a:cs typeface="Carlito"/>
                        <a:sym typeface="Carlito"/>
                      </a:endParaRPr>
                    </a:p>
                  </a:txBody>
                  <a:tcPr marL="2850" marR="2850" marT="2850" marB="0" anchor="ctr"/>
                </a:tc>
                <a:tc>
                  <a:txBody>
                    <a:bodyPr/>
                    <a:lstStyle/>
                    <a:p>
                      <a:pPr marL="0" marR="0" lvl="0" indent="0" algn="ct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Website / Intake</a:t>
                      </a:r>
                      <a:endParaRPr sz="1000" b="1" i="0" u="none">
                        <a:solidFill>
                          <a:srgbClr val="FFFFFF"/>
                        </a:solidFill>
                        <a:latin typeface="Carlito"/>
                        <a:ea typeface="Carlito"/>
                        <a:cs typeface="Carlito"/>
                        <a:sym typeface="Carlito"/>
                      </a:endParaRPr>
                    </a:p>
                  </a:txBody>
                  <a:tcPr marL="2850" marR="2850" marT="2850" marB="0" anchor="ctr"/>
                </a:tc>
                <a:tc>
                  <a:txBody>
                    <a:bodyPr/>
                    <a:lstStyle/>
                    <a:p>
                      <a:pPr marL="0" marR="0" lvl="0" indent="0" algn="ct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Status</a:t>
                      </a:r>
                      <a:endParaRPr sz="1000" b="1" i="0" u="none">
                        <a:solidFill>
                          <a:srgbClr val="FFFFFF"/>
                        </a:solidFill>
                        <a:latin typeface="Carlito"/>
                        <a:ea typeface="Carlito"/>
                        <a:cs typeface="Carlito"/>
                        <a:sym typeface="Carlito"/>
                      </a:endParaRPr>
                    </a:p>
                  </a:txBody>
                  <a:tcPr marL="2850" marR="2850" marT="2850" marB="0" anchor="ctr"/>
                </a:tc>
                <a:tc>
                  <a:txBody>
                    <a:bodyPr/>
                    <a:lstStyle/>
                    <a:p>
                      <a:pPr marL="0" marR="0" lvl="0" indent="0" algn="ct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Date Sent</a:t>
                      </a:r>
                      <a:endParaRPr sz="1000" b="1" i="0" u="none">
                        <a:solidFill>
                          <a:srgbClr val="FFFFFF"/>
                        </a:solidFill>
                        <a:latin typeface="Carlito"/>
                        <a:ea typeface="Carlito"/>
                        <a:cs typeface="Carlito"/>
                        <a:sym typeface="Carlito"/>
                      </a:endParaRPr>
                    </a:p>
                  </a:txBody>
                  <a:tcPr marL="2850" marR="2850" marT="2850" marB="0" anchor="ctr"/>
                </a:tc>
                <a:tc>
                  <a:txBody>
                    <a:bodyPr/>
                    <a:lstStyle/>
                    <a:p>
                      <a:pPr marL="0" marR="0" lvl="0" indent="0" algn="ct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Response Date</a:t>
                      </a:r>
                      <a:endParaRPr sz="1000" b="1" i="0" u="none">
                        <a:solidFill>
                          <a:srgbClr val="FFFFFF"/>
                        </a:solidFill>
                        <a:latin typeface="Carlito"/>
                        <a:ea typeface="Carlito"/>
                        <a:cs typeface="Carlito"/>
                        <a:sym typeface="Carlito"/>
                      </a:endParaRPr>
                    </a:p>
                  </a:txBody>
                  <a:tcPr marL="2850" marR="2850" marT="2850" marB="0" anchor="ctr"/>
                </a:tc>
                <a:tc>
                  <a:txBody>
                    <a:bodyPr/>
                    <a:lstStyle/>
                    <a:p>
                      <a:pPr marL="0" marR="0" lvl="0" indent="0" algn="ct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Notes</a:t>
                      </a:r>
                      <a:endParaRPr sz="1000" b="1" i="0" u="none">
                        <a:solidFill>
                          <a:srgbClr val="FFFFFF"/>
                        </a:solidFill>
                        <a:latin typeface="Carlito"/>
                        <a:ea typeface="Carlito"/>
                        <a:cs typeface="Carlito"/>
                        <a:sym typeface="Carlito"/>
                      </a:endParaRPr>
                    </a:p>
                  </a:txBody>
                  <a:tcPr marL="2850" marR="2850" marT="2850" marB="0" anchor="ctr"/>
                </a:tc>
                <a:extLst>
                  <a:ext uri="{0D108BD9-81ED-4DB2-BD59-A6C34878D82A}">
                    <a16:rowId xmlns:a16="http://schemas.microsoft.com/office/drawing/2014/main" val="10004"/>
                  </a:ext>
                </a:extLst>
              </a:tr>
              <a:tr h="353158">
                <a:tc>
                  <a:txBody>
                    <a:bodyPr/>
                    <a:lstStyle/>
                    <a:p>
                      <a:pPr marL="0" marR="0" lvl="0" indent="0" algn="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1</a:t>
                      </a:r>
                      <a:endParaRPr sz="1000" b="1"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Tier 1 - Primary</a:t>
                      </a:r>
                      <a:endParaRPr sz="1000" b="1"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Japan</a:t>
                      </a:r>
                      <a:endParaRPr sz="1000" b="1"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NICT — World Data Center for Ionosphere &amp; Space Weather</a:t>
                      </a:r>
                      <a:endParaRPr sz="1000" b="1"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Downlink Bottlenecks &amp; DDIL</a:t>
                      </a:r>
                      <a:endParaRPr sz="1000" b="1"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Persistent SDA; bounded-response trigger data; workload-event volume</a:t>
                      </a:r>
                      <a:endParaRPr sz="1000" b="1"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World Data Center for Ionosphere and Space Weather, Space Environment Laboratory, Applied Electromagnetic Research Center, NICT, 4-2-1 Nukui-Kitamachi, Koganei, Tokyo 184-8795, JAPAN</a:t>
                      </a:r>
                      <a:endParaRPr sz="1000" b="1"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World Data Center for Ionosphere &amp; Space Weather</a:t>
                      </a:r>
                      <a:endParaRPr sz="1000" b="1"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iono@ml.nict.go.jp</a:t>
                      </a:r>
                      <a:endParaRPr sz="1000" b="1"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https://wdc.nict.go.jp/wdc-top/contact.html</a:t>
                      </a:r>
                      <a:endParaRPr sz="1000" b="1"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a:solidFill>
                            <a:srgbClr val="000000"/>
                          </a:solidFill>
                          <a:latin typeface="Arial"/>
                          <a:ea typeface="Arial"/>
                          <a:cs typeface="Arial"/>
                          <a:sym typeface="Arial"/>
                        </a:rPr>
                        <a:t>Responded / clarification</a:t>
                      </a:r>
                      <a:endParaRPr sz="1000" b="1"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Aug 17; Sep 14</a:t>
                      </a:r>
                      <a:endParaRPr sz="1000" b="1"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Sep 14</a:t>
                      </a:r>
                      <a:endParaRPr sz="1000" b="1"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NICT requested specific ionosonde/TEC parameters; Japanese follow-up sent. Files pending.</a:t>
                      </a:r>
                      <a:endParaRPr sz="1000" b="1" i="0" u="none">
                        <a:solidFill>
                          <a:srgbClr val="1F1F1F"/>
                        </a:solidFill>
                        <a:latin typeface="Carlito"/>
                        <a:ea typeface="Carlito"/>
                        <a:cs typeface="Carlito"/>
                        <a:sym typeface="Carlito"/>
                      </a:endParaRPr>
                    </a:p>
                  </a:txBody>
                  <a:tcPr marL="2850" marR="2850" marT="2850" marB="0"/>
                </a:tc>
                <a:extLst>
                  <a:ext uri="{0D108BD9-81ED-4DB2-BD59-A6C34878D82A}">
                    <a16:rowId xmlns:a16="http://schemas.microsoft.com/office/drawing/2014/main" val="10005"/>
                  </a:ext>
                </a:extLst>
              </a:tr>
              <a:tr h="265889">
                <a:tc>
                  <a:txBody>
                    <a:bodyPr/>
                    <a:lstStyle/>
                    <a:p>
                      <a:pPr marL="0" marR="0" lvl="0" indent="0" algn="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2</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Canada</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University of Victoria — LENS / Starlink@PanLab</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a:solidFill>
                            <a:srgbClr val="000000"/>
                          </a:solidFill>
                          <a:latin typeface="Arial"/>
                          <a:ea typeface="Arial"/>
                          <a:cs typeface="Arial"/>
                          <a:sym typeface="Arial"/>
                        </a:rPr>
                        <a:t>Decision-Cycle Latency</a:t>
                      </a:r>
                      <a:endParaRPr sz="2000"/>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Downlink Bottlenecks &amp; DDIL; response/recovery timing</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Department of Computer Science, University of Victoria, Engineering &amp; Computer Science Building, Room 504, PO Box 1700 STN CSC, Victoria, BC V8W 2Y2, CANADA</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Jinwei Zhao; Prof. Jianping Pan</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clarkzjw@uvic.ca; pan@uvic.ca</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https://onlineacademiccommunity.uvic.ca/starlink/</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a:solidFill>
                            <a:srgbClr val="000000"/>
                          </a:solidFill>
                          <a:latin typeface="Arial"/>
                          <a:ea typeface="Arial"/>
                          <a:cs typeface="Arial"/>
                          <a:sym typeface="Arial"/>
                        </a:rPr>
                        <a:t>Responded / awaiting</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Sep 12</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Prof. Pan asked for clarification; LENS latency/loss/uptime variables requested. Files pending.</a:t>
                      </a:r>
                      <a:endParaRPr sz="1000" b="0" i="0" u="none">
                        <a:solidFill>
                          <a:srgbClr val="1F1F1F"/>
                        </a:solidFill>
                        <a:latin typeface="Carlito"/>
                        <a:ea typeface="Carlito"/>
                        <a:cs typeface="Carlito"/>
                        <a:sym typeface="Carlito"/>
                      </a:endParaRPr>
                    </a:p>
                  </a:txBody>
                  <a:tcPr marL="2850" marR="2850" marT="2850" marB="0"/>
                </a:tc>
                <a:extLst>
                  <a:ext uri="{0D108BD9-81ED-4DB2-BD59-A6C34878D82A}">
                    <a16:rowId xmlns:a16="http://schemas.microsoft.com/office/drawing/2014/main" val="10006"/>
                  </a:ext>
                </a:extLst>
              </a:tr>
              <a:tr h="265889">
                <a:tc>
                  <a:txBody>
                    <a:bodyPr/>
                    <a:lstStyle/>
                    <a:p>
                      <a:pPr marL="0" marR="0" lvl="0" indent="0" algn="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3</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Germany / Netherlands</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WetLinks — Osnabrück University / University of Twente</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Downlink Bottlenecks &amp; DDIL</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a:solidFill>
                            <a:srgbClr val="000000"/>
                          </a:solidFill>
                          <a:latin typeface="Arial"/>
                          <a:ea typeface="Arial"/>
                          <a:cs typeface="Arial"/>
                          <a:sym typeface="Arial"/>
                        </a:rPr>
                        <a:t>Decision-Cycle Latency; environmental correlation</a:t>
                      </a:r>
                      <a:endParaRPr sz="2000"/>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c/o Distributed Systems Group, Institute of Computer Science, Osnabrück University, Friedrich-Janssen-Str. 1, 49076 Osnabrück, GERMANY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Dominic Laniewski; Prof. Nils Aschenbruck; Prof. Roland van Rijswijk-Deij</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laniewski@uni-osnabrueck.de; aschenbruck@uni-osnabrueck.de; r.m.vanrijswijk@utwente.nl</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https://arxiv.org/abs/2402.16448</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a:solidFill>
                            <a:srgbClr val="000000"/>
                          </a:solidFill>
                          <a:latin typeface="Arial"/>
                          <a:ea typeface="Arial"/>
                          <a:cs typeface="Arial"/>
                          <a:sym typeface="Arial"/>
                        </a:rPr>
                        <a:t>Responded</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Aug 17</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Aug 25</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WetLinks public repository + dataset/paper links received; screen files/fields next.</a:t>
                      </a:r>
                      <a:endParaRPr sz="1000" b="0" i="0" u="none">
                        <a:solidFill>
                          <a:srgbClr val="1F1F1F"/>
                        </a:solidFill>
                        <a:latin typeface="Carlito"/>
                        <a:ea typeface="Carlito"/>
                        <a:cs typeface="Carlito"/>
                        <a:sym typeface="Carlito"/>
                      </a:endParaRPr>
                    </a:p>
                  </a:txBody>
                  <a:tcPr marL="2850" marR="2850" marT="2850" marB="0"/>
                </a:tc>
                <a:extLst>
                  <a:ext uri="{0D108BD9-81ED-4DB2-BD59-A6C34878D82A}">
                    <a16:rowId xmlns:a16="http://schemas.microsoft.com/office/drawing/2014/main" val="10007"/>
                  </a:ext>
                </a:extLst>
              </a:tr>
              <a:tr h="233957">
                <a:tc>
                  <a:txBody>
                    <a:bodyPr/>
                    <a:lstStyle/>
                    <a:p>
                      <a:pPr marL="0" marR="0" lvl="0" indent="0" algn="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4</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Netherlands</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RIPE NCC — RIPE Atlas</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a:solidFill>
                            <a:srgbClr val="000000"/>
                          </a:solidFill>
                          <a:latin typeface="Arial"/>
                          <a:ea typeface="Arial"/>
                          <a:cs typeface="Arial"/>
                          <a:sym typeface="Arial"/>
                        </a:rPr>
                        <a:t>Decision-Cycle Latency</a:t>
                      </a:r>
                      <a:endParaRPr sz="2000"/>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Downlink Bottlenecks &amp; DDIL; outage/recovery; event-volume inputs</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RIPE Network Coordination Centre, P.O. Box 10096, 1001 EB Amsterdam, NETHERLANDS</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RIPE Atlas Team</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atlas@ripe.net</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https://atlas.ripe.net/</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Potential independent/original active measurement campaign.</a:t>
                      </a:r>
                      <a:endParaRPr sz="1000" b="0" i="0" u="none">
                        <a:solidFill>
                          <a:srgbClr val="1F1F1F"/>
                        </a:solidFill>
                        <a:latin typeface="Carlito"/>
                        <a:ea typeface="Carlito"/>
                        <a:cs typeface="Carlito"/>
                        <a:sym typeface="Carlito"/>
                      </a:endParaRPr>
                    </a:p>
                  </a:txBody>
                  <a:tcPr marL="2850" marR="2850" marT="2850" marB="0"/>
                </a:tc>
                <a:extLst>
                  <a:ext uri="{0D108BD9-81ED-4DB2-BD59-A6C34878D82A}">
                    <a16:rowId xmlns:a16="http://schemas.microsoft.com/office/drawing/2014/main" val="10008"/>
                  </a:ext>
                </a:extLst>
              </a:tr>
              <a:tr h="265889">
                <a:tc>
                  <a:txBody>
                    <a:bodyPr/>
                    <a:lstStyle/>
                    <a:p>
                      <a:pPr marL="0" marR="0" lvl="0" indent="0" algn="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5</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dirty="0">
                          <a:solidFill>
                            <a:srgbClr val="000000"/>
                          </a:solidFill>
                          <a:latin typeface="Arial"/>
                          <a:ea typeface="Arial"/>
                          <a:cs typeface="Arial"/>
                          <a:sym typeface="Arial"/>
                        </a:rPr>
                        <a:t>New Zealand</a:t>
                      </a:r>
                      <a:endParaRPr sz="1000" b="0" i="0" u="none" dirty="0">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University of Otago — Solar Tsunamis / MANA Network</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DDIL / Environmental Degradation</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Persistent SDA</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c/o Department of Physics, University of Otago, PO Box 56, Dunedin 9054, NEW ZEALAND</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Dr Johnny Malone-Leigh; Prof. Craig Rodger; Lisa Evans</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john.m.leigh@otago.ac.nz; craig.rodger@otago.ac.nz; lisa.evans@otago.ac.nz</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https://solartsunamis.otago.ac.nz/mana/mana-data/</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Formal scientific data access; Southern Hemisphere geomagnetic disturbance timelines.</a:t>
                      </a:r>
                      <a:endParaRPr sz="1000" b="0" i="0" u="none">
                        <a:solidFill>
                          <a:srgbClr val="1F1F1F"/>
                        </a:solidFill>
                        <a:latin typeface="Carlito"/>
                        <a:ea typeface="Carlito"/>
                        <a:cs typeface="Carlito"/>
                        <a:sym typeface="Carlito"/>
                      </a:endParaRPr>
                    </a:p>
                  </a:txBody>
                  <a:tcPr marL="2850" marR="2850" marT="2850" marB="0"/>
                </a:tc>
                <a:extLst>
                  <a:ext uri="{0D108BD9-81ED-4DB2-BD59-A6C34878D82A}">
                    <a16:rowId xmlns:a16="http://schemas.microsoft.com/office/drawing/2014/main" val="10009"/>
                  </a:ext>
                </a:extLst>
              </a:tr>
              <a:tr h="265889">
                <a:tc>
                  <a:txBody>
                    <a:bodyPr/>
                    <a:lstStyle/>
                    <a:p>
                      <a:pPr marL="0" marR="0" lvl="0" indent="0" algn="r"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6</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Tier 1 - Primary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New Zealand</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Earth Sciences New Zealand — Geomagnetism Project</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Persistent SDA / Environmental Degradation</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DDIL environmental proxy; bounded-response trigger data</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Avalon Campus, 1 Fairway Drive, Avalon 5011, PO Box 30-368, Lower Hutt 5040, NEW ZEALAND</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Dr Tanja Petersen</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https://www.gns.cri.nz/about-us/staff-search/tanja-petersen/</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INTERMAGNET / Scott Base context; independent validation. General phone: +64 4 570 1444.</a:t>
                      </a:r>
                      <a:endParaRPr sz="1000" b="0" i="0" u="none">
                        <a:solidFill>
                          <a:srgbClr val="1F1F1F"/>
                        </a:solidFill>
                        <a:latin typeface="Carlito"/>
                        <a:ea typeface="Carlito"/>
                        <a:cs typeface="Carlito"/>
                        <a:sym typeface="Carlito"/>
                      </a:endParaRPr>
                    </a:p>
                  </a:txBody>
                  <a:tcPr marL="2850" marR="2850" marT="2850" marB="0"/>
                </a:tc>
                <a:extLst>
                  <a:ext uri="{0D108BD9-81ED-4DB2-BD59-A6C34878D82A}">
                    <a16:rowId xmlns:a16="http://schemas.microsoft.com/office/drawing/2014/main" val="10010"/>
                  </a:ext>
                </a:extLst>
              </a:tr>
              <a:tr h="265889">
                <a:tc>
                  <a:txBody>
                    <a:bodyPr/>
                    <a:lstStyle/>
                    <a:p>
                      <a:pPr marL="0" marR="0" lvl="0" indent="0" algn="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7</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Australia</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Australian Space Weather Forecasting Centre — Bureau of Meteorology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DDIL / Communications Degradation</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Persistent SDA; bounded-response triggers; workload-event volume</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Australian Space Weather Forecasting Centre, Bureau of Meteorology, Lot Fourteen, Adelaide, SA 5000, AUSTRALIA</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Space Weather Forecaster</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ASWFC@bom.gov.au; space@bom.gov.au</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https://www.sws.bom.gov.au/Contact_Us</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a:solidFill>
                            <a:srgbClr val="000000"/>
                          </a:solidFill>
                          <a:latin typeface="Arial"/>
                          <a:ea typeface="Arial"/>
                          <a:cs typeface="Arial"/>
                          <a:sym typeface="Arial"/>
                        </a:rPr>
                        <a:t>Responded / links</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Sep 13</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ASWFC supplied HF/ionosphere/K-index links + citation guidance; no direct network data.</a:t>
                      </a:r>
                      <a:endParaRPr sz="1000" b="0" i="0" u="none">
                        <a:solidFill>
                          <a:srgbClr val="1F1F1F"/>
                        </a:solidFill>
                        <a:latin typeface="Carlito"/>
                        <a:ea typeface="Carlito"/>
                        <a:cs typeface="Carlito"/>
                        <a:sym typeface="Carlito"/>
                      </a:endParaRPr>
                    </a:p>
                  </a:txBody>
                  <a:tcPr marL="2850" marR="2850" marT="2850" marB="0"/>
                </a:tc>
                <a:extLst>
                  <a:ext uri="{0D108BD9-81ED-4DB2-BD59-A6C34878D82A}">
                    <a16:rowId xmlns:a16="http://schemas.microsoft.com/office/drawing/2014/main" val="10011"/>
                  </a:ext>
                </a:extLst>
              </a:tr>
              <a:tr h="233957">
                <a:tc>
                  <a:txBody>
                    <a:bodyPr/>
                    <a:lstStyle/>
                    <a:p>
                      <a:pPr marL="0" marR="0" lvl="0" indent="0" algn="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8</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United Kingdom</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Met Office — Space Weather Operations Centre (MOSWOC)</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DDIL / Communications Degradation</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dirty="0">
                          <a:solidFill>
                            <a:srgbClr val="000000"/>
                          </a:solidFill>
                          <a:latin typeface="Arial"/>
                          <a:ea typeface="Arial"/>
                          <a:cs typeface="Arial"/>
                          <a:sym typeface="Arial"/>
                        </a:rPr>
                        <a:t>Persistent SDA; bounded-response triggers; workload-event volume</a:t>
                      </a:r>
                      <a:endParaRPr sz="1000" b="0" i="0" u="none" dirty="0">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Met Office, FitzRoy Road, Exeter, Devon EX1 3PB, UNITED KINGDOM</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Mark Gibbs / MOSWOC</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enquiries@metoffice.gov.uk</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https://weather.metoffice.gov.uk/learn-about/space-weather/met-office-role</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Independent operational flare/radio-blackout/geomagnetic interpretation.</a:t>
                      </a:r>
                      <a:endParaRPr sz="1000" b="0" i="0" u="none">
                        <a:solidFill>
                          <a:srgbClr val="1F1F1F"/>
                        </a:solidFill>
                        <a:latin typeface="Carlito"/>
                        <a:ea typeface="Carlito"/>
                        <a:cs typeface="Carlito"/>
                        <a:sym typeface="Carlito"/>
                      </a:endParaRPr>
                    </a:p>
                  </a:txBody>
                  <a:tcPr marL="2850" marR="2850" marT="2850" marB="0"/>
                </a:tc>
                <a:extLst>
                  <a:ext uri="{0D108BD9-81ED-4DB2-BD59-A6C34878D82A}">
                    <a16:rowId xmlns:a16="http://schemas.microsoft.com/office/drawing/2014/main" val="10012"/>
                  </a:ext>
                </a:extLst>
              </a:tr>
              <a:tr h="265889">
                <a:tc>
                  <a:txBody>
                    <a:bodyPr/>
                    <a:lstStyle/>
                    <a:p>
                      <a:pPr marL="0" marR="0" lvl="0" indent="0" algn="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9</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South Africa</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SANSA — Space Weather Centre</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dirty="0">
                          <a:solidFill>
                            <a:srgbClr val="000000"/>
                          </a:solidFill>
                          <a:latin typeface="Arial"/>
                          <a:ea typeface="Arial"/>
                          <a:cs typeface="Arial"/>
                          <a:sym typeface="Arial"/>
                        </a:rPr>
                        <a:t>DDIL / Communications Degradation</a:t>
                      </a:r>
                      <a:endParaRPr sz="1000" b="0" i="0" u="none" dirty="0">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Persistent SDA; bounded-response triggers; workload-event volume</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SANSA Space Science, PO Box 32, Hermanus 7200, Western Cape, SOUTH AFRICA. Physical site: Hospital Street, Hermanus 7200.</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Space Weather Centre / SANSA Space Science</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dirty="0">
                          <a:solidFill>
                            <a:srgbClr val="000000"/>
                          </a:solidFill>
                          <a:latin typeface="Arial"/>
                          <a:ea typeface="Arial"/>
                          <a:cs typeface="Arial"/>
                          <a:sym typeface="Arial"/>
                        </a:rPr>
                        <a:t>spaceweather@sansa.org.za; spacesci-info@sansa.org.za</a:t>
                      </a:r>
                      <a:endParaRPr sz="1000" b="0" i="0" u="none" dirty="0">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https://www.sansa.org.za/products-and-services/space-science/</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a:solidFill>
                            <a:srgbClr val="000000"/>
                          </a:solidFill>
                          <a:latin typeface="Arial"/>
                          <a:ea typeface="Arial"/>
                          <a:cs typeface="Arial"/>
                          <a:sym typeface="Arial"/>
                        </a:rPr>
                        <a:t>Responded / environmental</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Aug 17; Sep 13</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Sep 14</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0">
                          <a:solidFill>
                            <a:srgbClr val="000000"/>
                          </a:solidFill>
                          <a:latin typeface="Arial"/>
                          <a:ea typeface="Arial"/>
                          <a:cs typeface="Arial"/>
                          <a:sym typeface="Arial"/>
                        </a:rPr>
                        <a:t>SANSA provided Hermanus geomagnetic-data route/citation; no direct latency/loss/availability.</a:t>
                      </a:r>
                      <a:endParaRPr sz="1000" b="0" i="0" u="none">
                        <a:solidFill>
                          <a:srgbClr val="1F1F1F"/>
                        </a:solidFill>
                        <a:latin typeface="Carlito"/>
                        <a:ea typeface="Carlito"/>
                        <a:cs typeface="Carlito"/>
                        <a:sym typeface="Carlito"/>
                      </a:endParaRPr>
                    </a:p>
                  </a:txBody>
                  <a:tcPr marL="2850" marR="2850" marT="2850" marB="0"/>
                </a:tc>
                <a:extLst>
                  <a:ext uri="{0D108BD9-81ED-4DB2-BD59-A6C34878D82A}">
                    <a16:rowId xmlns:a16="http://schemas.microsoft.com/office/drawing/2014/main" val="10013"/>
                  </a:ext>
                </a:extLst>
              </a:tr>
              <a:tr h="233957">
                <a:tc>
                  <a:txBody>
                    <a:bodyPr/>
                    <a:lstStyle/>
                    <a:p>
                      <a:pPr marL="0" marR="0" lvl="0" indent="0" algn="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10</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Tier 2 - Secondary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Belgium</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ESA — Space Weather Service Network / Coordination Centre</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Persistent SDA / DDIL</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Bounded autonomous-response trigger data; workload-event volume</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Space Weather Coordination Centre, Space Pole, Avenue Circulaire–Ringlaan 3, 1180 Uccle–Ukkel, BELGIUM</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SWE Service Helpdesk</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helpdesk.swe@esa.int</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https://swe.ssa.esa.int/contact</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European product-selection, archive, API and V&amp;V support.</a:t>
                      </a:r>
                      <a:endParaRPr sz="1000" b="0" i="0" u="none">
                        <a:solidFill>
                          <a:srgbClr val="1F1F1F"/>
                        </a:solidFill>
                        <a:latin typeface="Carlito"/>
                        <a:ea typeface="Carlito"/>
                        <a:cs typeface="Carlito"/>
                        <a:sym typeface="Carlito"/>
                      </a:endParaRPr>
                    </a:p>
                  </a:txBody>
                  <a:tcPr marL="2850" marR="2850" marT="2850" marB="0"/>
                </a:tc>
                <a:extLst>
                  <a:ext uri="{0D108BD9-81ED-4DB2-BD59-A6C34878D82A}">
                    <a16:rowId xmlns:a16="http://schemas.microsoft.com/office/drawing/2014/main" val="10014"/>
                  </a:ext>
                </a:extLst>
              </a:tr>
              <a:tr h="233957">
                <a:tc>
                  <a:txBody>
                    <a:bodyPr/>
                    <a:lstStyle/>
                    <a:p>
                      <a:pPr marL="0" marR="0" lvl="0" indent="0" algn="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11</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Germany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EUMETSAT — User Service</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Persistent SDA / Ground-Station Availability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DDIL atmospheric/ground-site proxy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EUMETSAT, Eumetsat-Allee 1, D-64295 Darmstadt, GERMANY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User Service Helpdesk</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ops@eumetsat.int</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https://www.eumetsat.int/contact-eumetsat</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Meteorology/precipitation/cloud inputs for notional ground-station availability.</a:t>
                      </a:r>
                      <a:endParaRPr sz="1000" b="0" i="0" u="none">
                        <a:solidFill>
                          <a:srgbClr val="1F1F1F"/>
                        </a:solidFill>
                        <a:latin typeface="Carlito"/>
                        <a:ea typeface="Carlito"/>
                        <a:cs typeface="Carlito"/>
                        <a:sym typeface="Carlito"/>
                      </a:endParaRPr>
                    </a:p>
                  </a:txBody>
                  <a:tcPr marL="2850" marR="2850" marT="2850" marB="0"/>
                </a:tc>
                <a:extLst>
                  <a:ext uri="{0D108BD9-81ED-4DB2-BD59-A6C34878D82A}">
                    <a16:rowId xmlns:a16="http://schemas.microsoft.com/office/drawing/2014/main" val="10015"/>
                  </a:ext>
                </a:extLst>
              </a:tr>
              <a:tr h="265889">
                <a:tc>
                  <a:txBody>
                    <a:bodyPr/>
                    <a:lstStyle/>
                    <a:p>
                      <a:pPr marL="0" marR="0" lvl="0" indent="0" algn="r"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12</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New Zealand</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New Zealand Space Agency — MBIE</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Cross-Cutting Referral Source</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All five families by referral only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New Zealand Space Agency, Ministry of Business, Innovation and Employment, PO Box 1473, Wellington 6140, NEW ZEALAND</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New Zealand Space Agency / MBIE</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nzspaceagency@mbie.govt.nz</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https://www.mbie.govt.nz/science-and-technology/space/connect-with-nzsa</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b="1" u="none">
                          <a:solidFill>
                            <a:srgbClr val="000000"/>
                          </a:solidFill>
                          <a:latin typeface="Arial"/>
                          <a:ea typeface="Arial"/>
                          <a:cs typeface="Arial"/>
                          <a:sym typeface="Arial"/>
                        </a:rPr>
                        <a:t>Referral/ecosystem source, not primary scientific data.</a:t>
                      </a:r>
                      <a:endParaRPr sz="1000" b="0" i="0" u="none">
                        <a:solidFill>
                          <a:srgbClr val="1F1F1F"/>
                        </a:solidFill>
                        <a:latin typeface="Carlito"/>
                        <a:ea typeface="Carlito"/>
                        <a:cs typeface="Carlito"/>
                        <a:sym typeface="Carlito"/>
                      </a:endParaRPr>
                    </a:p>
                  </a:txBody>
                  <a:tcPr marL="2850" marR="2850" marT="2850" marB="0"/>
                </a:tc>
                <a:extLst>
                  <a:ext uri="{0D108BD9-81ED-4DB2-BD59-A6C34878D82A}">
                    <a16:rowId xmlns:a16="http://schemas.microsoft.com/office/drawing/2014/main" val="10016"/>
                  </a:ext>
                </a:extLst>
              </a:tr>
              <a:tr h="233957">
                <a:tc>
                  <a:txBody>
                    <a:bodyPr/>
                    <a:lstStyle/>
                    <a:p>
                      <a:pPr marL="0" marR="0" lvl="0" indent="0" algn="r"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13</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Tier 3 - Supporting</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Germany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ESA Space Debris Office — DISCOS / SDUP</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Bounded Autonomous Response / Maneuver Support</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Persistent SDA</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Space Debris Office, ESOC/ESA, Robert-Bosch-Str. 5, 64293 Darmstadt, GERMANY</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Space Debris Office / SDUP Support</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space.debris.support@esa.int</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https://sdup.esoc.esa.int/contact</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Not Contacted</a:t>
                      </a: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chemeClr val="dk1"/>
                        </a:buClr>
                        <a:buSzPts val="700"/>
                        <a:buFont typeface="Calibri"/>
                        <a:buNone/>
                      </a:pPr>
                      <a:endParaRPr sz="1000" b="0" i="0" u="none">
                        <a:solidFill>
                          <a:srgbClr val="1F1F1F"/>
                        </a:solidFill>
                        <a:latin typeface="Carlito"/>
                        <a:ea typeface="Carlito"/>
                        <a:cs typeface="Carlito"/>
                        <a:sym typeface="Carlito"/>
                      </a:endParaRPr>
                    </a:p>
                  </a:txBody>
                  <a:tcPr marL="2850" marR="2850" marT="2850" marB="0"/>
                </a:tc>
                <a:tc>
                  <a:txBody>
                    <a:bodyPr/>
                    <a:lstStyle/>
                    <a:p>
                      <a:pPr marL="0" marR="0" lvl="0" indent="0" algn="l" rtl="0">
                        <a:spcBef>
                          <a:spcPts val="0"/>
                        </a:spcBef>
                        <a:spcAft>
                          <a:spcPts val="0"/>
                        </a:spcAft>
                        <a:buClr>
                          <a:srgbClr val="000000"/>
                        </a:buClr>
                        <a:buSzPts val="400"/>
                        <a:buFont typeface="Arial"/>
                        <a:buNone/>
                      </a:pPr>
                      <a:r>
                        <a:rPr lang="en-US" sz="700" u="none">
                          <a:solidFill>
                            <a:srgbClr val="000000"/>
                          </a:solidFill>
                          <a:latin typeface="Arial"/>
                          <a:ea typeface="Arial"/>
                          <a:cs typeface="Arial"/>
                          <a:sym typeface="Arial"/>
                        </a:rPr>
                        <a:t>Public conjunction/object metadata and event-trigger context.</a:t>
                      </a:r>
                      <a:endParaRPr sz="1000" b="0" i="0" u="none">
                        <a:solidFill>
                          <a:srgbClr val="1F1F1F"/>
                        </a:solidFill>
                        <a:latin typeface="Carlito"/>
                        <a:ea typeface="Carlito"/>
                        <a:cs typeface="Carlito"/>
                        <a:sym typeface="Carlito"/>
                      </a:endParaRPr>
                    </a:p>
                  </a:txBody>
                  <a:tcPr marL="2850" marR="2850" marT="2850" marB="0"/>
                </a:tc>
                <a:extLst>
                  <a:ext uri="{0D108BD9-81ED-4DB2-BD59-A6C34878D82A}">
                    <a16:rowId xmlns:a16="http://schemas.microsoft.com/office/drawing/2014/main" val="10017"/>
                  </a:ext>
                </a:extLst>
              </a:tr>
              <a:tr h="156802">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tc>
                  <a:txBody>
                    <a:bodyPr/>
                    <a:lstStyle/>
                    <a:p>
                      <a:pPr marL="0" marR="0" lvl="0" indent="0" algn="l" rtl="0">
                        <a:spcBef>
                          <a:spcPts val="0"/>
                        </a:spcBef>
                        <a:spcAft>
                          <a:spcPts val="0"/>
                        </a:spcAft>
                        <a:buClr>
                          <a:schemeClr val="dk1"/>
                        </a:buClr>
                        <a:buSzPts val="700"/>
                        <a:buFont typeface="Calibri"/>
                        <a:buNone/>
                      </a:pPr>
                      <a:endParaRPr sz="1000" b="0" i="0" u="none">
                        <a:latin typeface="Carlito"/>
                        <a:ea typeface="Carlito"/>
                        <a:cs typeface="Carlito"/>
                        <a:sym typeface="Carlito"/>
                      </a:endParaRPr>
                    </a:p>
                  </a:txBody>
                  <a:tcPr marL="2850" marR="2850" marT="2850" marB="0" anchor="b"/>
                </a:tc>
                <a:extLst>
                  <a:ext uri="{0D108BD9-81ED-4DB2-BD59-A6C34878D82A}">
                    <a16:rowId xmlns:a16="http://schemas.microsoft.com/office/drawing/2014/main" val="10018"/>
                  </a:ext>
                </a:extLst>
              </a:tr>
              <a:tr h="91350">
                <a:tc gridSpan="14">
                  <a:txBody>
                    <a:bodyPr/>
                    <a:lstStyle/>
                    <a:p>
                      <a:pPr marL="0" marR="0" lvl="0" indent="0" algn="l" rtl="0">
                        <a:spcBef>
                          <a:spcPts val="0"/>
                        </a:spcBef>
                        <a:spcAft>
                          <a:spcPts val="0"/>
                        </a:spcAft>
                        <a:buClr>
                          <a:srgbClr val="000000"/>
                        </a:buClr>
                        <a:buSzPts val="400"/>
                        <a:buFont typeface="Arial"/>
                        <a:buNone/>
                      </a:pPr>
                      <a:r>
                        <a:rPr lang="en-US" sz="700" b="0" dirty="0">
                          <a:solidFill>
                            <a:srgbClr val="000000"/>
                          </a:solidFill>
                          <a:latin typeface="Arial"/>
                          <a:ea typeface="Arial"/>
                          <a:cs typeface="Arial"/>
                          <a:sym typeface="Arial"/>
                        </a:rPr>
                        <a:t>Request framing: seek public, scientifically defensible observations that reproduce system symptoms of degraded/disrupted operations: latency, outages, observation gaps, disturbance onset/recovery, alert volume and quality/confidence. Do not use classified, restricted data, proprietary or operational data.</a:t>
                      </a:r>
                      <a:endParaRPr sz="2000" dirty="0"/>
                    </a:p>
                  </a:txBody>
                  <a:tcPr marL="2850" marR="2850" marT="2850"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9"/>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graphicFrame>
        <p:nvGraphicFramePr>
          <p:cNvPr id="247" name="Google Shape;247;p39"/>
          <p:cNvGraphicFramePr/>
          <p:nvPr>
            <p:extLst>
              <p:ext uri="{D42A27DB-BD31-4B8C-83A1-F6EECF244321}">
                <p14:modId xmlns:p14="http://schemas.microsoft.com/office/powerpoint/2010/main" val="4123301170"/>
              </p:ext>
            </p:extLst>
          </p:nvPr>
        </p:nvGraphicFramePr>
        <p:xfrm>
          <a:off x="0" y="0"/>
          <a:ext cx="11864340" cy="7094370"/>
        </p:xfrm>
        <a:graphic>
          <a:graphicData uri="http://schemas.openxmlformats.org/drawingml/2006/table">
            <a:tbl>
              <a:tblPr>
                <a:noFill/>
                <a:tableStyleId>{3C1EB017-BC45-4DEE-9ABB-B4D90C79D28D}</a:tableStyleId>
              </a:tblPr>
              <a:tblGrid>
                <a:gridCol w="1687365">
                  <a:extLst>
                    <a:ext uri="{9D8B030D-6E8A-4147-A177-3AD203B41FA5}">
                      <a16:colId xmlns:a16="http://schemas.microsoft.com/office/drawing/2014/main" val="20000"/>
                    </a:ext>
                  </a:extLst>
                </a:gridCol>
                <a:gridCol w="1687365">
                  <a:extLst>
                    <a:ext uri="{9D8B030D-6E8A-4147-A177-3AD203B41FA5}">
                      <a16:colId xmlns:a16="http://schemas.microsoft.com/office/drawing/2014/main" val="20001"/>
                    </a:ext>
                  </a:extLst>
                </a:gridCol>
                <a:gridCol w="1212813">
                  <a:extLst>
                    <a:ext uri="{9D8B030D-6E8A-4147-A177-3AD203B41FA5}">
                      <a16:colId xmlns:a16="http://schemas.microsoft.com/office/drawing/2014/main" val="20002"/>
                    </a:ext>
                  </a:extLst>
                </a:gridCol>
                <a:gridCol w="843696">
                  <a:extLst>
                    <a:ext uri="{9D8B030D-6E8A-4147-A177-3AD203B41FA5}">
                      <a16:colId xmlns:a16="http://schemas.microsoft.com/office/drawing/2014/main" val="20003"/>
                    </a:ext>
                  </a:extLst>
                </a:gridCol>
                <a:gridCol w="1792827">
                  <a:extLst>
                    <a:ext uri="{9D8B030D-6E8A-4147-A177-3AD203B41FA5}">
                      <a16:colId xmlns:a16="http://schemas.microsoft.com/office/drawing/2014/main" val="20004"/>
                    </a:ext>
                  </a:extLst>
                </a:gridCol>
                <a:gridCol w="2003751">
                  <a:extLst>
                    <a:ext uri="{9D8B030D-6E8A-4147-A177-3AD203B41FA5}">
                      <a16:colId xmlns:a16="http://schemas.microsoft.com/office/drawing/2014/main" val="20005"/>
                    </a:ext>
                  </a:extLst>
                </a:gridCol>
                <a:gridCol w="2003751">
                  <a:extLst>
                    <a:ext uri="{9D8B030D-6E8A-4147-A177-3AD203B41FA5}">
                      <a16:colId xmlns:a16="http://schemas.microsoft.com/office/drawing/2014/main" val="20006"/>
                    </a:ext>
                  </a:extLst>
                </a:gridCol>
                <a:gridCol w="632772">
                  <a:extLst>
                    <a:ext uri="{9D8B030D-6E8A-4147-A177-3AD203B41FA5}">
                      <a16:colId xmlns:a16="http://schemas.microsoft.com/office/drawing/2014/main" val="20007"/>
                    </a:ext>
                  </a:extLst>
                </a:gridCol>
              </a:tblGrid>
              <a:tr h="189525">
                <a:tc gridSpan="8">
                  <a:txBody>
                    <a:bodyPr/>
                    <a:lstStyle/>
                    <a:p>
                      <a:pPr marL="0" marR="0" lvl="0" indent="0" algn="l" rtl="0">
                        <a:spcBef>
                          <a:spcPts val="0"/>
                        </a:spcBef>
                        <a:spcAft>
                          <a:spcPts val="0"/>
                        </a:spcAft>
                        <a:buClr>
                          <a:srgbClr val="000000"/>
                        </a:buClr>
                        <a:buSzPts val="459"/>
                        <a:buFont typeface="Arial"/>
                        <a:buNone/>
                      </a:pPr>
                      <a:r>
                        <a:rPr lang="en-US" sz="900" b="1" u="none" dirty="0">
                          <a:solidFill>
                            <a:srgbClr val="000000"/>
                          </a:solidFill>
                          <a:latin typeface="Arial"/>
                          <a:ea typeface="Arial"/>
                          <a:cs typeface="Arial"/>
                          <a:sym typeface="Arial"/>
                        </a:rPr>
                        <a:t>International Research Data Outreach Register</a:t>
                      </a:r>
                      <a:endParaRPr sz="1600" b="1" i="0" u="none" dirty="0">
                        <a:solidFill>
                          <a:srgbClr val="FFFFFF"/>
                        </a:solidFill>
                        <a:latin typeface="Carlito"/>
                        <a:ea typeface="Carlito"/>
                        <a:cs typeface="Carlito"/>
                        <a:sym typeface="Carlito"/>
                      </a:endParaRPr>
                    </a:p>
                  </a:txBody>
                  <a:tcPr marL="3275" marR="3275" marT="327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27625">
                <a:tc gridSpan="8">
                  <a:txBody>
                    <a:bodyPr/>
                    <a:lstStyle/>
                    <a:p>
                      <a:pPr marL="0" marR="0" lvl="0" indent="0" algn="l" rtl="0">
                        <a:spcBef>
                          <a:spcPts val="0"/>
                        </a:spcBef>
                        <a:spcAft>
                          <a:spcPts val="0"/>
                        </a:spcAft>
                        <a:buClr>
                          <a:srgbClr val="000000"/>
                        </a:buClr>
                        <a:buSzPts val="459"/>
                        <a:buFont typeface="Arial"/>
                        <a:buNone/>
                      </a:pPr>
                      <a:r>
                        <a:rPr lang="en-US" sz="900" b="1">
                          <a:solidFill>
                            <a:srgbClr val="000000"/>
                          </a:solidFill>
                          <a:latin typeface="Arial"/>
                          <a:ea typeface="Arial"/>
                          <a:cs typeface="Arial"/>
                          <a:sym typeface="Arial"/>
                        </a:rPr>
                        <a:t>Prioritized POC/data-source register • v07 • 2026-09-16</a:t>
                      </a:r>
                      <a:endParaRPr sz="1050" b="0" i="1" u="none">
                        <a:solidFill>
                          <a:srgbClr val="1F2937"/>
                        </a:solidFill>
                        <a:latin typeface="Carlito"/>
                        <a:ea typeface="Carlito"/>
                        <a:cs typeface="Carlito"/>
                        <a:sym typeface="Carlito"/>
                      </a:endParaRPr>
                    </a:p>
                  </a:txBody>
                  <a:tcPr marL="3275" marR="3275" marT="3275" marB="0" anchor="b"/>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145300">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extLst>
                  <a:ext uri="{0D108BD9-81ED-4DB2-BD59-A6C34878D82A}">
                    <a16:rowId xmlns:a16="http://schemas.microsoft.com/office/drawing/2014/main" val="10002"/>
                  </a:ext>
                </a:extLst>
              </a:tr>
              <a:tr h="286800">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Metric</a:t>
                      </a:r>
                      <a:endParaRPr sz="1100" b="1" i="0" u="none">
                        <a:solidFill>
                          <a:srgbClr val="FFFFFF"/>
                        </a:solidFill>
                        <a:latin typeface="Carlito"/>
                        <a:ea typeface="Carlito"/>
                        <a:cs typeface="Carlito"/>
                        <a:sym typeface="Carlito"/>
                      </a:endParaRPr>
                    </a:p>
                  </a:txBody>
                  <a:tcPr marL="3275" marR="3275" marT="3275" marB="0" anchor="b"/>
                </a:tc>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Value</a:t>
                      </a:r>
                      <a:endParaRPr sz="1100" b="1" i="0" u="none">
                        <a:solidFill>
                          <a:srgbClr val="FFFFFF"/>
                        </a:solidFill>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Priority</a:t>
                      </a:r>
                      <a:endParaRPr sz="1100" b="1" i="0" u="none">
                        <a:solidFill>
                          <a:srgbClr val="FFFFFF"/>
                        </a:solidFill>
                        <a:latin typeface="Carlito"/>
                        <a:ea typeface="Carlito"/>
                        <a:cs typeface="Carlito"/>
                        <a:sym typeface="Carlito"/>
                      </a:endParaRPr>
                    </a:p>
                  </a:txBody>
                  <a:tcPr marL="3275" marR="3275" marT="3275" marB="0" anchor="b"/>
                </a:tc>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Country</a:t>
                      </a:r>
                      <a:endParaRPr sz="1100" b="1" i="0" u="none">
                        <a:solidFill>
                          <a:srgbClr val="FFFFFF"/>
                        </a:solidFill>
                        <a:latin typeface="Carlito"/>
                        <a:ea typeface="Carlito"/>
                        <a:cs typeface="Carlito"/>
                        <a:sym typeface="Carlito"/>
                      </a:endParaRPr>
                    </a:p>
                  </a:txBody>
                  <a:tcPr marL="3275" marR="3275" marT="3275" marB="0" anchor="b"/>
                </a:tc>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Organization</a:t>
                      </a:r>
                      <a:endParaRPr sz="1100" b="1" i="0" u="none">
                        <a:solidFill>
                          <a:srgbClr val="FFFFFF"/>
                        </a:solidFill>
                        <a:latin typeface="Carlito"/>
                        <a:ea typeface="Carlito"/>
                        <a:cs typeface="Carlito"/>
                        <a:sym typeface="Carlito"/>
                      </a:endParaRPr>
                    </a:p>
                  </a:txBody>
                  <a:tcPr marL="3275" marR="3275" marT="3275" marB="0" anchor="b"/>
                </a:tc>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Core Value</a:t>
                      </a:r>
                      <a:endParaRPr sz="1100" b="1" i="0" u="none">
                        <a:solidFill>
                          <a:srgbClr val="FFFFFF"/>
                        </a:solidFill>
                        <a:latin typeface="Carlito"/>
                        <a:ea typeface="Carlito"/>
                        <a:cs typeface="Carlito"/>
                        <a:sym typeface="Carlito"/>
                      </a:endParaRPr>
                    </a:p>
                  </a:txBody>
                  <a:tcPr marL="3275" marR="3275" marT="3275" marB="0" anchor="b"/>
                </a:tc>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Planned wave</a:t>
                      </a:r>
                      <a:endParaRPr sz="1100" b="1" i="0" u="none">
                        <a:solidFill>
                          <a:srgbClr val="FFFFFF"/>
                        </a:solidFill>
                        <a:latin typeface="Carlito"/>
                        <a:ea typeface="Carlito"/>
                        <a:cs typeface="Carlito"/>
                        <a:sym typeface="Carlito"/>
                      </a:endParaRPr>
                    </a:p>
                  </a:txBody>
                  <a:tcPr marL="3275" marR="3275" marT="3275" marB="0" anchor="b"/>
                </a:tc>
                <a:extLst>
                  <a:ext uri="{0D108BD9-81ED-4DB2-BD59-A6C34878D82A}">
                    <a16:rowId xmlns:a16="http://schemas.microsoft.com/office/drawing/2014/main" val="10003"/>
                  </a:ext>
                </a:extLst>
              </a:tr>
              <a:tr h="286800">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Total Targets</a:t>
                      </a:r>
                      <a:endParaRPr sz="1100" b="0" i="0" u="none">
                        <a:latin typeface="Carlito"/>
                        <a:ea typeface="Carlito"/>
                        <a:cs typeface="Carlito"/>
                        <a:sym typeface="Carlito"/>
                      </a:endParaRPr>
                    </a:p>
                  </a:txBody>
                  <a:tcPr marL="3275" marR="3275" marT="3275" marB="0" anchor="b"/>
                </a:tc>
                <a:tc>
                  <a:txBody>
                    <a:bodyPr/>
                    <a:lstStyle/>
                    <a:p>
                      <a:pPr marL="0" marR="0" lvl="0" indent="0" algn="r"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13</a:t>
                      </a: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r"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1</a:t>
                      </a:r>
                      <a:endParaRPr sz="1100" b="1" i="0" u="none">
                        <a:solidFill>
                          <a:srgbClr val="1F2937"/>
                        </a:solidFill>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Japan</a:t>
                      </a:r>
                      <a:endParaRPr sz="1100" b="1" i="0" u="none">
                        <a:solidFill>
                          <a:srgbClr val="1F2937"/>
                        </a:solidFill>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NICT — World Data Center for Ionosphere &amp; Space Weather</a:t>
                      </a:r>
                      <a:endParaRPr sz="1100" b="1" i="0" u="none">
                        <a:solidFill>
                          <a:srgbClr val="1F2937"/>
                        </a:solidFill>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Space weather / ionosphere / solar-flare effects</a:t>
                      </a:r>
                      <a:endParaRPr sz="1100" b="1" i="0" u="none">
                        <a:solidFill>
                          <a:srgbClr val="1F2937"/>
                        </a:solidFill>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Wave 1</a:t>
                      </a:r>
                      <a:endParaRPr sz="1100" b="1" i="0" u="none">
                        <a:solidFill>
                          <a:srgbClr val="1F2937"/>
                        </a:solidFill>
                        <a:latin typeface="Carlito"/>
                        <a:ea typeface="Carlito"/>
                        <a:cs typeface="Carlito"/>
                        <a:sym typeface="Carlito"/>
                      </a:endParaRPr>
                    </a:p>
                  </a:txBody>
                  <a:tcPr marL="3275" marR="3275" marT="3275" marB="0"/>
                </a:tc>
                <a:extLst>
                  <a:ext uri="{0D108BD9-81ED-4DB2-BD59-A6C34878D82A}">
                    <a16:rowId xmlns:a16="http://schemas.microsoft.com/office/drawing/2014/main" val="10004"/>
                  </a:ext>
                </a:extLst>
              </a:tr>
              <a:tr h="286800">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Tier 1 — Primary</a:t>
                      </a:r>
                      <a:endParaRPr sz="1100" b="0" i="0" u="none">
                        <a:latin typeface="Carlito"/>
                        <a:ea typeface="Carlito"/>
                        <a:cs typeface="Carlito"/>
                        <a:sym typeface="Carlito"/>
                      </a:endParaRPr>
                    </a:p>
                  </a:txBody>
                  <a:tcPr marL="3275" marR="3275" marT="3275" marB="0" anchor="b"/>
                </a:tc>
                <a:tc>
                  <a:txBody>
                    <a:bodyPr/>
                    <a:lstStyle/>
                    <a:p>
                      <a:pPr marL="0" marR="0" lvl="0" indent="0" algn="r"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6</a:t>
                      </a: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r"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2</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Canada</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University of Victoria — Starlink@PanLab / LENS</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LEO latency / one-way delay / network performance</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3275" marB="0"/>
                </a:tc>
                <a:extLst>
                  <a:ext uri="{0D108BD9-81ED-4DB2-BD59-A6C34878D82A}">
                    <a16:rowId xmlns:a16="http://schemas.microsoft.com/office/drawing/2014/main" val="10005"/>
                  </a:ext>
                </a:extLst>
              </a:tr>
              <a:tr h="286800">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Tier 2 — Secondary</a:t>
                      </a:r>
                      <a:endParaRPr sz="1100" b="0" i="0" u="none">
                        <a:latin typeface="Carlito"/>
                        <a:ea typeface="Carlito"/>
                        <a:cs typeface="Carlito"/>
                        <a:sym typeface="Carlito"/>
                      </a:endParaRPr>
                    </a:p>
                  </a:txBody>
                  <a:tcPr marL="3275" marR="3275" marT="3275" marB="0" anchor="b"/>
                </a:tc>
                <a:tc>
                  <a:txBody>
                    <a:bodyPr/>
                    <a:lstStyle/>
                    <a:p>
                      <a:pPr marL="0" marR="0" lvl="0" indent="0" algn="r"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4</a:t>
                      </a: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r"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3</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Germany / Netherlands</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WetLinks — Osnabrück University / University of Twente</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Starlink RTT / packet loss / throughput / traceroute / weather</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3275" marB="0"/>
                </a:tc>
                <a:extLst>
                  <a:ext uri="{0D108BD9-81ED-4DB2-BD59-A6C34878D82A}">
                    <a16:rowId xmlns:a16="http://schemas.microsoft.com/office/drawing/2014/main" val="10006"/>
                  </a:ext>
                </a:extLst>
              </a:tr>
              <a:tr h="286800">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Tier 3 — Supporting</a:t>
                      </a:r>
                      <a:endParaRPr sz="1100" b="0" i="0" u="none">
                        <a:latin typeface="Carlito"/>
                        <a:ea typeface="Carlito"/>
                        <a:cs typeface="Carlito"/>
                        <a:sym typeface="Carlito"/>
                      </a:endParaRPr>
                    </a:p>
                  </a:txBody>
                  <a:tcPr marL="3275" marR="3275" marT="3275" marB="0" anchor="b"/>
                </a:tc>
                <a:tc>
                  <a:txBody>
                    <a:bodyPr/>
                    <a:lstStyle/>
                    <a:p>
                      <a:pPr marL="0" marR="0" lvl="0" indent="0" algn="r"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3</a:t>
                      </a: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r"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4</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Netherlands</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RIPE NCC — RIPE Atlas</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Independent active Internet measurements / ping / traceroute</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3275" marB="0"/>
                </a:tc>
                <a:extLst>
                  <a:ext uri="{0D108BD9-81ED-4DB2-BD59-A6C34878D82A}">
                    <a16:rowId xmlns:a16="http://schemas.microsoft.com/office/drawing/2014/main" val="10007"/>
                  </a:ext>
                </a:extLst>
              </a:tr>
              <a:tr h="286800">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r"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5</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New Zealand</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University of Otago — Solar Tsunamis / MANA Network</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Geomagnetic observations / Southern Hemisphere environmental stress</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3275" marB="0"/>
                </a:tc>
                <a:extLst>
                  <a:ext uri="{0D108BD9-81ED-4DB2-BD59-A6C34878D82A}">
                    <a16:rowId xmlns:a16="http://schemas.microsoft.com/office/drawing/2014/main" val="10008"/>
                  </a:ext>
                </a:extLst>
              </a:tr>
              <a:tr h="286800">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r"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6</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New Zealand</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Earth Sciences New Zealand — Geomagnetism Project</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Geomagnetic observatory / INTERMAGNET / Scott Base context</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Wave 1</a:t>
                      </a:r>
                      <a:endParaRPr sz="1100" b="0" i="0" u="none">
                        <a:latin typeface="Carlito"/>
                        <a:ea typeface="Carlito"/>
                        <a:cs typeface="Carlito"/>
                        <a:sym typeface="Carlito"/>
                      </a:endParaRPr>
                    </a:p>
                  </a:txBody>
                  <a:tcPr marL="3275" marR="3275" marT="3275" marB="0"/>
                </a:tc>
                <a:extLst>
                  <a:ext uri="{0D108BD9-81ED-4DB2-BD59-A6C34878D82A}">
                    <a16:rowId xmlns:a16="http://schemas.microsoft.com/office/drawing/2014/main" val="10009"/>
                  </a:ext>
                </a:extLst>
              </a:tr>
              <a:tr h="145300">
                <a:tc>
                  <a:txBody>
                    <a:bodyPr/>
                    <a:lstStyle/>
                    <a:p>
                      <a:pPr marL="0" marR="0" lvl="0" indent="0" algn="l"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Color</a:t>
                      </a:r>
                      <a:endParaRPr sz="1100" b="1" i="0" u="none">
                        <a:solidFill>
                          <a:srgbClr val="FFFFFF"/>
                        </a:solidFill>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Meaning</a:t>
                      </a:r>
                      <a:endParaRPr sz="1100" b="1" i="0" u="none">
                        <a:solidFill>
                          <a:srgbClr val="FFFFFF"/>
                        </a:solidFill>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extLst>
                  <a:ext uri="{0D108BD9-81ED-4DB2-BD59-A6C34878D82A}">
                    <a16:rowId xmlns:a16="http://schemas.microsoft.com/office/drawing/2014/main" val="10010"/>
                  </a:ext>
                </a:extLst>
              </a:tr>
              <a:tr h="286800">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Tier 1</a:t>
                      </a: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Primary outreach — material value to model/data/V&amp;V</a:t>
                      </a: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extLst>
                  <a:ext uri="{0D108BD9-81ED-4DB2-BD59-A6C34878D82A}">
                    <a16:rowId xmlns:a16="http://schemas.microsoft.com/office/drawing/2014/main" val="10011"/>
                  </a:ext>
                </a:extLst>
              </a:tr>
              <a:tr h="286800">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Tier 2</a:t>
                      </a: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Secondary wave — cross-validation / operational interpretation</a:t>
                      </a: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extLst>
                  <a:ext uri="{0D108BD9-81ED-4DB2-BD59-A6C34878D82A}">
                    <a16:rowId xmlns:a16="http://schemas.microsoft.com/office/drawing/2014/main" val="10012"/>
                  </a:ext>
                </a:extLst>
              </a:tr>
              <a:tr h="286800">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Tier 3</a:t>
                      </a: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Supporting — contextual, referral, or lower marginal value</a:t>
                      </a: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extLst>
                  <a:ext uri="{0D108BD9-81ED-4DB2-BD59-A6C34878D82A}">
                    <a16:rowId xmlns:a16="http://schemas.microsoft.com/office/drawing/2014/main" val="10013"/>
                  </a:ext>
                </a:extLst>
              </a:tr>
              <a:tr h="145300">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nchor="b"/>
                </a:tc>
                <a:extLst>
                  <a:ext uri="{0D108BD9-81ED-4DB2-BD59-A6C34878D82A}">
                    <a16:rowId xmlns:a16="http://schemas.microsoft.com/office/drawing/2014/main" val="10014"/>
                  </a:ext>
                </a:extLst>
              </a:tr>
              <a:tr h="162875">
                <a:tc gridSpan="8">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Top table: priority planning. Below: actual six-country postal outreach of August 17. Shared WetLinks coverage is not counted as a separate Dutch reply.</a:t>
                      </a:r>
                      <a:endParaRPr sz="1050" b="0" i="0" u="none">
                        <a:solidFill>
                          <a:srgbClr val="1F2937"/>
                        </a:solidFill>
                        <a:latin typeface="Carlito"/>
                        <a:ea typeface="Carlito"/>
                        <a:cs typeface="Carlito"/>
                        <a:sym typeface="Carlito"/>
                      </a:endParaRPr>
                    </a:p>
                  </a:txBody>
                  <a:tcPr marL="3275" marR="3275" marT="327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5"/>
                  </a:ext>
                </a:extLst>
              </a:tr>
              <a:tr h="163000">
                <a:tc gridSpan="8">
                  <a:txBody>
                    <a:bodyPr/>
                    <a:lstStyle/>
                    <a:p>
                      <a:pPr marL="0" marR="0" lvl="0" indent="0" algn="l" rtl="0">
                        <a:spcBef>
                          <a:spcPts val="0"/>
                        </a:spcBef>
                        <a:spcAft>
                          <a:spcPts val="0"/>
                        </a:spcAft>
                        <a:buClr>
                          <a:srgbClr val="000000"/>
                        </a:buClr>
                        <a:buSzPts val="459"/>
                        <a:buFont typeface="Arial"/>
                        <a:buNone/>
                      </a:pPr>
                      <a:r>
                        <a:rPr lang="en-US" sz="900" b="1">
                          <a:solidFill>
                            <a:srgbClr val="000000"/>
                          </a:solidFill>
                          <a:latin typeface="Arial"/>
                          <a:ea typeface="Arial"/>
                          <a:cs typeface="Arial"/>
                          <a:sym typeface="Arial"/>
                        </a:rPr>
                        <a:t>FIRST-WAVE RESPONSE STATUS — SEPTEMBER 16, 2026</a:t>
                      </a:r>
                      <a:endParaRPr sz="1200" b="1" i="0" u="none">
                        <a:solidFill>
                          <a:srgbClr val="FFFFFF"/>
                        </a:solidFill>
                        <a:latin typeface="Carlito"/>
                        <a:ea typeface="Carlito"/>
                        <a:cs typeface="Carlito"/>
                        <a:sym typeface="Carlito"/>
                      </a:endParaRPr>
                    </a:p>
                  </a:txBody>
                  <a:tcPr marL="3275" marR="3275" marT="3275" marB="0" anchor="ct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16"/>
                  </a:ext>
                </a:extLst>
              </a:tr>
              <a:tr h="162875">
                <a:tc>
                  <a:txBody>
                    <a:bodyPr/>
                    <a:lstStyle/>
                    <a:p>
                      <a:pPr marL="0" marR="0" lvl="0" indent="0" algn="l" rtl="0">
                        <a:spcBef>
                          <a:spcPts val="0"/>
                        </a:spcBef>
                        <a:spcAft>
                          <a:spcPts val="0"/>
                        </a:spcAft>
                        <a:buClr>
                          <a:srgbClr val="000000"/>
                        </a:buClr>
                        <a:buSzPts val="459"/>
                        <a:buFont typeface="Arial"/>
                        <a:buNone/>
                      </a:pPr>
                      <a:r>
                        <a:rPr lang="en-US" sz="900" b="1">
                          <a:solidFill>
                            <a:srgbClr val="000000"/>
                          </a:solidFill>
                          <a:latin typeface="Arial"/>
                          <a:ea typeface="Arial"/>
                          <a:cs typeface="Arial"/>
                          <a:sym typeface="Arial"/>
                        </a:rPr>
                        <a:t>Packets mailed</a:t>
                      </a:r>
                      <a:endParaRPr sz="1050" b="0" i="0" u="none">
                        <a:solidFill>
                          <a:srgbClr val="1F2937"/>
                        </a:solidFill>
                        <a:latin typeface="Carlito"/>
                        <a:ea typeface="Carlito"/>
                        <a:cs typeface="Carlito"/>
                        <a:sym typeface="Carlito"/>
                      </a:endParaRPr>
                    </a:p>
                  </a:txBody>
                  <a:tcPr marL="3275" marR="3275" marT="3275" marB="0" anchor="ctr"/>
                </a:tc>
                <a:tc>
                  <a:txBody>
                    <a:bodyPr/>
                    <a:lstStyle/>
                    <a:p>
                      <a:pPr marL="0" marR="0" lvl="0" indent="0" algn="ctr" rtl="0">
                        <a:spcBef>
                          <a:spcPts val="0"/>
                        </a:spcBef>
                        <a:spcAft>
                          <a:spcPts val="0"/>
                        </a:spcAft>
                        <a:buClr>
                          <a:srgbClr val="000000"/>
                        </a:buClr>
                        <a:buSzPts val="459"/>
                        <a:buFont typeface="Arial"/>
                        <a:buNone/>
                      </a:pPr>
                      <a:r>
                        <a:rPr lang="en-US" sz="900" b="0">
                          <a:solidFill>
                            <a:srgbClr val="000000"/>
                          </a:solidFill>
                          <a:latin typeface="Arial"/>
                          <a:ea typeface="Arial"/>
                          <a:cs typeface="Arial"/>
                          <a:sym typeface="Arial"/>
                        </a:rPr>
                        <a:t>6</a:t>
                      </a:r>
                      <a:endParaRPr sz="1050" b="1" i="0" u="none">
                        <a:solidFill>
                          <a:srgbClr val="17365D"/>
                        </a:solidFill>
                        <a:latin typeface="Carlito"/>
                        <a:ea typeface="Carlito"/>
                        <a:cs typeface="Carlito"/>
                        <a:sym typeface="Carlito"/>
                      </a:endParaRPr>
                    </a:p>
                  </a:txBody>
                  <a:tcPr marL="3275" marR="3275" marT="3275" marB="0" anchor="ctr"/>
                </a:tc>
                <a:tc>
                  <a:txBody>
                    <a:bodyPr/>
                    <a:lstStyle/>
                    <a:p>
                      <a:pPr marL="0" marR="0" lvl="0" indent="0" algn="l" rtl="0">
                        <a:spcBef>
                          <a:spcPts val="0"/>
                        </a:spcBef>
                        <a:spcAft>
                          <a:spcPts val="0"/>
                        </a:spcAft>
                        <a:buClr>
                          <a:srgbClr val="000000"/>
                        </a:buClr>
                        <a:buSzPts val="459"/>
                        <a:buFont typeface="Arial"/>
                        <a:buNone/>
                      </a:pPr>
                      <a:r>
                        <a:rPr lang="en-US" sz="900" b="1">
                          <a:solidFill>
                            <a:srgbClr val="000000"/>
                          </a:solidFill>
                          <a:latin typeface="Arial"/>
                          <a:ea typeface="Arial"/>
                          <a:cs typeface="Arial"/>
                          <a:sym typeface="Arial"/>
                        </a:rPr>
                        <a:t>Direct replies</a:t>
                      </a:r>
                      <a:endParaRPr sz="1050" b="0" i="0" u="none">
                        <a:solidFill>
                          <a:srgbClr val="1F2937"/>
                        </a:solidFill>
                        <a:latin typeface="Carlito"/>
                        <a:ea typeface="Carlito"/>
                        <a:cs typeface="Carlito"/>
                        <a:sym typeface="Carlito"/>
                      </a:endParaRPr>
                    </a:p>
                  </a:txBody>
                  <a:tcPr marL="3275" marR="3275" marT="3275" marB="0" anchor="ctr"/>
                </a:tc>
                <a:tc>
                  <a:txBody>
                    <a:bodyPr/>
                    <a:lstStyle/>
                    <a:p>
                      <a:pPr marL="0" marR="0" lvl="0" indent="0" algn="ctr" rtl="0">
                        <a:spcBef>
                          <a:spcPts val="0"/>
                        </a:spcBef>
                        <a:spcAft>
                          <a:spcPts val="0"/>
                        </a:spcAft>
                        <a:buClr>
                          <a:srgbClr val="000000"/>
                        </a:buClr>
                        <a:buSzPts val="459"/>
                        <a:buFont typeface="Arial"/>
                        <a:buNone/>
                      </a:pPr>
                      <a:r>
                        <a:rPr lang="en-US" sz="900" b="0">
                          <a:solidFill>
                            <a:srgbClr val="000000"/>
                          </a:solidFill>
                          <a:latin typeface="Arial"/>
                          <a:ea typeface="Arial"/>
                          <a:cs typeface="Arial"/>
                          <a:sym typeface="Arial"/>
                        </a:rPr>
                        <a:t>5</a:t>
                      </a:r>
                      <a:endParaRPr sz="1050" b="1" i="0" u="none">
                        <a:solidFill>
                          <a:srgbClr val="17365D"/>
                        </a:solidFill>
                        <a:latin typeface="Carlito"/>
                        <a:ea typeface="Carlito"/>
                        <a:cs typeface="Carlito"/>
                        <a:sym typeface="Carlito"/>
                      </a:endParaRPr>
                    </a:p>
                  </a:txBody>
                  <a:tcPr marL="3275" marR="3275" marT="3275" marB="0" anchor="ctr"/>
                </a:tc>
                <a:tc>
                  <a:txBody>
                    <a:bodyPr/>
                    <a:lstStyle/>
                    <a:p>
                      <a:pPr marL="0" marR="0" lvl="0" indent="0" algn="l" rtl="0">
                        <a:spcBef>
                          <a:spcPts val="0"/>
                        </a:spcBef>
                        <a:spcAft>
                          <a:spcPts val="0"/>
                        </a:spcAft>
                        <a:buClr>
                          <a:srgbClr val="000000"/>
                        </a:buClr>
                        <a:buSzPts val="459"/>
                        <a:buFont typeface="Arial"/>
                        <a:buNone/>
                      </a:pPr>
                      <a:r>
                        <a:rPr lang="en-US" sz="900" b="1">
                          <a:solidFill>
                            <a:srgbClr val="000000"/>
                          </a:solidFill>
                          <a:latin typeface="Arial"/>
                          <a:ea typeface="Arial"/>
                          <a:cs typeface="Arial"/>
                          <a:sym typeface="Arial"/>
                        </a:rPr>
                        <a:t>Auto-reply only</a:t>
                      </a:r>
                      <a:endParaRPr sz="1050" b="0" i="0" u="none">
                        <a:solidFill>
                          <a:srgbClr val="1F2937"/>
                        </a:solidFill>
                        <a:latin typeface="Carlito"/>
                        <a:ea typeface="Carlito"/>
                        <a:cs typeface="Carlito"/>
                        <a:sym typeface="Carlito"/>
                      </a:endParaRPr>
                    </a:p>
                  </a:txBody>
                  <a:tcPr marL="3275" marR="3275" marT="3275" marB="0" anchor="ctr"/>
                </a:tc>
                <a:tc>
                  <a:txBody>
                    <a:bodyPr/>
                    <a:lstStyle/>
                    <a:p>
                      <a:pPr marL="0" marR="0" lvl="0" indent="0" algn="ctr" rtl="0">
                        <a:spcBef>
                          <a:spcPts val="0"/>
                        </a:spcBef>
                        <a:spcAft>
                          <a:spcPts val="0"/>
                        </a:spcAft>
                        <a:buClr>
                          <a:srgbClr val="000000"/>
                        </a:buClr>
                        <a:buSzPts val="459"/>
                        <a:buFont typeface="Arial"/>
                        <a:buNone/>
                      </a:pPr>
                      <a:r>
                        <a:rPr lang="en-US" sz="900" b="0">
                          <a:solidFill>
                            <a:srgbClr val="000000"/>
                          </a:solidFill>
                          <a:latin typeface="Arial"/>
                          <a:ea typeface="Arial"/>
                          <a:cs typeface="Arial"/>
                          <a:sym typeface="Arial"/>
                        </a:rPr>
                        <a:t>0</a:t>
                      </a:r>
                      <a:endParaRPr sz="1050" b="1" i="0" u="none">
                        <a:solidFill>
                          <a:srgbClr val="17365D"/>
                        </a:solidFill>
                        <a:latin typeface="Carlito"/>
                        <a:ea typeface="Carlito"/>
                        <a:cs typeface="Carlito"/>
                        <a:sym typeface="Carlito"/>
                      </a:endParaRPr>
                    </a:p>
                  </a:txBody>
                  <a:tcPr marL="3275" marR="3275" marT="3275" marB="0" anchor="ctr"/>
                </a:tc>
                <a:tc>
                  <a:txBody>
                    <a:bodyPr/>
                    <a:lstStyle/>
                    <a:p>
                      <a:pPr marL="0" marR="0" lvl="0" indent="0" algn="l" rtl="0">
                        <a:spcBef>
                          <a:spcPts val="0"/>
                        </a:spcBef>
                        <a:spcAft>
                          <a:spcPts val="0"/>
                        </a:spcAft>
                        <a:buClr>
                          <a:srgbClr val="000000"/>
                        </a:buClr>
                        <a:buSzPts val="459"/>
                        <a:buFont typeface="Arial"/>
                        <a:buNone/>
                      </a:pPr>
                      <a:r>
                        <a:rPr lang="en-US" sz="900" b="1">
                          <a:solidFill>
                            <a:srgbClr val="000000"/>
                          </a:solidFill>
                          <a:latin typeface="Arial"/>
                          <a:ea typeface="Arial"/>
                          <a:cs typeface="Arial"/>
                          <a:sym typeface="Arial"/>
                        </a:rPr>
                        <a:t>Archive-link replies</a:t>
                      </a:r>
                      <a:endParaRPr sz="1050" b="0" i="0" u="none">
                        <a:solidFill>
                          <a:srgbClr val="1F2937"/>
                        </a:solidFill>
                        <a:latin typeface="Carlito"/>
                        <a:ea typeface="Carlito"/>
                        <a:cs typeface="Carlito"/>
                        <a:sym typeface="Carlito"/>
                      </a:endParaRPr>
                    </a:p>
                  </a:txBody>
                  <a:tcPr marL="3275" marR="3275" marT="3275" marB="0" anchor="ctr"/>
                </a:tc>
                <a:tc>
                  <a:txBody>
                    <a:bodyPr/>
                    <a:lstStyle/>
                    <a:p>
                      <a:pPr marL="0" marR="0" lvl="0" indent="0" algn="ctr" rtl="0">
                        <a:spcBef>
                          <a:spcPts val="0"/>
                        </a:spcBef>
                        <a:spcAft>
                          <a:spcPts val="0"/>
                        </a:spcAft>
                        <a:buClr>
                          <a:srgbClr val="000000"/>
                        </a:buClr>
                        <a:buSzPts val="459"/>
                        <a:buFont typeface="Arial"/>
                        <a:buNone/>
                      </a:pPr>
                      <a:r>
                        <a:rPr lang="en-US" sz="900" b="0">
                          <a:solidFill>
                            <a:srgbClr val="000000"/>
                          </a:solidFill>
                          <a:latin typeface="Arial"/>
                          <a:ea typeface="Arial"/>
                          <a:cs typeface="Arial"/>
                          <a:sym typeface="Arial"/>
                        </a:rPr>
                        <a:t>3</a:t>
                      </a:r>
                      <a:endParaRPr sz="1050" b="1" i="0" u="none">
                        <a:solidFill>
                          <a:srgbClr val="17365D"/>
                        </a:solidFill>
                        <a:latin typeface="Carlito"/>
                        <a:ea typeface="Carlito"/>
                        <a:cs typeface="Carlito"/>
                        <a:sym typeface="Carlito"/>
                      </a:endParaRPr>
                    </a:p>
                  </a:txBody>
                  <a:tcPr marL="3275" marR="3275" marT="3275" marB="0" anchor="ctr"/>
                </a:tc>
                <a:extLst>
                  <a:ext uri="{0D108BD9-81ED-4DB2-BD59-A6C34878D82A}">
                    <a16:rowId xmlns:a16="http://schemas.microsoft.com/office/drawing/2014/main" val="10017"/>
                  </a:ext>
                </a:extLst>
              </a:tr>
              <a:tr h="145300">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Country</a:t>
                      </a:r>
                      <a:endParaRPr sz="1100" b="1" i="0" u="none">
                        <a:solidFill>
                          <a:srgbClr val="FFFFFF"/>
                        </a:solidFill>
                        <a:latin typeface="Carlito"/>
                        <a:ea typeface="Carlito"/>
                        <a:cs typeface="Carlito"/>
                        <a:sym typeface="Carlito"/>
                      </a:endParaRPr>
                    </a:p>
                  </a:txBody>
                  <a:tcPr marL="3275" marR="3275" marT="3275" marB="0" anchor="ctr"/>
                </a:tc>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Organization / Contact</a:t>
                      </a:r>
                      <a:endParaRPr sz="1100" b="1" i="0" u="none">
                        <a:solidFill>
                          <a:srgbClr val="FFFFFF"/>
                        </a:solidFill>
                        <a:latin typeface="Carlito"/>
                        <a:ea typeface="Carlito"/>
                        <a:cs typeface="Carlito"/>
                        <a:sym typeface="Carlito"/>
                      </a:endParaRPr>
                    </a:p>
                  </a:txBody>
                  <a:tcPr marL="3275" marR="3275" marT="3275" marB="0" anchor="ctr"/>
                </a:tc>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Status</a:t>
                      </a:r>
                      <a:endParaRPr sz="1100" b="1" i="0" u="none">
                        <a:solidFill>
                          <a:srgbClr val="FFFFFF"/>
                        </a:solidFill>
                        <a:latin typeface="Carlito"/>
                        <a:ea typeface="Carlito"/>
                        <a:cs typeface="Carlito"/>
                        <a:sym typeface="Carlito"/>
                      </a:endParaRPr>
                    </a:p>
                  </a:txBody>
                  <a:tcPr marL="3275" marR="3275" marT="3275" marB="0" anchor="ctr"/>
                </a:tc>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Response date</a:t>
                      </a:r>
                      <a:endParaRPr sz="1100" b="1" i="0" u="none">
                        <a:solidFill>
                          <a:srgbClr val="FFFFFF"/>
                        </a:solidFill>
                        <a:latin typeface="Carlito"/>
                        <a:ea typeface="Carlito"/>
                        <a:cs typeface="Carlito"/>
                        <a:sym typeface="Carlito"/>
                      </a:endParaRPr>
                    </a:p>
                  </a:txBody>
                  <a:tcPr marL="3275" marR="3275" marT="3275" marB="0" anchor="ctr"/>
                </a:tc>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Next action</a:t>
                      </a:r>
                      <a:endParaRPr sz="1100" b="1" i="0" u="none">
                        <a:solidFill>
                          <a:srgbClr val="FFFFFF"/>
                        </a:solidFill>
                        <a:latin typeface="Carlito"/>
                        <a:ea typeface="Carlito"/>
                        <a:cs typeface="Carlito"/>
                        <a:sym typeface="Carlito"/>
                      </a:endParaRPr>
                    </a:p>
                  </a:txBody>
                  <a:tcPr marL="3275" marR="3275" marT="3275" marB="0" anchor="ctr"/>
                </a:tc>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Data status</a:t>
                      </a:r>
                      <a:endParaRPr sz="1100" b="1" i="0" u="none">
                        <a:solidFill>
                          <a:srgbClr val="FFFFFF"/>
                        </a:solidFill>
                        <a:latin typeface="Carlito"/>
                        <a:ea typeface="Carlito"/>
                        <a:cs typeface="Carlito"/>
                        <a:sym typeface="Carlito"/>
                      </a:endParaRPr>
                    </a:p>
                  </a:txBody>
                  <a:tcPr marL="3275" marR="3275" marT="3275" marB="0" anchor="ctr"/>
                </a:tc>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Evidence / limits</a:t>
                      </a:r>
                      <a:endParaRPr sz="1100" b="1" i="0" u="none">
                        <a:solidFill>
                          <a:srgbClr val="FFFFFF"/>
                        </a:solidFill>
                        <a:latin typeface="Carlito"/>
                        <a:ea typeface="Carlito"/>
                        <a:cs typeface="Carlito"/>
                        <a:sym typeface="Carlito"/>
                      </a:endParaRPr>
                    </a:p>
                  </a:txBody>
                  <a:tcPr marL="3275" marR="3275" marT="3275" marB="0" anchor="ctr"/>
                </a:tc>
                <a:tc>
                  <a:txBody>
                    <a:bodyPr/>
                    <a:lstStyle/>
                    <a:p>
                      <a:pPr marL="0" marR="0" lvl="0" indent="0" algn="ctr" rtl="0">
                        <a:spcBef>
                          <a:spcPts val="0"/>
                        </a:spcBef>
                        <a:spcAft>
                          <a:spcPts val="0"/>
                        </a:spcAft>
                        <a:buClr>
                          <a:srgbClr val="000000"/>
                        </a:buClr>
                        <a:buSzPts val="459"/>
                        <a:buFont typeface="Arial"/>
                        <a:buNone/>
                      </a:pPr>
                      <a:r>
                        <a:rPr lang="en-US" sz="900" b="1" u="none">
                          <a:solidFill>
                            <a:srgbClr val="000000"/>
                          </a:solidFill>
                          <a:latin typeface="Arial"/>
                          <a:ea typeface="Arial"/>
                          <a:cs typeface="Arial"/>
                          <a:sym typeface="Arial"/>
                        </a:rPr>
                        <a:t> </a:t>
                      </a:r>
                      <a:endParaRPr sz="1100" b="1" i="0" u="none">
                        <a:solidFill>
                          <a:srgbClr val="FFFFFF"/>
                        </a:solidFill>
                        <a:latin typeface="Carlito"/>
                        <a:ea typeface="Carlito"/>
                        <a:cs typeface="Carlito"/>
                        <a:sym typeface="Carlito"/>
                      </a:endParaRPr>
                    </a:p>
                  </a:txBody>
                  <a:tcPr marL="3275" marR="3275" marT="3275" marB="0" anchor="ctr"/>
                </a:tc>
                <a:extLst>
                  <a:ext uri="{0D108BD9-81ED-4DB2-BD59-A6C34878D82A}">
                    <a16:rowId xmlns:a16="http://schemas.microsoft.com/office/drawing/2014/main" val="10018"/>
                  </a:ext>
                </a:extLst>
              </a:tr>
              <a:tr h="365750">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Germany</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Osnabrück University - Prof. Dr. Nils Aschenbruck</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RESPONDED</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Aug 25, 2026</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Inspect/select public files; see shared WetLinks coverage below.</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Public links received</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GitHub + dataset/paper DOI. Data/code supplied as-is.</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tc>
                <a:extLst>
                  <a:ext uri="{0D108BD9-81ED-4DB2-BD59-A6C34878D82A}">
                    <a16:rowId xmlns:a16="http://schemas.microsoft.com/office/drawing/2014/main" val="10019"/>
                  </a:ext>
                </a:extLst>
              </a:tr>
              <a:tr h="365750">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Canada</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University of Victoria - Prof. Jianping Pan</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b="1">
                          <a:solidFill>
                            <a:srgbClr val="000000"/>
                          </a:solidFill>
                          <a:latin typeface="Arial"/>
                          <a:ea typeface="Arial"/>
                          <a:cs typeface="Arial"/>
                          <a:sym typeface="Arial"/>
                        </a:rPr>
                        <a:t>RESPONDED / CLARIFICATION</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a:solidFill>
                            <a:srgbClr val="000000"/>
                          </a:solidFill>
                          <a:latin typeface="Arial"/>
                          <a:ea typeface="Arial"/>
                          <a:cs typeface="Arial"/>
                          <a:sym typeface="Arial"/>
                        </a:rPr>
                        <a:t>Sep 12, 2026</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a:solidFill>
                            <a:srgbClr val="000000"/>
                          </a:solidFill>
                          <a:latin typeface="Arial"/>
                          <a:ea typeface="Arial"/>
                          <a:cs typeface="Arial"/>
                          <a:sym typeface="Arial"/>
                        </a:rPr>
                        <a:t>Await LENS file/field guidance after field-specific clarification.</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a:solidFill>
                            <a:srgbClr val="000000"/>
                          </a:solidFill>
                          <a:latin typeface="Arial"/>
                          <a:ea typeface="Arial"/>
                          <a:cs typeface="Arial"/>
                          <a:sym typeface="Arial"/>
                        </a:rPr>
                        <a:t>No files yet</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a:solidFill>
                            <a:srgbClr val="000000"/>
                          </a:solidFill>
                          <a:latin typeface="Arial"/>
                          <a:ea typeface="Arial"/>
                          <a:cs typeface="Arial"/>
                          <a:sym typeface="Arial"/>
                        </a:rPr>
                        <a:t>Latency/loss/throughput/outage/recovery requested; public variables not confirmed.</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tc>
                <a:extLst>
                  <a:ext uri="{0D108BD9-81ED-4DB2-BD59-A6C34878D82A}">
                    <a16:rowId xmlns:a16="http://schemas.microsoft.com/office/drawing/2014/main" val="10020"/>
                  </a:ext>
                </a:extLst>
              </a:tr>
              <a:tr h="365750">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Japan</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NICT - WDC</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b="1">
                          <a:solidFill>
                            <a:srgbClr val="000000"/>
                          </a:solidFill>
                          <a:latin typeface="Arial"/>
                          <a:ea typeface="Arial"/>
                          <a:cs typeface="Arial"/>
                          <a:sym typeface="Arial"/>
                        </a:rPr>
                        <a:t>RESPONDED / CLARIFICATION</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a:solidFill>
                            <a:srgbClr val="000000"/>
                          </a:solidFill>
                          <a:latin typeface="Arial"/>
                          <a:ea typeface="Arial"/>
                          <a:cs typeface="Arial"/>
                          <a:sym typeface="Arial"/>
                        </a:rPr>
                        <a:t>Sep 14, 2026</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a:solidFill>
                            <a:srgbClr val="000000"/>
                          </a:solidFill>
                          <a:latin typeface="Arial"/>
                          <a:ea typeface="Arial"/>
                          <a:cs typeface="Arial"/>
                          <a:sym typeface="Arial"/>
                        </a:rPr>
                        <a:t>Await guidance after Japanese follow-up requesting foF2/TEC and network-data referral.</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a:solidFill>
                            <a:srgbClr val="000000"/>
                          </a:solidFill>
                          <a:latin typeface="Arial"/>
                          <a:ea typeface="Arial"/>
                          <a:cs typeface="Arial"/>
                          <a:sym typeface="Arial"/>
                        </a:rPr>
                        <a:t>No files yet</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a:solidFill>
                            <a:srgbClr val="000000"/>
                          </a:solidFill>
                          <a:latin typeface="Arial"/>
                          <a:ea typeface="Arial"/>
                          <a:cs typeface="Arial"/>
                          <a:sym typeface="Arial"/>
                        </a:rPr>
                        <a:t>NICT asked for product specifics; follow-up supplied with sample period and citation request.</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tc>
                <a:extLst>
                  <a:ext uri="{0D108BD9-81ED-4DB2-BD59-A6C34878D82A}">
                    <a16:rowId xmlns:a16="http://schemas.microsoft.com/office/drawing/2014/main" val="10021"/>
                  </a:ext>
                </a:extLst>
              </a:tr>
              <a:tr h="428300">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Netherlands</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University of Twente - shared WetLinks work</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Standing by</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No separate follow-up unless a Twente-specific issue arises.</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Shared WetLinks links</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Covered by the German reply, per existing register; not an independent Dutch response.</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tc>
                <a:extLst>
                  <a:ext uri="{0D108BD9-81ED-4DB2-BD59-A6C34878D82A}">
                    <a16:rowId xmlns:a16="http://schemas.microsoft.com/office/drawing/2014/main" val="10022"/>
                  </a:ext>
                </a:extLst>
              </a:tr>
              <a:tr h="569800">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South Africa</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SANSA - Dr Mpho Tshisaphungo</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b="1">
                          <a:solidFill>
                            <a:srgbClr val="000000"/>
                          </a:solidFill>
                          <a:latin typeface="Arial"/>
                          <a:ea typeface="Arial"/>
                          <a:cs typeface="Arial"/>
                          <a:sym typeface="Arial"/>
                        </a:rPr>
                        <a:t>RESPONDED / ENVIRONMENTAL</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a:solidFill>
                            <a:srgbClr val="000000"/>
                          </a:solidFill>
                          <a:latin typeface="Arial"/>
                          <a:ea typeface="Arial"/>
                          <a:cs typeface="Arial"/>
                          <a:sym typeface="Arial"/>
                        </a:rPr>
                        <a:t>Sep 14, 2026</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a:solidFill>
                            <a:srgbClr val="000000"/>
                          </a:solidFill>
                          <a:latin typeface="Arial"/>
                          <a:ea typeface="Arial"/>
                          <a:cs typeface="Arial"/>
                          <a:sym typeface="Arial"/>
                        </a:rPr>
                        <a:t>Use Hermanus geomagnetic data if needed; no direct satellite-link metrics.</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a:solidFill>
                            <a:srgbClr val="000000"/>
                          </a:solidFill>
                          <a:latin typeface="Arial"/>
                          <a:ea typeface="Arial"/>
                          <a:cs typeface="Arial"/>
                          <a:sym typeface="Arial"/>
                        </a:rPr>
                        <a:t>Public geomagnetic route</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a:solidFill>
                            <a:srgbClr val="000000"/>
                          </a:solidFill>
                          <a:latin typeface="Arial"/>
                          <a:ea typeface="Arial"/>
                          <a:cs typeface="Arial"/>
                          <a:sym typeface="Arial"/>
                        </a:rPr>
                        <a:t>SANSA confirmed public research use/citation; no latency, packet-loss or availability data.</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chemeClr val="dk1"/>
                        </a:buClr>
                        <a:buSzPts val="800"/>
                        <a:buFont typeface="Calibri"/>
                        <a:buNone/>
                      </a:pPr>
                      <a:endParaRPr sz="1100" b="0" i="0" u="none">
                        <a:latin typeface="Carlito"/>
                        <a:ea typeface="Carlito"/>
                        <a:cs typeface="Carlito"/>
                        <a:sym typeface="Carlito"/>
                      </a:endParaRPr>
                    </a:p>
                  </a:txBody>
                  <a:tcPr marL="3275" marR="3275" marT="3275" marB="0"/>
                </a:tc>
                <a:extLst>
                  <a:ext uri="{0D108BD9-81ED-4DB2-BD59-A6C34878D82A}">
                    <a16:rowId xmlns:a16="http://schemas.microsoft.com/office/drawing/2014/main" val="10023"/>
                  </a:ext>
                </a:extLst>
              </a:tr>
              <a:tr h="428300">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Australia</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ASWFC / Bureau - Cassie Marshall</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RESPONDED / ARCHIVES</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a:solidFill>
                            <a:srgbClr val="000000"/>
                          </a:solidFill>
                          <a:latin typeface="Arial"/>
                          <a:ea typeface="Arial"/>
                          <a:cs typeface="Arial"/>
                          <a:sym typeface="Arial"/>
                        </a:rPr>
                        <a:t>Sep 13, 2026</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a:solidFill>
                            <a:srgbClr val="000000"/>
                          </a:solidFill>
                          <a:latin typeface="Arial"/>
                          <a:ea typeface="Arial"/>
                          <a:cs typeface="Arial"/>
                          <a:sym typeface="Arial"/>
                        </a:rPr>
                        <a:t>Inspect archive/API fields and usage terms; clarify regional K-index only if needed.</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Public links received</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a:solidFill>
                            <a:srgbClr val="000000"/>
                          </a:solidFill>
                          <a:latin typeface="Arial"/>
                          <a:ea typeface="Arial"/>
                          <a:cs typeface="Arial"/>
                          <a:sym typeface="Arial"/>
                        </a:rPr>
                        <a:t>Eight links; citation guidance received. X-ray flux must not be attributed to Bureau.</a:t>
                      </a:r>
                      <a:endParaRPr sz="1100" b="0" i="0" u="none">
                        <a:latin typeface="Carlito"/>
                        <a:ea typeface="Carlito"/>
                        <a:cs typeface="Carlito"/>
                        <a:sym typeface="Carlito"/>
                      </a:endParaRPr>
                    </a:p>
                  </a:txBody>
                  <a:tcPr marL="3275" marR="3275" marT="3275" marB="0"/>
                </a:tc>
                <a:tc>
                  <a:txBody>
                    <a:bodyPr/>
                    <a:lstStyle/>
                    <a:p>
                      <a:pPr marL="0" marR="0" lvl="0" indent="0" algn="l" rtl="0">
                        <a:spcBef>
                          <a:spcPts val="0"/>
                        </a:spcBef>
                        <a:spcAft>
                          <a:spcPts val="0"/>
                        </a:spcAft>
                        <a:buClr>
                          <a:srgbClr val="000000"/>
                        </a:buClr>
                        <a:buSzPts val="459"/>
                        <a:buFont typeface="Arial"/>
                        <a:buNone/>
                      </a:pPr>
                      <a:r>
                        <a:rPr lang="en-US" sz="900" u="none" dirty="0">
                          <a:solidFill>
                            <a:srgbClr val="000000"/>
                          </a:solidFill>
                          <a:latin typeface="Arial"/>
                          <a:ea typeface="Arial"/>
                          <a:cs typeface="Arial"/>
                          <a:sym typeface="Arial"/>
                        </a:rPr>
                        <a:t> </a:t>
                      </a:r>
                      <a:endParaRPr sz="1100" b="0" i="0" u="none" dirty="0">
                        <a:latin typeface="Carlito"/>
                        <a:ea typeface="Carlito"/>
                        <a:cs typeface="Carlito"/>
                        <a:sym typeface="Carlito"/>
                      </a:endParaRPr>
                    </a:p>
                  </a:txBody>
                  <a:tcPr marL="3275" marR="3275" marT="3275" marB="0"/>
                </a:tc>
                <a:extLst>
                  <a:ext uri="{0D108BD9-81ED-4DB2-BD59-A6C34878D82A}">
                    <a16:rowId xmlns:a16="http://schemas.microsoft.com/office/drawing/2014/main" val="10024"/>
                  </a:ext>
                </a:extLst>
              </a:tr>
            </a:tbl>
          </a:graphicData>
        </a:graphic>
      </p:graphicFrame>
    </p:spTree>
  </p:cSld>
  <p:clrMapOvr>
    <a:masterClrMapping/>
  </p:clrMapOvr>
</p:sld>
</file>

<file path=ppt/theme/theme1.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37adc8ff-f4a3-4a14-9c0d-84b4985de0d2}" enabled="1" method="Privileged" siteId="{8331b18d-2d87-48ef-a35f-ac8818ebf9b4}" contentBits="0" removed="0"/>
</clbl:labelList>
</file>

<file path=docProps/app.xml><?xml version="1.0" encoding="utf-8"?>
<Properties xmlns="http://schemas.openxmlformats.org/officeDocument/2006/extended-properties" xmlns:vt="http://schemas.openxmlformats.org/officeDocument/2006/docPropsVTypes">
  <TotalTime>265</TotalTime>
  <Words>13107</Words>
  <Application>Microsoft Office PowerPoint</Application>
  <PresentationFormat>Widescreen</PresentationFormat>
  <Paragraphs>1398</Paragraphs>
  <Slides>23</Slides>
  <Notes>21</Notes>
  <HiddenSlides>0</HiddenSlides>
  <MMClips>0</MMClips>
  <ScaleCrop>false</ScaleCrop>
  <HeadingPairs>
    <vt:vector size="4" baseType="variant">
      <vt:variant>
        <vt:lpstr>Theme</vt:lpstr>
      </vt:variant>
      <vt:variant>
        <vt:i4>2</vt:i4>
      </vt:variant>
      <vt:variant>
        <vt:lpstr>Slide Titles</vt:lpstr>
      </vt:variant>
      <vt:variant>
        <vt:i4>23</vt:i4>
      </vt:variant>
    </vt:vector>
  </HeadingPairs>
  <TitlesOfParts>
    <vt:vector size="25" baseType="lpstr">
      <vt:lpstr>Custom Design</vt:lpstr>
      <vt:lpstr>1_Custom Design</vt:lpstr>
      <vt:lpstr>Modeling Orbital Edge Processing in a Contested Environment</vt:lpstr>
      <vt:lpstr>Response to Advisor Feedback from previous meeting(s)</vt:lpstr>
      <vt:lpstr>Progress Since Last Meeting</vt:lpstr>
      <vt:lpstr>Issues Encountered and Setbacks</vt:lpstr>
      <vt:lpstr>Tasks for the Next Two Weeks</vt:lpstr>
      <vt:lpstr>PowerPoint Presentation</vt:lpstr>
      <vt:lpstr>PowerPoint Presentation</vt:lpstr>
      <vt:lpstr>Problem and Thesis Statements</vt:lpstr>
      <vt:lpstr>Research Objectives and Questions</vt:lpstr>
      <vt:lpstr>Research Hypotheses — Proposed Refinement</vt:lpstr>
      <vt:lpstr>5 Foundational References</vt:lpstr>
      <vt:lpstr>PowerPoint Presentation</vt:lpstr>
      <vt:lpstr>Summary of Methodology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Orbital Edge Processing in a Contested Environment</dc:title>
  <dc:creator>NINO, CARLO A CTR USSF SSC SYD 84/MT</dc:creator>
  <cp:lastModifiedBy>Carlo Nino</cp:lastModifiedBy>
  <cp:revision>11</cp:revision>
  <dcterms:modified xsi:type="dcterms:W3CDTF">2026-10-01T21:09:02Z</dcterms:modified>
</cp:coreProperties>
</file>