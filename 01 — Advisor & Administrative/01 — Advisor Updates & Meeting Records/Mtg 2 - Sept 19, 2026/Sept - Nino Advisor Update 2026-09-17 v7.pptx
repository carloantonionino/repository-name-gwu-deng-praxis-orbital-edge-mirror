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4" r:id="rId1"/>
    <p:sldMasterId id="2147483684" r:id="rId2"/>
  </p:sldMasterIdLst>
  <p:notesMasterIdLst>
    <p:notesMasterId r:id="rId20"/>
  </p:notesMasterIdLst>
  <p:sldIdLst>
    <p:sldId id="356" r:id="rId3"/>
    <p:sldId id="376" r:id="rId4"/>
    <p:sldId id="748" r:id="rId5"/>
    <p:sldId id="749" r:id="rId6"/>
    <p:sldId id="750" r:id="rId7"/>
    <p:sldId id="752" r:id="rId8"/>
    <p:sldId id="753" r:id="rId9"/>
    <p:sldId id="754" r:id="rId10"/>
    <p:sldId id="755" r:id="rId11"/>
    <p:sldId id="757" r:id="rId12"/>
    <p:sldId id="758" r:id="rId13"/>
    <p:sldId id="756" r:id="rId14"/>
    <p:sldId id="761" r:id="rId15"/>
    <p:sldId id="763" r:id="rId16"/>
    <p:sldId id="759" r:id="rId17"/>
    <p:sldId id="760" r:id="rId18"/>
    <p:sldId id="762" r:id="rId1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28BD77-BA1E-B3FD-C742-02B5C809F13C}" name="Etemadi, Amir" initials="AE" userId="S::etemadi@gwu.edu::bdd20336-9c3e-47f6-a160-8e1df72373d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p:normalViewPr>
  <p:slideViewPr>
    <p:cSldViewPr snapToGrid="0" snapToObjects="1">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8/10/relationships/authors" Target="authors.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 Nino" userId="4fc9d724134f3d7a" providerId="LiveId" clId="{8C26F2DA-6157-42C7-86D3-4347506BA984}"/>
    <pc:docChg chg="custSel modSld">
      <pc:chgData name="Carlo Nino" userId="4fc9d724134f3d7a" providerId="LiveId" clId="{8C26F2DA-6157-42C7-86D3-4347506BA984}" dt="2026-09-19T18:33:27.432" v="186" actId="5793"/>
      <pc:docMkLst>
        <pc:docMk/>
      </pc:docMkLst>
      <pc:sldChg chg="modSp mod">
        <pc:chgData name="Carlo Nino" userId="4fc9d724134f3d7a" providerId="LiveId" clId="{8C26F2DA-6157-42C7-86D3-4347506BA984}" dt="2026-09-19T18:22:20.693" v="65" actId="113"/>
        <pc:sldMkLst>
          <pc:docMk/>
          <pc:sldMk cId="2022638126" sldId="376"/>
        </pc:sldMkLst>
        <pc:spChg chg="mod">
          <ac:chgData name="Carlo Nino" userId="4fc9d724134f3d7a" providerId="LiveId" clId="{8C26F2DA-6157-42C7-86D3-4347506BA984}" dt="2026-09-19T18:22:20.693" v="65" actId="113"/>
          <ac:spMkLst>
            <pc:docMk/>
            <pc:sldMk cId="2022638126" sldId="376"/>
            <ac:spMk id="8" creationId="{00000000-0000-0000-0000-000000000000}"/>
          </ac:spMkLst>
        </pc:spChg>
        <pc:spChg chg="mod">
          <ac:chgData name="Carlo Nino" userId="4fc9d724134f3d7a" providerId="LiveId" clId="{8C26F2DA-6157-42C7-86D3-4347506BA984}" dt="2026-09-19T17:43:34.567" v="64" actId="20577"/>
          <ac:spMkLst>
            <pc:docMk/>
            <pc:sldMk cId="2022638126" sldId="376"/>
            <ac:spMk id="10" creationId="{00000000-0000-0000-0000-000000000000}"/>
          </ac:spMkLst>
        </pc:spChg>
      </pc:sldChg>
      <pc:sldChg chg="modSp mod">
        <pc:chgData name="Carlo Nino" userId="4fc9d724134f3d7a" providerId="LiveId" clId="{8C26F2DA-6157-42C7-86D3-4347506BA984}" dt="2026-09-19T18:33:27.432" v="186" actId="5793"/>
        <pc:sldMkLst>
          <pc:docMk/>
          <pc:sldMk cId="3157497621" sldId="749"/>
        </pc:sldMkLst>
        <pc:spChg chg="mod">
          <ac:chgData name="Carlo Nino" userId="4fc9d724134f3d7a" providerId="LiveId" clId="{8C26F2DA-6157-42C7-86D3-4347506BA984}" dt="2026-09-19T18:31:47.798" v="168" actId="20577"/>
          <ac:spMkLst>
            <pc:docMk/>
            <pc:sldMk cId="3157497621" sldId="749"/>
            <ac:spMk id="8" creationId="{00000000-0000-0000-0000-000000000000}"/>
          </ac:spMkLst>
        </pc:spChg>
        <pc:spChg chg="mod">
          <ac:chgData name="Carlo Nino" userId="4fc9d724134f3d7a" providerId="LiveId" clId="{8C26F2DA-6157-42C7-86D3-4347506BA984}" dt="2026-09-19T18:33:27.432" v="186" actId="5793"/>
          <ac:spMkLst>
            <pc:docMk/>
            <pc:sldMk cId="3157497621" sldId="749"/>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65E4887F-6D00-45FD-A4A3-100265AD82AF}" type="datetimeFigureOut">
              <a:rPr lang="en-US" smtClean="0"/>
              <a:t>9/19/2026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DAD97043-A1FF-4C8C-97E0-218604A2A4A5}" type="slidenum">
              <a:rPr lang="en-US" smtClean="0"/>
              <a:t>‹#›</a:t>
            </a:fld>
            <a:endParaRPr lang="en-US"/>
          </a:p>
        </p:txBody>
      </p:sp>
    </p:spTree>
    <p:extLst>
      <p:ext uri="{BB962C8B-B14F-4D97-AF65-F5344CB8AC3E}">
        <p14:creationId xmlns:p14="http://schemas.microsoft.com/office/powerpoint/2010/main" val="1359506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Advisor quotations: ResearchReport -- Carlo Nino-Sep 06, 2026.pdf, items 3 and Additional Comments. Red identifies advisor wording, not severity. Yellow: Some Progress remains the normal baseline.</a:t>
            </a:r>
          </a:p>
          <a:p>
            <a:r>
              <a:t>Responses reflect the current user-confirmed direction and artifacts as of 13 September 2026.</a:t>
            </a:r>
          </a:p>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endParaRPr/>
          </a:p>
          <a:p>
            <a:r>
              <a:t>can an orbital edge-processing layer provide useful information to the operator faster?</a:t>
            </a:r>
            <a:br/>
            <a:endParaRPr/>
          </a:p>
          <a:p>
            <a:r>
              <a:t>The model focuses on bounded functions such as filtering, prioritizing, routing, allocating resources, and presenting recommendations. </a:t>
            </a:r>
            <a:br/>
            <a:endParaRPr/>
          </a:p>
          <a:p>
            <a:r>
              <a:t>The goal is to measure whether this architecture reduces latency, preserves communications availability, and reduces operator workload using only public, non-CUI data.”</a:t>
            </a:r>
          </a:p>
          <a:p>
            <a:endParaRPr/>
          </a:p>
          <a:p>
            <a:endParaRPr/>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endParaRPr/>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endParaRPr/>
          </a:p>
          <a:p>
            <a:endParaRPr/>
          </a:p>
          <a:p>
            <a:r>
              <a:t>FINAL SUBMISSION, SLIDE 14</a:t>
            </a:r>
          </a:p>
          <a:p>
            <a:r>
              <a:t>Methodology 1</a:t>
            </a:r>
          </a:p>
          <a:p>
            <a:r>
              <a:t>A) Deliverable | B) Content | C) WC</a:t>
            </a:r>
          </a:p>
          <a:p>
            <a:r>
              <a:t>Methodology | Discrete-Event Simulation |       3</a:t>
            </a:r>
          </a:p>
          <a:p>
            <a:r>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p>
          <a:p>
            <a:r>
              <a:t>Outputs | Response latency, OODA Loop decision cycle times, path availability (%), dropped messages (count), recovery time, operator workflow reduction comparison (%), correct action selection (%). | NA</a:t>
            </a:r>
          </a:p>
          <a:p>
            <a:r>
              <a:t>SPEAKER NOTES</a:t>
            </a:r>
          </a:p>
          <a:p>
            <a:r>
              <a:t>Methodology 1 — Discrete-Event Simulation</a:t>
            </a:r>
          </a:p>
          <a:p>
            <a:r>
              <a:t>Method:</a:t>
            </a:r>
            <a:br/>
            <a:r>
              <a:t>“My first methodology is discrete-event simulation. It follows specific events in order—such as a request arriving, the ground-station path failing, the edge cloud processing the request, and a response reaching the operator.”</a:t>
            </a:r>
          </a:p>
          <a:p>
            <a:r>
              <a:t>Inputs:</a:t>
            </a:r>
            <a:br/>
            <a:r>
              <a:t>“The inputs include the disruption type, when it starts, how long it lasts, communication delay, processing time, and available resources.”</a:t>
            </a:r>
          </a:p>
          <a:p>
            <a:endParaRPr/>
          </a:p>
          <a:p>
            <a:r>
              <a:t>Outputs:</a:t>
            </a:r>
            <a:br/>
            <a:r>
              <a:t>“The outputs include response latency, OODA-loop time, path availability, dropped messages, recovery time, workload reduction, and what % of the time the correct response was selected.”</a:t>
            </a:r>
          </a:p>
          <a:p>
            <a:endParaRPr/>
          </a:p>
          <a:p>
            <a:r>
              <a:t>Purpose:</a:t>
            </a:r>
            <a:br/>
            <a:r>
              <a:t>“This method shows what happens during each individual disruption and compares the ground-centric path with the edge-enabled path.”</a:t>
            </a:r>
          </a:p>
          <a:p>
            <a:br/>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GWU_Praxis_AIS_Master_Register_2026-09-13_Updated(1).xlsx, Research Library A4:U35 and Scoring Guide. 31 source records; every Institution field says George Washington University. Not a verified completion count and not 31 independent external validations.</a:t>
            </a:r>
          </a:p>
          <a:p>
            <a:r>
              <a:t>Selected citation titles are shortened on the slide; full metadata as recorded follows. No external metadata verification was performed for this deck update.</a:t>
            </a:r>
          </a:p>
          <a:p>
            <a:endParaRPr/>
          </a:p>
          <a:p>
            <a:r>
              <a:t>Dylan Browne (2024). Electric Vehicle Charge Station Expansion Analysis for EV Owners in Maryland: Stochastic Model Utilizing Monte Carlo Simulation Methodology to Determine Arrival Rates, Utilization and Wait Times of Electric Vehicles at Charge Station Infrastructure. GWU D.Eng. Praxis. George Washington University.</a:t>
            </a:r>
          </a:p>
          <a:p>
            <a:r>
              <a:t>https://scholarspace.library.gwu.edu/etd/1v53jx95k</a:t>
            </a:r>
          </a:p>
          <a:p>
            <a:r>
              <a:t>Recorded method: Discrete-event simulation; Monte Carlo; queueing</a:t>
            </a:r>
          </a:p>
          <a:p>
            <a:r>
              <a:t>Recorded role: Potential template for MATLAB/DES experiments on processing queues, link bottlenecks, and latency distributions.</a:t>
            </a:r>
          </a:p>
          <a:p>
            <a:endParaRPr/>
          </a:p>
          <a:p>
            <a:r>
              <a:t>Scott Littlefield (2017). Application of Discrete Event Simulation to Modeling Reliability of Highly Parallel Systems with Common Cause Failures. GWU D.Eng. Praxis. George Washington University.</a:t>
            </a:r>
          </a:p>
          <a:p>
            <a:r>
              <a:t>https://scholarspace.library.gwu.edu/downloads/x059c743t?disposition=inline&amp;locale=en</a:t>
            </a:r>
          </a:p>
          <a:p>
            <a:r>
              <a:t>Recorded method: Discrete-event simulation; reliability; sensitivity analysis</a:t>
            </a:r>
          </a:p>
          <a:p>
            <a:r>
              <a:t>Recorded role: Use for degraded/disrupted architecture scenarios, common-mode failures, redundancy, and sensitivity analysis.</a:t>
            </a:r>
          </a:p>
          <a:p>
            <a:endParaRPr/>
          </a:p>
          <a:p>
            <a:r>
              <a:t>Ravi M. Shanbhag (2021). Implications of Overcommitment on Cloud Computing Workloads. GWU D.Eng. Praxis. George Washington University.</a:t>
            </a:r>
          </a:p>
          <a:p>
            <a:r>
              <a:t>https://scholarspace.library.gwu.edu/concern/gw_etds/bk128b72k</a:t>
            </a:r>
          </a:p>
          <a:p>
            <a:r>
              <a:t>Recorded method: Generative discrete-event simulation; cloud-resource overcommitment</a:t>
            </a:r>
          </a:p>
          <a:p>
            <a:r>
              <a:t>Recorded role: High-value DES precedent for onboard compute queues, utilization limits, congestion, and overload thresholds.</a:t>
            </a:r>
          </a:p>
          <a:p>
            <a:endParaRPr/>
          </a:p>
          <a:p>
            <a:r>
              <a:t>Paul A. Newell Jr. (2023). Reducing System Lifetime Spare Part Quantities Using Obsolescence Cycles: A Discrete Event Simulation. GWU D.Eng. Praxis. George Washington University.</a:t>
            </a:r>
          </a:p>
          <a:p>
            <a:r>
              <a:t>https://search.proquest.com/openview/88a43e1ad35e4f012b3bb98fb476f41b/1?cbl=18750&amp;diss=y&amp;pq-origsite=gscholar</a:t>
            </a:r>
          </a:p>
          <a:p>
            <a:r>
              <a:t>Recorded method: Discrete-event simulation; reliability / repair / inventory / availability modeling</a:t>
            </a:r>
          </a:p>
          <a:p>
            <a:r>
              <a:t>Recorded role: High-value template for availability experiments comparing distributed compute redundancy and degraded ground/space processing.</a:t>
            </a:r>
          </a:p>
          <a:p>
            <a:endParaRPr/>
          </a:p>
          <a:p>
            <a:r>
              <a:t>Kishan Ram Devineni (2023). Improving IT Service Incident Ticket Resolution Times using Lean and Agile Methodologies. GWU D.Eng. Praxis. George Washington University.</a:t>
            </a:r>
          </a:p>
          <a:p>
            <a:r>
              <a:t>https://scholarspace.library.gwu.edu/concern/gw_etds/2j62s577p</a:t>
            </a:r>
          </a:p>
          <a:p>
            <a:r>
              <a:t>Recorded method: Arena discrete-event simulation; Monte Carlo; process redesign</a:t>
            </a:r>
          </a:p>
          <a:p>
            <a:r>
              <a:t>Recorded role: Useful for causal decomposition of end-to-end latency into queues, processing resources, and human workflow effects.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items, not severity escalation. The submitted hypotheses are preserved verbatim on appendix slide 9 and in its notes. Current scope and metric choices come from the user’s September clarification. Evidence status comes from the v05 research-source register.</a:t>
            </a:r>
          </a:p>
          <a:p>
            <a:r>
              <a:t>FINAL SUBMISSION, SLIDE 8</a:t>
            </a:r>
          </a:p>
          <a:p>
            <a:r>
              <a:t>(A) Deliverable | (B) Format | C) WC</a:t>
            </a:r>
          </a:p>
          <a:p>
            <a:r>
              <a:t>Hypothesis 1 | Discrete-event simulation will model autonomous decision latency within 15% of public benchmark ranges. | 13</a:t>
            </a:r>
          </a:p>
          <a:p>
            <a:r>
              <a:t>Independent Variables | AI algorithm processing time (ms), Sensor data ingestion rate (kbps), Number of simulated threats (integer) | NA</a:t>
            </a:r>
          </a:p>
          <a:p>
            <a:r>
              <a:t>Dependent Variable | Modeled response latency (seconds) | NA</a:t>
            </a:r>
          </a:p>
          <a:p>
            <a:r>
              <a:t>Testable | The model's latency output will be compared against latency figures from unclassified literature and theoretical calculations for validation. | 18</a:t>
            </a:r>
          </a:p>
          <a:p>
            <a:r>
              <a:t>Hypothesis 2 | The autonomous framework will reduce response latency by at least 50% compared to a human-in-the-loop baseline. | 16</a:t>
            </a:r>
          </a:p>
          <a:p>
            <a:r>
              <a:t>Independent Variables | Control method (autonomous vs. human-in-the-loop), Communication delay (seconds) | NA</a:t>
            </a:r>
          </a:p>
          <a:p>
            <a:r>
              <a:t>Dependent Variable | Response latency (seconds) | NA</a:t>
            </a:r>
          </a:p>
          <a:p>
            <a:r>
              <a:t>Testable | Run matched scenarios and compare latency distributions using a two-sample K-S test. | 12</a:t>
            </a:r>
          </a:p>
          <a:p>
            <a:r>
              <a:t>Hypothesis 3 | AI confidence score is the most critical parameter affecting the probability of mission success in the autonomous model. | 18</a:t>
            </a:r>
          </a:p>
          <a:p>
            <a:r>
              <a:t>Independent Variables | AI confidence score (%), Satellite resource levels (%), Threat complexity (categorical) | NA</a:t>
            </a:r>
          </a:p>
          <a:p>
            <a:r>
              <a:t>Dependent Variable | Mission success rate (%) | NA</a:t>
            </a:r>
          </a:p>
          <a:p>
            <a:r>
              <a:t>Testable | Conduct a sensitivity analysis by varying each independent variable and measuring the corresponding change in the mission success rate. | 19</a:t>
            </a:r>
          </a:p>
          <a:p>
            <a:r>
              <a:t>Hypothesis</a:t>
            </a:r>
          </a:p>
          <a:p>
            <a:r>
              <a:t>SPEAKER NOTES</a:t>
            </a:r>
          </a:p>
          <a:p>
            <a:endParaRPr/>
          </a:p>
          <a:p>
            <a:endParaRPr/>
          </a:p>
          <a:p>
            <a:r>
              <a:t>FINAL SUBMISSION, SLIDE 16</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2 | Space Weather | NOAA SWPC Planetary K-Index | Kp values represent geomagnetic/solar storm severity for degraded communications scenarios. | CSV/HTML | Per 30 day window sample period | 240 intervals | Y</a:t>
            </a:r>
          </a:p>
          <a:p>
            <a:endParaRPr/>
          </a:p>
          <a:p>
            <a:r>
              <a:t>3 | Ground Weather | NOAA Local Climate Data | Hourly weather observations support ground-station availability assumptions near a notional antenna for example. | CSV | Per 30 day window sample period | 720 hourly records | Y</a:t>
            </a:r>
          </a:p>
          <a:p>
            <a:endParaRPr/>
          </a:p>
          <a:p>
            <a:r>
              <a:t>4 | C2 Architecture Baseline  | NASA SCaN Network Architecture Definition Document, Vol 1, Rev 4 | Architecture descriptions support baseline ground-station and relay network path assumptions. | CSV/PDF | 2013 publication | 1 doc | Y</a:t>
            </a:r>
          </a:p>
          <a:p>
            <a:endParaRPr/>
          </a:p>
          <a:p>
            <a:r>
              <a:t>5 | Resilience Metrics | RAND Resilience Assessment Framework | Resilience framework supporting degraded mission performance comparison. | CSV/PDF | 2023 publication</a:t>
            </a:r>
          </a:p>
          <a:p>
            <a:r>
              <a:t> | 1 doc | Y</a:t>
            </a:r>
          </a:p>
          <a:p>
            <a:endParaRPr/>
          </a:p>
          <a:p>
            <a:r>
              <a:t>6 | Scenario Vectors | Author created MATLAB scenario table | Simulation vectors control outage duration, bandwidth reduction, processing time, and threshold limits. | CSV/MAT | Simulation period | 10,000 runs | Y</a:t>
            </a:r>
          </a:p>
          <a:p>
            <a:endParaRPr/>
          </a:p>
          <a:p>
            <a:r>
              <a:t>Data Sources List</a:t>
            </a:r>
          </a:p>
          <a:p>
            <a:r>
              <a:t>SPEAKER NOTES</a:t>
            </a:r>
          </a:p>
          <a:p>
            <a:r>
              <a:t>Shown up-front, the model does not use classified data, CUI, or internal program data. </a:t>
            </a:r>
          </a:p>
          <a:p>
            <a:endParaRPr/>
          </a:p>
          <a:p>
            <a:r>
              <a:t>The sources either provide public inputs for the simulation or support the assumptions behind the model. </a:t>
            </a:r>
          </a:p>
          <a:p>
            <a:endParaRPr/>
          </a:p>
          <a:p>
            <a:r>
              <a:t>The key point is traceability: every input has a sourced and I updated the earlier slides with the hyperlinks per Instructor feedback.</a:t>
            </a:r>
          </a:p>
          <a:p>
            <a:endParaRPr/>
          </a:p>
          <a:p>
            <a:r>
              <a:t>FINAL SUBMISSION, SLIDE 22</a:t>
            </a:r>
          </a:p>
          <a:p>
            <a:endParaRPr/>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endParaRPr/>
          </a:p>
          <a:p>
            <a:endParaRPr/>
          </a:p>
          <a:p>
            <a:endParaRPr/>
          </a:p>
          <a:p>
            <a:endParaRPr/>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Prospective task list, not completed work. Submission target: Thursday 17 September 2026; advising Saturday 19 September 2026. Tasks use the final submission’s documented experimental design and the September 13 source-register state.</a:t>
            </a:r>
          </a:p>
          <a:p>
            <a:r>
              <a:t>FINAL SUBMISSION, SLIDE 14</a:t>
            </a:r>
          </a:p>
          <a:p>
            <a:r>
              <a:t>Methodology 1</a:t>
            </a:r>
          </a:p>
          <a:p>
            <a:r>
              <a:t>A) Deliverable | B) Content | C) WC</a:t>
            </a:r>
          </a:p>
          <a:p>
            <a:r>
              <a:t>Methodology | Discrete-Event Simulation |       3</a:t>
            </a:r>
          </a:p>
          <a:p>
            <a:r>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p>
          <a:p>
            <a:r>
              <a:t>Outputs | Response latency, OODA Loop decision cycle times, path availability (%), dropped messages (count), recovery time, operator workflow reduction comparison (%), correct action selection (%). | NA</a:t>
            </a:r>
          </a:p>
          <a:p>
            <a:r>
              <a:t>SPEAKER NOTES</a:t>
            </a:r>
          </a:p>
          <a:p>
            <a:r>
              <a:t>Methodology 1 — Discrete-Event Simulation</a:t>
            </a:r>
          </a:p>
          <a:p>
            <a:r>
              <a:t>Method:</a:t>
            </a:r>
            <a:br/>
            <a:r>
              <a:t>“My first methodology is discrete-event simulation. It follows specific events in order—such as a request arriving, the ground-station path failing, the edge cloud processing the request, and a response reaching the operator.”</a:t>
            </a:r>
          </a:p>
          <a:p>
            <a:r>
              <a:t>Inputs:</a:t>
            </a:r>
            <a:br/>
            <a:r>
              <a:t>“The inputs include the disruption type, when it starts, how long it lasts, communication delay, processing time, and available resources.”</a:t>
            </a:r>
          </a:p>
          <a:p>
            <a:endParaRPr/>
          </a:p>
          <a:p>
            <a:r>
              <a:t>Outputs:</a:t>
            </a:r>
            <a:br/>
            <a:r>
              <a:t>“The outputs include response latency, OODA-loop time, path availability, dropped messages, recovery time, workload reduction, and what % of the time the correct response was selected.”</a:t>
            </a:r>
          </a:p>
          <a:p>
            <a:endParaRPr/>
          </a:p>
          <a:p>
            <a:r>
              <a:t>Purpose:</a:t>
            </a:r>
            <a:br/>
            <a:r>
              <a:t>“This method shows what happens during each individual disruption and compares the ground-centric path with the edge-enabled path.”</a:t>
            </a:r>
          </a:p>
          <a:p>
            <a:br/>
            <a:endParaRPr/>
          </a:p>
          <a:p>
            <a:endParaRPr/>
          </a:p>
          <a:p>
            <a:endParaRPr/>
          </a:p>
          <a:p>
            <a:r>
              <a:t>FINAL SUBMISSION, SLIDE 16</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2 | Space Weather | NOAA SWPC Planetary K-Index | Kp values represent geomagnetic/solar storm severity for degraded communications scenarios. | CSV/HTML | Per 30 day window sample period | 240 intervals | Y</a:t>
            </a:r>
          </a:p>
          <a:p>
            <a:endParaRPr/>
          </a:p>
          <a:p>
            <a:r>
              <a:t>3 | Ground Weather | NOAA Local Climate Data | Hourly weather observations support ground-station availability assumptions near a notional antenna for example. | CSV | Per 30 day window sample period | 720 hourly records | Y</a:t>
            </a:r>
          </a:p>
          <a:p>
            <a:endParaRPr/>
          </a:p>
          <a:p>
            <a:r>
              <a:t>4 | C2 Architecture Baseline  | NASA SCaN Network Architecture Definition Document, Vol 1, Rev 4 | Architecture descriptions support baseline ground-station and relay network path assumptions. | CSV/PDF | 2013 publication | 1 doc | Y</a:t>
            </a:r>
          </a:p>
          <a:p>
            <a:endParaRPr/>
          </a:p>
          <a:p>
            <a:r>
              <a:t>5 | Resilience Metrics | RAND Resilience Assessment Framework | Resilience framework supporting degraded mission performance comparison. | CSV/PDF | 2023 publication</a:t>
            </a:r>
          </a:p>
          <a:p>
            <a:r>
              <a:t> | 1 doc | Y</a:t>
            </a:r>
          </a:p>
          <a:p>
            <a:endParaRPr/>
          </a:p>
          <a:p>
            <a:r>
              <a:t>6 | Scenario Vectors | Author created MATLAB scenario table | Simulation vectors control outage duration, bandwidth reduction, processing time, and threshold limits. | CSV/MAT | Simulation period | 10,000 runs | Y</a:t>
            </a:r>
          </a:p>
          <a:p>
            <a:endParaRPr/>
          </a:p>
          <a:p>
            <a:r>
              <a:t>Data Sources List</a:t>
            </a:r>
          </a:p>
          <a:p>
            <a:r>
              <a:t>SPEAKER NOTES</a:t>
            </a:r>
          </a:p>
          <a:p>
            <a:r>
              <a:t>Shown up-front, the model does not use classified data, CUI, or internal program data. </a:t>
            </a:r>
          </a:p>
          <a:p>
            <a:endParaRPr/>
          </a:p>
          <a:p>
            <a:r>
              <a:t>The sources either provide public inputs for the simulation or support the assumptions behind the model. </a:t>
            </a:r>
          </a:p>
          <a:p>
            <a:endParaRPr/>
          </a:p>
          <a:p>
            <a:r>
              <a:t>The key point is traceability: every input has a sourced and I updated the earlier slides with the hyperlinks per Instructor feedback.</a:t>
            </a:r>
          </a:p>
          <a:p>
            <a:endParaRPr/>
          </a:p>
          <a:p>
            <a:r>
              <a:t>FINAL SUBMISSION, SLIDE 22</a:t>
            </a:r>
          </a:p>
          <a:p>
            <a:endParaRPr/>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endParaRPr/>
          </a:p>
          <a:p>
            <a:endParaRPr/>
          </a:p>
          <a:p>
            <a:endParaRPr/>
          </a:p>
          <a:p>
            <a:endParaRPr/>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endParaRPr/>
          </a:p>
          <a:p>
            <a:r>
              <a:t>FINAL SUBMISSION, SLIDE 24</a:t>
            </a:r>
          </a:p>
          <a:p>
            <a:r>
              <a:t>Methodology 1 Map</a:t>
            </a:r>
          </a:p>
          <a:p>
            <a:r>
              <a:t>SPEAKER NOTES</a:t>
            </a:r>
          </a:p>
          <a:p>
            <a:r>
              <a:t>Methodology 1: discrete-event simulation. This method follows individual events in sequence—disruption, routing, edge processing, operator response, and recovery. It helps answer whether the model can credibly measure response latency and path availability during a specific disruption.”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endParaRPr/>
          </a:p>
          <a:p>
            <a:r>
              <a:t>can an orbital edge-processing layer provide useful information to the operator faster?</a:t>
            </a:r>
            <a:br/>
            <a:endParaRPr/>
          </a:p>
          <a:p>
            <a:r>
              <a:t>The model focuses on bounded functions such as filtering, prioritizing, routing, allocating resources, and presenting recommendations. </a:t>
            </a:r>
            <a:br/>
            <a:endParaRPr/>
          </a:p>
          <a:p>
            <a:r>
              <a:t>The goal is to measure whether this architecture reduces latency, preserves communications availability, and reduces operator workload using only public, non-CUI data.”</a:t>
            </a:r>
          </a:p>
          <a:p>
            <a:endParaRPr/>
          </a:p>
          <a:p>
            <a:endParaRPr/>
          </a:p>
          <a:p>
            <a:r>
              <a:t>FINAL SUBMISSION, SLIDE 5</a:t>
            </a:r>
          </a:p>
          <a:p>
            <a:r>
              <a:t>(A) Deliverable | (B) Format | (C) WC</a:t>
            </a:r>
          </a:p>
          <a:p>
            <a:r>
              <a:t>Issue | Human-in-the-loop satellite control introduces significant latency, which limits timely responses to threats in contested space environments. | 16</a:t>
            </a:r>
          </a:p>
          <a:p>
            <a:r>
              <a:t>Reference | United States Space Force. (2020). Spacepower: Doctrine for Space Forces (CSO-P). https://www.spaceforce.mil/Portals/2/Space%20Capstone%20Publication_10%20Aug%202020.pdf | NA</a:t>
            </a:r>
          </a:p>
          <a:p>
            <a:r>
              <a:t>”so what” | During communication denials, reliance on centralized networks slows the OODA loop, preventing timely target prioritization and jeopardizing mission survival. | 19</a:t>
            </a:r>
          </a:p>
          <a:p>
            <a:r>
              <a:t>Reference | United States Space Force. (2025). Space Warfighting: A Framework for Planners. United States Space Force | NA</a:t>
            </a:r>
          </a:p>
          <a:p>
            <a:r>
              <a:t>Problem statement | The multi-node communication architecture of traditional satellite control creates severe decision latency and operator cognitive burden, slowing the OODA loop and jeopardizing mission survival during communication denials. | 27</a:t>
            </a:r>
          </a:p>
          <a:p>
            <a:r>
              <a:t>Industry | Aerospace and Defense / United States Space Force | NA</a:t>
            </a:r>
          </a:p>
          <a:p>
            <a:r>
              <a:t>PS elaboration 1 | Round-trip data routing from operators to satellites, ground stations, and centralized continental networks creates unsustainable bottlenecks for tactical operations. | 19</a:t>
            </a:r>
          </a:p>
          <a:p>
            <a:r>
              <a:t>PS elaboration 2 | Satellites require edge computing for limited autonomous target acquisition to maintain operational capability when disconnected from the primary network. | 19</a:t>
            </a:r>
          </a:p>
          <a:p>
            <a:r>
              <a:t>Problem Statement</a:t>
            </a:r>
          </a:p>
          <a:p>
            <a:r>
              <a:t>SPEAKER NOTES</a:t>
            </a:r>
          </a:p>
          <a:p>
            <a:endParaRPr/>
          </a:p>
          <a:p>
            <a:endParaRPr/>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endParaRPr/>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endParaRPr/>
          </a:p>
          <a:p>
            <a:endParaRPr/>
          </a:p>
          <a:p>
            <a:r>
              <a:t>The quoted July problem statement retains original terminology. It is not represented as the current civil framing; that refinement is explicitly stated on the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endParaRPr/>
          </a:p>
          <a:p>
            <a:r>
              <a:t>can an orbital edge-processing layer provide useful information to the operator faster?</a:t>
            </a:r>
            <a:br/>
            <a:endParaRPr/>
          </a:p>
          <a:p>
            <a:r>
              <a:t>The model focuses on bounded functions such as filtering, prioritizing, routing, allocating resources, and presenting recommendations. </a:t>
            </a:r>
            <a:br/>
            <a:endParaRPr/>
          </a:p>
          <a:p>
            <a:r>
              <a:t>The goal is to measure whether this architecture reduces latency, preserves communications availability, and reduces operator workload using only public, non-CUI data.”</a:t>
            </a:r>
          </a:p>
          <a:p>
            <a:endParaRPr/>
          </a:p>
          <a:p>
            <a:endParaRPr/>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endParaRPr/>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endParaRPr/>
          </a:p>
          <a:p>
            <a:endParaRPr/>
          </a:p>
          <a:p>
            <a:r>
              <a:t>FINAL SUBMISSION, SLIDE 7</a:t>
            </a:r>
          </a:p>
          <a:p>
            <a:r>
              <a:t>(A) Deliverable | (B) Format | C) WC</a:t>
            </a:r>
          </a:p>
          <a:p>
            <a:r>
              <a:t>Research Question 1 | How effectively can a systems engineering model simulate the performance of an autonomous satellite decision-making architecture? | 16</a:t>
            </a:r>
          </a:p>
          <a:p>
            <a:r>
              <a:t>Research Question 2 | What is the quantifiable reduction in response latency when using an autonomous framework versus a human-in-the-loop model? | 17</a:t>
            </a:r>
          </a:p>
          <a:p>
            <a:r>
              <a:t>Research Question 3 | Which key performance parameters most significantly influence the operational viability of an autonomous satellite in a contested environment? | 18</a:t>
            </a:r>
          </a:p>
          <a:p>
            <a:endParaRPr/>
          </a:p>
          <a:p>
            <a:r>
              <a:t>Research Questions</a:t>
            </a:r>
          </a:p>
          <a:p>
            <a:r>
              <a:t>SPEAKER NOTES</a:t>
            </a:r>
          </a:p>
          <a:p>
            <a:endParaRPr/>
          </a:p>
          <a:p>
            <a:endParaRPr/>
          </a:p>
          <a:p>
            <a:r>
              <a:t>Research questions are reproduced verbatim. The purpose block summarizes the source’s scope/product statements, not an invented set of numbered objectives.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SUBMISSION, SLIDE 8</a:t>
            </a:r>
          </a:p>
          <a:p>
            <a:r>
              <a:t>(A) Deliverable | (B) Format | C) WC</a:t>
            </a:r>
          </a:p>
          <a:p>
            <a:r>
              <a:t>Hypothesis 1 | Discrete-event simulation will model autonomous decision latency within 15% of public benchmark ranges. | 13</a:t>
            </a:r>
          </a:p>
          <a:p>
            <a:r>
              <a:t>Independent Variables | AI algorithm processing time (ms), Sensor data ingestion rate (kbps), Number of simulated threats (integer) | NA</a:t>
            </a:r>
          </a:p>
          <a:p>
            <a:r>
              <a:t>Dependent Variable | Modeled response latency (seconds) | NA</a:t>
            </a:r>
          </a:p>
          <a:p>
            <a:r>
              <a:t>Testable | The model's latency output will be compared against latency figures from unclassified literature and theoretical calculations for validation. | 18</a:t>
            </a:r>
          </a:p>
          <a:p>
            <a:r>
              <a:t>Hypothesis 2 | The autonomous framework will reduce response latency by at least 50% compared to a human-in-the-loop baseline. | 16</a:t>
            </a:r>
          </a:p>
          <a:p>
            <a:r>
              <a:t>Independent Variables | Control method (autonomous vs. human-in-the-loop), Communication delay (seconds) | NA</a:t>
            </a:r>
          </a:p>
          <a:p>
            <a:r>
              <a:t>Dependent Variable | Response latency (seconds) | NA</a:t>
            </a:r>
          </a:p>
          <a:p>
            <a:r>
              <a:t>Testable | Run matched scenarios and compare latency distributions using a two-sample K-S test. | 12</a:t>
            </a:r>
          </a:p>
          <a:p>
            <a:r>
              <a:t>Hypothesis 3 | AI confidence score is the most critical parameter affecting the probability of mission success in the autonomous model. | 18</a:t>
            </a:r>
          </a:p>
          <a:p>
            <a:r>
              <a:t>Independent Variables | AI confidence score (%), Satellite resource levels (%), Threat complexity (categorical) | NA</a:t>
            </a:r>
          </a:p>
          <a:p>
            <a:r>
              <a:t>Dependent Variable | Mission success rate (%) | NA</a:t>
            </a:r>
          </a:p>
          <a:p>
            <a:r>
              <a:t>Testable | Conduct a sensitivity analysis by varying each independent variable and measuring the corresponding change in the mission success rate. | 19</a:t>
            </a:r>
          </a:p>
          <a:p>
            <a:r>
              <a:t>Hypothesis</a:t>
            </a:r>
          </a:p>
          <a:p>
            <a:r>
              <a:t>SPEAKER NOTES</a:t>
            </a:r>
          </a:p>
          <a:p>
            <a:endParaRPr/>
          </a:p>
          <a:p>
            <a:endParaRPr/>
          </a:p>
          <a:p>
            <a:r>
              <a:t>No null/alternative replacement was created. The slide preserves the original three submitted hypotheses and test descriptions. See current-scope discussion on slide 4.</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SUBMISSION, SLIDE 9</a:t>
            </a:r>
          </a:p>
          <a:p>
            <a:r>
              <a:t>(A) Deliverable | (B) Format | (C) WC</a:t>
            </a:r>
          </a:p>
          <a:p>
            <a:r>
              <a:t>Reference | Osoba, O. A., Nacouzi, G., Hagen, J., Tran, J., Zhang, L. A., Herron, M., Lynch, C., Eisman, M., &amp; Barton, C. (2023). The resilience assessment framework: Assessing commercial contributions to U.S. Space Force mission resilience (RR-A980-1). RAND Corporation. https://doi.org/10.7249/RRA980-1</a:t>
            </a:r>
          </a:p>
          <a:p>
            <a:endParaRPr/>
          </a:p>
          <a:p>
            <a:r>
              <a:t>https://www.rand.org/content/dam/rand/pubs/research_reports/RRA900/RRA980-1/RAND_RRA980-1.pdf</a:t>
            </a:r>
          </a:p>
          <a:p>
            <a:r>
              <a:t> | NA</a:t>
            </a:r>
          </a:p>
          <a:p>
            <a:r>
              <a:t>Summary | RAND develops a framework for assessing how architecture changes affect space mission resilience. The framework combines physics-based modeling and statistical systems analysis. | 22</a:t>
            </a:r>
          </a:p>
          <a:p>
            <a:r>
              <a:t>Methodology | Physics-based modeling and statistical systems analysis. | NA</a:t>
            </a:r>
          </a:p>
          <a:p>
            <a:r>
              <a:t>Evaluation | The source is reliable because RAND developed it for USSF mission-resilience assessment.</a:t>
            </a:r>
          </a:p>
          <a:p>
            <a:endParaRPr/>
          </a:p>
          <a:p>
            <a:r>
              <a:t>The limitation is that it evaluates resilience broadly, not orbital edge processing specifically. | 24</a:t>
            </a:r>
          </a:p>
          <a:p>
            <a:endParaRPr/>
          </a:p>
          <a:p>
            <a:r>
              <a:t>Relevance | This source supports architecture-resilience evaluation and degraded-mission performance comparison for my simulation framework.</a:t>
            </a:r>
          </a:p>
          <a:p>
            <a:br/>
            <a:r>
              <a:t>It helps connect public modeling assumptions to mission-resilience measures without requiring classified data. | 23</a:t>
            </a:r>
          </a:p>
          <a:p>
            <a:r>
              <a:t>Annotated Bibliography</a:t>
            </a:r>
          </a:p>
          <a:p>
            <a:r>
              <a:t>RAND Corp</a:t>
            </a:r>
          </a:p>
          <a:p>
            <a:endParaRPr/>
          </a:p>
          <a:p>
            <a:r>
              <a:t>SPEAKER NOTES</a:t>
            </a:r>
          </a:p>
          <a:p>
            <a:endParaRPr/>
          </a:p>
          <a:p>
            <a:endParaRPr/>
          </a:p>
          <a:p>
            <a:r>
              <a:t>FINAL SUBMISSION, SLIDE 10</a:t>
            </a:r>
          </a:p>
          <a:p>
            <a:r>
              <a:t>(A) Deliverable | (B) Format | (C) WC</a:t>
            </a:r>
          </a:p>
          <a:p>
            <a:r>
              <a:t>Reference | National Aeronautics and Space Administration. (2013). Space Communications and Navigation (SCaN) Network Architecture Definition Document (ADD)</a:t>
            </a:r>
          </a:p>
          <a:p>
            <a:r>
              <a:t>Executive Summary, Volume 1, Revision 4. NASA. (https://www.nasa.gov/wp-content/uploads/2023/09/scan-add-vol1rev4.pdf)</a:t>
            </a:r>
          </a:p>
          <a:p>
            <a:r>
              <a:t> | NA</a:t>
            </a:r>
          </a:p>
          <a:p>
            <a:r>
              <a:t>Summary | NASA describes communications architecture assets, options, and network evolution.</a:t>
            </a:r>
          </a:p>
          <a:p>
            <a:endParaRPr/>
          </a:p>
          <a:p>
            <a:r>
              <a:t>The document links architecture decisions to future mission communications requirements. | 19</a:t>
            </a:r>
          </a:p>
          <a:p>
            <a:r>
              <a:t>Methodology | Architecture definition. | NA</a:t>
            </a:r>
          </a:p>
          <a:p>
            <a:r>
              <a:t>Evaluation | The advantage is that it is civil-space focused, not DoD-specific.</a:t>
            </a:r>
          </a:p>
          <a:p>
            <a:endParaRPr/>
          </a:p>
          <a:p>
            <a:r>
              <a:t>The source is reliable because it is a NASA architecture document. | 21</a:t>
            </a:r>
          </a:p>
          <a:p>
            <a:endParaRPr/>
          </a:p>
          <a:p>
            <a:r>
              <a:t>Relevance | This source supports the ground-station and relay-network portion of my model.</a:t>
            </a:r>
          </a:p>
          <a:p>
            <a:endParaRPr/>
          </a:p>
          <a:p>
            <a:r>
              <a:t>It helps justify modeling communications paths as architecture trade variables. | 22</a:t>
            </a:r>
          </a:p>
          <a:p>
            <a:r>
              <a:t>Annotated Bibliography</a:t>
            </a:r>
          </a:p>
          <a:p>
            <a:r>
              <a:t>NASA SCaN Architecture (Space Communications and Navigation Network )</a:t>
            </a:r>
          </a:p>
          <a:p>
            <a:endParaRPr/>
          </a:p>
          <a:p>
            <a:r>
              <a:t>SPEAKER NOTES</a:t>
            </a:r>
          </a:p>
          <a:p>
            <a:endParaRPr/>
          </a:p>
          <a:p>
            <a:endParaRPr/>
          </a:p>
          <a:p>
            <a:r>
              <a:t>FINAL SUBMISSION, SLIDE 11</a:t>
            </a:r>
          </a:p>
          <a:p>
            <a:r>
              <a:t>(A) Deliverable | (B) Format | (C) WC</a:t>
            </a:r>
          </a:p>
          <a:p>
            <a:r>
              <a:t>Reference | Kodheli, O., Lagunas, E., Maturo, N., et al. (2021). Satellite communications in the new space era: A survey and future challenges. IEEE Communications Surveys &amp; Tutorials, 23, 70–109.</a:t>
            </a:r>
          </a:p>
          <a:p>
            <a:r>
              <a:t>https://ieeexplore.ieee.org/document/9210567</a:t>
            </a:r>
          </a:p>
          <a:p>
            <a:r>
              <a:t> | NA</a:t>
            </a:r>
          </a:p>
          <a:p>
            <a:r>
              <a:t>Summary | The article surveys modern satellite communications and future research challenges.</a:t>
            </a:r>
          </a:p>
          <a:p>
            <a:endParaRPr/>
          </a:p>
          <a:p>
            <a:r>
              <a:t>It identifies onboard processing and space-based data processing as innovation drivers but provides quality standard baselines to measure from. | 21</a:t>
            </a:r>
          </a:p>
          <a:p>
            <a:r>
              <a:t>Methodology | Literature Survey | NA</a:t>
            </a:r>
          </a:p>
          <a:p>
            <a:r>
              <a:t>Evaluation | The source is reliable because it is a highly cited IEEE survey.</a:t>
            </a:r>
          </a:p>
          <a:p>
            <a:endParaRPr/>
          </a:p>
          <a:p>
            <a:r>
              <a:t>The limitation is that it covers many topics beyond my specific model. | 24</a:t>
            </a:r>
          </a:p>
          <a:p>
            <a:endParaRPr/>
          </a:p>
          <a:p>
            <a:r>
              <a:t>Relevance | This source supports onboard processing as a legitimate satellite communications research area. </a:t>
            </a:r>
          </a:p>
          <a:p>
            <a:endParaRPr/>
          </a:p>
          <a:p>
            <a:r>
              <a:t>It helps connect my edge-processing layer to current satellite network research. | 23</a:t>
            </a:r>
          </a:p>
          <a:p>
            <a:r>
              <a:t>Annotated Bibliography</a:t>
            </a:r>
          </a:p>
          <a:p>
            <a:r>
              <a:t>IEEE Communications Surveys</a:t>
            </a:r>
          </a:p>
          <a:p>
            <a:endParaRPr/>
          </a:p>
          <a:p>
            <a:r>
              <a:t>SPEAKER NOTES</a:t>
            </a:r>
          </a:p>
          <a:p>
            <a:endParaRPr/>
          </a:p>
          <a:p>
            <a:endParaRPr/>
          </a:p>
          <a:p>
            <a:r>
              <a:t>FINAL SUBMISSION, SLIDE 12</a:t>
            </a:r>
          </a:p>
          <a:p>
            <a:r>
              <a:t>(A) Deliverable | (B) Format | (C) WC</a:t>
            </a:r>
          </a:p>
          <a:p>
            <a:r>
              <a:t>Reference | CelesTrak. (n.d.). NORAD GP element sets: Current data.</a:t>
            </a:r>
          </a:p>
          <a:p>
            <a:r>
              <a:t>https://celestrak.org/NORAD/elements/?</a:t>
            </a:r>
          </a:p>
          <a:p>
            <a:r>
              <a:t> | NA</a:t>
            </a:r>
          </a:p>
          <a:p>
            <a:r>
              <a:t>Summary | CelesTrak provides public General Perturbations data for orbital modeling.</a:t>
            </a:r>
          </a:p>
          <a:p>
            <a:endParaRPr/>
          </a:p>
          <a:p>
            <a:r>
              <a:t>The data supports repeatable satellite visibility and access assumptions. | 18</a:t>
            </a:r>
          </a:p>
          <a:p>
            <a:r>
              <a:t>Methodology | Public orbital data publication. | NA</a:t>
            </a:r>
          </a:p>
          <a:p>
            <a:r>
              <a:t>Evaluation | The limitation is that public GP data supports notional analysis, not operational precision.</a:t>
            </a:r>
          </a:p>
          <a:p>
            <a:endParaRPr/>
          </a:p>
          <a:p>
            <a:r>
              <a:t>The source is useful because it provides open orbital data. | 23</a:t>
            </a:r>
          </a:p>
          <a:p>
            <a:endParaRPr/>
          </a:p>
          <a:p>
            <a:r>
              <a:t>Relevance | This source provides public orbital context for my MATLAB simulation.</a:t>
            </a:r>
          </a:p>
          <a:p>
            <a:endParaRPr/>
          </a:p>
          <a:p>
            <a:r>
              <a:t>It helps keep the research unclassified, repeatable, and auditable. | 19</a:t>
            </a:r>
          </a:p>
          <a:p>
            <a:r>
              <a:t>Annotated Bibliography</a:t>
            </a:r>
          </a:p>
          <a:p>
            <a:r>
              <a:t>CelesTrak Public Orbital Data</a:t>
            </a:r>
          </a:p>
          <a:p>
            <a:endParaRPr/>
          </a:p>
          <a:p>
            <a:r>
              <a:t>SPEAKER NOTES</a:t>
            </a:r>
          </a:p>
          <a:p>
            <a:endParaRPr/>
          </a:p>
          <a:p>
            <a:endParaRPr/>
          </a:p>
          <a:p>
            <a:r>
              <a:t>FINAL SUBMISSION, SLIDE 13</a:t>
            </a:r>
          </a:p>
          <a:p>
            <a:r>
              <a:t>(A) Deliverable | (B) Format | (C) WC</a:t>
            </a:r>
          </a:p>
          <a:p>
            <a:r>
              <a:t>Reference | National Oceanic and Atmospheric Administration, Space Weather Prediction Center. (n.d.). Planetary K-index.</a:t>
            </a:r>
          </a:p>
          <a:p>
            <a:r>
              <a:t>https://www.spaceweather.gov/products/planetary-k-index?</a:t>
            </a:r>
          </a:p>
          <a:p>
            <a:r>
              <a:t> | NA</a:t>
            </a:r>
          </a:p>
          <a:p>
            <a:r>
              <a:t>Summary | NOAA provides public space-weather products used to characterize geomagnetic disturbances.</a:t>
            </a:r>
          </a:p>
          <a:p>
            <a:endParaRPr/>
          </a:p>
          <a:p>
            <a:r>
              <a:t>Kp helps represent environmental conditions that can affect space and communications systems. | 22</a:t>
            </a:r>
          </a:p>
          <a:p>
            <a:r>
              <a:t>Methodology | Operational environmental observation. | NA</a:t>
            </a:r>
          </a:p>
          <a:p>
            <a:r>
              <a:t>Evaluation | The source is reliable because it is an official NOAA operational product.</a:t>
            </a:r>
          </a:p>
          <a:p>
            <a:endParaRPr/>
          </a:p>
          <a:p>
            <a:r>
              <a:t>The limitation is that Kp is an environmental proxy, not a direct latency measure. | 25</a:t>
            </a:r>
          </a:p>
          <a:p>
            <a:endParaRPr/>
          </a:p>
          <a:p>
            <a:r>
              <a:t>Relevance | This source provides public environmental inputs for simulated degradation scenarios.</a:t>
            </a:r>
          </a:p>
          <a:p>
            <a:br/>
            <a:r>
              <a:t>It supports unclassified modeling of space-weather effects without using sensitive disruption assumptions.</a:t>
            </a:r>
          </a:p>
          <a:p>
            <a:endParaRPr/>
          </a:p>
          <a:p>
            <a:r>
              <a:t>The proxy is that Kp is an environmental proxy, not a direct man-made measure. | 22</a:t>
            </a:r>
          </a:p>
          <a:p>
            <a:r>
              <a:t>Annotated Bibliography </a:t>
            </a:r>
          </a:p>
          <a:p>
            <a:r>
              <a:t> NOAA Space Weather / Kp Index</a:t>
            </a:r>
          </a:p>
          <a:p>
            <a:endParaRPr/>
          </a:p>
          <a:p>
            <a:r>
              <a:t>SPEAKER NOTES</a:t>
            </a:r>
          </a:p>
          <a:p>
            <a:endParaRPr/>
          </a:p>
          <a:p>
            <a:endParaRPr/>
          </a:p>
          <a:p>
            <a:r>
              <a:t>URLs and author strings are preserved from the final submission. The five entries are a separate snapshot, not added to the 31-work GWU register count.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International_Research_Data_POC_Register_2026-09-13_v05_Battle_Rhythm.xlsx, POC Register, Research Fit, Source Status and Australia Sources. The snapshot reports prior correspondence, not newly verified public web content.</a:t>
            </a:r>
          </a:p>
          <a:p>
            <a:r>
              <a:t>Germany: https://github.com/sys-uos ; latest dataset referral https://doi.org/10.26249/FK2/YXPS4G ; associated paper referral https://doi.org/10.1145/3789240.3827586 . Distinguish WetLinks from related/newer datasets when selecting actual files; as-is, no extended support.</a:t>
            </a:r>
          </a:p>
          <a:p>
            <a:r>
              <a:t>Canada: https://onlineacademiccommunity.uvic.ca/starlink/ ; specific files/fields pending.</a:t>
            </a:r>
          </a:p>
          <a:p>
            <a:r>
              <a:t>Australia: Cassie Marshall email of 13 Sep 2026; ASWFC@bom.gov.au. Eight links: https://rudimirz.com/flares/ ; https://listserver.ips.gov.au/pipermail/ips-swf-alert/ ; https://www.sws.bom.gov.au/World_Data_Centre/1/3 ; https://listserver.ips.gov.au/pipermail/ips-mag-alert/ ; https://sws-data.sws.bom.gov.au/ ; https://kp.gfz.de/en/ ; https://listserver.ips.gov.au/pipermail/ips-dsgr/ ; https://www.sws.bom.gov.au/Products_and_Services/4/1 . Bureau material: cite ASWFC/Bureau. X-ray flux: cite original source, not Bureau.</a:t>
            </a:r>
          </a:p>
          <a:p>
            <a:r>
              <a:t>SANSA: targeted RFI sent to mtshisaphungo@sansa.org.za cc spaceweather@sansa.org.za at 15:30 Pacific, 13 Sep 2026.</a:t>
            </a:r>
          </a:p>
          <a:p>
            <a:r>
              <a:t>Japan: iono@ml.nict.go.jp .</a:t>
            </a:r>
          </a:p>
          <a:p>
            <a:endParaRPr/>
          </a:p>
          <a:p>
            <a:r>
              <a:t>FINAL SUBMISSION, SLIDE 16</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2 | Space Weather | NOAA SWPC Planetary K-Index | Kp values represent geomagnetic/solar storm severity for degraded communications scenarios. | CSV/HTML | Per 30 day window sample period | 240 intervals | Y</a:t>
            </a:r>
          </a:p>
          <a:p>
            <a:endParaRPr/>
          </a:p>
          <a:p>
            <a:r>
              <a:t>3 | Ground Weather | NOAA Local Climate Data | Hourly weather observations support ground-station availability assumptions near a notional antenna for example. | CSV | Per 30 day window sample period | 720 hourly records | Y</a:t>
            </a:r>
          </a:p>
          <a:p>
            <a:endParaRPr/>
          </a:p>
          <a:p>
            <a:r>
              <a:t>4 | C2 Architecture Baseline  | NASA SCaN Network Architecture Definition Document, Vol 1, Rev 4 | Architecture descriptions support baseline ground-station and relay network path assumptions. | CSV/PDF | 2013 publication | 1 doc | Y</a:t>
            </a:r>
          </a:p>
          <a:p>
            <a:endParaRPr/>
          </a:p>
          <a:p>
            <a:r>
              <a:t>5 | Resilience Metrics | RAND Resilience Assessment Framework | Resilience framework supporting degraded mission performance comparison. | CSV/PDF | 2023 publication</a:t>
            </a:r>
          </a:p>
          <a:p>
            <a:r>
              <a:t> | 1 doc | Y</a:t>
            </a:r>
          </a:p>
          <a:p>
            <a:endParaRPr/>
          </a:p>
          <a:p>
            <a:r>
              <a:t>6 | Scenario Vectors | Author created MATLAB scenario table | Simulation vectors control outage duration, bandwidth reduction, processing time, and threshold limits. | CSV/MAT | Simulation period | 10,000 runs | Y</a:t>
            </a:r>
          </a:p>
          <a:p>
            <a:endParaRPr/>
          </a:p>
          <a:p>
            <a:r>
              <a:t>Data Sources List</a:t>
            </a:r>
          </a:p>
          <a:p>
            <a:r>
              <a:t>SPEAKER NOTES</a:t>
            </a:r>
          </a:p>
          <a:p>
            <a:r>
              <a:t>Shown up-front, the model does not use classified data, CUI, or internal program data. </a:t>
            </a:r>
          </a:p>
          <a:p>
            <a:endParaRPr/>
          </a:p>
          <a:p>
            <a:r>
              <a:t>The sources either provide public inputs for the simulation or support the assumptions behind the model. </a:t>
            </a:r>
          </a:p>
          <a:p>
            <a:endParaRPr/>
          </a:p>
          <a:p>
            <a:r>
              <a:t>The key point is traceability: every input has a sourced and I updated the earlier slides with the hyperlinks per Instructor feedback.</a:t>
            </a:r>
          </a:p>
          <a:p>
            <a:endParaRPr/>
          </a:p>
          <a:p>
            <a:r>
              <a:t>FINAL SUBMISSION, SLIDE 17</a:t>
            </a:r>
          </a:p>
          <a:p>
            <a:r>
              <a:t>Use public orbital elements to calculate satellite visibility, access windows, and route availability.</a:t>
            </a:r>
          </a:p>
          <a:p>
            <a:r>
              <a:t>Data Treatment:</a:t>
            </a:r>
          </a:p>
          <a:p>
            <a:r>
              <a:t>Select a limited satellite subset aligned to the notional scenario.</a:t>
            </a:r>
          </a:p>
          <a:p>
            <a:r>
              <a:t>Convert all timestamps to UTC for simulation data normalization across the fields.</a:t>
            </a:r>
          </a:p>
          <a:p>
            <a:r>
              <a:t>Filter records with missing or stale orbital elements.</a:t>
            </a:r>
          </a:p>
          <a:p>
            <a:endParaRPr/>
          </a:p>
          <a:p>
            <a:endParaRPr/>
          </a:p>
          <a:p>
            <a:endParaRPr/>
          </a:p>
          <a:p>
            <a:endParaRPr/>
          </a:p>
          <a:p>
            <a:endParaRPr/>
          </a:p>
          <a:p>
            <a:r>
              <a:t>CelesTrak Example</a:t>
            </a:r>
          </a:p>
          <a:p>
            <a:r>
              <a:t>ID | Name | Source | Brief Description | Format | Time Span | Num. of records | Access </a:t>
            </a:r>
          </a:p>
          <a:p>
            <a:r>
              <a:t>(Y/N)</a:t>
            </a:r>
          </a:p>
          <a:p>
            <a:r>
              <a:t>1 | Orbital Data | Celestrak NORAD GP Element Sets: Current Data | Public orbital elements support satellite visibility and route availability assumptions. | CSV/JSON | Current Scenario snapshot/sample | 30 records | Y</a:t>
            </a:r>
          </a:p>
          <a:p>
            <a:r>
              <a:t>Object_Name | NORAD_CAT_ID | EPOCH | INCLINATION | MEAN_MOTION</a:t>
            </a:r>
          </a:p>
          <a:p>
            <a:r>
              <a:t>Sat1 | 001 | UTC Timestamp | degrees | rev/day</a:t>
            </a:r>
          </a:p>
          <a:p>
            <a:r>
              <a:t>Sat2 | 002 | UTC Timestamp | degrees | rev/day</a:t>
            </a:r>
          </a:p>
          <a:p>
            <a:r>
              <a:t>Sat3 | 003 | UTC Timestamp | degrees | rev/day</a:t>
            </a:r>
          </a:p>
          <a:p>
            <a:r>
              <a:t>Sample Data:</a:t>
            </a:r>
          </a:p>
          <a:p>
            <a:r>
              <a:t>SPEAKER NOTES</a:t>
            </a:r>
          </a:p>
          <a:p>
            <a:r>
              <a:t>CelesTrak provides public satellite orbital data. I use it to estimate satellite visibility, access windows, and route availability.</a:t>
            </a:r>
          </a:p>
          <a:p>
            <a:endParaRPr/>
          </a:p>
          <a:p>
            <a:r>
              <a:t>FINAL SUBMISSION, SLIDE 18</a:t>
            </a:r>
          </a:p>
          <a:p>
            <a:r>
              <a:t>Use Kp values to represent space weather degradation severity during simulated communications scenarios.</a:t>
            </a:r>
          </a:p>
          <a:p>
            <a:r>
              <a:t>Data Treatment:</a:t>
            </a:r>
          </a:p>
          <a:p>
            <a:r>
              <a:t>Convert Kp  readings into normal, degraded, and severe categories</a:t>
            </a:r>
          </a:p>
          <a:p>
            <a:r>
              <a:t>Align three hour Kp intervals to the simulation clock</a:t>
            </a:r>
          </a:p>
          <a:p>
            <a:r>
              <a:t>Flag missing intervals rather than assuming valid conditions</a:t>
            </a:r>
          </a:p>
          <a:p>
            <a:endParaRPr/>
          </a:p>
          <a:p>
            <a:endParaRPr/>
          </a:p>
          <a:p>
            <a:endParaRPr/>
          </a:p>
          <a:p>
            <a:endParaRPr/>
          </a:p>
          <a:p>
            <a:r>
              <a:t>NOAA Space Weather Prediction Center (SWPC) Kp Example</a:t>
            </a:r>
          </a:p>
          <a:p>
            <a:r>
              <a:t>ID | Name | Source | Brief Description | Format | Time Span | Num. of records | Access </a:t>
            </a:r>
          </a:p>
          <a:p>
            <a:r>
              <a:t>(Y/N)</a:t>
            </a:r>
          </a:p>
          <a:p>
            <a:r>
              <a:t>2 | Space Weather | NOAA SWPC Planetary K-Index | Kp values represent geomagnetic/solar storm severity for degraded communications scenarios. | CSV/HTML | Per 30 day window sample period | 240 intervals | Y</a:t>
            </a:r>
          </a:p>
          <a:p>
            <a:r>
              <a:t>UTC_Time | KP_INDEX | DEGRADATION_LEVEL</a:t>
            </a:r>
          </a:p>
          <a:p>
            <a:r>
              <a:t>7/1/2026 0:00 | 2 | Normal</a:t>
            </a:r>
          </a:p>
          <a:p>
            <a:r>
              <a:t>7/1/2026 3:00 | 5 | Degraded</a:t>
            </a:r>
          </a:p>
          <a:p>
            <a:r>
              <a:t>7/1/2026 6:00 | 7 | Severe</a:t>
            </a:r>
          </a:p>
          <a:p>
            <a:r>
              <a:t>Sample Data:</a:t>
            </a:r>
          </a:p>
          <a:p>
            <a:r>
              <a:t>SPEAKER NOTES</a:t>
            </a:r>
          </a:p>
          <a:p>
            <a:r>
              <a:t>The NOAA Space Weather Prediction Center provides Kp and related space-weather information. I use this to represent environmental conditions that may degrade communications.</a:t>
            </a:r>
          </a:p>
          <a:p>
            <a:endParaRPr/>
          </a:p>
          <a:p>
            <a:r>
              <a:t>FINAL SUBMISSION, SLIDE 19</a:t>
            </a:r>
          </a:p>
          <a:p>
            <a:r>
              <a:t>Use of weather observations to estimate ground station availability representing a notional remote antenna, the Remote Ground Station (RGS).</a:t>
            </a:r>
          </a:p>
          <a:p>
            <a:r>
              <a:t>Data treatment:</a:t>
            </a:r>
          </a:p>
          <a:p>
            <a:r>
              <a:t>Select the nearest public weather station to the notional antenna</a:t>
            </a:r>
          </a:p>
          <a:p>
            <a:r>
              <a:t>Standardize solar, electro-magnetic/polar or gravimetric data </a:t>
            </a:r>
          </a:p>
          <a:p>
            <a:r>
              <a:t>Convert weather values into availability-impact scores.</a:t>
            </a:r>
          </a:p>
          <a:p>
            <a:endParaRPr/>
          </a:p>
          <a:p>
            <a:endParaRPr/>
          </a:p>
          <a:p>
            <a:endParaRPr/>
          </a:p>
          <a:p>
            <a:r>
              <a:t>NOAA National Centers for Environmental Information Weather (NCEI) Example</a:t>
            </a:r>
          </a:p>
          <a:p>
            <a:r>
              <a:t>ID | Name | Source | Brief Description | Format | Time Span | Num. of records | Access </a:t>
            </a:r>
          </a:p>
          <a:p>
            <a:r>
              <a:t>(Y/N)</a:t>
            </a:r>
          </a:p>
          <a:p>
            <a:r>
              <a:t>3 | Ground Weather | NOAA Local Climate Data | Hourly weather observations support ground-station availability assumptions near a notional antenna for example. | CSV | Per 30 day window sample period | 720 hourly records | Y</a:t>
            </a:r>
          </a:p>
          <a:p>
            <a:r>
              <a:t>UTC_TIME | SOURCE | VARIABLE | VALUE | UNIT | DEGRADATION_LEVEL | AVAILABILITY_IMPACT</a:t>
            </a:r>
          </a:p>
          <a:p>
            <a:r>
              <a:t>2026_07_01 00:00 | NOAA NCEI LCD | Visibility | 8 | km | km | Normal</a:t>
            </a:r>
          </a:p>
          <a:p>
            <a:r>
              <a:t>2026_07_01 03:00 | NOAA SWPC Kp | Kp Index | 6 | index | index | Degraded</a:t>
            </a:r>
          </a:p>
          <a:p>
            <a:r>
              <a:t>2026_07_01 04:30 | NOAA GOES X-ray | Radio Blackout | R1 | category | category | Degraded</a:t>
            </a:r>
          </a:p>
          <a:p>
            <a:r>
              <a:t>2026_07_01 06:15 | USGS Earthquake API | Magnitude | 5.6 | Mw | Mw | Severe</a:t>
            </a:r>
          </a:p>
          <a:p>
            <a:r>
              <a:t>Sample Data:</a:t>
            </a:r>
          </a:p>
          <a:p>
            <a:r>
              <a:t>SPEAKER NOTES</a:t>
            </a:r>
          </a:p>
          <a:p>
            <a:r>
              <a:t>The NOAA National Centers for Environmental Information provides historical ground-weather observations near a notional remote ground station.</a:t>
            </a:r>
          </a:p>
          <a:p>
            <a:endParaRPr/>
          </a:p>
          <a:p>
            <a:r>
              <a:t>FINAL SUBMISSION, SLIDE 20</a:t>
            </a:r>
          </a:p>
          <a:p>
            <a:r>
              <a:t>Use public architecture descriptions to define baseline ground station and relay network assumptions.</a:t>
            </a:r>
          </a:p>
          <a:p>
            <a:r>
              <a:t>Data treatment:</a:t>
            </a:r>
          </a:p>
          <a:p>
            <a:r>
              <a:t>Extract architecture elements relevant to the ground, relay and user segments for modeling</a:t>
            </a:r>
          </a:p>
          <a:p>
            <a:r>
              <a:t>Convert qualitative architecture descriptions into notional model states.</a:t>
            </a:r>
          </a:p>
          <a:p>
            <a:r>
              <a:t>Cite derived assumptions rather than treating them as measured data.</a:t>
            </a:r>
          </a:p>
          <a:p>
            <a:endParaRPr/>
          </a:p>
          <a:p>
            <a:endParaRPr/>
          </a:p>
          <a:p>
            <a:endParaRPr/>
          </a:p>
          <a:p>
            <a:endParaRPr/>
          </a:p>
          <a:p>
            <a:r>
              <a:t>NASA SCaN Example</a:t>
            </a:r>
          </a:p>
          <a:p>
            <a:r>
              <a:t>ID | Name | Source | Brief Description | Format | Time Span | Num. of records | Access </a:t>
            </a:r>
          </a:p>
          <a:p>
            <a:r>
              <a:t>(Y/N)</a:t>
            </a:r>
          </a:p>
          <a:p>
            <a:r>
              <a:t>4 | C2 Architecture Baseline  | NASA SCaN Network Architecture Definition Document, Vol 1, Rev 4 | Architecture descriptions support baseline ground-station and relay network path assumptions. | CSV/PDF | 2013 publication | 1 doc | Y</a:t>
            </a:r>
          </a:p>
          <a:p>
            <a:r>
              <a:t>ARCHITECTURE_ELEMENT | MODEL_VARIABLE | SIMULATION_ROLE</a:t>
            </a:r>
          </a:p>
          <a:p>
            <a:r>
              <a:t>Ground station | RGS Availability | Baseline path gate</a:t>
            </a:r>
          </a:p>
          <a:p>
            <a:r>
              <a:t>Relay network | Route availability | Alternate path support</a:t>
            </a:r>
          </a:p>
          <a:p>
            <a:r>
              <a:t>User segment | Operator receipt | Decision support endpoint</a:t>
            </a:r>
          </a:p>
          <a:p>
            <a:r>
              <a:t>Sample Data:</a:t>
            </a:r>
          </a:p>
          <a:p>
            <a:r>
              <a:t>SPEAKER NOTES</a:t>
            </a:r>
          </a:p>
          <a:p>
            <a:r>
              <a:t>The NASA SCaN architecture document is not a live dataset. It provides the public architecture baseline for ground stations, relay networks, and communications paths.</a:t>
            </a:r>
          </a:p>
          <a:p>
            <a:endParaRPr/>
          </a:p>
          <a:p>
            <a:r>
              <a:t>FINAL SUBMISSION, SLIDE 21</a:t>
            </a:r>
          </a:p>
          <a:p>
            <a:r>
              <a:t>Use resilience concepts to define degraded mission performance measures and decision criteria.</a:t>
            </a:r>
          </a:p>
          <a:p>
            <a:r>
              <a:t>Data treatment:</a:t>
            </a:r>
          </a:p>
          <a:p>
            <a:r>
              <a:t>Retrieve resilience concepts and ideas relevant to latency, availability, and degradation</a:t>
            </a:r>
          </a:p>
          <a:p>
            <a:r>
              <a:t>Map the concepts and ideas to a measurable simulation output</a:t>
            </a:r>
          </a:p>
          <a:p>
            <a:r>
              <a:t>Use this for methodology support, not direct operational data</a:t>
            </a:r>
          </a:p>
          <a:p>
            <a:endParaRPr/>
          </a:p>
          <a:p>
            <a:endParaRPr/>
          </a:p>
          <a:p>
            <a:endParaRPr/>
          </a:p>
          <a:p>
            <a:endParaRPr/>
          </a:p>
          <a:p>
            <a:r>
              <a:t>RAND Example</a:t>
            </a:r>
          </a:p>
          <a:p>
            <a:r>
              <a:t>ID | Name | Source | Brief Description | Format | Time Span | Num. of records | Access </a:t>
            </a:r>
          </a:p>
          <a:p>
            <a:r>
              <a:t>(Y/N)</a:t>
            </a:r>
          </a:p>
          <a:p>
            <a:r>
              <a:t>5 | Resilience Metrics | RAND Resilience Assessment Framework | Resilience framework supporting degraded mission performance comparison. | CSV/PDF | 2023 publication | 1 doc | Y</a:t>
            </a:r>
          </a:p>
          <a:p>
            <a:r>
              <a:t>RESILIENCE_CONCEPT | MODEL_METRIC | DECISION_CRITERION</a:t>
            </a:r>
          </a:p>
          <a:p>
            <a:r>
              <a:t>Degradation | Path availability (%) | Maintains threshold</a:t>
            </a:r>
          </a:p>
          <a:p>
            <a:r>
              <a:t>Recovery | Recovery time (s) | Restores service</a:t>
            </a:r>
          </a:p>
          <a:p>
            <a:r>
              <a:t>Mission performance | Response latency (s) | Improves baseline</a:t>
            </a:r>
          </a:p>
          <a:p>
            <a:r>
              <a:t>Sample Data:</a:t>
            </a:r>
          </a:p>
          <a:p>
            <a:r>
              <a:t>SPEAKER NOTES</a:t>
            </a:r>
          </a:p>
          <a:p>
            <a:r>
              <a:t>The RAND Resilience Assessment Framework provides resilience concepts and performance measures that help define degradation, recovery, and mission-performance criteria.</a:t>
            </a:r>
          </a:p>
          <a:p>
            <a:endParaRPr/>
          </a:p>
          <a:p>
            <a:r>
              <a:t>FINAL SUBMISSION, SLIDE 22</a:t>
            </a:r>
          </a:p>
          <a:p>
            <a:endParaRPr/>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endParaRPr/>
          </a:p>
          <a:p>
            <a:endParaRPr/>
          </a:p>
          <a:p>
            <a:endParaRPr/>
          </a:p>
          <a:p>
            <a:endParaRPr/>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SUBMISSION, SLIDE 2</a:t>
            </a:r>
          </a:p>
          <a:p>
            <a:r>
              <a:t>This Praxis develops a simulation-based systems engineering framework to evaluate autonomous satellite decision support under degraded communications.</a:t>
            </a:r>
          </a:p>
          <a:p>
            <a:r>
              <a:t>The study compares ground-centric routing against an orbital edge-processing path using public orbital data and space-weather indices.</a:t>
            </a:r>
          </a:p>
          <a:p>
            <a:r>
              <a:t>The modeled decisions include onboard filtering, alert prioritization, downlink prioritization, resource allocation, and safe-response recommendations for ground operator review.</a:t>
            </a:r>
          </a:p>
          <a:p>
            <a:r>
              <a:t>The framework evaluates onboard artificial intelligence and machine learning for predictive threat assessment and response.</a:t>
            </a:r>
          </a:p>
          <a:p>
            <a:r>
              <a:t>The model assesses decision latency, operator workload, cognitive burden, and resource utilization through simulation.</a:t>
            </a:r>
          </a:p>
          <a:p>
            <a:r>
              <a:t>The work produces a public-domain feasibility study and a preliminary Concept of Operations.</a:t>
            </a:r>
          </a:p>
          <a:p>
            <a:r>
              <a:t>Validation compares simulated outputs against public benchmarks, theoretical delay calculations, repeated runs, and sensitivity analysis.</a:t>
            </a:r>
          </a:p>
          <a:p>
            <a:r>
              <a:t>The research will not use classified data, develop new algorithms, or build physical hardware.</a:t>
            </a:r>
          </a:p>
          <a:p>
            <a:r>
              <a:t>Scope of Work</a:t>
            </a:r>
          </a:p>
          <a:p>
            <a:r>
              <a:t>SPEAKER NOTES</a:t>
            </a:r>
          </a:p>
          <a:p>
            <a:r>
              <a:t>Modeling Autonomous Satellite Decision-Making in Contested Environments.</a:t>
            </a:r>
          </a:p>
          <a:p>
            <a:endParaRPr/>
          </a:p>
          <a:p>
            <a:r>
              <a:t>can an orbital edge-processing layer provide useful information to the operator faster?</a:t>
            </a:r>
            <a:br/>
            <a:endParaRPr/>
          </a:p>
          <a:p>
            <a:r>
              <a:t>The model focuses on bounded functions such as filtering, prioritizing, routing, allocating resources, and presenting recommendations. </a:t>
            </a:r>
            <a:br/>
            <a:endParaRPr/>
          </a:p>
          <a:p>
            <a:r>
              <a:t>The goal is to measure whether this architecture reduces latency, preserves communications availability, and reduces operator workload using only public, non-CUI data.”</a:t>
            </a:r>
          </a:p>
          <a:p>
            <a:endParaRPr/>
          </a:p>
          <a:p>
            <a:endParaRPr/>
          </a:p>
          <a:p>
            <a:r>
              <a:t>FINAL SUBMISSION, SLIDE 6</a:t>
            </a:r>
          </a:p>
          <a:p>
            <a:r>
              <a:t>(A) Deliverable |  | WC</a:t>
            </a:r>
          </a:p>
          <a:p>
            <a:r>
              <a:t>Thesis Statement | This praxis will deliver a simulation-based systems engineering model demonstrating a bounded onboard decision-making framework under degraded communications. | 18</a:t>
            </a:r>
          </a:p>
          <a:p>
            <a:r>
              <a:t>Research Product | Simulation-Based Evaluation Framework | 4</a:t>
            </a:r>
          </a:p>
          <a:p>
            <a:r>
              <a:t>Format | Python/MATLAB/Simulink Model | 3</a:t>
            </a:r>
          </a:p>
          <a:p>
            <a:r>
              <a:t>Deliverable Usage | Systems engineers will use the framework during early architecture trades for onboard processing under degraded communications. | 16</a:t>
            </a:r>
          </a:p>
          <a:p>
            <a:r>
              <a:t>Tie back to PS | The framework will address decision latency by comparing ground-centric routing with bounded onboard decision support under the same scenarios. | 18</a:t>
            </a:r>
          </a:p>
          <a:p>
            <a:r>
              <a:t>New Contributions | This work will contribute a public, repeatable method for evaluating orbital edge-processing performance without classified data or new algorithms. | 18</a:t>
            </a:r>
          </a:p>
          <a:p>
            <a:endParaRPr/>
          </a:p>
          <a:p>
            <a:r>
              <a:t>Scope | The framework will apply to autonomous systems that operate with degraded communications and constrained human oversight. | 16</a:t>
            </a:r>
          </a:p>
          <a:p>
            <a:r>
              <a:t>Main methodology | Discrete-Event Simulation | 3</a:t>
            </a:r>
          </a:p>
          <a:p>
            <a:r>
              <a:t>Inputs | Threat Type (Categorical), Threat Proximity (km), Communication Link Status (Boolean), Satellite Resource Availability (%), AI Confidence Score (%) | NA</a:t>
            </a:r>
          </a:p>
          <a:p>
            <a:r>
              <a:t>Outputs | Response Latency (seconds), Mission Success Probability (%), Resource Consumption (%), Correct Action Taken (Boolean) | NA</a:t>
            </a:r>
          </a:p>
          <a:p>
            <a:r>
              <a:t>Thesis Statement</a:t>
            </a:r>
          </a:p>
          <a:p>
            <a:r>
              <a:t>SPEAKER NOTES</a:t>
            </a:r>
          </a:p>
          <a:p>
            <a:endParaRPr/>
          </a:p>
          <a:p>
            <a:endParaRPr/>
          </a:p>
          <a:p>
            <a:r>
              <a:t>FINAL SUBMISSION, SLIDE 14</a:t>
            </a:r>
          </a:p>
          <a:p>
            <a:r>
              <a:t>Methodology 1</a:t>
            </a:r>
          </a:p>
          <a:p>
            <a:r>
              <a:t>A) Deliverable | B) Content | C) WC</a:t>
            </a:r>
          </a:p>
          <a:p>
            <a:r>
              <a:t>Methodology | Discrete-Event Simulation |       3</a:t>
            </a:r>
          </a:p>
          <a:p>
            <a:r>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p>
          <a:p>
            <a:r>
              <a:t>Outputs | Response latency, OODA Loop decision cycle times, path availability (%), dropped messages (count), recovery time, operator workflow reduction comparison (%), correct action selection (%). | NA</a:t>
            </a:r>
          </a:p>
          <a:p>
            <a:r>
              <a:t>SPEAKER NOTES</a:t>
            </a:r>
          </a:p>
          <a:p>
            <a:r>
              <a:t>Methodology 1 — Discrete-Event Simulation</a:t>
            </a:r>
          </a:p>
          <a:p>
            <a:r>
              <a:t>Method:</a:t>
            </a:r>
            <a:br/>
            <a:r>
              <a:t>“My first methodology is discrete-event simulation. It follows specific events in order—such as a request arriving, the ground-station path failing, the edge cloud processing the request, and a response reaching the operator.”</a:t>
            </a:r>
          </a:p>
          <a:p>
            <a:r>
              <a:t>Inputs:</a:t>
            </a:r>
            <a:br/>
            <a:r>
              <a:t>“The inputs include the disruption type, when it starts, how long it lasts, communication delay, processing time, and available resources.”</a:t>
            </a:r>
          </a:p>
          <a:p>
            <a:endParaRPr/>
          </a:p>
          <a:p>
            <a:r>
              <a:t>Outputs:</a:t>
            </a:r>
            <a:br/>
            <a:r>
              <a:t>“The outputs include response latency, OODA-loop time, path availability, dropped messages, recovery time, workload reduction, and what % of the time the correct response was selected.”</a:t>
            </a:r>
          </a:p>
          <a:p>
            <a:endParaRPr/>
          </a:p>
          <a:p>
            <a:r>
              <a:t>Purpose:</a:t>
            </a:r>
            <a:br/>
            <a:r>
              <a:t>“This method shows what happens during each individual disruption and compares the ground-centric path with the edge-enabled path.”</a:t>
            </a:r>
          </a:p>
          <a:p>
            <a:br/>
            <a:endParaRPr/>
          </a:p>
          <a:p>
            <a:endParaRPr/>
          </a:p>
          <a:p>
            <a:endParaRPr/>
          </a:p>
          <a:p>
            <a:r>
              <a:t>FINAL SUBMISSION, SLIDE 15</a:t>
            </a:r>
          </a:p>
          <a:p>
            <a:r>
              <a:t>Methodology 2</a:t>
            </a:r>
          </a:p>
          <a:p>
            <a:r>
              <a:t>A) Deliverable | B) Content | C) WC</a:t>
            </a:r>
          </a:p>
          <a:p>
            <a:r>
              <a:t>Methodology | System Dynamic Simulation |        3</a:t>
            </a:r>
          </a:p>
          <a:p>
            <a:r>
              <a:t>Inputs | Time step(s), simulation duration (hr), path availability (%), bandwidth capacity (Mbps), data volume rate (MB/min), Kp index (0-9), weather severity index (0-1), queue depth (count), edge compute load (%) resource availability (%), AI confidence score (%) | NA</a:t>
            </a:r>
          </a:p>
          <a:p>
            <a:r>
              <a:t>Outputs | Average response latency, 95th percentile latency, OODA loop times, path availability (%), bandwidth demand (Mbps), queue growth rate (messages/min), operator workflow trends (count/hr), resource consumption (%), mission success probability (%). </a:t>
            </a:r>
          </a:p>
          <a:p>
            <a:endParaRPr/>
          </a:p>
          <a:p>
            <a:r>
              <a:t>Dropped messages (count), recovery time, operator workflow reduction comparison, correct action selection (%).</a:t>
            </a:r>
          </a:p>
          <a:p>
            <a:r>
              <a:t> | NA</a:t>
            </a:r>
          </a:p>
          <a:p>
            <a:r>
              <a:t>SPEAKER NOTES</a:t>
            </a:r>
          </a:p>
          <a:p>
            <a:r>
              <a:t>Methodology 2 — System Dynamics Simulation</a:t>
            </a:r>
          </a:p>
          <a:p>
            <a:r>
              <a:t>Method:</a:t>
            </a:r>
            <a:br/>
            <a:r>
              <a:t>“My second methodology is system dynamics simulation. It looks at how the entire system behaves and changes over a longer period of time.”</a:t>
            </a:r>
          </a:p>
          <a:p>
            <a:endParaRPr/>
          </a:p>
          <a:p>
            <a:r>
              <a:t>Inputs:</a:t>
            </a:r>
            <a:br/>
            <a:r>
              <a:t>“The inputs include simulation time, path availability, incoming data rate, space-weather severity, and available resources.”</a:t>
            </a:r>
          </a:p>
          <a:p>
            <a:endParaRPr/>
          </a:p>
          <a:p>
            <a:r>
              <a:t>Outputs:</a:t>
            </a:r>
            <a:br/>
            <a:r>
              <a:t>“The outputs include average latency, 95th-percentile latency, OODA-loop trends, operator workload, resource use, and % mission-success over time.”</a:t>
            </a:r>
          </a:p>
          <a:p>
            <a:endParaRPr/>
          </a:p>
          <a:p>
            <a:r>
              <a:t>Purpose:</a:t>
            </a:r>
            <a:br/>
            <a:r>
              <a:t>“This method shows whether the edge-enabled architecture remains effective as degraded conditions continue. </a:t>
            </a:r>
          </a:p>
          <a:p>
            <a:endParaRPr/>
          </a:p>
          <a:p>
            <a:r>
              <a:t>What happens during on-going disruption and compares the ground-centric path with the edge-enabled path.”</a:t>
            </a:r>
          </a:p>
          <a:p>
            <a:endParaRPr/>
          </a:p>
          <a:p>
            <a:br/>
            <a:endParaRPr/>
          </a:p>
          <a:p>
            <a:r>
              <a:t>Transition:</a:t>
            </a:r>
            <a:br/>
            <a:r>
              <a:t>“Methodology 1 shows what happens event by event. Methodology 2 shows how performance changes over time.” </a:t>
            </a:r>
          </a:p>
          <a:p>
            <a:endParaRPr/>
          </a:p>
          <a:p>
            <a:endParaRPr/>
          </a:p>
          <a:p>
            <a:r>
              <a:t>FINAL SUBMISSION, SLIDE 22</a:t>
            </a:r>
          </a:p>
          <a:p>
            <a:endParaRPr/>
          </a:p>
          <a:p>
            <a:r>
              <a:t>Use controlled simulation inputs to vary degradation, routing, processing, and decision thresholds.</a:t>
            </a:r>
          </a:p>
          <a:p>
            <a:r>
              <a:t>Data treatment:</a:t>
            </a:r>
          </a:p>
          <a:p>
            <a:r>
              <a:t>Generate values from documented distributions and fixed random seeds.</a:t>
            </a:r>
          </a:p>
          <a:p>
            <a:r>
              <a:t>Store each run as a reproducible MATLAB input table</a:t>
            </a:r>
          </a:p>
          <a:p>
            <a:r>
              <a:t>Conduct sensitivity analysis by varying one driver at a time</a:t>
            </a:r>
          </a:p>
          <a:p>
            <a:endParaRPr/>
          </a:p>
          <a:p>
            <a:endParaRPr/>
          </a:p>
          <a:p>
            <a:endParaRPr/>
          </a:p>
          <a:p>
            <a:endParaRPr/>
          </a:p>
          <a:p>
            <a:r>
              <a:t>Scenario Vectors Example</a:t>
            </a:r>
          </a:p>
          <a:p>
            <a:r>
              <a:t>ID | Name | Source | Brief Description | Format | Time Span | Num. of records | Access </a:t>
            </a:r>
          </a:p>
          <a:p>
            <a:r>
              <a:t>(Y/N)</a:t>
            </a:r>
          </a:p>
          <a:p>
            <a:r>
              <a:t>6 | Scenario Vectors | Author created MATLAB scenario table | Simulation vectors control outage duration, bandwidth reduction, processing time, and threshold limits. | CSV/MAT | Simulation period | 10,000 runs | Y</a:t>
            </a:r>
          </a:p>
          <a:p>
            <a:r>
              <a:t>RUN_ID | CONTROL_MODE | COMM_DELAY | RGS_Available | EDGE_PROCESSING | AI_CONFIDENCE_%</a:t>
            </a:r>
          </a:p>
          <a:p>
            <a:r>
              <a:t>1 | Ground-centric | 7.5 | TRUE | 0 | 0</a:t>
            </a:r>
          </a:p>
          <a:p>
            <a:r>
              <a:t>2 | Edge Enabled | 3.2 | FALSE | 0.8 | 82</a:t>
            </a:r>
          </a:p>
          <a:p>
            <a:r>
              <a:t>3 | Edge Enabled | 4.1 | FALSE | 1.1 | 76</a:t>
            </a:r>
          </a:p>
          <a:p>
            <a:r>
              <a:t>Sample Data:</a:t>
            </a:r>
          </a:p>
          <a:p>
            <a:r>
              <a:t>SPEAKER NOTES</a:t>
            </a:r>
          </a:p>
          <a:p>
            <a:r>
              <a:t>Finally, I create a controlled MATLAB scenario table. This combines the public inputs into repeatable events such as an outage, bandwidth reduction, packet loss, processing delay, and recovery.</a:t>
            </a:r>
          </a:p>
          <a:p>
            <a:endParaRPr/>
          </a:p>
          <a:p>
            <a:r>
              <a:t>FINAL SUBMISSION, SLIDE 24</a:t>
            </a:r>
          </a:p>
          <a:p>
            <a:r>
              <a:t>Methodology 1 Map</a:t>
            </a:r>
          </a:p>
          <a:p>
            <a:r>
              <a:t>SPEAKER NOTES</a:t>
            </a:r>
          </a:p>
          <a:p>
            <a:r>
              <a:t>Methodology 1: discrete-event simulation. This method follows individual events in sequence—disruption, routing, edge processing, operator response, and recovery. It helps answer whether the model can credibly measure response latency and path availability during a specific disruption.”</a:t>
            </a:r>
          </a:p>
          <a:p>
            <a:endParaRPr/>
          </a:p>
          <a:p>
            <a:r>
              <a:t>Summary combines clearly labeled current scope with inputs and planned analysis in the July source. Complete original DES inputs/outputs, including AI-confidence and operator/action metrics, are retained above as baseline notes; they are not silently asserted as current core measures. No sample figures in the final submission are claimed as downloaded measurements or executed simulation results.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p:cNvSpPr>
            <a:spLocks noGrp="1"/>
          </p:cNvSpPr>
          <p:nvPr>
            <p:ph type="ctrTitle" hasCustomPrompt="1"/>
          </p:nvPr>
        </p:nvSpPr>
        <p:spPr>
          <a:xfrm>
            <a:off x="480506" y="601091"/>
            <a:ext cx="5735025"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480506" y="3137687"/>
            <a:ext cx="5735025"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145096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932331" y="1861441"/>
            <a:ext cx="10327340"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917987" y="570156"/>
            <a:ext cx="10341684"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738007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920056" y="1204857"/>
            <a:ext cx="10339617"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932331" y="3324434"/>
            <a:ext cx="10312996"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32577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917987" y="570156"/>
            <a:ext cx="10341684"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914400" y="1845482"/>
            <a:ext cx="5071872"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6193535" y="1845482"/>
            <a:ext cx="5071872"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4006892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917987" y="570156"/>
            <a:ext cx="10341684"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917989" y="1783601"/>
            <a:ext cx="482923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917986" y="2622290"/>
            <a:ext cx="482924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6381172" y="1783601"/>
            <a:ext cx="4884955"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6381171" y="2619063"/>
            <a:ext cx="4878500"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1502016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922671" y="559402"/>
            <a:ext cx="4774509"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6519751" y="562026"/>
            <a:ext cx="4774509"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35802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1031301" y="536675"/>
            <a:ext cx="10104435"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917987" y="4486019"/>
            <a:ext cx="10341685"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59420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28692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Subtitle 2"/>
          <p:cNvSpPr>
            <a:spLocks noGrp="1"/>
          </p:cNvSpPr>
          <p:nvPr>
            <p:ph type="subTitle" idx="1" hasCustomPrompt="1"/>
          </p:nvPr>
        </p:nvSpPr>
        <p:spPr>
          <a:xfrm>
            <a:off x="480504" y="3137687"/>
            <a:ext cx="4878397"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480506" y="601091"/>
            <a:ext cx="5974084"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2606493" y="0"/>
            <a:ext cx="9602107"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810012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p:cNvSpPr>
            <a:spLocks noGrp="1"/>
          </p:cNvSpPr>
          <p:nvPr>
            <p:ph type="ctrTitle" hasCustomPrompt="1"/>
          </p:nvPr>
        </p:nvSpPr>
        <p:spPr>
          <a:xfrm>
            <a:off x="480506" y="601091"/>
            <a:ext cx="5735025"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480506" y="3137687"/>
            <a:ext cx="5735025"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3304981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932331" y="1264359"/>
            <a:ext cx="10327340"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917987" y="366959"/>
            <a:ext cx="10341684"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0463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920056" y="1204857"/>
            <a:ext cx="10339617"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932331" y="3324434"/>
            <a:ext cx="10312996"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079044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917987" y="570156"/>
            <a:ext cx="10341684"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914400" y="1845482"/>
            <a:ext cx="5071872"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6193535" y="1845482"/>
            <a:ext cx="5071872"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295741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917987" y="570156"/>
            <a:ext cx="10341684"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917989" y="1783601"/>
            <a:ext cx="482923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917986" y="2622290"/>
            <a:ext cx="482924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6381172" y="1783601"/>
            <a:ext cx="4884955"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6381171" y="2619063"/>
            <a:ext cx="4878500"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43161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922671" y="559402"/>
            <a:ext cx="4774509"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6519751" y="562026"/>
            <a:ext cx="4774509"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800826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1031301" y="536675"/>
            <a:ext cx="10104435"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917987" y="4486019"/>
            <a:ext cx="10341685"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41695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9627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Subtitle 2"/>
          <p:cNvSpPr>
            <a:spLocks noGrp="1"/>
          </p:cNvSpPr>
          <p:nvPr>
            <p:ph type="subTitle" idx="1" hasCustomPrompt="1"/>
          </p:nvPr>
        </p:nvSpPr>
        <p:spPr>
          <a:xfrm>
            <a:off x="480504" y="3137687"/>
            <a:ext cx="4878397"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480506" y="601091"/>
            <a:ext cx="5974084"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2606493" y="0"/>
            <a:ext cx="9602107"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3549632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jpe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8699064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7538895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447888" y="1611357"/>
            <a:ext cx="5320839" cy="600115"/>
          </a:xfrm>
        </p:spPr>
        <p:txBody>
          <a:bodyPr>
            <a:noAutofit/>
          </a:bodyPr>
          <a:lstStyle/>
          <a:p>
            <a:r>
              <a:rPr sz="2000" dirty="0"/>
              <a:t>Modeling Orbital Edge Processing in Degraded Communications</a:t>
            </a:r>
            <a:endParaRPr lang="en-US" sz="2000" dirty="0">
              <a:latin typeface="Arial" charset="0"/>
              <a:ea typeface="ＭＳ Ｐゴシック" charset="0"/>
            </a:endParaRPr>
          </a:p>
        </p:txBody>
      </p:sp>
      <p:sp>
        <p:nvSpPr>
          <p:cNvPr id="15362" name="Rectangle 3"/>
          <p:cNvSpPr>
            <a:spLocks noGrp="1" noChangeArrowheads="1"/>
          </p:cNvSpPr>
          <p:nvPr>
            <p:ph type="subTitle" idx="1"/>
          </p:nvPr>
        </p:nvSpPr>
        <p:spPr>
          <a:xfrm>
            <a:off x="422294" y="2360317"/>
            <a:ext cx="4058106" cy="1107882"/>
          </a:xfrm>
        </p:spPr>
        <p:txBody>
          <a:bodyPr/>
          <a:lstStyle/>
          <a:p>
            <a:pPr eaLnBrk="1" hangingPunct="1"/>
            <a:r>
              <a:rPr sz="1800">
                <a:latin typeface="Arial"/>
              </a:rPr>
              <a:t>Carlo Antonio Nino</a:t>
            </a:r>
          </a:p>
          <a:p>
            <a:r>
              <a:rPr sz="1800">
                <a:latin typeface="Arial"/>
              </a:rPr>
              <a:t>09/17/2026</a:t>
            </a:r>
          </a:p>
        </p:txBody>
      </p:sp>
      <p:sp>
        <p:nvSpPr>
          <p:cNvPr id="2" name="Rectangle 2">
            <a:extLst>
              <a:ext uri="{FF2B5EF4-FFF2-40B4-BE49-F238E27FC236}">
                <a16:creationId xmlns:a16="http://schemas.microsoft.com/office/drawing/2014/main" id="{382778BC-A833-ED1B-2A28-05AC73E2DCCD}"/>
              </a:ext>
            </a:extLst>
          </p:cNvPr>
          <p:cNvSpPr txBox="1">
            <a:spLocks noChangeArrowheads="1"/>
          </p:cNvSpPr>
          <p:nvPr/>
        </p:nvSpPr>
        <p:spPr>
          <a:xfrm>
            <a:off x="2647718" y="4851"/>
            <a:ext cx="5886682" cy="1200230"/>
          </a:xfrm>
          <a:prstGeom prst="rect">
            <a:avLst/>
          </a:prstGeom>
        </p:spPr>
        <p:txBody>
          <a:bodyPr anchor="b">
            <a:noAutofit/>
          </a:bodyPr>
          <a:lstStyle>
            <a:lvl1pPr algn="l" defTabSz="457200" rtl="0" eaLnBrk="1" latinLnBrk="0" hangingPunct="1">
              <a:spcBef>
                <a:spcPct val="0"/>
              </a:spcBef>
              <a:buNone/>
              <a:defRPr sz="4000" b="1"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mj-ea"/>
                <a:cs typeface="Arial"/>
              </a:defRPr>
            </a:lvl1pPr>
          </a:lstStyle>
          <a:p>
            <a:r>
              <a:rPr lang="en-US" sz="3200" dirty="0">
                <a:latin typeface="Arial" charset="0"/>
                <a:ea typeface="ＭＳ Ｐゴシック" charset="0"/>
              </a:rPr>
              <a:t>Student Biweekly Progress Presentation to Advisor</a:t>
            </a:r>
          </a:p>
        </p:txBody>
      </p:sp>
      <p:sp>
        <p:nvSpPr>
          <p:cNvPr id="4" name="TextBox 3">
            <a:extLst>
              <a:ext uri="{FF2B5EF4-FFF2-40B4-BE49-F238E27FC236}">
                <a16:creationId xmlns:a16="http://schemas.microsoft.com/office/drawing/2014/main" id="{1C2B8898-05F7-A27B-E764-4E2FD2CD9A55}"/>
              </a:ext>
            </a:extLst>
          </p:cNvPr>
          <p:cNvSpPr txBox="1"/>
          <p:nvPr/>
        </p:nvSpPr>
        <p:spPr>
          <a:xfrm>
            <a:off x="5084323" y="6154524"/>
            <a:ext cx="2023353" cy="369332"/>
          </a:xfrm>
          <a:prstGeom prst="rect">
            <a:avLst/>
          </a:prstGeom>
          <a:noFill/>
        </p:spPr>
        <p:txBody>
          <a:bodyPr wrap="square" rtlCol="0">
            <a:spAutoFit/>
          </a:bodyPr>
          <a:lstStyle/>
          <a:p>
            <a:pPr algn="ctr"/>
            <a:r>
              <a:rPr lang="en-US" dirty="0">
                <a:solidFill>
                  <a:schemeClr val="bg1"/>
                </a:solidFill>
              </a:rPr>
              <a:t>1 of 5</a:t>
            </a:r>
          </a:p>
        </p:txBody>
      </p:sp>
      <p:sp>
        <p:nvSpPr>
          <p:cNvPr id="10" name="TextBox 9">
            <a:extLst>
              <a:ext uri="{FF2B5EF4-FFF2-40B4-BE49-F238E27FC236}">
                <a16:creationId xmlns:a16="http://schemas.microsoft.com/office/drawing/2014/main" id="{39EB1337-51E9-D950-A95D-A00FB8AB8CFD}"/>
              </a:ext>
            </a:extLst>
          </p:cNvPr>
          <p:cNvSpPr txBox="1"/>
          <p:nvPr/>
        </p:nvSpPr>
        <p:spPr>
          <a:xfrm>
            <a:off x="422294" y="3025302"/>
            <a:ext cx="5168278" cy="2308324"/>
          </a:xfrm>
          <a:prstGeom prst="rect">
            <a:avLst/>
          </a:prstGeom>
          <a:noFill/>
        </p:spPr>
        <p:txBody>
          <a:bodyPr wrap="square" rtlCol="0">
            <a:spAutoFit/>
          </a:bodyPr>
          <a:lstStyle/>
          <a:p>
            <a:pPr lvl="0"/>
            <a:r>
              <a:rPr sz="1150" b="1" dirty="0">
                <a:solidFill>
                  <a:srgbClr val="FFFFFF"/>
                </a:solidFill>
              </a:rPr>
              <a:t>Satellite systems increasingly rely on ground communications for processing, routing, and decision support. </a:t>
            </a:r>
          </a:p>
          <a:p>
            <a:r>
              <a:rPr sz="1150" b="1" dirty="0">
                <a:solidFill>
                  <a:srgbClr val="FFFFFF"/>
                </a:solidFill>
              </a:rPr>
              <a:t>This Praxis asks whether bounded orbital edge processing can preserve service and reduce delay when ground-dependent communications are degraded. </a:t>
            </a:r>
          </a:p>
          <a:p>
            <a:endParaRPr sz="1150" b="1" dirty="0">
              <a:solidFill>
                <a:srgbClr val="FFFFFF"/>
              </a:solidFill>
            </a:endParaRPr>
          </a:p>
          <a:p>
            <a:r>
              <a:rPr sz="1150" b="1" dirty="0">
                <a:solidFill>
                  <a:srgbClr val="FFFFFF"/>
                </a:solidFill>
              </a:rPr>
              <a:t>A discrete-event simulation compares ground-centric and edge-enabled architectures under identical degradation conditions. </a:t>
            </a:r>
          </a:p>
          <a:p>
            <a:r>
              <a:rPr sz="1150" b="1" dirty="0">
                <a:solidFill>
                  <a:srgbClr val="FFFFFF"/>
                </a:solidFill>
              </a:rPr>
              <a:t>Measures include latency, availability, downtime/recovery, packet loss, and bottleneck delay. </a:t>
            </a:r>
          </a:p>
          <a:p>
            <a:endParaRPr sz="1150" b="1" dirty="0">
              <a:solidFill>
                <a:srgbClr val="FFFFFF"/>
              </a:solidFill>
            </a:endParaRPr>
          </a:p>
          <a:p>
            <a:r>
              <a:rPr sz="1150" b="1" dirty="0" err="1">
                <a:solidFill>
                  <a:srgbClr val="FFFFFF"/>
                </a:solidFill>
              </a:rPr>
              <a:t>WetLinks</a:t>
            </a:r>
            <a:r>
              <a:rPr sz="1150" b="1" dirty="0">
                <a:solidFill>
                  <a:srgbClr val="FFFFFF"/>
                </a:solidFill>
              </a:rPr>
              <a:t>, LENS, NOAA/SWPC/NCEI, NASA </a:t>
            </a:r>
            <a:r>
              <a:rPr sz="1150" b="1" dirty="0" err="1">
                <a:solidFill>
                  <a:srgbClr val="FFFFFF"/>
                </a:solidFill>
              </a:rPr>
              <a:t>SCaN</a:t>
            </a:r>
            <a:r>
              <a:rPr sz="1150" b="1" dirty="0">
                <a:solidFill>
                  <a:srgbClr val="FFFFFF"/>
                </a:solidFill>
              </a:rPr>
              <a:t>, </a:t>
            </a:r>
            <a:r>
              <a:rPr sz="1150" b="1" dirty="0" err="1">
                <a:solidFill>
                  <a:srgbClr val="FFFFFF"/>
                </a:solidFill>
              </a:rPr>
              <a:t>CelesTrak</a:t>
            </a:r>
            <a:r>
              <a:rPr sz="1150" b="1" dirty="0">
                <a:solidFill>
                  <a:srgbClr val="FFFFFF"/>
                </a:solidFill>
              </a:rPr>
              <a:t>, and international space-weather archives provide public empirical inputs and modeling assumptions.</a:t>
            </a:r>
          </a:p>
        </p:txBody>
      </p:sp>
    </p:spTree>
    <p:extLst>
      <p:ext uri="{BB962C8B-B14F-4D97-AF65-F5344CB8AC3E}">
        <p14:creationId xmlns:p14="http://schemas.microsoft.com/office/powerpoint/2010/main" val="2539919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483495" y="316733"/>
            <a:ext cx="11525951" cy="593766"/>
          </a:xfrm>
          <a:prstGeom prst="rect">
            <a:avLst/>
          </a:prstGeom>
        </p:spPr>
        <p:txBody>
          <a:bodyPr>
            <a:normAutofit fontScale="90000"/>
          </a:bodyPr>
          <a:lstStyle/>
          <a:p>
            <a:r>
              <a:rPr lang="en-US" sz="3600" dirty="0"/>
              <a:t>Response to Advisor Feedback from previous meeting(s)</a:t>
            </a:r>
          </a:p>
        </p:txBody>
      </p:sp>
      <p:sp>
        <p:nvSpPr>
          <p:cNvPr id="4" name="TextBox 3">
            <a:extLst>
              <a:ext uri="{FF2B5EF4-FFF2-40B4-BE49-F238E27FC236}">
                <a16:creationId xmlns:a16="http://schemas.microsoft.com/office/drawing/2014/main" id="{4CD615DA-7127-AD3A-4246-8C8BB8D58771}"/>
              </a:ext>
            </a:extLst>
          </p:cNvPr>
          <p:cNvSpPr txBox="1"/>
          <p:nvPr/>
        </p:nvSpPr>
        <p:spPr>
          <a:xfrm>
            <a:off x="5084323" y="6154524"/>
            <a:ext cx="2023353" cy="584775"/>
          </a:xfrm>
          <a:prstGeom prst="rect">
            <a:avLst/>
          </a:prstGeom>
          <a:noFill/>
        </p:spPr>
        <p:txBody>
          <a:bodyPr wrap="square" rtlCol="0">
            <a:spAutoFit/>
          </a:bodyPr>
          <a:lstStyle/>
          <a:p>
            <a:pPr algn="ctr"/>
            <a:r>
              <a:rPr lang="en-US" sz="3200" dirty="0">
                <a:solidFill>
                  <a:schemeClr val="bg1"/>
                </a:solidFill>
              </a:rPr>
              <a:t>2 of 5</a:t>
            </a:r>
          </a:p>
        </p:txBody>
      </p:sp>
      <p:sp>
        <p:nvSpPr>
          <p:cNvPr id="7" name="TextBox 6"/>
          <p:cNvSpPr txBox="1"/>
          <p:nvPr/>
        </p:nvSpPr>
        <p:spPr>
          <a:xfrm>
            <a:off x="585216" y="1309662"/>
            <a:ext cx="10972800" cy="456472"/>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FF0000"/>
                </a:solidFill>
                <a:latin typeface="Times New Roman"/>
              </a:defRPr>
            </a:pPr>
            <a:r>
              <a:rPr sz="1400" b="0" dirty="0">
                <a:solidFill>
                  <a:srgbClr val="FF0000"/>
                </a:solidFill>
                <a:latin typeface="Times New Roman"/>
              </a:rPr>
              <a:t>Need to think about how to focus the many pieces of this research into something actionable and appropriate. There are lots of moving parts in this research and we need to start consolidating. [06 Sep 2026]</a:t>
            </a:r>
          </a:p>
        </p:txBody>
      </p:sp>
      <p:sp>
        <p:nvSpPr>
          <p:cNvPr id="8" name="TextBox 7"/>
          <p:cNvSpPr txBox="1"/>
          <p:nvPr/>
        </p:nvSpPr>
        <p:spPr>
          <a:xfrm>
            <a:off x="585216" y="1802168"/>
            <a:ext cx="10972800" cy="435504"/>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200" b="0" dirty="0">
                <a:solidFill>
                  <a:srgbClr val="000000"/>
                </a:solidFill>
                <a:latin typeface="Times New Roman"/>
              </a:rPr>
              <a:t>This update defines a bounded </a:t>
            </a:r>
            <a:r>
              <a:rPr sz="1200" b="1" dirty="0">
                <a:solidFill>
                  <a:srgbClr val="000000"/>
                </a:solidFill>
                <a:latin typeface="Times New Roman"/>
              </a:rPr>
              <a:t>DES </a:t>
            </a:r>
            <a:r>
              <a:rPr sz="1200" b="0" dirty="0">
                <a:solidFill>
                  <a:srgbClr val="000000"/>
                </a:solidFill>
                <a:latin typeface="Times New Roman"/>
              </a:rPr>
              <a:t>architecture comparison rather than a broad autonomy study. DES remains the working method.</a:t>
            </a:r>
            <a:endParaRPr lang="en-US" b="0" dirty="0">
              <a:solidFill>
                <a:srgbClr val="000000"/>
              </a:solidFill>
              <a:latin typeface="Times New Roman"/>
            </a:endParaRPr>
          </a:p>
          <a:p>
            <a:r>
              <a:rPr sz="1200" b="0" dirty="0">
                <a:solidFill>
                  <a:srgbClr val="000000"/>
                </a:solidFill>
                <a:latin typeface="Times New Roman"/>
              </a:rPr>
              <a:t>The current focus is civil communications resilience: uptime, downtime, latency, packet loss, recovery and queueing delay. [16 Sep 2026]</a:t>
            </a:r>
          </a:p>
        </p:txBody>
      </p:sp>
      <p:grpSp>
        <p:nvGrpSpPr>
          <p:cNvPr id="5" name="Group 4">
            <a:extLst>
              <a:ext uri="{FF2B5EF4-FFF2-40B4-BE49-F238E27FC236}">
                <a16:creationId xmlns:a16="http://schemas.microsoft.com/office/drawing/2014/main" id="{F74400C6-3564-48FA-AE4D-55A2BDA4C4C1}"/>
              </a:ext>
            </a:extLst>
          </p:cNvPr>
          <p:cNvGrpSpPr/>
          <p:nvPr/>
        </p:nvGrpSpPr>
        <p:grpSpPr>
          <a:xfrm>
            <a:off x="541441" y="2537341"/>
            <a:ext cx="11060350" cy="1217608"/>
            <a:chOff x="609599" y="2582209"/>
            <a:chExt cx="11060350" cy="1217608"/>
          </a:xfrm>
        </p:grpSpPr>
        <p:sp>
          <p:nvSpPr>
            <p:cNvPr id="9" name="TextBox 8"/>
            <p:cNvSpPr txBox="1"/>
            <p:nvPr/>
          </p:nvSpPr>
          <p:spPr>
            <a:xfrm>
              <a:off x="697149" y="2582209"/>
              <a:ext cx="10972800" cy="488788"/>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FF0000"/>
                  </a:solidFill>
                  <a:latin typeface="Times New Roman"/>
                </a:defRPr>
              </a:pPr>
              <a:r>
                <a:rPr sz="1400" b="0" dirty="0">
                  <a:solidFill>
                    <a:srgbClr val="FF0000"/>
                  </a:solidFill>
                  <a:latin typeface="Times New Roman"/>
                </a:rPr>
                <a:t>Start utilizing the literature review to </a:t>
              </a:r>
              <a:r>
                <a:rPr sz="1600" b="1" dirty="0">
                  <a:solidFill>
                    <a:srgbClr val="FF0000"/>
                  </a:solidFill>
                  <a:latin typeface="Times New Roman"/>
                </a:rPr>
                <a:t>narrow down methodology between discrete event simulation </a:t>
              </a:r>
              <a:r>
                <a:rPr sz="1400" b="0" dirty="0">
                  <a:solidFill>
                    <a:srgbClr val="FF0000"/>
                  </a:solidFill>
                  <a:latin typeface="Times New Roman"/>
                </a:rPr>
                <a:t>and system dynamic simulation. [06 Sep 2026]</a:t>
              </a:r>
            </a:p>
          </p:txBody>
        </p:sp>
        <p:sp>
          <p:nvSpPr>
            <p:cNvPr id="10" name="TextBox 9"/>
            <p:cNvSpPr txBox="1"/>
            <p:nvPr/>
          </p:nvSpPr>
          <p:spPr>
            <a:xfrm>
              <a:off x="609599" y="3170414"/>
              <a:ext cx="10972800" cy="629403"/>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200" b="1" dirty="0">
                  <a:solidFill>
                    <a:srgbClr val="000000"/>
                  </a:solidFill>
                  <a:latin typeface="Times New Roman"/>
                </a:rPr>
                <a:t>Discrete Event Simulation (DES) is the working selection. The literature register supports the choice through queueing, compute-resource, failure, availability and Monte Carlo examples.</a:t>
              </a:r>
            </a:p>
            <a:p>
              <a:r>
                <a:rPr sz="1200" b="1" dirty="0">
                  <a:solidFill>
                    <a:srgbClr val="000000"/>
                  </a:solidFill>
                  <a:latin typeface="Times New Roman"/>
                </a:rPr>
                <a:t>System Dynamics remains a previously submitted option, not the active method. [16 Sep 2026]</a:t>
              </a:r>
              <a:r>
                <a:rPr lang="en-US" sz="1200" b="1" dirty="0">
                  <a:solidFill>
                    <a:srgbClr val="000000"/>
                  </a:solidFill>
                  <a:latin typeface="Times New Roman"/>
                </a:rPr>
                <a:t> HW 8 and Cal’s Cars.  Dr </a:t>
              </a:r>
              <a:r>
                <a:rPr lang="en-US" sz="1200" b="1" dirty="0" err="1">
                  <a:solidFill>
                    <a:srgbClr val="000000"/>
                  </a:solidFill>
                  <a:latin typeface="Times New Roman"/>
                </a:rPr>
                <a:t>Mazzuchi</a:t>
              </a:r>
              <a:r>
                <a:rPr lang="en-US" sz="1200" b="1" dirty="0">
                  <a:solidFill>
                    <a:srgbClr val="000000"/>
                  </a:solidFill>
                  <a:latin typeface="Times New Roman"/>
                </a:rPr>
                <a:t> assignment re-configured.</a:t>
              </a:r>
              <a:endParaRPr sz="1200" b="1" dirty="0">
                <a:solidFill>
                  <a:srgbClr val="000000"/>
                </a:solidFill>
                <a:latin typeface="Times New Roman"/>
              </a:endParaRPr>
            </a:p>
          </p:txBody>
        </p:sp>
      </p:grpSp>
      <p:grpSp>
        <p:nvGrpSpPr>
          <p:cNvPr id="13" name="Group 12">
            <a:extLst>
              <a:ext uri="{FF2B5EF4-FFF2-40B4-BE49-F238E27FC236}">
                <a16:creationId xmlns:a16="http://schemas.microsoft.com/office/drawing/2014/main" id="{F5A9BC0C-99B0-2AF6-1B97-F6D46F66BBAE}"/>
              </a:ext>
            </a:extLst>
          </p:cNvPr>
          <p:cNvGrpSpPr/>
          <p:nvPr/>
        </p:nvGrpSpPr>
        <p:grpSpPr>
          <a:xfrm>
            <a:off x="697149" y="4099774"/>
            <a:ext cx="10972800" cy="1283543"/>
            <a:chOff x="697149" y="4099774"/>
            <a:chExt cx="10972800" cy="1283543"/>
          </a:xfrm>
        </p:grpSpPr>
        <p:sp>
          <p:nvSpPr>
            <p:cNvPr id="11" name="TextBox 10"/>
            <p:cNvSpPr txBox="1"/>
            <p:nvPr/>
          </p:nvSpPr>
          <p:spPr>
            <a:xfrm>
              <a:off x="697149" y="4099774"/>
              <a:ext cx="10972800" cy="456472"/>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FF0000"/>
                  </a:solidFill>
                  <a:latin typeface="Times New Roman"/>
                </a:defRPr>
              </a:pPr>
              <a:r>
                <a:rPr sz="1400" b="0" dirty="0">
                  <a:solidFill>
                    <a:srgbClr val="FF0000"/>
                  </a:solidFill>
                  <a:latin typeface="Times New Roman"/>
                </a:rPr>
                <a:t>Need to lock in data sources soon. Make sure all data from external institutions are for public release and available to the public (</a:t>
              </a:r>
              <a:r>
                <a:rPr sz="1400" b="0" dirty="0" err="1">
                  <a:solidFill>
                    <a:srgbClr val="FF0000"/>
                  </a:solidFill>
                  <a:latin typeface="Times New Roman"/>
                </a:rPr>
                <a:t>github</a:t>
              </a:r>
              <a:r>
                <a:rPr sz="1400" b="0" dirty="0">
                  <a:solidFill>
                    <a:srgbClr val="FF0000"/>
                  </a:solidFill>
                  <a:latin typeface="Times New Roman"/>
                </a:rPr>
                <a:t>, </a:t>
              </a:r>
              <a:r>
                <a:rPr sz="1400" b="0" dirty="0" err="1">
                  <a:solidFill>
                    <a:srgbClr val="FF0000"/>
                  </a:solidFill>
                  <a:latin typeface="Times New Roman"/>
                </a:rPr>
                <a:t>dropbox</a:t>
              </a:r>
              <a:r>
                <a:rPr sz="1400" b="0" dirty="0">
                  <a:solidFill>
                    <a:srgbClr val="FF0000"/>
                  </a:solidFill>
                  <a:latin typeface="Times New Roman"/>
                </a:rPr>
                <a:t>, etc.). [06 Sep 2026]</a:t>
              </a:r>
            </a:p>
          </p:txBody>
        </p:sp>
        <p:sp>
          <p:nvSpPr>
            <p:cNvPr id="12" name="TextBox 11"/>
            <p:cNvSpPr txBox="1"/>
            <p:nvPr/>
          </p:nvSpPr>
          <p:spPr>
            <a:xfrm>
              <a:off x="697149" y="4669275"/>
              <a:ext cx="10972800" cy="714042"/>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400" b="0" dirty="0">
                  <a:solidFill>
                    <a:srgbClr val="000000"/>
                  </a:solidFill>
                  <a:latin typeface="Times New Roman"/>
                </a:rPr>
                <a:t>Sources are now separated into direct network measurements and environmental inputs.</a:t>
              </a:r>
              <a:endParaRPr lang="en-US" sz="1050" b="0" dirty="0">
                <a:solidFill>
                  <a:srgbClr val="000000"/>
                </a:solidFill>
                <a:latin typeface="Times New Roman"/>
              </a:endParaRPr>
            </a:p>
            <a:p>
              <a:r>
                <a:rPr sz="1400" b="0" dirty="0">
                  <a:solidFill>
                    <a:srgbClr val="000000"/>
                  </a:solidFill>
                  <a:latin typeface="Times New Roman"/>
                </a:rPr>
                <a:t>Germany/</a:t>
              </a:r>
              <a:r>
                <a:rPr sz="1400" b="0" dirty="0" err="1">
                  <a:solidFill>
                    <a:srgbClr val="000000"/>
                  </a:solidFill>
                  <a:latin typeface="Times New Roman"/>
                </a:rPr>
                <a:t>WetLinks</a:t>
              </a:r>
              <a:r>
                <a:rPr sz="1400" b="0" dirty="0">
                  <a:solidFill>
                    <a:srgbClr val="000000"/>
                  </a:solidFill>
                  <a:latin typeface="Times New Roman"/>
                </a:rPr>
                <a:t> provides public network files; Canada/LENS clarification is pending. Australia, SANSA, Japan/NICT and NOAA/NCEI support environmental disturbance inputs. Exact file, field, timestamp, reuse and citation checks remain open. [16 Sep 2026]</a:t>
              </a:r>
            </a:p>
          </p:txBody>
        </p:sp>
      </p:grpSp>
    </p:spTree>
    <p:extLst>
      <p:ext uri="{BB962C8B-B14F-4D97-AF65-F5344CB8AC3E}">
        <p14:creationId xmlns:p14="http://schemas.microsoft.com/office/powerpoint/2010/main" val="2022638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483495" y="316733"/>
            <a:ext cx="7756263" cy="593766"/>
          </a:xfrm>
          <a:prstGeom prst="rect">
            <a:avLst/>
          </a:prstGeom>
        </p:spPr>
        <p:txBody>
          <a:bodyPr>
            <a:normAutofit fontScale="90000"/>
          </a:bodyPr>
          <a:lstStyle/>
          <a:p>
            <a:r>
              <a:rPr lang="en-US" sz="3600" dirty="0"/>
              <a:t>Progress Since Last Meeting</a:t>
            </a:r>
          </a:p>
        </p:txBody>
      </p:sp>
      <p:sp>
        <p:nvSpPr>
          <p:cNvPr id="2" name="TextBox 1">
            <a:extLst>
              <a:ext uri="{FF2B5EF4-FFF2-40B4-BE49-F238E27FC236}">
                <a16:creationId xmlns:a16="http://schemas.microsoft.com/office/drawing/2014/main" id="{D5960C9F-155B-2768-51BD-BCDE160F53CF}"/>
              </a:ext>
            </a:extLst>
          </p:cNvPr>
          <p:cNvSpPr txBox="1"/>
          <p:nvPr/>
        </p:nvSpPr>
        <p:spPr>
          <a:xfrm>
            <a:off x="5084323" y="6154524"/>
            <a:ext cx="2023353" cy="369332"/>
          </a:xfrm>
          <a:prstGeom prst="rect">
            <a:avLst/>
          </a:prstGeom>
          <a:noFill/>
        </p:spPr>
        <p:txBody>
          <a:bodyPr wrap="square" rtlCol="0">
            <a:spAutoFit/>
          </a:bodyPr>
          <a:lstStyle/>
          <a:p>
            <a:pPr algn="ctr"/>
            <a:r>
              <a:rPr lang="en-US" dirty="0">
                <a:solidFill>
                  <a:schemeClr val="bg1"/>
                </a:solidFill>
              </a:rPr>
              <a:t>3 of 5</a:t>
            </a:r>
          </a:p>
        </p:txBody>
      </p:sp>
      <p:sp>
        <p:nvSpPr>
          <p:cNvPr id="7" name="TextBox 6"/>
          <p:cNvSpPr txBox="1"/>
          <p:nvPr/>
        </p:nvSpPr>
        <p:spPr>
          <a:xfrm>
            <a:off x="585216" y="1060704"/>
            <a:ext cx="10991088" cy="169726"/>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650" b="0">
                <a:solidFill>
                  <a:srgbClr val="000000"/>
                </a:solidFill>
                <a:latin typeface="Times New Roman"/>
              </a:rPr>
              <a:t>Updated appendix slides 7–12: civil problem/thesis, refined questions/hypotheses, references, data sources and DES design. [16 Sep 2026]</a:t>
            </a:r>
          </a:p>
        </p:txBody>
      </p:sp>
      <p:sp>
        <p:nvSpPr>
          <p:cNvPr id="8" name="TextBox 7"/>
          <p:cNvSpPr txBox="1"/>
          <p:nvPr/>
        </p:nvSpPr>
        <p:spPr>
          <a:xfrm>
            <a:off x="585216" y="1336688"/>
            <a:ext cx="10991088" cy="369781"/>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000" b="0" dirty="0">
                <a:solidFill>
                  <a:srgbClr val="000000"/>
                </a:solidFill>
                <a:latin typeface="Times New Roman"/>
              </a:rPr>
              <a:t>Literature register: 31 distinct works, all cataloged as GWU D.Eng. Praxes. </a:t>
            </a:r>
            <a:endParaRPr lang="en-US" sz="1000" b="0" dirty="0">
              <a:solidFill>
                <a:srgbClr val="000000"/>
              </a:solidFill>
              <a:latin typeface="Times New Roman"/>
            </a:endParaRPr>
          </a:p>
          <a:p>
            <a:pPr>
              <a:lnSpc>
                <a:spcPct val="105000"/>
              </a:lnSpc>
              <a:spcBef>
                <a:spcPts val="0"/>
              </a:spcBef>
              <a:spcAft>
                <a:spcPts val="300"/>
              </a:spcAft>
              <a:defRPr sz="1000" b="0">
                <a:solidFill>
                  <a:srgbClr val="000000"/>
                </a:solidFill>
                <a:latin typeface="Times New Roman"/>
              </a:defRPr>
            </a:pPr>
            <a:r>
              <a:rPr sz="1000" b="0" dirty="0">
                <a:solidFill>
                  <a:srgbClr val="000000"/>
                </a:solidFill>
                <a:latin typeface="Times New Roman"/>
              </a:rPr>
              <a:t>Other source types are shown in the five foundational references on slide 10. </a:t>
            </a:r>
            <a:endParaRPr lang="en-US" sz="1000" b="0" dirty="0">
              <a:solidFill>
                <a:srgbClr val="000000"/>
              </a:solidFill>
              <a:latin typeface="Times New Roman"/>
            </a:endParaRPr>
          </a:p>
        </p:txBody>
      </p:sp>
      <p:sp>
        <p:nvSpPr>
          <p:cNvPr id="9" name="TextBox 8"/>
          <p:cNvSpPr txBox="1"/>
          <p:nvPr/>
        </p:nvSpPr>
        <p:spPr>
          <a:xfrm>
            <a:off x="585216" y="2130752"/>
            <a:ext cx="10991088" cy="369781"/>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000" b="0" dirty="0">
                <a:solidFill>
                  <a:srgbClr val="000000"/>
                </a:solidFill>
                <a:latin typeface="Times New Roman"/>
              </a:rPr>
              <a:t>Selection criteria: method fit 25 + metric fit 20 + tool/data/V&amp;V fit 15 = 60 of 100 points. </a:t>
            </a:r>
            <a:endParaRPr lang="en-US" sz="1000" b="0" dirty="0">
              <a:solidFill>
                <a:srgbClr val="000000"/>
              </a:solidFill>
              <a:latin typeface="Times New Roman"/>
            </a:endParaRPr>
          </a:p>
          <a:p>
            <a:pPr>
              <a:lnSpc>
                <a:spcPct val="105000"/>
              </a:lnSpc>
              <a:spcBef>
                <a:spcPts val="0"/>
              </a:spcBef>
              <a:spcAft>
                <a:spcPts val="300"/>
              </a:spcAft>
              <a:defRPr sz="1000" b="0">
                <a:solidFill>
                  <a:srgbClr val="000000"/>
                </a:solidFill>
                <a:latin typeface="Times New Roman"/>
              </a:defRPr>
            </a:pPr>
            <a:r>
              <a:rPr sz="1000" b="0" dirty="0">
                <a:solidFill>
                  <a:srgbClr val="000000"/>
                </a:solidFill>
                <a:latin typeface="Times New Roman"/>
              </a:rPr>
              <a:t>Remaining criteria: domain 20, AIS-layer 10 and transferability 10; scoring retained as recorded. [13 Sep 2026]</a:t>
            </a:r>
          </a:p>
        </p:txBody>
      </p:sp>
      <p:sp>
        <p:nvSpPr>
          <p:cNvPr id="10" name="TextBox 9"/>
          <p:cNvSpPr txBox="1"/>
          <p:nvPr/>
        </p:nvSpPr>
        <p:spPr>
          <a:xfrm>
            <a:off x="585216" y="2688536"/>
            <a:ext cx="10991088" cy="246888"/>
          </a:xfrm>
          <a:prstGeom prst="rect">
            <a:avLst/>
          </a:prstGeom>
          <a:solidFill>
            <a:srgbClr val="E7EEF3"/>
          </a:solidFill>
        </p:spPr>
        <p:txBody>
          <a:bodyPr wrap="square" lIns="13716" tIns="9144" rIns="13716" bIns="9144">
            <a:spAutoFit/>
          </a:bodyPr>
          <a:lstStyle/>
          <a:p>
            <a:pPr>
              <a:lnSpc>
                <a:spcPct val="105000"/>
              </a:lnSpc>
              <a:spcBef>
                <a:spcPts val="0"/>
              </a:spcBef>
              <a:spcAft>
                <a:spcPts val="300"/>
              </a:spcAft>
              <a:defRPr sz="1000" b="1">
                <a:solidFill>
                  <a:srgbClr val="000000"/>
                </a:solidFill>
                <a:latin typeface="Times New Roman"/>
              </a:defRPr>
            </a:pPr>
            <a:r>
              <a:rPr sz="650" b="1">
                <a:solidFill>
                  <a:srgbClr val="000000"/>
                </a:solidFill>
                <a:latin typeface="Times New Roman"/>
              </a:rPr>
              <a:t>GWU CITATION SNAPSHOT — selected methodological examples from the register [16 Sep 2026]</a:t>
            </a:r>
          </a:p>
        </p:txBody>
      </p:sp>
      <p:graphicFrame>
        <p:nvGraphicFramePr>
          <p:cNvPr id="11" name="Table 10"/>
          <p:cNvGraphicFramePr>
            <a:graphicFrameLocks noGrp="1"/>
          </p:cNvGraphicFramePr>
          <p:nvPr>
            <p:extLst>
              <p:ext uri="{D42A27DB-BD31-4B8C-83A1-F6EECF244321}">
                <p14:modId xmlns:p14="http://schemas.microsoft.com/office/powerpoint/2010/main" val="47271860"/>
              </p:ext>
            </p:extLst>
          </p:nvPr>
        </p:nvGraphicFramePr>
        <p:xfrm>
          <a:off x="585216" y="2990288"/>
          <a:ext cx="10991088" cy="19202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498848">
                  <a:extLst>
                    <a:ext uri="{9D8B030D-6E8A-4147-A177-3AD203B41FA5}">
                      <a16:colId xmlns:a16="http://schemas.microsoft.com/office/drawing/2014/main" val="20002"/>
                    </a:ext>
                  </a:extLst>
                </a:gridCol>
              </a:tblGrid>
              <a:tr h="274320">
                <a:tc>
                  <a:txBody>
                    <a:bodyPr/>
                    <a:lstStyle/>
                    <a:p>
                      <a:pPr>
                        <a:lnSpc>
                          <a:spcPct val="103000"/>
                        </a:lnSpc>
                        <a:spcBef>
                          <a:spcPts val="0"/>
                        </a:spcBef>
                        <a:spcAft>
                          <a:spcPts val="0"/>
                        </a:spcAft>
                        <a:defRPr sz="1000" b="1">
                          <a:solidFill>
                            <a:srgbClr val="000000"/>
                          </a:solidFill>
                          <a:latin typeface="Times New Roman"/>
                        </a:defRPr>
                      </a:pPr>
                      <a:r>
                        <a:rPr sz="1000" b="1">
                          <a:solidFill>
                            <a:srgbClr val="000000"/>
                          </a:solidFill>
                          <a:latin typeface="Times New Roman"/>
                        </a:rPr>
                        <a:t>Author / year</a:t>
                      </a:r>
                    </a:p>
                  </a:txBody>
                  <a:tcPr marL="68580" marR="68580" marT="36576" marB="22860" anchor="ctr">
                    <a:solidFill>
                      <a:srgbClr val="E7EEF3"/>
                    </a:solidFill>
                  </a:tcPr>
                </a:tc>
                <a:tc>
                  <a:txBody>
                    <a:bodyPr/>
                    <a:lstStyle/>
                    <a:p>
                      <a:pPr>
                        <a:lnSpc>
                          <a:spcPct val="103000"/>
                        </a:lnSpc>
                        <a:spcBef>
                          <a:spcPts val="0"/>
                        </a:spcBef>
                        <a:spcAft>
                          <a:spcPts val="0"/>
                        </a:spcAft>
                        <a:defRPr sz="1000" b="1">
                          <a:solidFill>
                            <a:srgbClr val="000000"/>
                          </a:solidFill>
                          <a:latin typeface="Times New Roman"/>
                        </a:defRPr>
                      </a:pPr>
                      <a:r>
                        <a:rPr sz="1000" b="1">
                          <a:solidFill>
                            <a:srgbClr val="000000"/>
                          </a:solidFill>
                          <a:latin typeface="Times New Roman"/>
                        </a:rPr>
                        <a:t>Registered work — short title</a:t>
                      </a:r>
                    </a:p>
                  </a:txBody>
                  <a:tcPr marL="68580" marR="68580" marT="36576" marB="22860" anchor="ctr">
                    <a:solidFill>
                      <a:srgbClr val="E7EEF3"/>
                    </a:solidFill>
                  </a:tcPr>
                </a:tc>
                <a:tc>
                  <a:txBody>
                    <a:bodyPr/>
                    <a:lstStyle/>
                    <a:p>
                      <a:pPr>
                        <a:lnSpc>
                          <a:spcPct val="103000"/>
                        </a:lnSpc>
                        <a:spcBef>
                          <a:spcPts val="0"/>
                        </a:spcBef>
                        <a:spcAft>
                          <a:spcPts val="0"/>
                        </a:spcAft>
                        <a:defRPr sz="1000" b="1">
                          <a:solidFill>
                            <a:srgbClr val="000000"/>
                          </a:solidFill>
                          <a:latin typeface="Times New Roman"/>
                        </a:defRPr>
                      </a:pPr>
                      <a:r>
                        <a:rPr sz="1000" b="1">
                          <a:solidFill>
                            <a:srgbClr val="000000"/>
                          </a:solidFill>
                          <a:latin typeface="Times New Roman"/>
                        </a:rPr>
                        <a:t>Method / relevance recorded</a:t>
                      </a:r>
                    </a:p>
                  </a:txBody>
                  <a:tcPr marL="68580" marR="68580" marT="36576" marB="22860" anchor="ctr">
                    <a:solidFill>
                      <a:srgbClr val="E7EEF3"/>
                    </a:solidFill>
                  </a:tcPr>
                </a:tc>
                <a:extLst>
                  <a:ext uri="{0D108BD9-81ED-4DB2-BD59-A6C34878D82A}">
                    <a16:rowId xmlns:a16="http://schemas.microsoft.com/office/drawing/2014/main" val="10000"/>
                  </a:ext>
                </a:extLst>
              </a:tr>
              <a:tr h="329184">
                <a:tc>
                  <a:txBody>
                    <a:bodyPr/>
                    <a:lstStyle/>
                    <a:p>
                      <a:pPr>
                        <a:lnSpc>
                          <a:spcPct val="103000"/>
                        </a:lnSpc>
                        <a:spcBef>
                          <a:spcPts val="0"/>
                        </a:spcBef>
                        <a:spcAft>
                          <a:spcPts val="0"/>
                        </a:spcAft>
                        <a:defRPr sz="1000" b="0">
                          <a:solidFill>
                            <a:srgbClr val="000000"/>
                          </a:solidFill>
                          <a:latin typeface="Times New Roman"/>
                        </a:defRPr>
                      </a:pPr>
                      <a:r>
                        <a:rPr sz="1000" b="0" dirty="0">
                          <a:solidFill>
                            <a:srgbClr val="000000"/>
                          </a:solidFill>
                          <a:latin typeface="Times New Roman"/>
                        </a:rPr>
                        <a:t>Browne (2024)</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EV charging: arrivals, utilization and wait times</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1000" b="0" dirty="0">
                          <a:solidFill>
                            <a:srgbClr val="000000"/>
                          </a:solidFill>
                          <a:latin typeface="Times New Roman"/>
                        </a:rPr>
                        <a:t>DES / Monte Carlo; queueing and congestion</a:t>
                      </a:r>
                    </a:p>
                  </a:txBody>
                  <a:tcPr marL="68580" marR="68580" marT="36576" marB="22860" anchor="ctr">
                    <a:solidFill>
                      <a:srgbClr val="FFFFFF"/>
                    </a:solidFill>
                  </a:tcPr>
                </a:tc>
                <a:extLst>
                  <a:ext uri="{0D108BD9-81ED-4DB2-BD59-A6C34878D82A}">
                    <a16:rowId xmlns:a16="http://schemas.microsoft.com/office/drawing/2014/main" val="10001"/>
                  </a:ext>
                </a:extLst>
              </a:tr>
              <a:tr h="329184">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Littlefield (2017)</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1000" b="0" dirty="0">
                          <a:solidFill>
                            <a:srgbClr val="000000"/>
                          </a:solidFill>
                          <a:latin typeface="Times New Roman"/>
                        </a:rPr>
                        <a:t>Reliability of highly parallel systems</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1000" b="0" dirty="0">
                          <a:solidFill>
                            <a:srgbClr val="000000"/>
                          </a:solidFill>
                          <a:latin typeface="Times New Roman"/>
                        </a:rPr>
                        <a:t>DES; failures, redundancy and reliability</a:t>
                      </a:r>
                    </a:p>
                  </a:txBody>
                  <a:tcPr marL="68580" marR="68580" marT="36576" marB="22860" anchor="ctr">
                    <a:solidFill>
                      <a:srgbClr val="F6F8FA"/>
                    </a:solidFill>
                  </a:tcPr>
                </a:tc>
                <a:extLst>
                  <a:ext uri="{0D108BD9-81ED-4DB2-BD59-A6C34878D82A}">
                    <a16:rowId xmlns:a16="http://schemas.microsoft.com/office/drawing/2014/main" val="10002"/>
                  </a:ext>
                </a:extLst>
              </a:tr>
              <a:tr h="329184">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Shanbhag (2021)</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Overcommitment on cloud-computing workloads</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DES; finite compute resources and overload</a:t>
                      </a:r>
                    </a:p>
                  </a:txBody>
                  <a:tcPr marL="68580" marR="68580" marT="36576" marB="22860" anchor="ctr">
                    <a:solidFill>
                      <a:srgbClr val="FFFFFF"/>
                    </a:solidFill>
                  </a:tcPr>
                </a:tc>
                <a:extLst>
                  <a:ext uri="{0D108BD9-81ED-4DB2-BD59-A6C34878D82A}">
                    <a16:rowId xmlns:a16="http://schemas.microsoft.com/office/drawing/2014/main" val="10003"/>
                  </a:ext>
                </a:extLst>
              </a:tr>
              <a:tr h="329184">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Newell (2023)</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Spare-part quantities and obsolescence cycles</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DES; failures, repair and operational availability</a:t>
                      </a:r>
                    </a:p>
                  </a:txBody>
                  <a:tcPr marL="68580" marR="68580" marT="36576" marB="22860" anchor="ctr">
                    <a:solidFill>
                      <a:srgbClr val="F6F8FA"/>
                    </a:solidFill>
                  </a:tcPr>
                </a:tc>
                <a:extLst>
                  <a:ext uri="{0D108BD9-81ED-4DB2-BD59-A6C34878D82A}">
                    <a16:rowId xmlns:a16="http://schemas.microsoft.com/office/drawing/2014/main" val="10004"/>
                  </a:ext>
                </a:extLst>
              </a:tr>
              <a:tr h="329184">
                <a:tc>
                  <a:txBody>
                    <a:bodyPr/>
                    <a:lstStyle/>
                    <a:p>
                      <a:pPr>
                        <a:lnSpc>
                          <a:spcPct val="103000"/>
                        </a:lnSpc>
                        <a:spcBef>
                          <a:spcPts val="0"/>
                        </a:spcBef>
                        <a:spcAft>
                          <a:spcPts val="0"/>
                        </a:spcAft>
                        <a:defRPr sz="1000" b="0">
                          <a:solidFill>
                            <a:srgbClr val="000000"/>
                          </a:solidFill>
                          <a:latin typeface="Times New Roman"/>
                        </a:defRPr>
                      </a:pPr>
                      <a:r>
                        <a:rPr sz="1000" b="0">
                          <a:solidFill>
                            <a:srgbClr val="000000"/>
                          </a:solidFill>
                          <a:latin typeface="Times New Roman"/>
                        </a:rPr>
                        <a:t>Devineni (2023)</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1000" b="0" dirty="0">
                          <a:solidFill>
                            <a:srgbClr val="000000"/>
                          </a:solidFill>
                          <a:latin typeface="Times New Roman"/>
                        </a:rPr>
                        <a:t>IT service incident resolution times</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1000" b="0" dirty="0">
                          <a:solidFill>
                            <a:srgbClr val="000000"/>
                          </a:solidFill>
                          <a:latin typeface="Times New Roman"/>
                        </a:rPr>
                        <a:t>DES / Monte Carlo; waiting and resolution time</a:t>
                      </a:r>
                    </a:p>
                  </a:txBody>
                  <a:tcPr marL="68580" marR="68580" marT="36576" marB="22860" anchor="ct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585216" y="5111696"/>
            <a:ext cx="10991088" cy="169726"/>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640" b="1">
                <a:solidFill>
                  <a:srgbClr val="000000"/>
                </a:solidFill>
                <a:latin typeface="Times New Roman"/>
              </a:rPr>
              <a:t>Data-source progress: WetLinks/Germany and Australia links received; SANSA and NOAA/NCEI clarified environmental-only scope; NICT responded; Canada/LENS remains pending.</a:t>
            </a:r>
            <a:endParaRPr lang="en-US" sz="1000" b="0" dirty="0">
              <a:solidFill>
                <a:srgbClr val="000000"/>
              </a:solidFill>
              <a:latin typeface="Times New Roman"/>
            </a:endParaRPr>
          </a:p>
          <a:p>
            <a:r>
              <a:rPr sz="640" b="1">
                <a:solidFill>
                  <a:srgbClr val="000000"/>
                </a:solidFill>
                <a:latin typeface="Times New Roman"/>
              </a:rPr>
              <a:t>Expanded register separates direct-network candidates from environmental-support sources and records contact bounces separately. [16 Sep 2026]</a:t>
            </a:r>
          </a:p>
        </p:txBody>
      </p:sp>
      <p:sp>
        <p:nvSpPr>
          <p:cNvPr id="3" name="TextBox 2">
            <a:extLst>
              <a:ext uri="{FF2B5EF4-FFF2-40B4-BE49-F238E27FC236}">
                <a16:creationId xmlns:a16="http://schemas.microsoft.com/office/drawing/2014/main" id="{1677B785-A8A2-F912-2587-F90BDC994F98}"/>
              </a:ext>
            </a:extLst>
          </p:cNvPr>
          <p:cNvSpPr txBox="1"/>
          <p:nvPr/>
        </p:nvSpPr>
        <p:spPr>
          <a:xfrm>
            <a:off x="483495" y="1816945"/>
            <a:ext cx="3756606" cy="369332"/>
          </a:xfrm>
          <a:prstGeom prst="rect">
            <a:avLst/>
          </a:prstGeom>
          <a:noFill/>
        </p:spPr>
        <p:txBody>
          <a:bodyPr wrap="none" rtlCol="0">
            <a:spAutoFit/>
          </a:bodyPr>
          <a:lstStyle/>
          <a:p>
            <a:r>
              <a:rPr lang="en-US" dirty="0"/>
              <a:t>Rubric – Scoring and Grading Criteria</a:t>
            </a:r>
          </a:p>
        </p:txBody>
      </p:sp>
    </p:spTree>
    <p:extLst>
      <p:ext uri="{BB962C8B-B14F-4D97-AF65-F5344CB8AC3E}">
        <p14:creationId xmlns:p14="http://schemas.microsoft.com/office/powerpoint/2010/main" val="3901775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483495" y="316733"/>
            <a:ext cx="7756263" cy="593766"/>
          </a:xfrm>
          <a:prstGeom prst="rect">
            <a:avLst/>
          </a:prstGeom>
        </p:spPr>
        <p:txBody>
          <a:bodyPr>
            <a:normAutofit fontScale="90000"/>
          </a:bodyPr>
          <a:lstStyle/>
          <a:p>
            <a:r>
              <a:rPr lang="en-US" sz="3600" dirty="0"/>
              <a:t>Issues Encountered and Setbacks</a:t>
            </a:r>
          </a:p>
        </p:txBody>
      </p:sp>
      <p:sp>
        <p:nvSpPr>
          <p:cNvPr id="4" name="TextBox 3">
            <a:extLst>
              <a:ext uri="{FF2B5EF4-FFF2-40B4-BE49-F238E27FC236}">
                <a16:creationId xmlns:a16="http://schemas.microsoft.com/office/drawing/2014/main" id="{DF2A5C0B-AA60-B2EA-375B-0A1C5EDC76AD}"/>
              </a:ext>
            </a:extLst>
          </p:cNvPr>
          <p:cNvSpPr txBox="1"/>
          <p:nvPr/>
        </p:nvSpPr>
        <p:spPr>
          <a:xfrm>
            <a:off x="5084323" y="6171935"/>
            <a:ext cx="2023353" cy="369332"/>
          </a:xfrm>
          <a:prstGeom prst="rect">
            <a:avLst/>
          </a:prstGeom>
          <a:noFill/>
        </p:spPr>
        <p:txBody>
          <a:bodyPr wrap="square" rtlCol="0">
            <a:spAutoFit/>
          </a:bodyPr>
          <a:lstStyle/>
          <a:p>
            <a:pPr algn="ctr"/>
            <a:r>
              <a:rPr lang="en-US" dirty="0">
                <a:solidFill>
                  <a:schemeClr val="bg1"/>
                </a:solidFill>
              </a:rPr>
              <a:t>4 of 5</a:t>
            </a:r>
          </a:p>
        </p:txBody>
      </p:sp>
      <p:sp>
        <p:nvSpPr>
          <p:cNvPr id="8" name="TextBox 7"/>
          <p:cNvSpPr txBox="1"/>
          <p:nvPr/>
        </p:nvSpPr>
        <p:spPr>
          <a:xfrm>
            <a:off x="600455" y="1308681"/>
            <a:ext cx="10991088" cy="777521"/>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600" b="0" dirty="0">
                <a:solidFill>
                  <a:srgbClr val="000000"/>
                </a:solidFill>
                <a:latin typeface="Times New Roman"/>
              </a:rPr>
              <a:t>Public links and correspondence are available, but exact file selection, timestamp coverage, field definitions, numerical samples and reuse conditions remain to be completed. [16 Sep 2026]</a:t>
            </a:r>
            <a:r>
              <a:rPr lang="en-US" sz="1600" b="0" dirty="0">
                <a:solidFill>
                  <a:srgbClr val="000000"/>
                </a:solidFill>
                <a:latin typeface="Times New Roman"/>
              </a:rPr>
              <a:t> – not automating… where am I going every day to get my data pulls…. Routine….  </a:t>
            </a:r>
            <a:endParaRPr sz="1600" b="0" dirty="0">
              <a:solidFill>
                <a:srgbClr val="000000"/>
              </a:solidFill>
              <a:latin typeface="Times New Roman"/>
            </a:endParaRPr>
          </a:p>
        </p:txBody>
      </p:sp>
      <p:sp>
        <p:nvSpPr>
          <p:cNvPr id="9" name="TextBox 8"/>
          <p:cNvSpPr txBox="1"/>
          <p:nvPr/>
        </p:nvSpPr>
        <p:spPr>
          <a:xfrm>
            <a:off x="585216" y="2267382"/>
            <a:ext cx="10991088" cy="498598"/>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400" b="0" dirty="0">
                <a:solidFill>
                  <a:srgbClr val="000000"/>
                </a:solidFill>
                <a:latin typeface="Times New Roman"/>
              </a:rPr>
              <a:t>The service endpoint, outage rule and common units/cadence must be fixed before comparing uptime, downtime, latency and queueing delay.</a:t>
            </a:r>
            <a:endParaRPr lang="en-US" sz="1050" b="0" dirty="0">
              <a:solidFill>
                <a:srgbClr val="000000"/>
              </a:solidFill>
              <a:latin typeface="Times New Roman"/>
            </a:endParaRPr>
          </a:p>
          <a:p>
            <a:r>
              <a:rPr sz="1400" b="0" dirty="0">
                <a:solidFill>
                  <a:srgbClr val="000000"/>
                </a:solidFill>
                <a:latin typeface="Times New Roman"/>
              </a:rPr>
              <a:t>Queueing observations versus simulated queueing also need to be distinguished. [16 Sep 2026]</a:t>
            </a:r>
            <a:r>
              <a:rPr lang="en-US" sz="1400" b="0" dirty="0">
                <a:solidFill>
                  <a:srgbClr val="000000"/>
                </a:solidFill>
                <a:latin typeface="Times New Roman"/>
              </a:rPr>
              <a:t> – normalization.</a:t>
            </a:r>
            <a:endParaRPr sz="1400" b="0" dirty="0">
              <a:solidFill>
                <a:srgbClr val="000000"/>
              </a:solidFill>
              <a:latin typeface="Times New Roman"/>
            </a:endParaRPr>
          </a:p>
        </p:txBody>
      </p:sp>
      <p:sp>
        <p:nvSpPr>
          <p:cNvPr id="10" name="TextBox 9"/>
          <p:cNvSpPr txBox="1"/>
          <p:nvPr/>
        </p:nvSpPr>
        <p:spPr>
          <a:xfrm>
            <a:off x="600455" y="3326238"/>
            <a:ext cx="10991088" cy="498598"/>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400" b="0" dirty="0">
                <a:solidFill>
                  <a:srgbClr val="000000"/>
                </a:solidFill>
                <a:latin typeface="Times New Roman"/>
              </a:rPr>
              <a:t>Environmental records (NOAA/NCEI, ASWFC, SANSA, NICT) are disturbance inputs, not network-performance measurements.</a:t>
            </a:r>
            <a:endParaRPr lang="en-US" sz="1050" b="0" dirty="0">
              <a:solidFill>
                <a:srgbClr val="000000"/>
              </a:solidFill>
              <a:latin typeface="Times New Roman"/>
            </a:endParaRPr>
          </a:p>
          <a:p>
            <a:r>
              <a:rPr sz="1400" b="0" dirty="0">
                <a:solidFill>
                  <a:srgbClr val="000000"/>
                </a:solidFill>
                <a:latin typeface="Times New Roman"/>
              </a:rPr>
              <a:t>LEO network observations will not be represented as direct measurements of a MEO constellation. [16 Sep 2026]</a:t>
            </a:r>
          </a:p>
        </p:txBody>
      </p:sp>
      <p:sp>
        <p:nvSpPr>
          <p:cNvPr id="11" name="TextBox 10"/>
          <p:cNvSpPr txBox="1"/>
          <p:nvPr/>
        </p:nvSpPr>
        <p:spPr>
          <a:xfrm>
            <a:off x="585216" y="4319371"/>
            <a:ext cx="10991088" cy="561692"/>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600" b="0" dirty="0">
                <a:solidFill>
                  <a:srgbClr val="000000"/>
                </a:solidFill>
                <a:latin typeface="Times New Roman"/>
              </a:rPr>
              <a:t>The final submission contains sample input tables and planned runs.</a:t>
            </a:r>
            <a:endParaRPr lang="en-US" sz="1100" b="0" dirty="0">
              <a:solidFill>
                <a:srgbClr val="000000"/>
              </a:solidFill>
              <a:latin typeface="Times New Roman"/>
            </a:endParaRPr>
          </a:p>
          <a:p>
            <a:r>
              <a:rPr sz="1600" b="0" dirty="0">
                <a:solidFill>
                  <a:srgbClr val="000000"/>
                </a:solidFill>
                <a:latin typeface="Times New Roman"/>
              </a:rPr>
              <a:t>No completed DES experiment or validation result is reported yet. [16 Sep 2026]</a:t>
            </a:r>
          </a:p>
        </p:txBody>
      </p:sp>
    </p:spTree>
    <p:extLst>
      <p:ext uri="{BB962C8B-B14F-4D97-AF65-F5344CB8AC3E}">
        <p14:creationId xmlns:p14="http://schemas.microsoft.com/office/powerpoint/2010/main" val="3157497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483495" y="316733"/>
            <a:ext cx="7756263" cy="593766"/>
          </a:xfrm>
          <a:prstGeom prst="rect">
            <a:avLst/>
          </a:prstGeom>
        </p:spPr>
        <p:txBody>
          <a:bodyPr>
            <a:normAutofit fontScale="90000"/>
          </a:bodyPr>
          <a:lstStyle/>
          <a:p>
            <a:r>
              <a:rPr lang="en-US" sz="3600" dirty="0"/>
              <a:t>Tasks for the Next Two Weeks</a:t>
            </a:r>
          </a:p>
        </p:txBody>
      </p:sp>
      <p:sp>
        <p:nvSpPr>
          <p:cNvPr id="2" name="TextBox 1">
            <a:extLst>
              <a:ext uri="{FF2B5EF4-FFF2-40B4-BE49-F238E27FC236}">
                <a16:creationId xmlns:a16="http://schemas.microsoft.com/office/drawing/2014/main" id="{DDDC6DB9-1C88-FF28-0599-2E088B6CBA29}"/>
              </a:ext>
            </a:extLst>
          </p:cNvPr>
          <p:cNvSpPr txBox="1"/>
          <p:nvPr/>
        </p:nvSpPr>
        <p:spPr>
          <a:xfrm>
            <a:off x="5084323" y="6171935"/>
            <a:ext cx="2023353" cy="369332"/>
          </a:xfrm>
          <a:prstGeom prst="rect">
            <a:avLst/>
          </a:prstGeom>
          <a:noFill/>
        </p:spPr>
        <p:txBody>
          <a:bodyPr wrap="square" rtlCol="0">
            <a:spAutoFit/>
          </a:bodyPr>
          <a:lstStyle/>
          <a:p>
            <a:pPr algn="ctr"/>
            <a:r>
              <a:rPr lang="en-US" dirty="0">
                <a:solidFill>
                  <a:schemeClr val="bg1"/>
                </a:solidFill>
              </a:rPr>
              <a:t>5 of 5</a:t>
            </a:r>
          </a:p>
        </p:txBody>
      </p:sp>
      <p:sp>
        <p:nvSpPr>
          <p:cNvPr id="7" name="TextBox 6"/>
          <p:cNvSpPr txBox="1"/>
          <p:nvPr/>
        </p:nvSpPr>
        <p:spPr>
          <a:xfrm>
            <a:off x="400390" y="1116564"/>
            <a:ext cx="10991088" cy="530915"/>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600" b="1" dirty="0">
                <a:solidFill>
                  <a:srgbClr val="000000"/>
                </a:solidFill>
                <a:latin typeface="Times New Roman"/>
              </a:rPr>
              <a:t>Complete a short DES-selection rationale using the registered queueing, compute-resource, failure and availability examples.</a:t>
            </a:r>
            <a:endParaRPr lang="en-US" sz="1100" b="1" dirty="0">
              <a:solidFill>
                <a:srgbClr val="000000"/>
              </a:solidFill>
              <a:latin typeface="Times New Roman"/>
            </a:endParaRPr>
          </a:p>
          <a:p>
            <a:r>
              <a:rPr sz="1400" b="0" dirty="0">
                <a:solidFill>
                  <a:srgbClr val="000000"/>
                </a:solidFill>
                <a:latin typeface="Times New Roman"/>
              </a:rPr>
              <a:t>Present revised scope, questions and hypotheses for advisor agreement. [Planned; 18 Sep 2026]</a:t>
            </a:r>
          </a:p>
        </p:txBody>
      </p:sp>
      <p:sp>
        <p:nvSpPr>
          <p:cNvPr id="9" name="TextBox 8"/>
          <p:cNvSpPr txBox="1"/>
          <p:nvPr/>
        </p:nvSpPr>
        <p:spPr>
          <a:xfrm>
            <a:off x="483495" y="1981333"/>
            <a:ext cx="10991088" cy="518988"/>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600" b="0" dirty="0">
                <a:solidFill>
                  <a:srgbClr val="000000"/>
                </a:solidFill>
                <a:latin typeface="Times New Roman"/>
              </a:rPr>
              <a:t>Define one common service endpoint, uptime/downtime rule, latency interval and queueing-delay measure for both architectures. Select one bounded initial disruption scenario. [Planned; 24 Sep 2026]</a:t>
            </a:r>
          </a:p>
        </p:txBody>
      </p:sp>
      <p:sp>
        <p:nvSpPr>
          <p:cNvPr id="10" name="TextBox 9"/>
          <p:cNvSpPr txBox="1"/>
          <p:nvPr/>
        </p:nvSpPr>
        <p:spPr>
          <a:xfrm>
            <a:off x="483495" y="2798034"/>
            <a:ext cx="10991088" cy="518988"/>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600" b="0" dirty="0">
                <a:solidFill>
                  <a:srgbClr val="000000"/>
                </a:solidFill>
                <a:latin typeface="Times New Roman"/>
              </a:rPr>
              <a:t>Document benchmark/theory comparison, repeated-run approach, fixed seeds and sensitivity checks; distinguish calibration inputs from validation evidence. [Planned; 25 Sep 2026]</a:t>
            </a:r>
          </a:p>
        </p:txBody>
      </p:sp>
      <p:sp>
        <p:nvSpPr>
          <p:cNvPr id="11" name="TextBox 10"/>
          <p:cNvSpPr txBox="1"/>
          <p:nvPr/>
        </p:nvSpPr>
        <p:spPr>
          <a:xfrm>
            <a:off x="585216" y="3765412"/>
            <a:ext cx="10991088" cy="561692"/>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600" b="0" dirty="0">
                <a:solidFill>
                  <a:srgbClr val="000000"/>
                </a:solidFill>
                <a:latin typeface="Times New Roman"/>
              </a:rPr>
              <a:t>Continue Canada/LENS, Japan/NICT and SANSA/NCEI follow-ups; replace bounced Sri Lanka/Bangladesh contacts if still useful.</a:t>
            </a:r>
            <a:endParaRPr lang="en-US" sz="1100" b="0" dirty="0">
              <a:solidFill>
                <a:srgbClr val="000000"/>
              </a:solidFill>
              <a:latin typeface="Times New Roman"/>
            </a:endParaRPr>
          </a:p>
          <a:p>
            <a:r>
              <a:rPr sz="1600" b="0" dirty="0">
                <a:solidFill>
                  <a:srgbClr val="000000"/>
                </a:solidFill>
                <a:latin typeface="Times New Roman"/>
              </a:rPr>
              <a:t>Finalize this update for the 17 Sep submission and 19 Sep advising session. [Target 17 Sep 2026]</a:t>
            </a:r>
          </a:p>
        </p:txBody>
      </p:sp>
    </p:spTree>
    <p:extLst>
      <p:ext uri="{BB962C8B-B14F-4D97-AF65-F5344CB8AC3E}">
        <p14:creationId xmlns:p14="http://schemas.microsoft.com/office/powerpoint/2010/main" val="2553896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3143E-1786-AB31-454B-F69289F0DC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6B959D-0480-8FF1-32BA-E8C664EF4643}"/>
              </a:ext>
            </a:extLst>
          </p:cNvPr>
          <p:cNvSpPr>
            <a:spLocks noGrp="1"/>
          </p:cNvSpPr>
          <p:nvPr>
            <p:ph idx="1"/>
          </p:nvPr>
        </p:nvSpPr>
        <p:spPr>
          <a:xfrm>
            <a:off x="564204" y="2081719"/>
            <a:ext cx="10695467" cy="2949986"/>
          </a:xfrm>
        </p:spPr>
        <p:txBody>
          <a:bodyPr/>
          <a:lstStyle/>
          <a:p>
            <a:pPr marL="0" indent="0" algn="ctr">
              <a:buNone/>
            </a:pPr>
            <a:r>
              <a:rPr lang="en-US" sz="6000" b="1" dirty="0">
                <a:solidFill>
                  <a:schemeClr val="tx1"/>
                </a:solidFill>
              </a:rPr>
              <a:t>Appendix</a:t>
            </a:r>
            <a:endParaRPr lang="en-US" sz="3600" b="1" dirty="0">
              <a:solidFill>
                <a:schemeClr val="tx1"/>
              </a:solidFill>
            </a:endParaRPr>
          </a:p>
        </p:txBody>
      </p:sp>
    </p:spTree>
    <p:extLst>
      <p:ext uri="{BB962C8B-B14F-4D97-AF65-F5344CB8AC3E}">
        <p14:creationId xmlns:p14="http://schemas.microsoft.com/office/powerpoint/2010/main" val="3789733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C1DE5-3747-D77B-115E-95A86BD1587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8C6BF2E-5B86-1A94-E314-E1707F75E5E8}"/>
              </a:ext>
            </a:extLst>
          </p:cNvPr>
          <p:cNvSpPr>
            <a:spLocks noGrp="1"/>
          </p:cNvSpPr>
          <p:nvPr>
            <p:ph type="title"/>
          </p:nvPr>
        </p:nvSpPr>
        <p:spPr>
          <a:xfrm>
            <a:off x="483495" y="316733"/>
            <a:ext cx="7756263" cy="593766"/>
          </a:xfrm>
          <a:prstGeom prst="rect">
            <a:avLst/>
          </a:prstGeom>
        </p:spPr>
        <p:txBody>
          <a:bodyPr>
            <a:normAutofit fontScale="90000"/>
          </a:bodyPr>
          <a:lstStyle/>
          <a:p>
            <a:r>
              <a:rPr lang="en-US" sz="3600" dirty="0"/>
              <a:t>Problem and Thesis Statements</a:t>
            </a:r>
          </a:p>
        </p:txBody>
      </p:sp>
      <p:sp>
        <p:nvSpPr>
          <p:cNvPr id="8" name="TextBox 7"/>
          <p:cNvSpPr txBox="1"/>
          <p:nvPr/>
        </p:nvSpPr>
        <p:spPr>
          <a:xfrm>
            <a:off x="621792" y="1444752"/>
            <a:ext cx="10927080" cy="199927"/>
          </a:xfrm>
          <a:prstGeom prst="rect">
            <a:avLst/>
          </a:prstGeom>
          <a:noFill/>
        </p:spPr>
        <p:txBody>
          <a:bodyPr wrap="square" lIns="13716" tIns="9144" rIns="13716" bIns="9144">
            <a:spAutoFit/>
          </a:bodyPr>
          <a:lstStyle/>
          <a:p>
            <a:pPr>
              <a:lnSpc>
                <a:spcPct val="105000"/>
              </a:lnSpc>
              <a:spcBef>
                <a:spcPts val="0"/>
              </a:spcBef>
              <a:spcAft>
                <a:spcPts val="300"/>
              </a:spcAft>
              <a:defRPr sz="1200" b="1">
                <a:solidFill>
                  <a:srgbClr val="000000"/>
                </a:solidFill>
                <a:latin typeface="Times New Roman"/>
              </a:defRPr>
            </a:pPr>
            <a:r>
              <a:rPr sz="1200" b="1" dirty="0">
                <a:solidFill>
                  <a:srgbClr val="000000"/>
                </a:solidFill>
                <a:latin typeface="Times New Roman"/>
              </a:rPr>
              <a:t>Problem statement</a:t>
            </a:r>
          </a:p>
        </p:txBody>
      </p:sp>
      <p:sp>
        <p:nvSpPr>
          <p:cNvPr id="9" name="TextBox 8"/>
          <p:cNvSpPr txBox="1"/>
          <p:nvPr/>
        </p:nvSpPr>
        <p:spPr>
          <a:xfrm>
            <a:off x="621792" y="1728216"/>
            <a:ext cx="10899648" cy="393826"/>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200" b="1">
                <a:solidFill>
                  <a:srgbClr val="FFFF00"/>
                </a:solidFill>
                <a:latin typeface="Times New Roman"/>
              </a:rPr>
              <a:t>Ground-dependent satellite data-processing architectures can create decision-support latency, bandwidth bottlenecks and operator workload when communications are degraded or intermittent.</a:t>
            </a:r>
          </a:p>
        </p:txBody>
      </p:sp>
      <p:sp>
        <p:nvSpPr>
          <p:cNvPr id="10" name="TextBox 9"/>
          <p:cNvSpPr txBox="1"/>
          <p:nvPr/>
        </p:nvSpPr>
        <p:spPr>
          <a:xfrm>
            <a:off x="621792" y="2432304"/>
            <a:ext cx="10899648" cy="199927"/>
          </a:xfrm>
          <a:prstGeom prst="rect">
            <a:avLst/>
          </a:prstGeom>
          <a:noFill/>
        </p:spPr>
        <p:txBody>
          <a:bodyPr wrap="square" lIns="13716" tIns="9144" rIns="13716" bIns="9144">
            <a:spAutoFit/>
          </a:bodyPr>
          <a:lstStyle/>
          <a:p>
            <a:pPr>
              <a:lnSpc>
                <a:spcPct val="105000"/>
              </a:lnSpc>
              <a:spcBef>
                <a:spcPts val="0"/>
              </a:spcBef>
              <a:spcAft>
                <a:spcPts val="300"/>
              </a:spcAft>
              <a:defRPr sz="1200" b="1">
                <a:solidFill>
                  <a:srgbClr val="000000"/>
                </a:solidFill>
                <a:latin typeface="Times New Roman"/>
              </a:defRPr>
            </a:pPr>
            <a:r>
              <a:rPr sz="1200" b="1" dirty="0">
                <a:solidFill>
                  <a:srgbClr val="000000"/>
                </a:solidFill>
                <a:latin typeface="Times New Roman"/>
              </a:rPr>
              <a:t>Thesis statement</a:t>
            </a:r>
          </a:p>
        </p:txBody>
      </p:sp>
      <p:sp>
        <p:nvSpPr>
          <p:cNvPr id="11" name="TextBox 10"/>
          <p:cNvSpPr txBox="1"/>
          <p:nvPr/>
        </p:nvSpPr>
        <p:spPr>
          <a:xfrm>
            <a:off x="621792" y="2715768"/>
            <a:ext cx="10899648" cy="393826"/>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200" b="1">
                <a:solidFill>
                  <a:srgbClr val="FFFF00"/>
                </a:solidFill>
                <a:latin typeface="Times New Roman"/>
              </a:rPr>
              <a:t>This Praxis will deliver a simulation-based systems engineering model comparing ground-centric processing with bounded orbital edge processing under degraded communications.</a:t>
            </a:r>
          </a:p>
        </p:txBody>
      </p:sp>
      <p:graphicFrame>
        <p:nvGraphicFramePr>
          <p:cNvPr id="12" name="Table 11"/>
          <p:cNvGraphicFramePr>
            <a:graphicFrameLocks noGrp="1"/>
          </p:cNvGraphicFramePr>
          <p:nvPr/>
        </p:nvGraphicFramePr>
        <p:xfrm>
          <a:off x="621792" y="3410712"/>
          <a:ext cx="10917936" cy="1298448"/>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8997696">
                  <a:extLst>
                    <a:ext uri="{9D8B030D-6E8A-4147-A177-3AD203B41FA5}">
                      <a16:colId xmlns:a16="http://schemas.microsoft.com/office/drawing/2014/main" val="20001"/>
                    </a:ext>
                  </a:extLst>
                </a:gridCol>
              </a:tblGrid>
              <a:tr h="301752">
                <a:tc>
                  <a:txBody>
                    <a:bodyPr/>
                    <a:lstStyle/>
                    <a:p>
                      <a:pPr>
                        <a:lnSpc>
                          <a:spcPct val="103000"/>
                        </a:lnSpc>
                        <a:spcBef>
                          <a:spcPts val="0"/>
                        </a:spcBef>
                        <a:spcAft>
                          <a:spcPts val="0"/>
                        </a:spcAft>
                        <a:defRPr sz="1100" b="1">
                          <a:solidFill>
                            <a:srgbClr val="000000"/>
                          </a:solidFill>
                          <a:latin typeface="Times New Roman"/>
                        </a:defRPr>
                      </a:pPr>
                      <a:r>
                        <a:rPr sz="1100" b="1">
                          <a:solidFill>
                            <a:srgbClr val="000000"/>
                          </a:solidFill>
                          <a:latin typeface="Times New Roman"/>
                        </a:rPr>
                        <a:t>Research product</a:t>
                      </a:r>
                    </a:p>
                  </a:txBody>
                  <a:tcPr marL="68580" marR="68580" marT="36576" marB="22860" anchor="ctr">
                    <a:solidFill>
                      <a:srgbClr val="E7EEF3"/>
                    </a:solidFill>
                  </a:tcPr>
                </a:tc>
                <a:tc>
                  <a:txBody>
                    <a:bodyPr/>
                    <a:lstStyle/>
                    <a:p>
                      <a:pPr>
                        <a:lnSpc>
                          <a:spcPct val="103000"/>
                        </a:lnSpc>
                        <a:spcBef>
                          <a:spcPts val="0"/>
                        </a:spcBef>
                        <a:spcAft>
                          <a:spcPts val="0"/>
                        </a:spcAft>
                        <a:defRPr sz="1100" b="1">
                          <a:solidFill>
                            <a:srgbClr val="000000"/>
                          </a:solidFill>
                          <a:latin typeface="Times New Roman"/>
                        </a:defRPr>
                      </a:pPr>
                      <a:r>
                        <a:rPr sz="1100" b="1">
                          <a:solidFill>
                            <a:srgbClr val="000000"/>
                          </a:solidFill>
                          <a:latin typeface="Times New Roman"/>
                        </a:rPr>
                        <a:t>Intended use / contribution</a:t>
                      </a:r>
                    </a:p>
                  </a:txBody>
                  <a:tcPr marL="68580" marR="68580" marT="36576" marB="22860" anchor="ctr">
                    <a:solidFill>
                      <a:srgbClr val="E7EEF3"/>
                    </a:solidFill>
                  </a:tcPr>
                </a:tc>
                <a:extLst>
                  <a:ext uri="{0D108BD9-81ED-4DB2-BD59-A6C34878D82A}">
                    <a16:rowId xmlns:a16="http://schemas.microsoft.com/office/drawing/2014/main" val="10000"/>
                  </a:ext>
                </a:extLst>
              </a:tr>
              <a:tr h="493776">
                <a:tc>
                  <a:txBody>
                    <a:bodyPr/>
                    <a:lstStyle/>
                    <a:p>
                      <a:pPr>
                        <a:lnSpc>
                          <a:spcPct val="103000"/>
                        </a:lnSpc>
                        <a:spcBef>
                          <a:spcPts val="0"/>
                        </a:spcBef>
                        <a:spcAft>
                          <a:spcPts val="0"/>
                        </a:spcAft>
                        <a:defRPr sz="1100" b="0">
                          <a:solidFill>
                            <a:srgbClr val="000000"/>
                          </a:solidFill>
                          <a:latin typeface="Times New Roman"/>
                        </a:defRPr>
                      </a:pPr>
                      <a:r>
                        <a:rPr sz="1100" b="0">
                          <a:solidFill>
                            <a:srgbClr val="000000"/>
                          </a:solidFill>
                          <a:latin typeface="Times New Roman"/>
                        </a:rPr>
                        <a:t>Simulation-Based Evaluation Framework</a:t>
                      </a:r>
                    </a:p>
                  </a:txBody>
                  <a:tcPr marL="68580" marR="68580" marT="36576" marB="22860" anchor="ctr">
                    <a:solidFill>
                      <a:srgbClr val="FFFFFF"/>
                    </a:solidFill>
                  </a:tcPr>
                </a:tc>
                <a:tc>
                  <a:txBody>
                    <a:bodyPr/>
                    <a:lstStyle/>
                    <a:p>
                      <a:pPr>
                        <a:lnSpc>
                          <a:spcPct val="103000"/>
                        </a:lnSpc>
                        <a:spcBef>
                          <a:spcPts val="0"/>
                        </a:spcBef>
                        <a:spcAft>
                          <a:spcPts val="0"/>
                        </a:spcAft>
                        <a:defRPr sz="1100" b="0">
                          <a:solidFill>
                            <a:srgbClr val="000000"/>
                          </a:solidFill>
                          <a:latin typeface="Times New Roman"/>
                        </a:defRPr>
                      </a:pPr>
                      <a:r>
                        <a:rPr sz="1100" b="0">
                          <a:solidFill>
                            <a:srgbClr val="000000"/>
                          </a:solidFill>
                          <a:latin typeface="Times New Roman"/>
                        </a:rPr>
                        <a:t>Systems engineers will use the framework during early architecture trades for onboard processing under degraded communications.</a:t>
                      </a:r>
                    </a:p>
                  </a:txBody>
                  <a:tcPr marL="68580" marR="68580" marT="36576" marB="22860" anchor="ctr">
                    <a:solidFill>
                      <a:srgbClr val="FFFFFF"/>
                    </a:solidFill>
                  </a:tcPr>
                </a:tc>
                <a:extLst>
                  <a:ext uri="{0D108BD9-81ED-4DB2-BD59-A6C34878D82A}">
                    <a16:rowId xmlns:a16="http://schemas.microsoft.com/office/drawing/2014/main" val="10001"/>
                  </a:ext>
                </a:extLst>
              </a:tr>
              <a:tr h="502920">
                <a:tc>
                  <a:txBody>
                    <a:bodyPr/>
                    <a:lstStyle/>
                    <a:p>
                      <a:pPr>
                        <a:lnSpc>
                          <a:spcPct val="103000"/>
                        </a:lnSpc>
                        <a:spcBef>
                          <a:spcPts val="0"/>
                        </a:spcBef>
                        <a:spcAft>
                          <a:spcPts val="0"/>
                        </a:spcAft>
                        <a:defRPr sz="1100" b="0">
                          <a:solidFill>
                            <a:srgbClr val="000000"/>
                          </a:solidFill>
                          <a:latin typeface="Times New Roman"/>
                        </a:defRPr>
                      </a:pPr>
                      <a:r>
                        <a:rPr sz="700" b="1"/>
                        <a:t>MATLAB/SimEvents Model</a:t>
                      </a:r>
                    </a:p>
                  </a:txBody>
                  <a:tcPr marL="68580" marR="68580" marT="36576" marB="22860" anchor="ctr">
                    <a:solidFill>
                      <a:srgbClr val="F6F8FA"/>
                    </a:solidFill>
                  </a:tcPr>
                </a:tc>
                <a:tc>
                  <a:txBody>
                    <a:bodyPr/>
                    <a:lstStyle/>
                    <a:p>
                      <a:pPr>
                        <a:lnSpc>
                          <a:spcPct val="103000"/>
                        </a:lnSpc>
                        <a:spcBef>
                          <a:spcPts val="0"/>
                        </a:spcBef>
                        <a:spcAft>
                          <a:spcPts val="0"/>
                        </a:spcAft>
                        <a:defRPr sz="1100" b="0">
                          <a:solidFill>
                            <a:srgbClr val="000000"/>
                          </a:solidFill>
                          <a:latin typeface="Times New Roman"/>
                        </a:defRPr>
                      </a:pPr>
                      <a:r>
                        <a:rPr sz="700"/>
                        <a:t>This work contributes a public, repeatable method for evaluating orbital edge-processing performance without classified data, CUI, or new algorithms.</a:t>
                      </a:r>
                    </a:p>
                  </a:txBody>
                  <a:tcPr marL="68580" marR="68580" marT="36576" marB="22860" anchor="ctr">
                    <a:solidFill>
                      <a:srgbClr val="F6F8FA"/>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621791" y="4919472"/>
            <a:ext cx="11284863" cy="456472"/>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200" b="1">
                <a:solidFill>
                  <a:srgbClr val="FFFF00"/>
                </a:solidFill>
                <a:latin typeface="Times New Roman"/>
              </a:rPr>
              <a:t>Current working direction: civil ground-centric versus orbital-edge processing under matched degradation using DES, with core measures of uptime/service availability, downtime/recovery, latency, packet loss and queueing delay.</a:t>
            </a:r>
            <a:endParaRPr lang="en-US" sz="1400" b="1" dirty="0">
              <a:solidFill>
                <a:srgbClr val="FFFF00"/>
              </a:solidFill>
              <a:latin typeface="Times New Roman"/>
            </a:endParaRPr>
          </a:p>
        </p:txBody>
      </p:sp>
    </p:spTree>
    <p:extLst>
      <p:ext uri="{BB962C8B-B14F-4D97-AF65-F5344CB8AC3E}">
        <p14:creationId xmlns:p14="http://schemas.microsoft.com/office/powerpoint/2010/main" val="1113710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6EDAA-CCF3-F12C-24E2-A61561DDBECA}"/>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9665ADA-AD72-0213-D176-9B520195FC29}"/>
              </a:ext>
            </a:extLst>
          </p:cNvPr>
          <p:cNvSpPr>
            <a:spLocks noGrp="1"/>
          </p:cNvSpPr>
          <p:nvPr>
            <p:ph type="title"/>
          </p:nvPr>
        </p:nvSpPr>
        <p:spPr>
          <a:xfrm>
            <a:off x="483495" y="316733"/>
            <a:ext cx="7756263" cy="593766"/>
          </a:xfrm>
          <a:prstGeom prst="rect">
            <a:avLst/>
          </a:prstGeom>
        </p:spPr>
        <p:txBody>
          <a:bodyPr>
            <a:normAutofit fontScale="90000"/>
          </a:bodyPr>
          <a:lstStyle/>
          <a:p>
            <a:r>
              <a:rPr lang="en-US" sz="3600" dirty="0"/>
              <a:t>Research Objectives and Questions</a:t>
            </a:r>
          </a:p>
        </p:txBody>
      </p:sp>
      <p:sp>
        <p:nvSpPr>
          <p:cNvPr id="7" name="TextBox 6"/>
          <p:cNvSpPr txBox="1"/>
          <p:nvPr/>
        </p:nvSpPr>
        <p:spPr>
          <a:xfrm>
            <a:off x="585216" y="1051560"/>
            <a:ext cx="10991088" cy="169726"/>
          </a:xfrm>
          <a:prstGeom prst="rect">
            <a:avLst/>
          </a:prstGeom>
          <a:solidFill>
            <a:srgbClr val="E7EEF3"/>
          </a:solidFill>
        </p:spPr>
        <p:txBody>
          <a:bodyPr wrap="square" lIns="13716" tIns="9144" rIns="13716" bIns="9144">
            <a:spAutoFit/>
          </a:bodyPr>
          <a:lstStyle/>
          <a:p>
            <a:pPr>
              <a:lnSpc>
                <a:spcPct val="105000"/>
              </a:lnSpc>
              <a:spcBef>
                <a:spcPts val="0"/>
              </a:spcBef>
              <a:spcAft>
                <a:spcPts val="300"/>
              </a:spcAft>
              <a:defRPr sz="1000" b="1">
                <a:solidFill>
                  <a:srgbClr val="000000"/>
                </a:solidFill>
                <a:latin typeface="Times New Roman"/>
              </a:defRPr>
            </a:pPr>
            <a:r>
              <a:rPr sz="650" b="1">
                <a:solidFill>
                  <a:srgbClr val="000000"/>
                </a:solidFill>
                <a:latin typeface="Times New Roman"/>
              </a:rPr>
              <a:t>PROPOSED REFINED QUESTIONS — for advisor discussion [16 Sep 2026]</a:t>
            </a:r>
          </a:p>
        </p:txBody>
      </p:sp>
      <p:sp>
        <p:nvSpPr>
          <p:cNvPr id="8" name="TextBox 7"/>
          <p:cNvSpPr txBox="1"/>
          <p:nvPr/>
        </p:nvSpPr>
        <p:spPr>
          <a:xfrm>
            <a:off x="621792" y="1517904"/>
            <a:ext cx="502920" cy="301752"/>
          </a:xfrm>
          <a:prstGeom prst="rect">
            <a:avLst/>
          </a:prstGeom>
          <a:noFill/>
        </p:spPr>
        <p:txBody>
          <a:bodyPr wrap="square" lIns="13716" tIns="9144" rIns="13716" bIns="9144">
            <a:spAutoFit/>
          </a:bodyPr>
          <a:lstStyle/>
          <a:p>
            <a:pPr>
              <a:lnSpc>
                <a:spcPct val="105000"/>
              </a:lnSpc>
              <a:spcBef>
                <a:spcPts val="0"/>
              </a:spcBef>
              <a:spcAft>
                <a:spcPts val="300"/>
              </a:spcAft>
              <a:defRPr sz="1200" b="1">
                <a:solidFill>
                  <a:srgbClr val="000000"/>
                </a:solidFill>
                <a:latin typeface="Times New Roman"/>
              </a:defRPr>
            </a:pPr>
            <a:r>
              <a:rPr sz="1200" b="1">
                <a:solidFill>
                  <a:srgbClr val="000000"/>
                </a:solidFill>
                <a:latin typeface="Times New Roman"/>
              </a:rPr>
              <a:t>RQ1</a:t>
            </a:r>
          </a:p>
        </p:txBody>
      </p:sp>
      <p:sp>
        <p:nvSpPr>
          <p:cNvPr id="9" name="TextBox 8"/>
          <p:cNvSpPr txBox="1"/>
          <p:nvPr/>
        </p:nvSpPr>
        <p:spPr>
          <a:xfrm>
            <a:off x="1207008" y="1517904"/>
            <a:ext cx="10195560" cy="518988"/>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600" b="1" dirty="0">
                <a:solidFill>
                  <a:srgbClr val="FFFF00"/>
                </a:solidFill>
                <a:latin typeface="Times New Roman"/>
              </a:rPr>
              <a:t>Can a discrete-event systems engineering model represent satellite data-processing latency and service availability under degraded communications?</a:t>
            </a:r>
          </a:p>
        </p:txBody>
      </p:sp>
      <p:sp>
        <p:nvSpPr>
          <p:cNvPr id="10" name="TextBox 9"/>
          <p:cNvSpPr txBox="1"/>
          <p:nvPr/>
        </p:nvSpPr>
        <p:spPr>
          <a:xfrm>
            <a:off x="621792" y="2295144"/>
            <a:ext cx="502920" cy="301752"/>
          </a:xfrm>
          <a:prstGeom prst="rect">
            <a:avLst/>
          </a:prstGeom>
          <a:noFill/>
        </p:spPr>
        <p:txBody>
          <a:bodyPr wrap="square" lIns="13716" tIns="9144" rIns="13716" bIns="9144">
            <a:spAutoFit/>
          </a:bodyPr>
          <a:lstStyle/>
          <a:p>
            <a:pPr>
              <a:lnSpc>
                <a:spcPct val="105000"/>
              </a:lnSpc>
              <a:spcBef>
                <a:spcPts val="0"/>
              </a:spcBef>
              <a:spcAft>
                <a:spcPts val="300"/>
              </a:spcAft>
              <a:defRPr sz="1200" b="1">
                <a:solidFill>
                  <a:srgbClr val="000000"/>
                </a:solidFill>
                <a:latin typeface="Times New Roman"/>
              </a:defRPr>
            </a:pPr>
            <a:r>
              <a:rPr sz="1200" b="1">
                <a:solidFill>
                  <a:srgbClr val="000000"/>
                </a:solidFill>
                <a:latin typeface="Times New Roman"/>
              </a:rPr>
              <a:t>RQ2</a:t>
            </a:r>
          </a:p>
        </p:txBody>
      </p:sp>
      <p:sp>
        <p:nvSpPr>
          <p:cNvPr id="11" name="TextBox 10"/>
          <p:cNvSpPr txBox="1"/>
          <p:nvPr/>
        </p:nvSpPr>
        <p:spPr>
          <a:xfrm>
            <a:off x="1207008" y="2295144"/>
            <a:ext cx="10195560" cy="456472"/>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400" b="1" dirty="0">
                <a:solidFill>
                  <a:srgbClr val="FFFF00"/>
                </a:solidFill>
                <a:latin typeface="Times New Roman"/>
              </a:rPr>
              <a:t>Does bounded orbital edge processing reduce end-to-end decision-support latency and preserve service compared with a ground-centric architecture under matched degradation?</a:t>
            </a:r>
          </a:p>
        </p:txBody>
      </p:sp>
      <p:sp>
        <p:nvSpPr>
          <p:cNvPr id="12" name="TextBox 11"/>
          <p:cNvSpPr txBox="1"/>
          <p:nvPr/>
        </p:nvSpPr>
        <p:spPr>
          <a:xfrm>
            <a:off x="621792" y="3072384"/>
            <a:ext cx="502920" cy="301752"/>
          </a:xfrm>
          <a:prstGeom prst="rect">
            <a:avLst/>
          </a:prstGeom>
          <a:noFill/>
        </p:spPr>
        <p:txBody>
          <a:bodyPr wrap="square" lIns="13716" tIns="9144" rIns="13716" bIns="9144">
            <a:spAutoFit/>
          </a:bodyPr>
          <a:lstStyle/>
          <a:p>
            <a:pPr>
              <a:lnSpc>
                <a:spcPct val="105000"/>
              </a:lnSpc>
              <a:spcBef>
                <a:spcPts val="0"/>
              </a:spcBef>
              <a:spcAft>
                <a:spcPts val="300"/>
              </a:spcAft>
              <a:defRPr sz="1200" b="1">
                <a:solidFill>
                  <a:srgbClr val="000000"/>
                </a:solidFill>
                <a:latin typeface="Times New Roman"/>
              </a:defRPr>
            </a:pPr>
            <a:r>
              <a:rPr sz="1200" b="1">
                <a:solidFill>
                  <a:srgbClr val="000000"/>
                </a:solidFill>
                <a:latin typeface="Times New Roman"/>
              </a:rPr>
              <a:t>RQ3</a:t>
            </a:r>
          </a:p>
        </p:txBody>
      </p:sp>
      <p:sp>
        <p:nvSpPr>
          <p:cNvPr id="13" name="TextBox 12"/>
          <p:cNvSpPr txBox="1"/>
          <p:nvPr/>
        </p:nvSpPr>
        <p:spPr>
          <a:xfrm>
            <a:off x="1207008" y="3072384"/>
            <a:ext cx="10195560" cy="456472"/>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400" b="1" dirty="0">
                <a:solidFill>
                  <a:srgbClr val="FFFF00"/>
                </a:solidFill>
                <a:latin typeface="Times New Roman"/>
              </a:rPr>
              <a:t>Which parameters most affect performance: communications delay/loss, bandwidth, outage duration, processing time and alert/data priority?</a:t>
            </a:r>
          </a:p>
        </p:txBody>
      </p:sp>
      <p:sp>
        <p:nvSpPr>
          <p:cNvPr id="14" name="TextBox 13"/>
          <p:cNvSpPr txBox="1"/>
          <p:nvPr/>
        </p:nvSpPr>
        <p:spPr>
          <a:xfrm>
            <a:off x="585216" y="3995928"/>
            <a:ext cx="10991088" cy="260456"/>
          </a:xfrm>
          <a:prstGeom prst="rect">
            <a:avLst/>
          </a:prstGeom>
          <a:solidFill>
            <a:srgbClr val="E7EEF3"/>
          </a:solidFill>
        </p:spPr>
        <p:txBody>
          <a:bodyPr wrap="square" lIns="13716" tIns="9144" rIns="13716" bIns="9144">
            <a:spAutoFit/>
          </a:bodyPr>
          <a:lstStyle/>
          <a:p>
            <a:pPr>
              <a:lnSpc>
                <a:spcPct val="105000"/>
              </a:lnSpc>
              <a:spcBef>
                <a:spcPts val="0"/>
              </a:spcBef>
              <a:spcAft>
                <a:spcPts val="300"/>
              </a:spcAft>
              <a:defRPr sz="1000" b="1">
                <a:solidFill>
                  <a:srgbClr val="000000"/>
                </a:solidFill>
                <a:latin typeface="Times New Roman"/>
              </a:defRPr>
            </a:pPr>
            <a:r>
              <a:rPr sz="1600" b="1" dirty="0">
                <a:solidFill>
                  <a:srgbClr val="000000"/>
                </a:solidFill>
                <a:latin typeface="Times New Roman"/>
              </a:rPr>
              <a:t>PURPOSE — current scope</a:t>
            </a:r>
          </a:p>
        </p:txBody>
      </p:sp>
      <p:sp>
        <p:nvSpPr>
          <p:cNvPr id="15" name="TextBox 14"/>
          <p:cNvSpPr txBox="1"/>
          <p:nvPr/>
        </p:nvSpPr>
        <p:spPr>
          <a:xfrm>
            <a:off x="621792" y="4379976"/>
            <a:ext cx="10927080" cy="456472"/>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400" b="0" dirty="0">
                <a:solidFill>
                  <a:srgbClr val="FFFF00"/>
                </a:solidFill>
                <a:latin typeface="Times New Roman"/>
              </a:rPr>
              <a:t>Evaluate bounded orbital edge processing under degraded communications; compare ground-centric routing with an edge-enabled path; provide a repeatable public-data simulation framework for early architecture trades.</a:t>
            </a:r>
          </a:p>
        </p:txBody>
      </p:sp>
    </p:spTree>
    <p:extLst>
      <p:ext uri="{BB962C8B-B14F-4D97-AF65-F5344CB8AC3E}">
        <p14:creationId xmlns:p14="http://schemas.microsoft.com/office/powerpoint/2010/main" val="4181092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508E1-C36F-EEB4-AF1D-85CB0FB08672}"/>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B209E1EF-6EA4-B492-CABC-9510C4DB2860}"/>
              </a:ext>
            </a:extLst>
          </p:cNvPr>
          <p:cNvSpPr>
            <a:spLocks noGrp="1"/>
          </p:cNvSpPr>
          <p:nvPr>
            <p:ph type="title"/>
          </p:nvPr>
        </p:nvSpPr>
        <p:spPr>
          <a:xfrm>
            <a:off x="483495" y="316733"/>
            <a:ext cx="7756263" cy="593766"/>
          </a:xfrm>
          <a:prstGeom prst="rect">
            <a:avLst/>
          </a:prstGeom>
        </p:spPr>
        <p:txBody>
          <a:bodyPr>
            <a:normAutofit fontScale="90000"/>
          </a:bodyPr>
          <a:lstStyle/>
          <a:p>
            <a:r>
              <a:rPr sz="3600"/>
              <a:t>Research Hypotheses — Proposed Refinement</a:t>
            </a:r>
          </a:p>
        </p:txBody>
      </p:sp>
      <p:sp>
        <p:nvSpPr>
          <p:cNvPr id="8" name="TextBox 7"/>
          <p:cNvSpPr txBox="1"/>
          <p:nvPr/>
        </p:nvSpPr>
        <p:spPr>
          <a:xfrm>
            <a:off x="621792" y="1536192"/>
            <a:ext cx="438912" cy="292608"/>
          </a:xfrm>
          <a:prstGeom prst="rect">
            <a:avLst/>
          </a:prstGeom>
          <a:noFill/>
        </p:spPr>
        <p:txBody>
          <a:bodyPr wrap="square" lIns="13716" tIns="9144" rIns="13716" bIns="9144">
            <a:spAutoFit/>
          </a:bodyPr>
          <a:lstStyle/>
          <a:p>
            <a:pPr>
              <a:lnSpc>
                <a:spcPct val="105000"/>
              </a:lnSpc>
              <a:spcBef>
                <a:spcPts val="0"/>
              </a:spcBef>
              <a:spcAft>
                <a:spcPts val="300"/>
              </a:spcAft>
              <a:defRPr sz="1200" b="1">
                <a:solidFill>
                  <a:srgbClr val="000000"/>
                </a:solidFill>
                <a:latin typeface="Times New Roman"/>
              </a:defRPr>
            </a:pPr>
            <a:r>
              <a:rPr sz="750" b="1">
                <a:solidFill>
                  <a:srgbClr val="000000"/>
                </a:solidFill>
                <a:latin typeface="Times New Roman"/>
              </a:rPr>
              <a:t>H0</a:t>
            </a:r>
          </a:p>
        </p:txBody>
      </p:sp>
      <p:sp>
        <p:nvSpPr>
          <p:cNvPr id="9" name="TextBox 8"/>
          <p:cNvSpPr txBox="1"/>
          <p:nvPr/>
        </p:nvSpPr>
        <p:spPr>
          <a:xfrm>
            <a:off x="1143000" y="1536192"/>
            <a:ext cx="10241280" cy="456472"/>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400" b="0" dirty="0">
                <a:solidFill>
                  <a:srgbClr val="FFFF00"/>
                </a:solidFill>
                <a:latin typeface="Times New Roman"/>
              </a:rPr>
              <a:t>Under matched degradation, the ground-centric and bounded orbital-edge architectures show no measurable difference in end-to-end latency or service availability.</a:t>
            </a:r>
          </a:p>
        </p:txBody>
      </p:sp>
      <p:sp>
        <p:nvSpPr>
          <p:cNvPr id="10" name="TextBox 9"/>
          <p:cNvSpPr txBox="1"/>
          <p:nvPr/>
        </p:nvSpPr>
        <p:spPr>
          <a:xfrm>
            <a:off x="1143000" y="2020824"/>
            <a:ext cx="10241280" cy="456472"/>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400" b="0" dirty="0">
                <a:solidFill>
                  <a:srgbClr val="FFFF00"/>
                </a:solidFill>
                <a:latin typeface="Times New Roman"/>
              </a:rPr>
              <a:t>Test: matched DES runs; compare latency distributions, availability and downtime/recovery using confidence intervals and two-sample K-S tests.</a:t>
            </a:r>
          </a:p>
        </p:txBody>
      </p:sp>
      <p:sp>
        <p:nvSpPr>
          <p:cNvPr id="11" name="TextBox 10"/>
          <p:cNvSpPr txBox="1"/>
          <p:nvPr/>
        </p:nvSpPr>
        <p:spPr>
          <a:xfrm>
            <a:off x="621792" y="2706624"/>
            <a:ext cx="438912" cy="292608"/>
          </a:xfrm>
          <a:prstGeom prst="rect">
            <a:avLst/>
          </a:prstGeom>
          <a:noFill/>
        </p:spPr>
        <p:txBody>
          <a:bodyPr wrap="square" lIns="13716" tIns="9144" rIns="13716" bIns="9144">
            <a:spAutoFit/>
          </a:bodyPr>
          <a:lstStyle/>
          <a:p>
            <a:pPr>
              <a:lnSpc>
                <a:spcPct val="105000"/>
              </a:lnSpc>
              <a:spcBef>
                <a:spcPts val="0"/>
              </a:spcBef>
              <a:spcAft>
                <a:spcPts val="300"/>
              </a:spcAft>
              <a:defRPr sz="1200" b="1">
                <a:solidFill>
                  <a:srgbClr val="000000"/>
                </a:solidFill>
                <a:latin typeface="Times New Roman"/>
              </a:defRPr>
            </a:pPr>
            <a:r>
              <a:rPr sz="750" b="1">
                <a:solidFill>
                  <a:srgbClr val="000000"/>
                </a:solidFill>
                <a:latin typeface="Times New Roman"/>
              </a:rPr>
              <a:t>H1</a:t>
            </a:r>
          </a:p>
        </p:txBody>
      </p:sp>
      <p:sp>
        <p:nvSpPr>
          <p:cNvPr id="12" name="TextBox 11"/>
          <p:cNvSpPr txBox="1"/>
          <p:nvPr/>
        </p:nvSpPr>
        <p:spPr>
          <a:xfrm>
            <a:off x="1143000" y="2706624"/>
            <a:ext cx="10241280" cy="456472"/>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400" b="0" dirty="0">
                <a:solidFill>
                  <a:srgbClr val="FFFF00"/>
                </a:solidFill>
                <a:latin typeface="Times New Roman"/>
              </a:rPr>
              <a:t>Bounded orbital edge processing reduces end-to-end decision-support latency and improves service availability relative to a ground-centric architecture under degraded communications.</a:t>
            </a:r>
          </a:p>
        </p:txBody>
      </p:sp>
      <p:sp>
        <p:nvSpPr>
          <p:cNvPr id="13" name="TextBox 12"/>
          <p:cNvSpPr txBox="1"/>
          <p:nvPr/>
        </p:nvSpPr>
        <p:spPr>
          <a:xfrm>
            <a:off x="1143000" y="3191256"/>
            <a:ext cx="10241280" cy="456472"/>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400" b="0" dirty="0">
                <a:solidFill>
                  <a:srgbClr val="FFFF00"/>
                </a:solidFill>
                <a:latin typeface="Times New Roman"/>
              </a:rPr>
              <a:t>Test: run identical arrival/disruption streams for both architectures; compare mean/P80/P90 latency, uptime/downtime, dropped messages and queueing delay.</a:t>
            </a:r>
          </a:p>
        </p:txBody>
      </p:sp>
      <p:sp>
        <p:nvSpPr>
          <p:cNvPr id="14" name="TextBox 13"/>
          <p:cNvSpPr txBox="1"/>
          <p:nvPr/>
        </p:nvSpPr>
        <p:spPr>
          <a:xfrm>
            <a:off x="621792" y="3877056"/>
            <a:ext cx="438912" cy="292608"/>
          </a:xfrm>
          <a:prstGeom prst="rect">
            <a:avLst/>
          </a:prstGeom>
          <a:noFill/>
        </p:spPr>
        <p:txBody>
          <a:bodyPr wrap="square" lIns="13716" tIns="9144" rIns="13716" bIns="9144">
            <a:spAutoFit/>
          </a:bodyPr>
          <a:lstStyle/>
          <a:p>
            <a:pPr>
              <a:lnSpc>
                <a:spcPct val="105000"/>
              </a:lnSpc>
              <a:spcBef>
                <a:spcPts val="0"/>
              </a:spcBef>
              <a:spcAft>
                <a:spcPts val="300"/>
              </a:spcAft>
              <a:defRPr sz="1200" b="1">
                <a:solidFill>
                  <a:srgbClr val="000000"/>
                </a:solidFill>
                <a:latin typeface="Times New Roman"/>
              </a:defRPr>
            </a:pPr>
            <a:r>
              <a:rPr sz="750" b="1">
                <a:solidFill>
                  <a:srgbClr val="000000"/>
                </a:solidFill>
                <a:latin typeface="Times New Roman"/>
              </a:rPr>
              <a:t>H2</a:t>
            </a:r>
          </a:p>
        </p:txBody>
      </p:sp>
      <p:sp>
        <p:nvSpPr>
          <p:cNvPr id="15" name="TextBox 14"/>
          <p:cNvSpPr txBox="1"/>
          <p:nvPr/>
        </p:nvSpPr>
        <p:spPr>
          <a:xfrm>
            <a:off x="1143000" y="3877056"/>
            <a:ext cx="10241280" cy="230256"/>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200" b="0">
                <a:solidFill>
                  <a:srgbClr val="000000"/>
                </a:solidFill>
                <a:latin typeface="Times New Roman"/>
              </a:defRPr>
            </a:pPr>
            <a:r>
              <a:rPr sz="1400" b="0" dirty="0">
                <a:solidFill>
                  <a:srgbClr val="00B0F0"/>
                </a:solidFill>
                <a:latin typeface="Times New Roman"/>
              </a:rPr>
              <a:t>The edge-enabled benefit increases during communications degradation or surge conditions.</a:t>
            </a:r>
          </a:p>
        </p:txBody>
      </p:sp>
      <p:sp>
        <p:nvSpPr>
          <p:cNvPr id="16" name="TextBox 15"/>
          <p:cNvSpPr txBox="1"/>
          <p:nvPr/>
        </p:nvSpPr>
        <p:spPr>
          <a:xfrm>
            <a:off x="1143000" y="4361688"/>
            <a:ext cx="10241280" cy="230256"/>
          </a:xfrm>
          <a:prstGeom prst="rect">
            <a:avLst/>
          </a:prstGeom>
          <a:solidFill>
            <a:schemeClr val="tx1"/>
          </a:solid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1400" b="0">
                <a:solidFill>
                  <a:srgbClr val="00B0F0"/>
                </a:solidFill>
                <a:latin typeface="Times New Roman"/>
              </a:rPr>
              <a:t>Test: sensitivity analysis varying outage duration, packet loss, bandwidth, processing time and arrival rate.</a:t>
            </a:r>
          </a:p>
        </p:txBody>
      </p:sp>
      <p:sp>
        <p:nvSpPr>
          <p:cNvPr id="17" name="TextBox 16"/>
          <p:cNvSpPr txBox="1"/>
          <p:nvPr/>
        </p:nvSpPr>
        <p:spPr>
          <a:xfrm>
            <a:off x="621792" y="5120640"/>
            <a:ext cx="10927080" cy="169726"/>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700" b="0">
                <a:solidFill>
                  <a:srgbClr val="000000"/>
                </a:solidFill>
                <a:latin typeface="Times New Roman"/>
              </a:rPr>
              <a:t>For advisor approval: effect-size thresholds and final hypothesis wording remain open. [16 Sep 2026]</a:t>
            </a:r>
            <a:endParaRPr sz="1000" b="0" dirty="0">
              <a:solidFill>
                <a:srgbClr val="000000"/>
              </a:solidFill>
              <a:latin typeface="Times New Roman"/>
            </a:endParaRPr>
          </a:p>
        </p:txBody>
      </p:sp>
    </p:spTree>
    <p:extLst>
      <p:ext uri="{BB962C8B-B14F-4D97-AF65-F5344CB8AC3E}">
        <p14:creationId xmlns:p14="http://schemas.microsoft.com/office/powerpoint/2010/main" val="649574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07268-096D-E413-1246-E431ABBA265A}"/>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E53FD7E9-B349-3A0A-794B-9D672D49862C}"/>
              </a:ext>
            </a:extLst>
          </p:cNvPr>
          <p:cNvSpPr>
            <a:spLocks noGrp="1"/>
          </p:cNvSpPr>
          <p:nvPr>
            <p:ph type="title"/>
          </p:nvPr>
        </p:nvSpPr>
        <p:spPr>
          <a:xfrm>
            <a:off x="483495" y="316733"/>
            <a:ext cx="7756263" cy="593766"/>
          </a:xfrm>
          <a:prstGeom prst="rect">
            <a:avLst/>
          </a:prstGeom>
        </p:spPr>
        <p:txBody>
          <a:bodyPr>
            <a:normAutofit fontScale="90000"/>
          </a:bodyPr>
          <a:lstStyle/>
          <a:p>
            <a:r>
              <a:rPr lang="en-US" sz="3600" dirty="0"/>
              <a:t>5 Foundational References</a:t>
            </a:r>
          </a:p>
        </p:txBody>
      </p:sp>
      <p:sp>
        <p:nvSpPr>
          <p:cNvPr id="7" name="TextBox 6"/>
          <p:cNvSpPr txBox="1"/>
          <p:nvPr/>
        </p:nvSpPr>
        <p:spPr>
          <a:xfrm>
            <a:off x="585216" y="1051560"/>
            <a:ext cx="10991088" cy="169726"/>
          </a:xfrm>
          <a:prstGeom prst="rect">
            <a:avLst/>
          </a:prstGeom>
          <a:solidFill>
            <a:srgbClr val="E7EEF3"/>
          </a:solidFill>
        </p:spPr>
        <p:txBody>
          <a:bodyPr wrap="square" lIns="13716" tIns="9144" rIns="13716" bIns="9144">
            <a:spAutoFit/>
          </a:bodyPr>
          <a:lstStyle/>
          <a:p>
            <a:pPr>
              <a:lnSpc>
                <a:spcPct val="105000"/>
              </a:lnSpc>
              <a:spcBef>
                <a:spcPts val="0"/>
              </a:spcBef>
              <a:spcAft>
                <a:spcPts val="300"/>
              </a:spcAft>
              <a:defRPr sz="1000" b="1">
                <a:solidFill>
                  <a:srgbClr val="000000"/>
                </a:solidFill>
                <a:latin typeface="Times New Roman"/>
              </a:defRPr>
            </a:pPr>
            <a:r>
              <a:rPr sz="1000" b="1" dirty="0">
                <a:solidFill>
                  <a:srgbClr val="000000"/>
                </a:solidFill>
                <a:latin typeface="Times New Roman"/>
              </a:rPr>
              <a:t>EXTERNAL REFERENCE </a:t>
            </a:r>
            <a:r>
              <a:rPr lang="en-US" sz="1000" b="1" dirty="0">
                <a:solidFill>
                  <a:srgbClr val="000000"/>
                </a:solidFill>
                <a:latin typeface="Times New Roman"/>
              </a:rPr>
              <a:t>- </a:t>
            </a:r>
            <a:r>
              <a:rPr sz="1000" b="1" dirty="0">
                <a:solidFill>
                  <a:srgbClr val="000000"/>
                </a:solidFill>
                <a:latin typeface="Times New Roman"/>
              </a:rPr>
              <a:t>slides 9–13</a:t>
            </a:r>
          </a:p>
        </p:txBody>
      </p:sp>
      <p:graphicFrame>
        <p:nvGraphicFramePr>
          <p:cNvPr id="8" name="Table 7"/>
          <p:cNvGraphicFramePr>
            <a:graphicFrameLocks noGrp="1"/>
          </p:cNvGraphicFramePr>
          <p:nvPr>
            <p:extLst>
              <p:ext uri="{D42A27DB-BD31-4B8C-83A1-F6EECF244321}">
                <p14:modId xmlns:p14="http://schemas.microsoft.com/office/powerpoint/2010/main" val="3337596499"/>
              </p:ext>
            </p:extLst>
          </p:nvPr>
        </p:nvGraphicFramePr>
        <p:xfrm>
          <a:off x="585216" y="1463040"/>
          <a:ext cx="10991088" cy="3438144"/>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gridCol w="2761488">
                  <a:extLst>
                    <a:ext uri="{9D8B030D-6E8A-4147-A177-3AD203B41FA5}">
                      <a16:colId xmlns:a16="http://schemas.microsoft.com/office/drawing/2014/main" val="20001"/>
                    </a:ext>
                  </a:extLst>
                </a:gridCol>
              </a:tblGrid>
              <a:tr h="320040">
                <a:tc>
                  <a:txBody>
                    <a:bodyPr/>
                    <a:lstStyle/>
                    <a:p>
                      <a:r>
                        <a:rPr sz="800" b="1">
                          <a:solidFill>
                            <a:srgbClr val="000000"/>
                          </a:solidFill>
                          <a:latin typeface="Times New Roman"/>
                        </a:rPr>
                        <a:t>Foundational / Domestic Sources</a:t>
                      </a:r>
                    </a:p>
                  </a:txBody>
                  <a:tcPr marL="68580" marR="68580" marT="36576" marB="22860" anchor="ctr">
                    <a:solidFill>
                      <a:srgbClr val="E7EEF3"/>
                    </a:solidFill>
                  </a:tcPr>
                </a:tc>
                <a:tc>
                  <a:txBody>
                    <a:bodyPr/>
                    <a:lstStyle/>
                    <a:p>
                      <a:pPr>
                        <a:lnSpc>
                          <a:spcPct val="103000"/>
                        </a:lnSpc>
                        <a:spcBef>
                          <a:spcPts val="0"/>
                        </a:spcBef>
                        <a:spcAft>
                          <a:spcPts val="0"/>
                        </a:spcAft>
                        <a:defRPr sz="1000" b="1">
                          <a:solidFill>
                            <a:srgbClr val="000000"/>
                          </a:solidFill>
                          <a:latin typeface="Times New Roman"/>
                        </a:defRPr>
                      </a:pPr>
                      <a:r>
                        <a:rPr sz="800" b="1">
                          <a:solidFill>
                            <a:srgbClr val="000000"/>
                          </a:solidFill>
                          <a:latin typeface="Times New Roman"/>
                        </a:rPr>
                        <a:t>Stated role in the Praxis</a:t>
                      </a:r>
                    </a:p>
                  </a:txBody>
                  <a:tcPr marL="68580" marR="68580" marT="36576" marB="22860" anchor="ctr">
                    <a:solidFill>
                      <a:srgbClr val="E7EEF3"/>
                    </a:solidFill>
                  </a:tcPr>
                </a:tc>
                <a:extLst>
                  <a:ext uri="{0D108BD9-81ED-4DB2-BD59-A6C34878D82A}">
                    <a16:rowId xmlns:a16="http://schemas.microsoft.com/office/drawing/2014/main" val="10000"/>
                  </a:ext>
                </a:extLst>
              </a:tr>
              <a:tr h="777240">
                <a:tc>
                  <a:txBody>
                    <a:bodyPr/>
                    <a:lstStyle/>
                    <a:p>
                      <a:pPr>
                        <a:lnSpc>
                          <a:spcPct val="103000"/>
                        </a:lnSpc>
                        <a:spcBef>
                          <a:spcPts val="0"/>
                        </a:spcBef>
                        <a:spcAft>
                          <a:spcPts val="0"/>
                        </a:spcAft>
                        <a:defRPr sz="1000" b="0">
                          <a:solidFill>
                            <a:srgbClr val="000000"/>
                          </a:solidFill>
                          <a:latin typeface="Times New Roman"/>
                        </a:defRPr>
                      </a:pPr>
                      <a:r>
                        <a:rPr sz="680" b="0">
                          <a:solidFill>
                            <a:srgbClr val="000000"/>
                          </a:solidFill>
                          <a:latin typeface="Times New Roman"/>
                        </a:rPr>
                        <a:t>Osoba, O. A., Nacouzi, G., Hagen, J., Tran, J., Zhang, L. A., Herron, M., Lynch, C., Eisman, M., &amp; Barton, C. (2023). The resilience assessment framework: Assessing commercial contributions to U.S. Space Force mission resilience (RR-A980-1). RAND Corporation. https://doi.org/10.7249/RRA980-1 https://www.rand.org/content/dam/rand/pubs/research_reports/RRA900/RRA980-1/RAND_RRA980-1.pdf</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730" b="0">
                          <a:solidFill>
                            <a:srgbClr val="000000"/>
                          </a:solidFill>
                          <a:latin typeface="Times New Roman"/>
                        </a:rPr>
                        <a:t>Resilience assessment and degraded-performance comparison.</a:t>
                      </a:r>
                    </a:p>
                  </a:txBody>
                  <a:tcPr marL="68580" marR="68580" marT="36576" marB="22860" anchor="ctr">
                    <a:solidFill>
                      <a:srgbClr val="FFFFFF"/>
                    </a:solidFill>
                  </a:tcPr>
                </a:tc>
                <a:extLst>
                  <a:ext uri="{0D108BD9-81ED-4DB2-BD59-A6C34878D82A}">
                    <a16:rowId xmlns:a16="http://schemas.microsoft.com/office/drawing/2014/main" val="10001"/>
                  </a:ext>
                </a:extLst>
              </a:tr>
              <a:tr h="685800">
                <a:tc>
                  <a:txBody>
                    <a:bodyPr/>
                    <a:lstStyle/>
                    <a:p>
                      <a:pPr>
                        <a:lnSpc>
                          <a:spcPct val="103000"/>
                        </a:lnSpc>
                        <a:spcBef>
                          <a:spcPts val="0"/>
                        </a:spcBef>
                        <a:spcAft>
                          <a:spcPts val="0"/>
                        </a:spcAft>
                        <a:defRPr sz="1000" b="0">
                          <a:solidFill>
                            <a:srgbClr val="000000"/>
                          </a:solidFill>
                          <a:latin typeface="Times New Roman"/>
                        </a:defRPr>
                      </a:pPr>
                      <a:r>
                        <a:rPr sz="680" b="0">
                          <a:solidFill>
                            <a:srgbClr val="000000"/>
                          </a:solidFill>
                          <a:latin typeface="Times New Roman"/>
                        </a:rPr>
                        <a:t>National Aeronautics and Space Administration. (2013). Space Communications and Navigation (SCaN) Network Architecture Definition Document (ADD) Executive Summary, Volume 1, Revision 4. NASA. (https://www.nasa.gov/wp-content/uploads/2023/09/scan-add-vol1rev4.pdf)</a:t>
                      </a:r>
                    </a:p>
                  </a:txBody>
                  <a:tcPr marL="68580" marR="68580" marT="36576" marB="22860" anchor="ctr">
                    <a:solidFill>
                      <a:srgbClr val="F6F8FA"/>
                    </a:solidFill>
                  </a:tcPr>
                </a:tc>
                <a:tc>
                  <a:txBody>
                    <a:bodyPr/>
                    <a:lstStyle/>
                    <a:p>
                      <a:r>
                        <a:rPr sz="730" b="0">
                          <a:solidFill>
                            <a:srgbClr val="000000"/>
                          </a:solidFill>
                          <a:latin typeface="Times New Roman"/>
                        </a:rPr>
                        <a:t>Ground-station and relay-network architecture; not live performance data.</a:t>
                      </a:r>
                    </a:p>
                  </a:txBody>
                  <a:tcPr marL="68580" marR="68580" marT="36576" marB="22860" anchor="ctr">
                    <a:solidFill>
                      <a:srgbClr val="F6F8FA"/>
                    </a:solidFill>
                  </a:tcPr>
                </a:tc>
                <a:extLst>
                  <a:ext uri="{0D108BD9-81ED-4DB2-BD59-A6C34878D82A}">
                    <a16:rowId xmlns:a16="http://schemas.microsoft.com/office/drawing/2014/main" val="10002"/>
                  </a:ext>
                </a:extLst>
              </a:tr>
              <a:tr h="585216">
                <a:tc>
                  <a:txBody>
                    <a:bodyPr/>
                    <a:lstStyle/>
                    <a:p>
                      <a:pPr>
                        <a:lnSpc>
                          <a:spcPct val="103000"/>
                        </a:lnSpc>
                        <a:spcBef>
                          <a:spcPts val="0"/>
                        </a:spcBef>
                        <a:spcAft>
                          <a:spcPts val="0"/>
                        </a:spcAft>
                        <a:defRPr sz="1000" b="0">
                          <a:solidFill>
                            <a:srgbClr val="000000"/>
                          </a:solidFill>
                          <a:latin typeface="Times New Roman"/>
                        </a:defRPr>
                      </a:pPr>
                      <a:r>
                        <a:rPr sz="680" b="0">
                          <a:solidFill>
                            <a:srgbClr val="000000"/>
                          </a:solidFill>
                          <a:latin typeface="Times New Roman"/>
                        </a:rPr>
                        <a:t>Kodheli, O., Lagunas, E., Maturo, N., et al. (2021). Satellite communications in the new space era: A survey and future challenges. IEEE Communications Surveys &amp; Tutorials, 23, 70–109. https://ieeexplore.ieee.org/document/9210567</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730" b="0">
                          <a:solidFill>
                            <a:srgbClr val="000000"/>
                          </a:solidFill>
                          <a:latin typeface="Times New Roman"/>
                        </a:rPr>
                        <a:t>Satellite communications survey and onboard-processing context.</a:t>
                      </a:r>
                    </a:p>
                  </a:txBody>
                  <a:tcPr marL="68580" marR="68580" marT="36576" marB="22860" anchor="ctr">
                    <a:solidFill>
                      <a:srgbClr val="FFFFFF"/>
                    </a:solidFill>
                  </a:tcPr>
                </a:tc>
                <a:extLst>
                  <a:ext uri="{0D108BD9-81ED-4DB2-BD59-A6C34878D82A}">
                    <a16:rowId xmlns:a16="http://schemas.microsoft.com/office/drawing/2014/main" val="10003"/>
                  </a:ext>
                </a:extLst>
              </a:tr>
              <a:tr h="475488">
                <a:tc>
                  <a:txBody>
                    <a:bodyPr/>
                    <a:lstStyle/>
                    <a:p>
                      <a:pPr>
                        <a:lnSpc>
                          <a:spcPct val="103000"/>
                        </a:lnSpc>
                        <a:spcBef>
                          <a:spcPts val="0"/>
                        </a:spcBef>
                        <a:spcAft>
                          <a:spcPts val="0"/>
                        </a:spcAft>
                        <a:defRPr sz="1000" b="0">
                          <a:solidFill>
                            <a:srgbClr val="000000"/>
                          </a:solidFill>
                          <a:latin typeface="Times New Roman"/>
                        </a:defRPr>
                      </a:pPr>
                      <a:r>
                        <a:rPr sz="680" b="0">
                          <a:solidFill>
                            <a:srgbClr val="000000"/>
                          </a:solidFill>
                          <a:latin typeface="Times New Roman"/>
                        </a:rPr>
                        <a:t>CelesTrak. (n.d.). NORAD GP element sets: Current data. https://celestrak.org/NORAD/elements/?</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730" b="0">
                          <a:solidFill>
                            <a:srgbClr val="000000"/>
                          </a:solidFill>
                          <a:latin typeface="Times New Roman"/>
                        </a:rPr>
                        <a:t>Orbital elements for visibility/access assumptions.</a:t>
                      </a:r>
                    </a:p>
                  </a:txBody>
                  <a:tcPr marL="68580" marR="68580" marT="36576" marB="22860" anchor="ctr">
                    <a:solidFill>
                      <a:srgbClr val="F6F8FA"/>
                    </a:solidFill>
                  </a:tcPr>
                </a:tc>
                <a:extLst>
                  <a:ext uri="{0D108BD9-81ED-4DB2-BD59-A6C34878D82A}">
                    <a16:rowId xmlns:a16="http://schemas.microsoft.com/office/drawing/2014/main" val="10004"/>
                  </a:ext>
                </a:extLst>
              </a:tr>
              <a:tr h="594360">
                <a:tc>
                  <a:txBody>
                    <a:bodyPr/>
                    <a:lstStyle/>
                    <a:p>
                      <a:pPr>
                        <a:lnSpc>
                          <a:spcPct val="103000"/>
                        </a:lnSpc>
                        <a:spcBef>
                          <a:spcPts val="0"/>
                        </a:spcBef>
                        <a:spcAft>
                          <a:spcPts val="0"/>
                        </a:spcAft>
                        <a:defRPr sz="1000" b="0">
                          <a:solidFill>
                            <a:srgbClr val="000000"/>
                          </a:solidFill>
                          <a:latin typeface="Times New Roman"/>
                        </a:defRPr>
                      </a:pPr>
                      <a:r>
                        <a:rPr sz="680" b="0">
                          <a:solidFill>
                            <a:srgbClr val="000000"/>
                          </a:solidFill>
                          <a:latin typeface="Times New Roman"/>
                        </a:rPr>
                        <a:t>National Oceanic and Atmospheric Administration, Space Weather Prediction Center. (n.d.). Planetary K-index. https://www.spaceweather.gov/products/planetary-k-index?</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730" b="0" dirty="0">
                          <a:solidFill>
                            <a:srgbClr val="000000"/>
                          </a:solidFill>
                          <a:latin typeface="Times New Roman"/>
                        </a:rPr>
                        <a:t>Environmental proxy for degradation scenarios; not direct latency.</a:t>
                      </a:r>
                    </a:p>
                  </a:txBody>
                  <a:tcPr marL="68580" marR="68580" marT="36576" marB="2286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86596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44149-D90F-2C4E-EDB4-2F160D0CE26A}"/>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54BE36A2-A72B-6A0F-5AD4-5A89A6E18E63}"/>
              </a:ext>
            </a:extLst>
          </p:cNvPr>
          <p:cNvSpPr>
            <a:spLocks noGrp="1"/>
          </p:cNvSpPr>
          <p:nvPr>
            <p:ph type="title"/>
          </p:nvPr>
        </p:nvSpPr>
        <p:spPr>
          <a:xfrm>
            <a:off x="483495" y="316733"/>
            <a:ext cx="7756263" cy="593766"/>
          </a:xfrm>
          <a:prstGeom prst="rect">
            <a:avLst/>
          </a:prstGeom>
        </p:spPr>
        <p:txBody>
          <a:bodyPr>
            <a:normAutofit fontScale="90000"/>
          </a:bodyPr>
          <a:lstStyle/>
          <a:p>
            <a:r>
              <a:rPr lang="en-US" sz="3600" dirty="0"/>
              <a:t>Data Sources</a:t>
            </a:r>
          </a:p>
        </p:txBody>
      </p:sp>
      <p:sp>
        <p:nvSpPr>
          <p:cNvPr id="7" name="TextBox 6"/>
          <p:cNvSpPr txBox="1"/>
          <p:nvPr/>
        </p:nvSpPr>
        <p:spPr>
          <a:xfrm>
            <a:off x="585216" y="1051560"/>
            <a:ext cx="10991088" cy="260456"/>
          </a:xfrm>
          <a:prstGeom prst="rect">
            <a:avLst/>
          </a:prstGeom>
          <a:solidFill>
            <a:srgbClr val="E7EEF3"/>
          </a:solidFill>
        </p:spPr>
        <p:txBody>
          <a:bodyPr wrap="square" lIns="13716" tIns="9144" rIns="13716" bIns="9144">
            <a:spAutoFit/>
          </a:bodyPr>
          <a:lstStyle/>
          <a:p>
            <a:pPr>
              <a:lnSpc>
                <a:spcPct val="105000"/>
              </a:lnSpc>
              <a:spcBef>
                <a:spcPts val="0"/>
              </a:spcBef>
              <a:spcAft>
                <a:spcPts val="300"/>
              </a:spcAft>
              <a:defRPr sz="1000" b="1">
                <a:solidFill>
                  <a:srgbClr val="000000"/>
                </a:solidFill>
                <a:latin typeface="Times New Roman"/>
              </a:defRPr>
            </a:pPr>
            <a:r>
              <a:rPr sz="700" b="1">
                <a:solidFill>
                  <a:srgbClr val="7030A0"/>
                </a:solidFill>
                <a:latin typeface="Times New Roman"/>
              </a:rPr>
              <a:t>INTERNATIONAL DATA SETS — current research-source status</a:t>
            </a:r>
            <a:endParaRPr sz="1600" b="1" dirty="0">
              <a:solidFill>
                <a:srgbClr val="7030A0"/>
              </a:solidFill>
              <a:latin typeface="Times New Roman"/>
            </a:endParaRPr>
          </a:p>
        </p:txBody>
      </p:sp>
      <p:graphicFrame>
        <p:nvGraphicFramePr>
          <p:cNvPr id="8" name="Table 7"/>
          <p:cNvGraphicFramePr>
            <a:graphicFrameLocks noGrp="1"/>
          </p:cNvGraphicFramePr>
          <p:nvPr/>
        </p:nvGraphicFramePr>
        <p:xfrm>
          <a:off x="585216" y="1444752"/>
          <a:ext cx="10991088" cy="304495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590288">
                  <a:extLst>
                    <a:ext uri="{9D8B030D-6E8A-4147-A177-3AD203B41FA5}">
                      <a16:colId xmlns:a16="http://schemas.microsoft.com/office/drawing/2014/main" val="20002"/>
                    </a:ext>
                  </a:extLst>
                </a:gridCol>
              </a:tblGrid>
              <a:tr h="292608">
                <a:tc>
                  <a:txBody>
                    <a:bodyPr/>
                    <a:lstStyle/>
                    <a:p>
                      <a:pPr>
                        <a:lnSpc>
                          <a:spcPct val="103000"/>
                        </a:lnSpc>
                        <a:spcBef>
                          <a:spcPts val="0"/>
                        </a:spcBef>
                        <a:spcAft>
                          <a:spcPts val="0"/>
                        </a:spcAft>
                        <a:defRPr sz="1000" b="1">
                          <a:solidFill>
                            <a:srgbClr val="000000"/>
                          </a:solidFill>
                          <a:latin typeface="Times New Roman"/>
                        </a:defRPr>
                      </a:pPr>
                      <a:r>
                        <a:rPr sz="670" b="1"/>
                        <a:t>Country / institution / contact</a:t>
                      </a:r>
                    </a:p>
                  </a:txBody>
                  <a:tcPr marL="68580" marR="68580" marT="36576" marB="22860" anchor="ctr">
                    <a:solidFill>
                      <a:srgbClr val="E7EEF3"/>
                    </a:solidFill>
                  </a:tcPr>
                </a:tc>
                <a:tc>
                  <a:txBody>
                    <a:bodyPr/>
                    <a:lstStyle/>
                    <a:p>
                      <a:pPr>
                        <a:lnSpc>
                          <a:spcPct val="103000"/>
                        </a:lnSpc>
                        <a:spcBef>
                          <a:spcPts val="0"/>
                        </a:spcBef>
                        <a:spcAft>
                          <a:spcPts val="0"/>
                        </a:spcAft>
                        <a:defRPr sz="1000" b="1">
                          <a:solidFill>
                            <a:srgbClr val="000000"/>
                          </a:solidFill>
                          <a:latin typeface="Times New Roman"/>
                        </a:defRPr>
                      </a:pPr>
                      <a:r>
                        <a:rPr sz="670" b="1"/>
                        <a:t>Requested or recorded data role</a:t>
                      </a:r>
                    </a:p>
                  </a:txBody>
                  <a:tcPr marL="68580" marR="68580" marT="36576" marB="22860" anchor="ctr">
                    <a:solidFill>
                      <a:srgbClr val="E7EEF3"/>
                    </a:solidFill>
                  </a:tcPr>
                </a:tc>
                <a:tc>
                  <a:txBody>
                    <a:bodyPr/>
                    <a:lstStyle/>
                    <a:p>
                      <a:pPr>
                        <a:lnSpc>
                          <a:spcPct val="103000"/>
                        </a:lnSpc>
                        <a:spcBef>
                          <a:spcPts val="0"/>
                        </a:spcBef>
                        <a:spcAft>
                          <a:spcPts val="0"/>
                        </a:spcAft>
                        <a:defRPr sz="1000" b="1">
                          <a:solidFill>
                            <a:srgbClr val="000000"/>
                          </a:solidFill>
                          <a:latin typeface="Times New Roman"/>
                        </a:defRPr>
                      </a:pPr>
                      <a:r>
                        <a:rPr sz="670" b="1"/>
                        <a:t>Evidence / current status</a:t>
                      </a:r>
                    </a:p>
                  </a:txBody>
                  <a:tcPr marL="68580" marR="68580" marT="36576" marB="22860" anchor="ctr">
                    <a:solidFill>
                      <a:srgbClr val="E7EEF3"/>
                    </a:solidFill>
                  </a:tcPr>
                </a:tc>
                <a:extLst>
                  <a:ext uri="{0D108BD9-81ED-4DB2-BD59-A6C34878D82A}">
                    <a16:rowId xmlns:a16="http://schemas.microsoft.com/office/drawing/2014/main" val="10000"/>
                  </a:ext>
                </a:extLst>
              </a:tr>
              <a:tr h="594360">
                <a:tc>
                  <a:txBody>
                    <a:bodyPr/>
                    <a:lstStyle/>
                    <a:p>
                      <a:pPr>
                        <a:lnSpc>
                          <a:spcPct val="103000"/>
                        </a:lnSpc>
                        <a:spcBef>
                          <a:spcPts val="0"/>
                        </a:spcBef>
                        <a:spcAft>
                          <a:spcPts val="0"/>
                        </a:spcAft>
                        <a:defRPr sz="1000" b="0">
                          <a:solidFill>
                            <a:srgbClr val="000000"/>
                          </a:solidFill>
                          <a:latin typeface="Times New Roman"/>
                        </a:defRPr>
                      </a:pPr>
                      <a:r>
                        <a:rPr sz="600"/>
                        <a:t>Germany / Netherlands</a:t>
                      </a:r>
                    </a:p>
                    <a:p>
                      <a:r>
                        <a:rPr sz="600"/>
                        <a:t>Osnabrück / Twente — N. Aschenbruck</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600"/>
                        <a:t>Direct network candidate: RTT, loss, throughput, path/traceroute and weather measurements.</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580"/>
                        <a:t>Public repository + dataset/paper links received. Exact files/fields/citation terms still to screen. Shared WetLinks coverage, not a separate Dutch response.</a:t>
                      </a:r>
                    </a:p>
                  </a:txBody>
                  <a:tcPr marL="68580" marR="68580" marT="36576" marB="22860" anchor="ctr">
                    <a:solidFill>
                      <a:srgbClr val="FFFFFF"/>
                    </a:solidFill>
                  </a:tcPr>
                </a:tc>
                <a:extLst>
                  <a:ext uri="{0D108BD9-81ED-4DB2-BD59-A6C34878D82A}">
                    <a16:rowId xmlns:a16="http://schemas.microsoft.com/office/drawing/2014/main" val="10001"/>
                  </a:ext>
                </a:extLst>
              </a:tr>
              <a:tr h="557784">
                <a:tc>
                  <a:txBody>
                    <a:bodyPr/>
                    <a:lstStyle/>
                    <a:p>
                      <a:pPr>
                        <a:lnSpc>
                          <a:spcPct val="103000"/>
                        </a:lnSpc>
                        <a:spcBef>
                          <a:spcPts val="0"/>
                        </a:spcBef>
                        <a:spcAft>
                          <a:spcPts val="0"/>
                        </a:spcAft>
                        <a:defRPr sz="1000" b="0">
                          <a:solidFill>
                            <a:srgbClr val="000000"/>
                          </a:solidFill>
                          <a:latin typeface="Times New Roman"/>
                        </a:defRPr>
                      </a:pPr>
                      <a:r>
                        <a:rPr sz="600"/>
                        <a:t>Canada</a:t>
                      </a:r>
                    </a:p>
                    <a:p>
                      <a:r>
                        <a:rPr sz="600"/>
                        <a:t>University of Victoria — J. Pan / J. Zhao</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600"/>
                        <a:t>Requested direct network data: latency, loss, throughput, interruptions, recovery and path changes.</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580"/>
                        <a:t>Clarification supplied to Prof. Pan. Awaiting applicable public LENS files/variables and citation guidance.</a:t>
                      </a:r>
                    </a:p>
                  </a:txBody>
                  <a:tcPr marL="68580" marR="68580" marT="36576" marB="22860" anchor="ctr">
                    <a:solidFill>
                      <a:srgbClr val="F6F8FA"/>
                    </a:solidFill>
                  </a:tcPr>
                </a:tc>
                <a:extLst>
                  <a:ext uri="{0D108BD9-81ED-4DB2-BD59-A6C34878D82A}">
                    <a16:rowId xmlns:a16="http://schemas.microsoft.com/office/drawing/2014/main" val="10002"/>
                  </a:ext>
                </a:extLst>
              </a:tr>
              <a:tr h="594360">
                <a:tc>
                  <a:txBody>
                    <a:bodyPr/>
                    <a:lstStyle/>
                    <a:p>
                      <a:pPr>
                        <a:lnSpc>
                          <a:spcPct val="103000"/>
                        </a:lnSpc>
                        <a:spcBef>
                          <a:spcPts val="0"/>
                        </a:spcBef>
                        <a:spcAft>
                          <a:spcPts val="0"/>
                        </a:spcAft>
                        <a:defRPr sz="1000" b="0">
                          <a:solidFill>
                            <a:srgbClr val="000000"/>
                          </a:solidFill>
                          <a:latin typeface="Times New Roman"/>
                        </a:defRPr>
                      </a:pPr>
                      <a:r>
                        <a:rPr sz="600"/>
                        <a:t>Australia</a:t>
                      </a:r>
                    </a:p>
                    <a:p>
                      <a:r>
                        <a:rPr sz="600"/>
                        <a:t>ASWFC / Bureau — Cassie Marshall</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600"/>
                        <a:t>Environmental support: HF fadeouts, ionospheric observations, regional K-index and flare/Kp referrals.</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580"/>
                        <a:t>Archive/API/product links + citation guidance received. Does not establish direct latency/uptime/downtime.</a:t>
                      </a:r>
                    </a:p>
                  </a:txBody>
                  <a:tcPr marL="68580" marR="68580" marT="36576" marB="22860" anchor="ctr">
                    <a:solidFill>
                      <a:srgbClr val="FFFFFF"/>
                    </a:solidFill>
                  </a:tcPr>
                </a:tc>
                <a:extLst>
                  <a:ext uri="{0D108BD9-81ED-4DB2-BD59-A6C34878D82A}">
                    <a16:rowId xmlns:a16="http://schemas.microsoft.com/office/drawing/2014/main" val="10003"/>
                  </a:ext>
                </a:extLst>
              </a:tr>
              <a:tr h="557784">
                <a:tc>
                  <a:txBody>
                    <a:bodyPr/>
                    <a:lstStyle/>
                    <a:p>
                      <a:pPr>
                        <a:lnSpc>
                          <a:spcPct val="103000"/>
                        </a:lnSpc>
                        <a:spcBef>
                          <a:spcPts val="0"/>
                        </a:spcBef>
                        <a:spcAft>
                          <a:spcPts val="0"/>
                        </a:spcAft>
                        <a:defRPr sz="1000" b="0">
                          <a:solidFill>
                            <a:srgbClr val="000000"/>
                          </a:solidFill>
                          <a:latin typeface="Times New Roman"/>
                        </a:defRPr>
                      </a:pPr>
                      <a:r>
                        <a:rPr sz="600"/>
                        <a:t>South Africa</a:t>
                      </a:r>
                    </a:p>
                    <a:p>
                      <a:r>
                        <a:rPr sz="600"/>
                        <a:t>SANSA — M. Tshisaphungo / K. Niemantinga</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600"/>
                        <a:t>Environmental support: geomagnetic/Hermanus data; no direct satellite-link performance data.</a:t>
                      </a:r>
                    </a:p>
                  </a:txBody>
                  <a:tcPr marL="68580" marR="68580" marT="36576" marB="22860" anchor="ctr">
                    <a:solidFill>
                      <a:srgbClr val="F6F8FA"/>
                    </a:solidFill>
                  </a:tcPr>
                </a:tc>
                <a:tc>
                  <a:txBody>
                    <a:bodyPr/>
                    <a:lstStyle/>
                    <a:p>
                      <a:pPr>
                        <a:lnSpc>
                          <a:spcPct val="103000"/>
                        </a:lnSpc>
                        <a:spcBef>
                          <a:spcPts val="0"/>
                        </a:spcBef>
                        <a:spcAft>
                          <a:spcPts val="0"/>
                        </a:spcAft>
                        <a:defRPr sz="1000" b="0">
                          <a:solidFill>
                            <a:srgbClr val="000000"/>
                          </a:solidFill>
                          <a:latin typeface="Times New Roman"/>
                        </a:defRPr>
                      </a:pPr>
                      <a:r>
                        <a:rPr sz="580"/>
                        <a:t>Public geomagnetic-data route + research-use terms + preferred citation received. Treat as environmental input.</a:t>
                      </a:r>
                    </a:p>
                  </a:txBody>
                  <a:tcPr marL="68580" marR="68580" marT="36576" marB="22860" anchor="ctr">
                    <a:solidFill>
                      <a:srgbClr val="F6F8FA"/>
                    </a:solidFill>
                  </a:tcPr>
                </a:tc>
                <a:extLst>
                  <a:ext uri="{0D108BD9-81ED-4DB2-BD59-A6C34878D82A}">
                    <a16:rowId xmlns:a16="http://schemas.microsoft.com/office/drawing/2014/main" val="10004"/>
                  </a:ext>
                </a:extLst>
              </a:tr>
              <a:tr h="448056">
                <a:tc>
                  <a:txBody>
                    <a:bodyPr/>
                    <a:lstStyle/>
                    <a:p>
                      <a:pPr>
                        <a:lnSpc>
                          <a:spcPct val="103000"/>
                        </a:lnSpc>
                        <a:spcBef>
                          <a:spcPts val="0"/>
                        </a:spcBef>
                        <a:spcAft>
                          <a:spcPts val="0"/>
                        </a:spcAft>
                        <a:defRPr sz="1000" b="0">
                          <a:solidFill>
                            <a:srgbClr val="000000"/>
                          </a:solidFill>
                          <a:latin typeface="Times New Roman"/>
                        </a:defRPr>
                      </a:pPr>
                      <a:r>
                        <a:rPr sz="600"/>
                        <a:t>Japan</a:t>
                      </a:r>
                    </a:p>
                    <a:p>
                      <a:r>
                        <a:rPr sz="600"/>
                        <a:t>NICT — Dr. Septi Perwitasari</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600"/>
                        <a:t>Environmental support: ionosonde/foF2, TEC and space-weather records; possible communications-data referral.</a:t>
                      </a:r>
                    </a:p>
                  </a:txBody>
                  <a:tcPr marL="68580" marR="68580" marT="36576" marB="22860" anchor="ctr">
                    <a:solidFill>
                      <a:srgbClr val="FFFFFF"/>
                    </a:solidFill>
                  </a:tcPr>
                </a:tc>
                <a:tc>
                  <a:txBody>
                    <a:bodyPr/>
                    <a:lstStyle/>
                    <a:p>
                      <a:pPr>
                        <a:lnSpc>
                          <a:spcPct val="103000"/>
                        </a:lnSpc>
                        <a:spcBef>
                          <a:spcPts val="0"/>
                        </a:spcBef>
                        <a:spcAft>
                          <a:spcPts val="0"/>
                        </a:spcAft>
                        <a:defRPr sz="1000" b="0">
                          <a:solidFill>
                            <a:srgbClr val="000000"/>
                          </a:solidFill>
                          <a:latin typeface="Times New Roman"/>
                        </a:defRPr>
                      </a:pPr>
                      <a:r>
                        <a:rPr sz="580"/>
                        <a:t>NICT replied and requested specific products/parameters. Follow-up supplied in Japanese; files pending.</a:t>
                      </a:r>
                    </a:p>
                  </a:txBody>
                  <a:tcPr marL="68580" marR="68580" marT="36576" marB="22860"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585216" y="4599432"/>
            <a:ext cx="10991088" cy="169726"/>
          </a:xfrm>
          <a:prstGeom prst="rect">
            <a:avLst/>
          </a:prstGeom>
          <a:solidFill>
            <a:srgbClr val="E7EEF3"/>
          </a:solidFill>
        </p:spPr>
        <p:txBody>
          <a:bodyPr wrap="square" lIns="13716" tIns="9144" rIns="13716" bIns="9144">
            <a:spAutoFit/>
          </a:bodyPr>
          <a:lstStyle/>
          <a:p>
            <a:pPr>
              <a:lnSpc>
                <a:spcPct val="105000"/>
              </a:lnSpc>
              <a:spcBef>
                <a:spcPts val="0"/>
              </a:spcBef>
              <a:spcAft>
                <a:spcPts val="300"/>
              </a:spcAft>
              <a:defRPr sz="1000" b="1">
                <a:solidFill>
                  <a:srgbClr val="000000"/>
                </a:solidFill>
                <a:latin typeface="Times New Roman"/>
              </a:defRPr>
            </a:pPr>
            <a:r>
              <a:rPr sz="680" b="1">
                <a:solidFill>
                  <a:srgbClr val="000000"/>
                </a:solidFill>
                <a:latin typeface="Times New Roman"/>
              </a:rPr>
              <a:t>DOMESTIC / INPUTS — previous slide + NCEI follow-up</a:t>
            </a:r>
            <a:endParaRPr sz="1000" b="1" dirty="0">
              <a:solidFill>
                <a:srgbClr val="000000"/>
              </a:solidFill>
              <a:latin typeface="Times New Roman"/>
            </a:endParaRPr>
          </a:p>
        </p:txBody>
      </p:sp>
      <p:sp>
        <p:nvSpPr>
          <p:cNvPr id="10" name="TextBox 9"/>
          <p:cNvSpPr txBox="1"/>
          <p:nvPr/>
        </p:nvSpPr>
        <p:spPr>
          <a:xfrm>
            <a:off x="640080" y="4901184"/>
            <a:ext cx="10853928" cy="331309"/>
          </a:xfrm>
          <a:prstGeom prst="rect">
            <a:avLst/>
          </a:prstGeom>
          <a:noFill/>
        </p:spPr>
        <p:txBody>
          <a:bodyPr wrap="square" lIns="13716" tIns="9144" rIns="13716" bIns="9144">
            <a:spAutoFit/>
          </a:bodyPr>
          <a:lstStyle/>
          <a:p>
            <a:pPr>
              <a:lnSpc>
                <a:spcPct val="105000"/>
              </a:lnSpc>
              <a:spcBef>
                <a:spcPts val="0"/>
              </a:spcBef>
              <a:spcAft>
                <a:spcPts val="300"/>
              </a:spcAft>
              <a:defRPr sz="1000" b="0">
                <a:solidFill>
                  <a:srgbClr val="000000"/>
                </a:solidFill>
                <a:latin typeface="Times New Roman"/>
              </a:defRPr>
            </a:pPr>
            <a:r>
              <a:rPr sz="640" b="0">
                <a:solidFill>
                  <a:srgbClr val="000000"/>
                </a:solidFill>
                <a:latin typeface="Times New Roman"/>
              </a:rPr>
              <a:t>CelesTrak - orbital elements; NOAA SWPC/NCEI - Kp, GOES-R EXIS XRS/EUVS, GloTEC, ionosonde and event reports; NASA SCaN - architecture; RAND - resilience concepts; scenario vectors - controlled experimental inputs.</a:t>
            </a:r>
          </a:p>
        </p:txBody>
      </p:sp>
    </p:spTree>
    <p:extLst>
      <p:ext uri="{BB962C8B-B14F-4D97-AF65-F5344CB8AC3E}">
        <p14:creationId xmlns:p14="http://schemas.microsoft.com/office/powerpoint/2010/main" val="347357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E4005-61A4-2666-5043-3CC4CFB6369B}"/>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A51F7B1-B713-9247-1074-A677B3970DC1}"/>
              </a:ext>
            </a:extLst>
          </p:cNvPr>
          <p:cNvSpPr>
            <a:spLocks noGrp="1"/>
          </p:cNvSpPr>
          <p:nvPr>
            <p:ph type="title"/>
          </p:nvPr>
        </p:nvSpPr>
        <p:spPr>
          <a:xfrm>
            <a:off x="483495" y="316733"/>
            <a:ext cx="7756263" cy="593766"/>
          </a:xfrm>
          <a:prstGeom prst="rect">
            <a:avLst/>
          </a:prstGeom>
        </p:spPr>
        <p:txBody>
          <a:bodyPr>
            <a:normAutofit fontScale="90000"/>
          </a:bodyPr>
          <a:lstStyle/>
          <a:p>
            <a:r>
              <a:rPr lang="en-US" sz="3600" dirty="0"/>
              <a:t>Summary of Methodology</a:t>
            </a:r>
          </a:p>
        </p:txBody>
      </p:sp>
      <p:sp>
        <p:nvSpPr>
          <p:cNvPr id="7" name="TextBox 6"/>
          <p:cNvSpPr txBox="1"/>
          <p:nvPr/>
        </p:nvSpPr>
        <p:spPr>
          <a:xfrm>
            <a:off x="585216" y="1051560"/>
            <a:ext cx="10991088" cy="169726"/>
          </a:xfrm>
          <a:prstGeom prst="rect">
            <a:avLst/>
          </a:prstGeom>
          <a:solidFill>
            <a:srgbClr val="E7EEF3"/>
          </a:solidFill>
        </p:spPr>
        <p:txBody>
          <a:bodyPr wrap="square" lIns="13716" tIns="9144" rIns="13716" bIns="9144">
            <a:spAutoFit/>
          </a:bodyPr>
          <a:lstStyle/>
          <a:p>
            <a:pPr>
              <a:lnSpc>
                <a:spcPct val="105000"/>
              </a:lnSpc>
              <a:spcBef>
                <a:spcPts val="0"/>
              </a:spcBef>
              <a:spcAft>
                <a:spcPts val="300"/>
              </a:spcAft>
              <a:defRPr sz="1000" b="1">
                <a:solidFill>
                  <a:srgbClr val="000000"/>
                </a:solidFill>
                <a:latin typeface="Times New Roman"/>
              </a:defRPr>
            </a:pPr>
            <a:r>
              <a:rPr sz="1000" b="1" dirty="0">
                <a:solidFill>
                  <a:srgbClr val="000000"/>
                </a:solidFill>
                <a:latin typeface="Times New Roman"/>
              </a:rPr>
              <a:t>DES — WORKING SELECTION </a:t>
            </a:r>
          </a:p>
        </p:txBody>
      </p:sp>
      <p:graphicFrame>
        <p:nvGraphicFramePr>
          <p:cNvPr id="8" name="Table 7"/>
          <p:cNvGraphicFramePr>
            <a:graphicFrameLocks noGrp="1"/>
          </p:cNvGraphicFramePr>
          <p:nvPr>
            <p:extLst>
              <p:ext uri="{D42A27DB-BD31-4B8C-83A1-F6EECF244321}">
                <p14:modId xmlns:p14="http://schemas.microsoft.com/office/powerpoint/2010/main" val="1530608766"/>
              </p:ext>
            </p:extLst>
          </p:nvPr>
        </p:nvGraphicFramePr>
        <p:xfrm>
          <a:off x="585216" y="1463040"/>
          <a:ext cx="10991088" cy="3639312"/>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979408">
                  <a:extLst>
                    <a:ext uri="{9D8B030D-6E8A-4147-A177-3AD203B41FA5}">
                      <a16:colId xmlns:a16="http://schemas.microsoft.com/office/drawing/2014/main" val="20001"/>
                    </a:ext>
                  </a:extLst>
                </a:gridCol>
              </a:tblGrid>
              <a:tr h="320040">
                <a:tc>
                  <a:txBody>
                    <a:bodyPr/>
                    <a:lstStyle/>
                    <a:p>
                      <a:pPr>
                        <a:lnSpc>
                          <a:spcPct val="103000"/>
                        </a:lnSpc>
                        <a:spcBef>
                          <a:spcPts val="0"/>
                        </a:spcBef>
                        <a:spcAft>
                          <a:spcPts val="0"/>
                        </a:spcAft>
                        <a:defRPr sz="1100" b="1">
                          <a:solidFill>
                            <a:srgbClr val="000000"/>
                          </a:solidFill>
                          <a:latin typeface="Times New Roman"/>
                        </a:defRPr>
                      </a:pPr>
                      <a:r>
                        <a:rPr sz="1100" b="1">
                          <a:solidFill>
                            <a:srgbClr val="000000"/>
                          </a:solidFill>
                          <a:latin typeface="Times New Roman"/>
                        </a:rPr>
                        <a:t>Element</a:t>
                      </a:r>
                    </a:p>
                  </a:txBody>
                  <a:tcPr marL="68580" marR="68580" marT="36576" marB="22860" anchor="ctr">
                    <a:solidFill>
                      <a:srgbClr val="E7EEF3"/>
                    </a:solidFill>
                  </a:tcPr>
                </a:tc>
                <a:tc>
                  <a:txBody>
                    <a:bodyPr/>
                    <a:lstStyle/>
                    <a:p>
                      <a:pPr>
                        <a:lnSpc>
                          <a:spcPct val="103000"/>
                        </a:lnSpc>
                        <a:spcBef>
                          <a:spcPts val="0"/>
                        </a:spcBef>
                        <a:spcAft>
                          <a:spcPts val="0"/>
                        </a:spcAft>
                        <a:defRPr sz="1100" b="1">
                          <a:solidFill>
                            <a:srgbClr val="000000"/>
                          </a:solidFill>
                          <a:latin typeface="Times New Roman"/>
                        </a:defRPr>
                      </a:pPr>
                      <a:r>
                        <a:rPr sz="1100" b="1">
                          <a:solidFill>
                            <a:srgbClr val="000000"/>
                          </a:solidFill>
                          <a:latin typeface="Times New Roman"/>
                        </a:rPr>
                        <a:t>Working design / source-derived content</a:t>
                      </a:r>
                    </a:p>
                  </a:txBody>
                  <a:tcPr marL="68580" marR="68580" marT="36576" marB="22860" anchor="ctr">
                    <a:solidFill>
                      <a:srgbClr val="E7EEF3"/>
                    </a:solidFill>
                  </a:tcPr>
                </a:tc>
                <a:extLst>
                  <a:ext uri="{0D108BD9-81ED-4DB2-BD59-A6C34878D82A}">
                    <a16:rowId xmlns:a16="http://schemas.microsoft.com/office/drawing/2014/main" val="10000"/>
                  </a:ext>
                </a:extLst>
              </a:tr>
              <a:tr h="630936">
                <a:tc>
                  <a:txBody>
                    <a:bodyPr/>
                    <a:lstStyle/>
                    <a:p>
                      <a:pPr>
                        <a:lnSpc>
                          <a:spcPct val="103000"/>
                        </a:lnSpc>
                        <a:spcBef>
                          <a:spcPts val="0"/>
                        </a:spcBef>
                        <a:spcAft>
                          <a:spcPts val="0"/>
                        </a:spcAft>
                        <a:defRPr sz="1100" b="0">
                          <a:solidFill>
                            <a:srgbClr val="000000"/>
                          </a:solidFill>
                          <a:latin typeface="Times New Roman"/>
                        </a:defRPr>
                      </a:pPr>
                      <a:r>
                        <a:rPr sz="1100" b="0">
                          <a:solidFill>
                            <a:srgbClr val="000000"/>
                          </a:solidFill>
                          <a:latin typeface="Times New Roman"/>
                        </a:rPr>
                        <a:t>Method</a:t>
                      </a:r>
                    </a:p>
                  </a:txBody>
                  <a:tcPr marL="68580" marR="68580" marT="36576" marB="22860" anchor="ctr">
                    <a:solidFill>
                      <a:srgbClr val="FFFFFF"/>
                    </a:solidFill>
                  </a:tcPr>
                </a:tc>
                <a:tc>
                  <a:txBody>
                    <a:bodyPr/>
                    <a:lstStyle/>
                    <a:p>
                      <a:pPr>
                        <a:lnSpc>
                          <a:spcPct val="103000"/>
                        </a:lnSpc>
                        <a:spcBef>
                          <a:spcPts val="0"/>
                        </a:spcBef>
                        <a:spcAft>
                          <a:spcPts val="0"/>
                        </a:spcAft>
                        <a:defRPr sz="1100" b="0">
                          <a:solidFill>
                            <a:srgbClr val="000000"/>
                          </a:solidFill>
                          <a:latin typeface="Times New Roman"/>
                        </a:defRPr>
                      </a:pPr>
                      <a:r>
                        <a:rPr sz="1400" dirty="0"/>
                        <a:t>Follow individual observations, disruptions, routing, processing, responses and recovery in event order.</a:t>
                      </a:r>
                      <a:endParaRPr lang="en-US" sz="3200" b="1" dirty="0">
                        <a:solidFill>
                          <a:srgbClr val="000000"/>
                        </a:solidFill>
                        <a:latin typeface="Times New Roman"/>
                      </a:endParaRPr>
                    </a:p>
                    <a:p>
                      <a:r>
                        <a:rPr sz="1400" dirty="0"/>
                        <a:t>Compare ground-centric and orbital-edge paths under matched degradation.</a:t>
                      </a:r>
                    </a:p>
                  </a:txBody>
                  <a:tcPr marL="68580" marR="68580" marT="36576" marB="22860" anchor="ctr">
                    <a:solidFill>
                      <a:srgbClr val="FFFFFF"/>
                    </a:solidFill>
                  </a:tcPr>
                </a:tc>
                <a:extLst>
                  <a:ext uri="{0D108BD9-81ED-4DB2-BD59-A6C34878D82A}">
                    <a16:rowId xmlns:a16="http://schemas.microsoft.com/office/drawing/2014/main" val="10001"/>
                  </a:ext>
                </a:extLst>
              </a:tr>
              <a:tr h="713232">
                <a:tc>
                  <a:txBody>
                    <a:bodyPr/>
                    <a:lstStyle/>
                    <a:p>
                      <a:pPr>
                        <a:lnSpc>
                          <a:spcPct val="103000"/>
                        </a:lnSpc>
                        <a:spcBef>
                          <a:spcPts val="0"/>
                        </a:spcBef>
                        <a:spcAft>
                          <a:spcPts val="0"/>
                        </a:spcAft>
                        <a:defRPr sz="1100" b="0">
                          <a:solidFill>
                            <a:srgbClr val="000000"/>
                          </a:solidFill>
                          <a:latin typeface="Times New Roman"/>
                        </a:defRPr>
                      </a:pPr>
                      <a:r>
                        <a:rPr sz="1100" b="0" dirty="0">
                          <a:solidFill>
                            <a:srgbClr val="000000"/>
                          </a:solidFill>
                          <a:latin typeface="Times New Roman"/>
                        </a:rPr>
                        <a:t>Inputs</a:t>
                      </a:r>
                    </a:p>
                  </a:txBody>
                  <a:tcPr marL="68580" marR="68580" marT="36576" marB="22860" anchor="ctr">
                    <a:solidFill>
                      <a:srgbClr val="F6F8FA"/>
                    </a:solidFill>
                  </a:tcPr>
                </a:tc>
                <a:tc>
                  <a:txBody>
                    <a:bodyPr/>
                    <a:lstStyle/>
                    <a:p>
                      <a:pPr>
                        <a:lnSpc>
                          <a:spcPct val="103000"/>
                        </a:lnSpc>
                        <a:spcBef>
                          <a:spcPts val="0"/>
                        </a:spcBef>
                        <a:spcAft>
                          <a:spcPts val="0"/>
                        </a:spcAft>
                        <a:defRPr sz="1100" b="0">
                          <a:solidFill>
                            <a:srgbClr val="000000"/>
                          </a:solidFill>
                          <a:latin typeface="Times New Roman"/>
                        </a:defRPr>
                      </a:pPr>
                      <a:r>
                        <a:rPr sz="1400" dirty="0"/>
                        <a:t>Disruption type/start/duration; communication lag; ground-station availability; visibility window; bandwidth capacity; data volume; packet loss; edge processing time; resource availability.</a:t>
                      </a:r>
                    </a:p>
                  </a:txBody>
                  <a:tcPr marL="68580" marR="68580" marT="36576" marB="22860" anchor="ctr">
                    <a:solidFill>
                      <a:srgbClr val="F6F8FA"/>
                    </a:solidFill>
                  </a:tcPr>
                </a:tc>
                <a:extLst>
                  <a:ext uri="{0D108BD9-81ED-4DB2-BD59-A6C34878D82A}">
                    <a16:rowId xmlns:a16="http://schemas.microsoft.com/office/drawing/2014/main" val="10002"/>
                  </a:ext>
                </a:extLst>
              </a:tr>
              <a:tr h="658368">
                <a:tc>
                  <a:txBody>
                    <a:bodyPr/>
                    <a:lstStyle/>
                    <a:p>
                      <a:pPr>
                        <a:lnSpc>
                          <a:spcPct val="103000"/>
                        </a:lnSpc>
                        <a:spcBef>
                          <a:spcPts val="0"/>
                        </a:spcBef>
                        <a:spcAft>
                          <a:spcPts val="0"/>
                        </a:spcAft>
                        <a:defRPr sz="1100" b="0">
                          <a:solidFill>
                            <a:srgbClr val="000000"/>
                          </a:solidFill>
                          <a:latin typeface="Times New Roman"/>
                        </a:defRPr>
                      </a:pPr>
                      <a:r>
                        <a:rPr sz="700" b="1"/>
                        <a:t>Outputs</a:t>
                      </a:r>
                    </a:p>
                  </a:txBody>
                  <a:tcPr marL="68580" marR="68580" marT="36576" marB="22860" anchor="ctr">
                    <a:solidFill>
                      <a:srgbClr val="FFFFFF"/>
                    </a:solidFill>
                  </a:tcPr>
                </a:tc>
                <a:tc>
                  <a:txBody>
                    <a:bodyPr/>
                    <a:lstStyle/>
                    <a:p>
                      <a:pPr>
                        <a:lnSpc>
                          <a:spcPct val="103000"/>
                        </a:lnSpc>
                        <a:spcBef>
                          <a:spcPts val="0"/>
                        </a:spcBef>
                        <a:spcAft>
                          <a:spcPts val="0"/>
                        </a:spcAft>
                        <a:defRPr sz="1100" b="0">
                          <a:solidFill>
                            <a:srgbClr val="000000"/>
                          </a:solidFill>
                          <a:latin typeface="Times New Roman"/>
                        </a:defRPr>
                      </a:pPr>
                      <a:r>
                        <a:rPr sz="1400" dirty="0"/>
                        <a:t>Uptime/service availability; downtime/recovery; response latency; packet loss; queueing delay.</a:t>
                      </a:r>
                      <a:endParaRPr lang="en-US" sz="3200" b="1" dirty="0">
                        <a:solidFill>
                          <a:srgbClr val="000000"/>
                        </a:solidFill>
                        <a:latin typeface="Times New Roman"/>
                      </a:endParaRPr>
                    </a:p>
                    <a:p>
                      <a:r>
                        <a:rPr sz="1400" dirty="0"/>
                        <a:t>Recovery and dropped messages remain supporting observations. Definitions and thresholds still need to be fixed.</a:t>
                      </a:r>
                    </a:p>
                  </a:txBody>
                  <a:tcPr marL="68580" marR="68580" marT="36576" marB="22860" anchor="ctr">
                    <a:solidFill>
                      <a:srgbClr val="FFFFFF"/>
                    </a:solidFill>
                  </a:tcPr>
                </a:tc>
                <a:extLst>
                  <a:ext uri="{0D108BD9-81ED-4DB2-BD59-A6C34878D82A}">
                    <a16:rowId xmlns:a16="http://schemas.microsoft.com/office/drawing/2014/main" val="10003"/>
                  </a:ext>
                </a:extLst>
              </a:tr>
              <a:tr h="658368">
                <a:tc>
                  <a:txBody>
                    <a:bodyPr/>
                    <a:lstStyle/>
                    <a:p>
                      <a:pPr>
                        <a:lnSpc>
                          <a:spcPct val="103000"/>
                        </a:lnSpc>
                        <a:spcBef>
                          <a:spcPts val="0"/>
                        </a:spcBef>
                        <a:spcAft>
                          <a:spcPts val="0"/>
                        </a:spcAft>
                        <a:defRPr sz="1100" b="0">
                          <a:solidFill>
                            <a:srgbClr val="000000"/>
                          </a:solidFill>
                          <a:latin typeface="Times New Roman"/>
                        </a:defRPr>
                      </a:pPr>
                      <a:r>
                        <a:rPr sz="1100" b="0" dirty="0">
                          <a:solidFill>
                            <a:srgbClr val="000000"/>
                          </a:solidFill>
                          <a:latin typeface="Times New Roman"/>
                        </a:rPr>
                        <a:t>Analysis</a:t>
                      </a:r>
                    </a:p>
                  </a:txBody>
                  <a:tcPr marL="68580" marR="68580" marT="36576" marB="22860" anchor="ctr">
                    <a:solidFill>
                      <a:srgbClr val="F6F8FA"/>
                    </a:solidFill>
                  </a:tcPr>
                </a:tc>
                <a:tc>
                  <a:txBody>
                    <a:bodyPr/>
                    <a:lstStyle/>
                    <a:p>
                      <a:pPr>
                        <a:lnSpc>
                          <a:spcPct val="103000"/>
                        </a:lnSpc>
                        <a:spcBef>
                          <a:spcPts val="0"/>
                        </a:spcBef>
                        <a:spcAft>
                          <a:spcPts val="0"/>
                        </a:spcAft>
                        <a:defRPr sz="1100" b="0">
                          <a:solidFill>
                            <a:srgbClr val="000000"/>
                          </a:solidFill>
                          <a:latin typeface="Times New Roman"/>
                        </a:defRPr>
                      </a:pPr>
                      <a:r>
                        <a:rPr sz="1400" b="1" dirty="0">
                          <a:solidFill>
                            <a:srgbClr val="000000"/>
                          </a:solidFill>
                          <a:latin typeface="Times New Roman"/>
                        </a:rPr>
                        <a:t>Public benchmarks and theoretical delay calculations; matched repeated runs; latency-distribution comparison; sensitivity analysis. </a:t>
                      </a:r>
                      <a:endParaRPr lang="en-US" sz="1400" b="1" dirty="0">
                        <a:solidFill>
                          <a:srgbClr val="000000"/>
                        </a:solidFill>
                        <a:latin typeface="Times New Roman"/>
                      </a:endParaRPr>
                    </a:p>
                  </a:txBody>
                  <a:tcPr marL="68580" marR="68580" marT="36576" marB="22860" anchor="ctr">
                    <a:solidFill>
                      <a:srgbClr val="F6F8FA"/>
                    </a:solidFill>
                  </a:tcPr>
                </a:tc>
                <a:extLst>
                  <a:ext uri="{0D108BD9-81ED-4DB2-BD59-A6C34878D82A}">
                    <a16:rowId xmlns:a16="http://schemas.microsoft.com/office/drawing/2014/main" val="10004"/>
                  </a:ext>
                </a:extLst>
              </a:tr>
              <a:tr h="658368">
                <a:tc>
                  <a:txBody>
                    <a:bodyPr/>
                    <a:lstStyle/>
                    <a:p>
                      <a:pPr>
                        <a:lnSpc>
                          <a:spcPct val="103000"/>
                        </a:lnSpc>
                        <a:spcBef>
                          <a:spcPts val="0"/>
                        </a:spcBef>
                        <a:spcAft>
                          <a:spcPts val="0"/>
                        </a:spcAft>
                        <a:defRPr sz="1100" b="0">
                          <a:solidFill>
                            <a:srgbClr val="000000"/>
                          </a:solidFill>
                          <a:latin typeface="Times New Roman"/>
                        </a:defRPr>
                      </a:pPr>
                      <a:r>
                        <a:rPr sz="1100" b="0" dirty="0">
                          <a:solidFill>
                            <a:srgbClr val="000000"/>
                          </a:solidFill>
                          <a:latin typeface="Times New Roman"/>
                        </a:rPr>
                        <a:t>Implementation / boundary</a:t>
                      </a:r>
                    </a:p>
                  </a:txBody>
                  <a:tcPr marL="68580" marR="68580" marT="36576" marB="22860" anchor="ctr">
                    <a:solidFill>
                      <a:srgbClr val="FFFFFF"/>
                    </a:solidFill>
                  </a:tcPr>
                </a:tc>
                <a:tc>
                  <a:txBody>
                    <a:bodyPr/>
                    <a:lstStyle/>
                    <a:p>
                      <a:pPr>
                        <a:lnSpc>
                          <a:spcPct val="103000"/>
                        </a:lnSpc>
                        <a:spcBef>
                          <a:spcPts val="0"/>
                        </a:spcBef>
                        <a:spcAft>
                          <a:spcPts val="0"/>
                        </a:spcAft>
                        <a:defRPr sz="1100" b="0">
                          <a:solidFill>
                            <a:srgbClr val="000000"/>
                          </a:solidFill>
                          <a:latin typeface="Times New Roman"/>
                        </a:defRPr>
                      </a:pPr>
                      <a:r>
                        <a:rPr sz="1400" dirty="0"/>
                        <a:t>MATLAB/</a:t>
                      </a:r>
                      <a:r>
                        <a:rPr sz="1400" dirty="0" err="1"/>
                        <a:t>SimEvents</a:t>
                      </a:r>
                      <a:r>
                        <a:rPr sz="1400" dirty="0"/>
                        <a:t> primary; Python only optional for data ingestion/preprocessing; reproducible scenario tables with fixed random seeds.</a:t>
                      </a:r>
                      <a:endParaRPr lang="en-US" sz="3200" b="1" dirty="0">
                        <a:solidFill>
                          <a:srgbClr val="000000"/>
                        </a:solidFill>
                        <a:latin typeface="Times New Roman"/>
                      </a:endParaRPr>
                    </a:p>
                  </a:txBody>
                  <a:tcPr marL="68580" marR="68580" marT="36576" marB="2286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90754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D7E08-544E-25D9-CA6B-CAE48765765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6AA99B-01B2-F235-238A-3C4ADCC508DA}"/>
              </a:ext>
            </a:extLst>
          </p:cNvPr>
          <p:cNvPicPr>
            <a:picLocks noChangeAspect="1"/>
          </p:cNvPicPr>
          <p:nvPr/>
        </p:nvPicPr>
        <p:blipFill>
          <a:blip r:embed="rId2"/>
          <a:stretch>
            <a:fillRect/>
          </a:stretch>
        </p:blipFill>
        <p:spPr>
          <a:xfrm>
            <a:off x="0" y="0"/>
            <a:ext cx="12299675" cy="3252355"/>
          </a:xfrm>
          <a:prstGeom prst="rect">
            <a:avLst/>
          </a:prstGeom>
        </p:spPr>
      </p:pic>
      <p:pic>
        <p:nvPicPr>
          <p:cNvPr id="6" name="Picture 5">
            <a:extLst>
              <a:ext uri="{FF2B5EF4-FFF2-40B4-BE49-F238E27FC236}">
                <a16:creationId xmlns:a16="http://schemas.microsoft.com/office/drawing/2014/main" id="{676B077F-2755-6C24-8950-20E2D9514D25}"/>
              </a:ext>
            </a:extLst>
          </p:cNvPr>
          <p:cNvPicPr>
            <a:picLocks noChangeAspect="1"/>
          </p:cNvPicPr>
          <p:nvPr/>
        </p:nvPicPr>
        <p:blipFill>
          <a:blip r:embed="rId3"/>
          <a:stretch>
            <a:fillRect/>
          </a:stretch>
        </p:blipFill>
        <p:spPr>
          <a:xfrm>
            <a:off x="3570051" y="2354272"/>
            <a:ext cx="8735580" cy="3171039"/>
          </a:xfrm>
          <a:prstGeom prst="rect">
            <a:avLst/>
          </a:prstGeom>
        </p:spPr>
      </p:pic>
      <p:pic>
        <p:nvPicPr>
          <p:cNvPr id="8" name="Picture 7">
            <a:extLst>
              <a:ext uri="{FF2B5EF4-FFF2-40B4-BE49-F238E27FC236}">
                <a16:creationId xmlns:a16="http://schemas.microsoft.com/office/drawing/2014/main" id="{E71381F8-28C4-E40E-5F50-8741B6AFEFB4}"/>
              </a:ext>
            </a:extLst>
          </p:cNvPr>
          <p:cNvPicPr>
            <a:picLocks noChangeAspect="1"/>
          </p:cNvPicPr>
          <p:nvPr/>
        </p:nvPicPr>
        <p:blipFill>
          <a:blip r:embed="rId3"/>
          <a:stretch>
            <a:fillRect/>
          </a:stretch>
        </p:blipFill>
        <p:spPr>
          <a:xfrm>
            <a:off x="0" y="4064972"/>
            <a:ext cx="7247777" cy="2630962"/>
          </a:xfrm>
          <a:prstGeom prst="rect">
            <a:avLst/>
          </a:prstGeom>
        </p:spPr>
      </p:pic>
    </p:spTree>
    <p:extLst>
      <p:ext uri="{BB962C8B-B14F-4D97-AF65-F5344CB8AC3E}">
        <p14:creationId xmlns:p14="http://schemas.microsoft.com/office/powerpoint/2010/main" val="466030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7A713-2633-2A13-D580-CB873B196DE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0EF3432-BF58-7CD7-F11B-9DD717F3939E}"/>
              </a:ext>
            </a:extLst>
          </p:cNvPr>
          <p:cNvPicPr>
            <a:picLocks noChangeAspect="1"/>
          </p:cNvPicPr>
          <p:nvPr/>
        </p:nvPicPr>
        <p:blipFill>
          <a:blip r:embed="rId2"/>
          <a:stretch>
            <a:fillRect/>
          </a:stretch>
        </p:blipFill>
        <p:spPr>
          <a:xfrm>
            <a:off x="0" y="0"/>
            <a:ext cx="12191999" cy="4425728"/>
          </a:xfrm>
          <a:prstGeom prst="rect">
            <a:avLst/>
          </a:prstGeom>
        </p:spPr>
      </p:pic>
    </p:spTree>
    <p:extLst>
      <p:ext uri="{BB962C8B-B14F-4D97-AF65-F5344CB8AC3E}">
        <p14:creationId xmlns:p14="http://schemas.microsoft.com/office/powerpoint/2010/main" val="2015891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9C3D42C-27AC-A5D1-8461-41EDB1049B9B}"/>
              </a:ext>
            </a:extLst>
          </p:cNvPr>
          <p:cNvGraphicFramePr>
            <a:graphicFrameLocks noGrp="1"/>
          </p:cNvGraphicFramePr>
          <p:nvPr>
            <p:extLst>
              <p:ext uri="{D42A27DB-BD31-4B8C-83A1-F6EECF244321}">
                <p14:modId xmlns:p14="http://schemas.microsoft.com/office/powerpoint/2010/main" val="3656030233"/>
              </p:ext>
            </p:extLst>
          </p:nvPr>
        </p:nvGraphicFramePr>
        <p:xfrm>
          <a:off x="0" y="18374"/>
          <a:ext cx="10486417" cy="8486176"/>
        </p:xfrm>
        <a:graphic>
          <a:graphicData uri="http://schemas.openxmlformats.org/drawingml/2006/table">
            <a:tbl>
              <a:tblPr>
                <a:tableStyleId>{5C22544A-7EE6-4342-B048-85BDC9FD1C3A}</a:tableStyleId>
              </a:tblPr>
              <a:tblGrid>
                <a:gridCol w="585535">
                  <a:extLst>
                    <a:ext uri="{9D8B030D-6E8A-4147-A177-3AD203B41FA5}">
                      <a16:colId xmlns:a16="http://schemas.microsoft.com/office/drawing/2014/main" val="1315473124"/>
                    </a:ext>
                  </a:extLst>
                </a:gridCol>
                <a:gridCol w="1064611">
                  <a:extLst>
                    <a:ext uri="{9D8B030D-6E8A-4147-A177-3AD203B41FA5}">
                      <a16:colId xmlns:a16="http://schemas.microsoft.com/office/drawing/2014/main" val="534391537"/>
                    </a:ext>
                  </a:extLst>
                </a:gridCol>
                <a:gridCol w="1490456">
                  <a:extLst>
                    <a:ext uri="{9D8B030D-6E8A-4147-A177-3AD203B41FA5}">
                      <a16:colId xmlns:a16="http://schemas.microsoft.com/office/drawing/2014/main" val="370235068"/>
                    </a:ext>
                  </a:extLst>
                </a:gridCol>
                <a:gridCol w="1171072">
                  <a:extLst>
                    <a:ext uri="{9D8B030D-6E8A-4147-A177-3AD203B41FA5}">
                      <a16:colId xmlns:a16="http://schemas.microsoft.com/office/drawing/2014/main" val="1310857051"/>
                    </a:ext>
                  </a:extLst>
                </a:gridCol>
                <a:gridCol w="1809838">
                  <a:extLst>
                    <a:ext uri="{9D8B030D-6E8A-4147-A177-3AD203B41FA5}">
                      <a16:colId xmlns:a16="http://schemas.microsoft.com/office/drawing/2014/main" val="1225290978"/>
                    </a:ext>
                  </a:extLst>
                </a:gridCol>
                <a:gridCol w="1703377">
                  <a:extLst>
                    <a:ext uri="{9D8B030D-6E8A-4147-A177-3AD203B41FA5}">
                      <a16:colId xmlns:a16="http://schemas.microsoft.com/office/drawing/2014/main" val="1734594632"/>
                    </a:ext>
                  </a:extLst>
                </a:gridCol>
                <a:gridCol w="532306">
                  <a:extLst>
                    <a:ext uri="{9D8B030D-6E8A-4147-A177-3AD203B41FA5}">
                      <a16:colId xmlns:a16="http://schemas.microsoft.com/office/drawing/2014/main" val="2003450493"/>
                    </a:ext>
                  </a:extLst>
                </a:gridCol>
                <a:gridCol w="2129222">
                  <a:extLst>
                    <a:ext uri="{9D8B030D-6E8A-4147-A177-3AD203B41FA5}">
                      <a16:colId xmlns:a16="http://schemas.microsoft.com/office/drawing/2014/main" val="1723744922"/>
                    </a:ext>
                  </a:extLst>
                </a:gridCol>
              </a:tblGrid>
              <a:tr h="164472">
                <a:tc gridSpan="8">
                  <a:txBody>
                    <a:bodyPr/>
                    <a:lstStyle/>
                    <a:p>
                      <a:pPr algn="l" fontAlgn="b">
                        <a:buNone/>
                      </a:pPr>
                      <a:r>
                        <a:rPr lang="en-US" sz="1050" u="none" strike="noStrike">
                          <a:effectLst/>
                        </a:rPr>
                        <a:t>AIS Cohort Architecture — Company / Technology Register</a:t>
                      </a:r>
                      <a:endParaRPr lang="en-US" sz="1050" b="1" i="0" u="none" strike="noStrike">
                        <a:solidFill>
                          <a:srgbClr val="FFFFFF"/>
                        </a:solidFill>
                        <a:effectLst/>
                        <a:latin typeface="Carlito"/>
                      </a:endParaRPr>
                    </a:p>
                  </a:txBody>
                  <a:tcPr marL="3176" marR="3176" marT="3176"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82119802"/>
                  </a:ext>
                </a:extLst>
              </a:tr>
              <a:tr h="117438">
                <a:tc gridSpan="8">
                  <a:txBody>
                    <a:bodyPr/>
                    <a:lstStyle/>
                    <a:p>
                      <a:pPr algn="l" fontAlgn="b">
                        <a:buNone/>
                      </a:pPr>
                      <a:r>
                        <a:rPr lang="en-US" sz="900" u="none" strike="noStrike">
                          <a:effectLst/>
                        </a:rPr>
                        <a:t>Heat reflects relevance to the Praxis solution space, not vendor quality or endorsement.</a:t>
                      </a:r>
                      <a:endParaRPr lang="en-US" sz="900" b="0" i="1" u="none" strike="noStrike">
                        <a:effectLst/>
                        <a:latin typeface="Carlito"/>
                      </a:endParaRPr>
                    </a:p>
                  </a:txBody>
                  <a:tcPr marL="3176" marR="3176" marT="3176"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574260"/>
                  </a:ext>
                </a:extLst>
              </a:tr>
              <a:tr h="117438">
                <a:tc>
                  <a:txBody>
                    <a:bodyPr/>
                    <a:lstStyle/>
                    <a:p>
                      <a:pPr algn="l" fontAlgn="b">
                        <a:buNone/>
                      </a:pPr>
                      <a:endParaRPr lang="en-US" sz="900" b="0" i="0" u="none" strike="noStrike">
                        <a:effectLst/>
                        <a:latin typeface="Carlito"/>
                      </a:endParaRPr>
                    </a:p>
                  </a:txBody>
                  <a:tcPr marL="3176" marR="3176" marT="3176" marB="0" anchor="b"/>
                </a:tc>
                <a:tc>
                  <a:txBody>
                    <a:bodyPr/>
                    <a:lstStyle/>
                    <a:p>
                      <a:pPr algn="l" fontAlgn="b">
                        <a:buNone/>
                      </a:pPr>
                      <a:endParaRPr lang="en-US" sz="900" b="0" i="0" u="none" strike="noStrike">
                        <a:effectLst/>
                        <a:latin typeface="Carlito"/>
                      </a:endParaRPr>
                    </a:p>
                  </a:txBody>
                  <a:tcPr marL="3176" marR="3176" marT="3176" marB="0" anchor="b"/>
                </a:tc>
                <a:tc>
                  <a:txBody>
                    <a:bodyPr/>
                    <a:lstStyle/>
                    <a:p>
                      <a:pPr algn="l" fontAlgn="b">
                        <a:buNone/>
                      </a:pPr>
                      <a:endParaRPr lang="en-US" sz="900" b="0" i="0" u="none" strike="noStrike">
                        <a:effectLst/>
                        <a:latin typeface="Carlito"/>
                      </a:endParaRPr>
                    </a:p>
                  </a:txBody>
                  <a:tcPr marL="3176" marR="3176" marT="3176" marB="0" anchor="b"/>
                </a:tc>
                <a:tc>
                  <a:txBody>
                    <a:bodyPr/>
                    <a:lstStyle/>
                    <a:p>
                      <a:pPr algn="l" fontAlgn="b">
                        <a:buNone/>
                      </a:pPr>
                      <a:endParaRPr lang="en-US" sz="900" b="0" i="0" u="none" strike="noStrike">
                        <a:effectLst/>
                        <a:latin typeface="Carlito"/>
                      </a:endParaRPr>
                    </a:p>
                  </a:txBody>
                  <a:tcPr marL="3176" marR="3176" marT="3176" marB="0" anchor="b"/>
                </a:tc>
                <a:tc>
                  <a:txBody>
                    <a:bodyPr/>
                    <a:lstStyle/>
                    <a:p>
                      <a:pPr algn="l" fontAlgn="b">
                        <a:buNone/>
                      </a:pPr>
                      <a:endParaRPr lang="en-US" sz="900" b="0" i="0" u="none" strike="noStrike">
                        <a:effectLst/>
                        <a:latin typeface="Carlito"/>
                      </a:endParaRPr>
                    </a:p>
                  </a:txBody>
                  <a:tcPr marL="3176" marR="3176" marT="3176" marB="0" anchor="b"/>
                </a:tc>
                <a:tc>
                  <a:txBody>
                    <a:bodyPr/>
                    <a:lstStyle/>
                    <a:p>
                      <a:pPr algn="l" fontAlgn="b">
                        <a:buNone/>
                      </a:pPr>
                      <a:endParaRPr lang="en-US" sz="900" b="0" i="0" u="none" strike="noStrike">
                        <a:effectLst/>
                        <a:latin typeface="Carlito"/>
                      </a:endParaRPr>
                    </a:p>
                  </a:txBody>
                  <a:tcPr marL="3176" marR="3176" marT="3176" marB="0" anchor="b"/>
                </a:tc>
                <a:tc>
                  <a:txBody>
                    <a:bodyPr/>
                    <a:lstStyle/>
                    <a:p>
                      <a:pPr algn="l" fontAlgn="b">
                        <a:buNone/>
                      </a:pPr>
                      <a:endParaRPr lang="en-US" sz="900" b="0" i="0" u="none" strike="noStrike">
                        <a:effectLst/>
                        <a:latin typeface="Carlito"/>
                      </a:endParaRPr>
                    </a:p>
                  </a:txBody>
                  <a:tcPr marL="3176" marR="3176" marT="3176" marB="0" anchor="b"/>
                </a:tc>
                <a:tc>
                  <a:txBody>
                    <a:bodyPr/>
                    <a:lstStyle/>
                    <a:p>
                      <a:pPr algn="l" fontAlgn="b">
                        <a:buNone/>
                      </a:pPr>
                      <a:endParaRPr lang="en-US" sz="900" b="0" i="0" u="none" strike="noStrike">
                        <a:effectLst/>
                        <a:latin typeface="Carlito"/>
                      </a:endParaRPr>
                    </a:p>
                  </a:txBody>
                  <a:tcPr marL="3176" marR="3176" marT="3176" marB="0" anchor="b"/>
                </a:tc>
                <a:extLst>
                  <a:ext uri="{0D108BD9-81ED-4DB2-BD59-A6C34878D82A}">
                    <a16:rowId xmlns:a16="http://schemas.microsoft.com/office/drawing/2014/main" val="3892505483"/>
                  </a:ext>
                </a:extLst>
              </a:tr>
              <a:tr h="117438">
                <a:tc>
                  <a:txBody>
                    <a:bodyPr/>
                    <a:lstStyle/>
                    <a:p>
                      <a:pPr algn="ctr" fontAlgn="ctr">
                        <a:buNone/>
                      </a:pPr>
                      <a:r>
                        <a:rPr lang="en-US" sz="900" u="none" strike="noStrike">
                          <a:effectLst/>
                        </a:rPr>
                        <a:t>Layer / Tier</a:t>
                      </a:r>
                      <a:endParaRPr lang="en-US" sz="900" b="1" i="0" u="none" strike="noStrike">
                        <a:solidFill>
                          <a:srgbClr val="FFFFFF"/>
                        </a:solidFill>
                        <a:effectLst/>
                        <a:latin typeface="Carlito"/>
                      </a:endParaRPr>
                    </a:p>
                  </a:txBody>
                  <a:tcPr marL="3176" marR="3176" marT="3176" marB="0" anchor="ctr"/>
                </a:tc>
                <a:tc>
                  <a:txBody>
                    <a:bodyPr/>
                    <a:lstStyle/>
                    <a:p>
                      <a:pPr algn="ctr" fontAlgn="ctr">
                        <a:buNone/>
                      </a:pPr>
                      <a:r>
                        <a:rPr lang="en-US" sz="900" u="none" strike="noStrike">
                          <a:effectLst/>
                        </a:rPr>
                        <a:t>Layer Name</a:t>
                      </a:r>
                      <a:endParaRPr lang="en-US" sz="900" b="1" i="0" u="none" strike="noStrike">
                        <a:solidFill>
                          <a:srgbClr val="FFFFFF"/>
                        </a:solidFill>
                        <a:effectLst/>
                        <a:latin typeface="Carlito"/>
                      </a:endParaRPr>
                    </a:p>
                  </a:txBody>
                  <a:tcPr marL="3176" marR="3176" marT="3176" marB="0" anchor="ctr"/>
                </a:tc>
                <a:tc>
                  <a:txBody>
                    <a:bodyPr/>
                    <a:lstStyle/>
                    <a:p>
                      <a:pPr algn="ctr" fontAlgn="ctr">
                        <a:buNone/>
                      </a:pPr>
                      <a:r>
                        <a:rPr lang="en-US" sz="900" u="none" strike="noStrike">
                          <a:effectLst/>
                        </a:rPr>
                        <a:t>Layer Function</a:t>
                      </a:r>
                      <a:endParaRPr lang="en-US" sz="900" b="1" i="0" u="none" strike="noStrike">
                        <a:solidFill>
                          <a:srgbClr val="FFFFFF"/>
                        </a:solidFill>
                        <a:effectLst/>
                        <a:latin typeface="Carlito"/>
                      </a:endParaRPr>
                    </a:p>
                  </a:txBody>
                  <a:tcPr marL="3176" marR="3176" marT="3176" marB="0" anchor="ctr"/>
                </a:tc>
                <a:tc>
                  <a:txBody>
                    <a:bodyPr/>
                    <a:lstStyle/>
                    <a:p>
                      <a:pPr algn="ctr" fontAlgn="ctr">
                        <a:buNone/>
                      </a:pPr>
                      <a:r>
                        <a:rPr lang="en-US" sz="900" u="none" strike="noStrike">
                          <a:effectLst/>
                        </a:rPr>
                        <a:t>Company</a:t>
                      </a:r>
                      <a:endParaRPr lang="en-US" sz="900" b="1" i="0" u="none" strike="noStrike">
                        <a:solidFill>
                          <a:srgbClr val="FFFFFF"/>
                        </a:solidFill>
                        <a:effectLst/>
                        <a:latin typeface="Carlito"/>
                      </a:endParaRPr>
                    </a:p>
                  </a:txBody>
                  <a:tcPr marL="3176" marR="3176" marT="3176" marB="0" anchor="ctr"/>
                </a:tc>
                <a:tc>
                  <a:txBody>
                    <a:bodyPr/>
                    <a:lstStyle/>
                    <a:p>
                      <a:pPr algn="ctr" fontAlgn="ctr">
                        <a:buNone/>
                      </a:pPr>
                      <a:r>
                        <a:rPr lang="en-US" sz="900" u="none" strike="noStrike">
                          <a:effectLst/>
                        </a:rPr>
                        <a:t>Technology / Descriptor from Slide</a:t>
                      </a:r>
                      <a:endParaRPr lang="en-US" sz="900" b="1" i="0" u="none" strike="noStrike">
                        <a:solidFill>
                          <a:srgbClr val="FFFFFF"/>
                        </a:solidFill>
                        <a:effectLst/>
                        <a:latin typeface="Carlito"/>
                      </a:endParaRPr>
                    </a:p>
                  </a:txBody>
                  <a:tcPr marL="3176" marR="3176" marT="3176" marB="0" anchor="ctr"/>
                </a:tc>
                <a:tc>
                  <a:txBody>
                    <a:bodyPr/>
                    <a:lstStyle/>
                    <a:p>
                      <a:pPr algn="ctr" fontAlgn="ctr">
                        <a:buNone/>
                      </a:pPr>
                      <a:r>
                        <a:rPr lang="en-US" sz="900" u="none" strike="noStrike">
                          <a:effectLst/>
                        </a:rPr>
                        <a:t>Praxis Relevance</a:t>
                      </a:r>
                      <a:endParaRPr lang="en-US" sz="900" b="1" i="0" u="none" strike="noStrike">
                        <a:solidFill>
                          <a:srgbClr val="FFFFFF"/>
                        </a:solidFill>
                        <a:effectLst/>
                        <a:latin typeface="Carlito"/>
                      </a:endParaRPr>
                    </a:p>
                  </a:txBody>
                  <a:tcPr marL="3176" marR="3176" marT="3176" marB="0" anchor="ctr"/>
                </a:tc>
                <a:tc>
                  <a:txBody>
                    <a:bodyPr/>
                    <a:lstStyle/>
                    <a:p>
                      <a:pPr algn="ctr" fontAlgn="ctr">
                        <a:buNone/>
                      </a:pPr>
                      <a:r>
                        <a:rPr lang="en-US" sz="900" u="none" strike="noStrike">
                          <a:effectLst/>
                        </a:rPr>
                        <a:t>Heat</a:t>
                      </a:r>
                      <a:endParaRPr lang="en-US" sz="900" b="1" i="0" u="none" strike="noStrike">
                        <a:solidFill>
                          <a:srgbClr val="FFFFFF"/>
                        </a:solidFill>
                        <a:effectLst/>
                        <a:latin typeface="Carlito"/>
                      </a:endParaRPr>
                    </a:p>
                  </a:txBody>
                  <a:tcPr marL="3176" marR="3176" marT="3176" marB="0" anchor="ctr"/>
                </a:tc>
                <a:tc>
                  <a:txBody>
                    <a:bodyPr/>
                    <a:lstStyle/>
                    <a:p>
                      <a:pPr algn="ctr" fontAlgn="ctr">
                        <a:buNone/>
                      </a:pPr>
                      <a:r>
                        <a:rPr lang="en-US" sz="900" u="none" strike="noStrike">
                          <a:effectLst/>
                        </a:rPr>
                        <a:t>Rationale</a:t>
                      </a:r>
                      <a:endParaRPr lang="en-US" sz="900" b="1" i="0" u="none" strike="noStrike">
                        <a:solidFill>
                          <a:srgbClr val="FFFFFF"/>
                        </a:solidFill>
                        <a:effectLst/>
                        <a:latin typeface="Carlito"/>
                      </a:endParaRPr>
                    </a:p>
                  </a:txBody>
                  <a:tcPr marL="3176" marR="3176" marT="3176" marB="0" anchor="ctr"/>
                </a:tc>
                <a:extLst>
                  <a:ext uri="{0D108BD9-81ED-4DB2-BD59-A6C34878D82A}">
                    <a16:rowId xmlns:a16="http://schemas.microsoft.com/office/drawing/2014/main" val="1764434781"/>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Advanced Space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SIREN autonomous OODA</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Direct AI/ML edge decision-cycle relevance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Closest fit to autonomous onboard decision support and OODA compression.</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327357993"/>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Force AI</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STARHELM secure Rust runtime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Edge software/runtime relevance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Directly relevant to onboard autonomous software execution.</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47674774"/>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Zenith Space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Cislunar CR3BP normal forms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Autonomy / onboard reasoning adjacency</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WARM</a:t>
                      </a:r>
                      <a:endParaRPr lang="en-US" sz="900" b="1" i="0" u="none" strike="noStrike">
                        <a:solidFill>
                          <a:srgbClr val="7F6000"/>
                        </a:solidFill>
                        <a:effectLst/>
                        <a:latin typeface="Carlito"/>
                      </a:endParaRPr>
                    </a:p>
                  </a:txBody>
                  <a:tcPr marL="3176" marR="3176" marT="3176" marB="0" anchor="b"/>
                </a:tc>
                <a:tc>
                  <a:txBody>
                    <a:bodyPr/>
                    <a:lstStyle/>
                    <a:p>
                      <a:pPr algn="l" fontAlgn="b">
                        <a:buNone/>
                      </a:pPr>
                      <a:r>
                        <a:rPr lang="en-US" sz="900" u="none" strike="noStrike">
                          <a:effectLst/>
                        </a:rPr>
                        <a:t>Useful autonomy mathematics, but less direct to latency/edge-processing experiments.</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803700333"/>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EraDrive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Era-AI NLP foundation model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AI orchestration / operator support</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Strong human-machine teaming and AI-assisted decision-support relevance.</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3557093143"/>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O-Astra ISR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LOGAN pre-approved guard</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ISR / bounded action logic</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Direct fit to bounded autonomous sensing-to-action concepts.</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3036187164"/>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In Orbit Aerospace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INTELLACT zero-hallucination AI</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Explainable / reliable onboard AI</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Strong model-credibility and autonomous decision-support relevance.</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905069032"/>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Seekr Technologies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SeekrFlow multi-agent AI</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AI orchestration / multi-agent coordination</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Strong fit to autonomous agents and workload triage.</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3554559440"/>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PiLogic</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Manifest exact CPU-only AI</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Compute-constrained edge AI</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Directly relevant to bounded onboard compute and SWaP constraints.</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429394899"/>
                  </a:ext>
                </a:extLst>
              </a:tr>
              <a:tr h="230178">
                <a:tc>
                  <a:txBody>
                    <a:bodyPr/>
                    <a:lstStyle/>
                    <a:p>
                      <a:pPr algn="r" fontAlgn="b">
                        <a:buNone/>
                      </a:pPr>
                      <a:r>
                        <a:rPr lang="en-US" sz="900" u="none" strike="noStrike">
                          <a:effectLst/>
                        </a:rPr>
                        <a:t>5</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Cognitive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Software &amp; AI/ML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Synthetic</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SUBSPACE on-orbit reconfigurable 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On-orbit adaptive ML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Direct edge-ML and adaptive onboard processing relevance.</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772432399"/>
                  </a:ext>
                </a:extLst>
              </a:tr>
              <a:tr h="230178">
                <a:tc>
                  <a:txBody>
                    <a:bodyPr/>
                    <a:lstStyle/>
                    <a:p>
                      <a:pPr algn="r" fontAlgn="b">
                        <a:buNone/>
                      </a:pPr>
                      <a:r>
                        <a:rPr lang="en-US" sz="900" u="none" strike="noStrike">
                          <a:effectLst/>
                        </a:rPr>
                        <a:t>4</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Networking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Secure Routing &amp; Timing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Ephemeris Net</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SEP optical Layer 3 routing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Optical networking / routing / DDIL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Direct link to crosslinks, routing, downlink bypass, and communications latency.</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859690836"/>
                  </a:ext>
                </a:extLst>
              </a:tr>
              <a:tr h="230178">
                <a:tc>
                  <a:txBody>
                    <a:bodyPr/>
                    <a:lstStyle/>
                    <a:p>
                      <a:pPr algn="r" fontAlgn="b">
                        <a:buNone/>
                      </a:pPr>
                      <a:r>
                        <a:rPr lang="en-US" sz="900" u="none" strike="noStrike">
                          <a:effectLst/>
                        </a:rPr>
                        <a:t>4</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Networking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Secure Routing &amp; Timing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Picogrid</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dirty="0">
                          <a:effectLst/>
                        </a:rPr>
                        <a:t>MARSO/Legion data middleware</a:t>
                      </a:r>
                      <a:endParaRPr lang="en-US" sz="900" b="0" i="0" u="none" strike="noStrike" dirty="0">
                        <a:solidFill>
                          <a:srgbClr val="000000"/>
                        </a:solidFill>
                        <a:effectLst/>
                        <a:latin typeface="Carlito"/>
                      </a:endParaRPr>
                    </a:p>
                  </a:txBody>
                  <a:tcPr marL="3176" marR="3176" marT="3176" marB="0" anchor="b"/>
                </a:tc>
                <a:tc>
                  <a:txBody>
                    <a:bodyPr/>
                    <a:lstStyle/>
                    <a:p>
                      <a:pPr algn="l" fontAlgn="b">
                        <a:buNone/>
                      </a:pPr>
                      <a:r>
                        <a:rPr lang="en-US" sz="900" u="none" strike="noStrike">
                          <a:effectLst/>
                        </a:rPr>
                        <a:t>Distributed data middleware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Relevant to moving and managing data across distributed space nodes.</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2955739680"/>
                  </a:ext>
                </a:extLst>
              </a:tr>
              <a:tr h="230178">
                <a:tc>
                  <a:txBody>
                    <a:bodyPr/>
                    <a:lstStyle/>
                    <a:p>
                      <a:pPr algn="r" fontAlgn="b">
                        <a:buNone/>
                      </a:pPr>
                      <a:r>
                        <a:rPr lang="en-US" sz="900" u="none" strike="noStrike">
                          <a:effectLst/>
                        </a:rPr>
                        <a:t>4</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Networking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Secure Routing &amp; Timing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R-DEX Systems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HSA sub-100ps time fabric</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Precision timing / network synchronization</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Timing is foundational to distributed sensing, networking, and latency measurement.</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441912478"/>
                  </a:ext>
                </a:extLst>
              </a:tr>
              <a:tr h="230178">
                <a:tc>
                  <a:txBody>
                    <a:bodyPr/>
                    <a:lstStyle/>
                    <a:p>
                      <a:pPr algn="r" fontAlgn="b">
                        <a:buNone/>
                      </a:pPr>
                      <a:r>
                        <a:rPr lang="en-US" sz="900" u="none" strike="noStrike">
                          <a:effectLst/>
                        </a:rPr>
                        <a:t>3</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Hardware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SWaP-C High-TOPS Silicon</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Starcloud</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H100/Blackwell orbit datacenters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Orbital edge/cloud compute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Near-direct solution-space match for orbital cloud and high-performance edge compute.</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605157061"/>
                  </a:ext>
                </a:extLst>
              </a:tr>
              <a:tr h="230178">
                <a:tc>
                  <a:txBody>
                    <a:bodyPr/>
                    <a:lstStyle/>
                    <a:p>
                      <a:pPr algn="r" fontAlgn="b">
                        <a:buNone/>
                      </a:pPr>
                      <a:r>
                        <a:rPr lang="en-US" sz="900" u="none" strike="noStrike">
                          <a:effectLst/>
                        </a:rPr>
                        <a:t>3</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Hardware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SWaP-C High-TOPS Silicon</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Neuron Dynamics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Compute-in-Memory SSM substrates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Edge compute architecture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Relevant to constrained onboard processing performance and power.</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3359821262"/>
                  </a:ext>
                </a:extLst>
              </a:tr>
              <a:tr h="230178">
                <a:tc>
                  <a:txBody>
                    <a:bodyPr/>
                    <a:lstStyle/>
                    <a:p>
                      <a:pPr algn="r" fontAlgn="b">
                        <a:buNone/>
                      </a:pPr>
                      <a:r>
                        <a:rPr lang="en-US" sz="900" u="none" strike="noStrike">
                          <a:effectLst/>
                        </a:rPr>
                        <a:t>3</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Hardware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SWaP-C High-TOPS Silicon</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Sophia Space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800 TOPS modular TILEs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High-TOPS modular onboard compute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Direct hardware precedent for bounded onboard AI/ML processing.</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2824519495"/>
                  </a:ext>
                </a:extLst>
              </a:tr>
              <a:tr h="230178">
                <a:tc>
                  <a:txBody>
                    <a:bodyPr/>
                    <a:lstStyle/>
                    <a:p>
                      <a:pPr algn="r" fontAlgn="b">
                        <a:buNone/>
                      </a:pPr>
                      <a:r>
                        <a:rPr lang="en-US" sz="900" u="none" strike="noStrike">
                          <a:effectLst/>
                        </a:rPr>
                        <a:t>3</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Hardware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SWaP-C High-TOPS Silicon</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Web Sensing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SpaceCortex GPU-in-FPGA fabric</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Radiation/space compute fabric</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Strong implementation relevance for onboard compute architecture.</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2921205632"/>
                  </a:ext>
                </a:extLst>
              </a:tr>
              <a:tr h="230178">
                <a:tc>
                  <a:txBody>
                    <a:bodyPr/>
                    <a:lstStyle/>
                    <a:p>
                      <a:pPr algn="r" fontAlgn="b">
                        <a:buNone/>
                      </a:pPr>
                      <a:r>
                        <a:rPr lang="en-US" sz="900" u="none" strike="noStrike">
                          <a:effectLst/>
                        </a:rPr>
                        <a:t>3</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Hardware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SWaP-C High-TOPS Silicon</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Aethero Space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Radiation-resilient GPUs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Space-qualified GPU compute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Directly relevant to edge-processing feasibility and resilience.</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261873307"/>
                  </a:ext>
                </a:extLst>
              </a:tr>
              <a:tr h="230178">
                <a:tc>
                  <a:txBody>
                    <a:bodyPr/>
                    <a:lstStyle/>
                    <a:p>
                      <a:pPr algn="r" fontAlgn="b">
                        <a:buNone/>
                      </a:pPr>
                      <a:r>
                        <a:rPr lang="en-US" sz="900" u="none" strike="noStrike">
                          <a:effectLst/>
                        </a:rPr>
                        <a:t>2</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Perception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Multi-Modal Sensor Payloads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Array Labs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GaN active radar flat tiles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SDA sensing / data-generation source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WARM</a:t>
                      </a:r>
                      <a:endParaRPr lang="en-US" sz="900" b="1" i="0" u="none" strike="noStrike">
                        <a:solidFill>
                          <a:srgbClr val="7F6000"/>
                        </a:solidFill>
                        <a:effectLst/>
                        <a:latin typeface="Carlito"/>
                      </a:endParaRPr>
                    </a:p>
                  </a:txBody>
                  <a:tcPr marL="3176" marR="3176" marT="3176" marB="0" anchor="b"/>
                </a:tc>
                <a:tc>
                  <a:txBody>
                    <a:bodyPr/>
                    <a:lstStyle/>
                    <a:p>
                      <a:pPr algn="l" fontAlgn="b">
                        <a:buNone/>
                      </a:pPr>
                      <a:r>
                        <a:rPr lang="en-US" sz="900" u="none" strike="noStrike">
                          <a:effectLst/>
                        </a:rPr>
                        <a:t>Relevant as a high-data-rate sensing source feeding the edge-processing problem.</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2677871549"/>
                  </a:ext>
                </a:extLst>
              </a:tr>
              <a:tr h="230178">
                <a:tc>
                  <a:txBody>
                    <a:bodyPr/>
                    <a:lstStyle/>
                    <a:p>
                      <a:pPr algn="r" fontAlgn="b">
                        <a:buNone/>
                      </a:pPr>
                      <a:r>
                        <a:rPr lang="en-US" sz="900" u="none" strike="noStrike">
                          <a:effectLst/>
                        </a:rPr>
                        <a:t>2</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Perception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Multi-Modal Sensor Payloads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Mithril Tech</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Electrostatically-actuated mesh</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Sensor/payload architecture adjacency</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WARM</a:t>
                      </a:r>
                      <a:endParaRPr lang="en-US" sz="900" b="1" i="0" u="none" strike="noStrike">
                        <a:solidFill>
                          <a:srgbClr val="7F6000"/>
                        </a:solidFill>
                        <a:effectLst/>
                        <a:latin typeface="Carlito"/>
                      </a:endParaRPr>
                    </a:p>
                  </a:txBody>
                  <a:tcPr marL="3176" marR="3176" marT="3176" marB="0" anchor="b"/>
                </a:tc>
                <a:tc>
                  <a:txBody>
                    <a:bodyPr/>
                    <a:lstStyle/>
                    <a:p>
                      <a:pPr algn="l" fontAlgn="b">
                        <a:buNone/>
                      </a:pPr>
                      <a:r>
                        <a:rPr lang="en-US" sz="900" u="none" strike="noStrike">
                          <a:effectLst/>
                        </a:rPr>
                        <a:t>Supports perception-layer architecture but is less direct to modeling latency or AI processing.</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3386771683"/>
                  </a:ext>
                </a:extLst>
              </a:tr>
              <a:tr h="230178">
                <a:tc>
                  <a:txBody>
                    <a:bodyPr/>
                    <a:lstStyle/>
                    <a:p>
                      <a:pPr algn="r" fontAlgn="b">
                        <a:buNone/>
                      </a:pPr>
                      <a:r>
                        <a:rPr lang="en-US" sz="900" u="none" strike="noStrike">
                          <a:effectLst/>
                        </a:rPr>
                        <a:t>2</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Perception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Multi-Modal Sensor Payloads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EO Solutions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Passive RF signature fingerprinting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SDA sensing / RF characterization</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Directly relevant to SDA sensing and onboard exploitation opportunities.</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3791115495"/>
                  </a:ext>
                </a:extLst>
              </a:tr>
              <a:tr h="230178">
                <a:tc>
                  <a:txBody>
                    <a:bodyPr/>
                    <a:lstStyle/>
                    <a:p>
                      <a:pPr algn="r" fontAlgn="b">
                        <a:buNone/>
                      </a:pPr>
                      <a:r>
                        <a:rPr lang="en-US" sz="900" u="none" strike="noStrike">
                          <a:effectLst/>
                        </a:rPr>
                        <a:t>2</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Perception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Multi-Modal Sensor Payloads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ThinkOrbital</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ThinkX space-to-space X-ray</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Novel sensing / high-data payload</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WARM</a:t>
                      </a:r>
                      <a:endParaRPr lang="en-US" sz="900" b="1" i="0" u="none" strike="noStrike">
                        <a:solidFill>
                          <a:srgbClr val="7F6000"/>
                        </a:solidFill>
                        <a:effectLst/>
                        <a:latin typeface="Carlito"/>
                      </a:endParaRPr>
                    </a:p>
                  </a:txBody>
                  <a:tcPr marL="3176" marR="3176" marT="3176" marB="0" anchor="b"/>
                </a:tc>
                <a:tc>
                  <a:txBody>
                    <a:bodyPr/>
                    <a:lstStyle/>
                    <a:p>
                      <a:pPr algn="l" fontAlgn="b">
                        <a:buNone/>
                      </a:pPr>
                      <a:r>
                        <a:rPr lang="en-US" sz="900" u="none" strike="noStrike">
                          <a:effectLst/>
                        </a:rPr>
                        <a:t>Relevant as a sensor source; useful mainly as a workload/data-volume driver.</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226757762"/>
                  </a:ext>
                </a:extLst>
              </a:tr>
              <a:tr h="342917">
                <a:tc>
                  <a:txBody>
                    <a:bodyPr/>
                    <a:lstStyle/>
                    <a:p>
                      <a:pPr algn="r" fontAlgn="b">
                        <a:buNone/>
                      </a:pPr>
                      <a:r>
                        <a:rPr lang="en-US" sz="900" u="none" strike="noStrike">
                          <a:effectLst/>
                        </a:rPr>
                        <a:t>2</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Perception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Multi-Modal Sensor Payloads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OWL Integrations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Commodity SDR passive-RF mesh</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Distributed RF sensing / networking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HOT</a:t>
                      </a:r>
                      <a:endParaRPr lang="en-US" sz="900" b="1" i="0" u="none" strike="noStrike">
                        <a:solidFill>
                          <a:srgbClr val="9C0006"/>
                        </a:solidFill>
                        <a:effectLst/>
                        <a:latin typeface="Carlito"/>
                      </a:endParaRPr>
                    </a:p>
                  </a:txBody>
                  <a:tcPr marL="3176" marR="3176" marT="3176" marB="0" anchor="b"/>
                </a:tc>
                <a:tc>
                  <a:txBody>
                    <a:bodyPr/>
                    <a:lstStyle/>
                    <a:p>
                      <a:pPr algn="l" fontAlgn="b">
                        <a:buNone/>
                      </a:pPr>
                      <a:r>
                        <a:rPr lang="en-US" sz="900" u="none" strike="noStrike">
                          <a:effectLst/>
                        </a:rPr>
                        <a:t>Strong fit to distributed perception, edge processing, and communications-constrained operations.</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948124974"/>
                  </a:ext>
                </a:extLst>
              </a:tr>
              <a:tr h="230178">
                <a:tc>
                  <a:txBody>
                    <a:bodyPr/>
                    <a:lstStyle/>
                    <a:p>
                      <a:pPr algn="r" fontAlgn="b">
                        <a:buNone/>
                      </a:pPr>
                      <a:r>
                        <a:rPr lang="en-US" sz="900" u="none" strike="noStrike">
                          <a:effectLst/>
                        </a:rPr>
                        <a:t>2</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Perception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Multi-Modal Sensor Payloads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Raptor Dynamix</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ARGUS electro-optical &amp; plasma</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EO / plasma sensing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WARM</a:t>
                      </a:r>
                      <a:endParaRPr lang="en-US" sz="900" b="1" i="0" u="none" strike="noStrike">
                        <a:solidFill>
                          <a:srgbClr val="7F6000"/>
                        </a:solidFill>
                        <a:effectLst/>
                        <a:latin typeface="Carlito"/>
                      </a:endParaRPr>
                    </a:p>
                  </a:txBody>
                  <a:tcPr marL="3176" marR="3176" marT="3176" marB="0" anchor="b"/>
                </a:tc>
                <a:tc>
                  <a:txBody>
                    <a:bodyPr/>
                    <a:lstStyle/>
                    <a:p>
                      <a:pPr algn="l" fontAlgn="b">
                        <a:buNone/>
                      </a:pPr>
                      <a:r>
                        <a:rPr lang="en-US" sz="900" u="none" strike="noStrike">
                          <a:effectLst/>
                        </a:rPr>
                        <a:t>Relevant perception input, but not itself the core edge-processing mechanism.</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1218479930"/>
                  </a:ext>
                </a:extLst>
              </a:tr>
              <a:tr h="230178">
                <a:tc>
                  <a:txBody>
                    <a:bodyPr/>
                    <a:lstStyle/>
                    <a:p>
                      <a:pPr algn="r" fontAlgn="b">
                        <a:buNone/>
                      </a:pPr>
                      <a:r>
                        <a:rPr lang="en-US" sz="900" u="none" strike="noStrike">
                          <a:effectLst/>
                        </a:rPr>
                        <a:t>1</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Platform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High-Maneuver Spacecraft</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Orbital Operations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Astraeus LH2/LOX bus + active RBC cooling</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Platform / thermal / maneuver support</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COLD</a:t>
                      </a:r>
                      <a:endParaRPr lang="en-US" sz="900" b="1" i="0" u="none" strike="noStrike">
                        <a:solidFill>
                          <a:srgbClr val="274E13"/>
                        </a:solidFill>
                        <a:effectLst/>
                        <a:latin typeface="Carlito"/>
                      </a:endParaRPr>
                    </a:p>
                  </a:txBody>
                  <a:tcPr marL="3176" marR="3176" marT="3176" marB="0" anchor="b"/>
                </a:tc>
                <a:tc>
                  <a:txBody>
                    <a:bodyPr/>
                    <a:lstStyle/>
                    <a:p>
                      <a:pPr algn="l" fontAlgn="b">
                        <a:buNone/>
                      </a:pPr>
                      <a:r>
                        <a:rPr lang="en-US" sz="900" u="none" strike="noStrike">
                          <a:effectLst/>
                        </a:rPr>
                        <a:t>Enabling spacecraft layer, but outside the likely core quantitative scope of the Praxis.</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2610411491"/>
                  </a:ext>
                </a:extLst>
              </a:tr>
              <a:tr h="342917">
                <a:tc>
                  <a:txBody>
                    <a:bodyPr/>
                    <a:lstStyle/>
                    <a:p>
                      <a:pPr algn="r" fontAlgn="b">
                        <a:buNone/>
                      </a:pPr>
                      <a:r>
                        <a:rPr lang="en-US" sz="900" u="none" strike="noStrike">
                          <a:effectLst/>
                        </a:rPr>
                        <a:t>1</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Platform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High-Maneuver Spacecraft</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Fortastra Corp</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Watchdog maneuvering platform (800+ m/s)</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Autonomous maneuver / defensive response</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WARM</a:t>
                      </a:r>
                      <a:endParaRPr lang="en-US" sz="900" b="1" i="0" u="none" strike="noStrike">
                        <a:solidFill>
                          <a:srgbClr val="7F6000"/>
                        </a:solidFill>
                        <a:effectLst/>
                        <a:latin typeface="Carlito"/>
                      </a:endParaRPr>
                    </a:p>
                  </a:txBody>
                  <a:tcPr marL="3176" marR="3176" marT="3176" marB="0" anchor="b"/>
                </a:tc>
                <a:tc>
                  <a:txBody>
                    <a:bodyPr/>
                    <a:lstStyle/>
                    <a:p>
                      <a:pPr algn="l" fontAlgn="b">
                        <a:buNone/>
                      </a:pPr>
                      <a:r>
                        <a:rPr lang="en-US" sz="900" u="none" strike="noStrike">
                          <a:effectLst/>
                        </a:rPr>
                        <a:t>Relevant if the Praxis extends from decision support into bounded action or maneuver response.</a:t>
                      </a:r>
                      <a:endParaRPr lang="en-US" sz="900" b="0" i="0" u="none" strike="noStrike">
                        <a:solidFill>
                          <a:srgbClr val="000000"/>
                        </a:solidFill>
                        <a:effectLst/>
                        <a:latin typeface="Carlito"/>
                      </a:endParaRPr>
                    </a:p>
                  </a:txBody>
                  <a:tcPr marL="3176" marR="3176" marT="3176" marB="0" anchor="b"/>
                </a:tc>
                <a:extLst>
                  <a:ext uri="{0D108BD9-81ED-4DB2-BD59-A6C34878D82A}">
                    <a16:rowId xmlns:a16="http://schemas.microsoft.com/office/drawing/2014/main" val="2444391208"/>
                  </a:ext>
                </a:extLst>
              </a:tr>
              <a:tr h="342917">
                <a:tc>
                  <a:txBody>
                    <a:bodyPr/>
                    <a:lstStyle/>
                    <a:p>
                      <a:pPr algn="r" fontAlgn="b">
                        <a:buNone/>
                      </a:pPr>
                      <a:r>
                        <a:rPr lang="en-US" sz="900" u="none" strike="noStrike">
                          <a:effectLst/>
                        </a:rPr>
                        <a:t>1</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Platform Layer</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High-Maneuver Spacecraft</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Space Kinetic</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Whirlwind propellantless payload deployment</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Platform / deployment</a:t>
                      </a:r>
                      <a:endParaRPr lang="en-US" sz="900" b="0" i="0" u="none" strike="noStrike">
                        <a:solidFill>
                          <a:srgbClr val="000000"/>
                        </a:solidFill>
                        <a:effectLst/>
                        <a:latin typeface="Carlito"/>
                      </a:endParaRPr>
                    </a:p>
                  </a:txBody>
                  <a:tcPr marL="3176" marR="3176" marT="3176" marB="0" anchor="b"/>
                </a:tc>
                <a:tc>
                  <a:txBody>
                    <a:bodyPr/>
                    <a:lstStyle/>
                    <a:p>
                      <a:pPr algn="l" fontAlgn="b">
                        <a:buNone/>
                      </a:pPr>
                      <a:r>
                        <a:rPr lang="en-US" sz="900" u="none" strike="noStrike">
                          <a:effectLst/>
                        </a:rPr>
                        <a:t>COLD</a:t>
                      </a:r>
                      <a:endParaRPr lang="en-US" sz="900" b="1" i="0" u="none" strike="noStrike">
                        <a:solidFill>
                          <a:srgbClr val="274E13"/>
                        </a:solidFill>
                        <a:effectLst/>
                        <a:latin typeface="Carlito"/>
                      </a:endParaRPr>
                    </a:p>
                  </a:txBody>
                  <a:tcPr marL="3176" marR="3176" marT="3176" marB="0" anchor="b"/>
                </a:tc>
                <a:tc>
                  <a:txBody>
                    <a:bodyPr/>
                    <a:lstStyle/>
                    <a:p>
                      <a:pPr algn="l" fontAlgn="b">
                        <a:buNone/>
                      </a:pPr>
                      <a:r>
                        <a:rPr lang="en-US" sz="900" u="none" strike="noStrike" dirty="0">
                          <a:effectLst/>
                        </a:rPr>
                        <a:t>Important architecture enabler but relatively distant from edge compute, latency, and AI/ML focus.</a:t>
                      </a:r>
                      <a:endParaRPr lang="en-US" sz="900" b="0" i="0" u="none" strike="noStrike" dirty="0">
                        <a:solidFill>
                          <a:srgbClr val="000000"/>
                        </a:solidFill>
                        <a:effectLst/>
                        <a:latin typeface="Carlito"/>
                      </a:endParaRPr>
                    </a:p>
                  </a:txBody>
                  <a:tcPr marL="3176" marR="3176" marT="3176" marB="0" anchor="b"/>
                </a:tc>
                <a:extLst>
                  <a:ext uri="{0D108BD9-81ED-4DB2-BD59-A6C34878D82A}">
                    <a16:rowId xmlns:a16="http://schemas.microsoft.com/office/drawing/2014/main" val="988141900"/>
                  </a:ext>
                </a:extLst>
              </a:tr>
            </a:tbl>
          </a:graphicData>
        </a:graphic>
      </p:graphicFrame>
    </p:spTree>
    <p:extLst>
      <p:ext uri="{BB962C8B-B14F-4D97-AF65-F5344CB8AC3E}">
        <p14:creationId xmlns:p14="http://schemas.microsoft.com/office/powerpoint/2010/main" val="2755523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22C6893-F54D-7BD7-1665-16222D5286EB}"/>
              </a:ext>
            </a:extLst>
          </p:cNvPr>
          <p:cNvGraphicFramePr>
            <a:graphicFrameLocks noGrp="1"/>
          </p:cNvGraphicFramePr>
          <p:nvPr>
            <p:extLst>
              <p:ext uri="{D42A27DB-BD31-4B8C-83A1-F6EECF244321}">
                <p14:modId xmlns:p14="http://schemas.microsoft.com/office/powerpoint/2010/main" val="3688736170"/>
              </p:ext>
            </p:extLst>
          </p:nvPr>
        </p:nvGraphicFramePr>
        <p:xfrm>
          <a:off x="0" y="0"/>
          <a:ext cx="10515600" cy="6808160"/>
        </p:xfrm>
        <a:graphic>
          <a:graphicData uri="http://schemas.openxmlformats.org/drawingml/2006/table">
            <a:tbl>
              <a:tblPr>
                <a:tableStyleId>{5C22544A-7EE6-4342-B048-85BDC9FD1C3A}</a:tableStyleId>
              </a:tblPr>
              <a:tblGrid>
                <a:gridCol w="227364">
                  <a:extLst>
                    <a:ext uri="{9D8B030D-6E8A-4147-A177-3AD203B41FA5}">
                      <a16:colId xmlns:a16="http://schemas.microsoft.com/office/drawing/2014/main" val="4098216688"/>
                    </a:ext>
                  </a:extLst>
                </a:gridCol>
                <a:gridCol w="511570">
                  <a:extLst>
                    <a:ext uri="{9D8B030D-6E8A-4147-A177-3AD203B41FA5}">
                      <a16:colId xmlns:a16="http://schemas.microsoft.com/office/drawing/2014/main" val="3584334921"/>
                    </a:ext>
                  </a:extLst>
                </a:gridCol>
                <a:gridCol w="511570">
                  <a:extLst>
                    <a:ext uri="{9D8B030D-6E8A-4147-A177-3AD203B41FA5}">
                      <a16:colId xmlns:a16="http://schemas.microsoft.com/office/drawing/2014/main" val="3190212007"/>
                    </a:ext>
                  </a:extLst>
                </a:gridCol>
                <a:gridCol w="966298">
                  <a:extLst>
                    <a:ext uri="{9D8B030D-6E8A-4147-A177-3AD203B41FA5}">
                      <a16:colId xmlns:a16="http://schemas.microsoft.com/office/drawing/2014/main" val="3350187469"/>
                    </a:ext>
                  </a:extLst>
                </a:gridCol>
                <a:gridCol w="852616">
                  <a:extLst>
                    <a:ext uri="{9D8B030D-6E8A-4147-A177-3AD203B41FA5}">
                      <a16:colId xmlns:a16="http://schemas.microsoft.com/office/drawing/2014/main" val="3420751024"/>
                    </a:ext>
                  </a:extLst>
                </a:gridCol>
                <a:gridCol w="966298">
                  <a:extLst>
                    <a:ext uri="{9D8B030D-6E8A-4147-A177-3AD203B41FA5}">
                      <a16:colId xmlns:a16="http://schemas.microsoft.com/office/drawing/2014/main" val="373617358"/>
                    </a:ext>
                  </a:extLst>
                </a:gridCol>
                <a:gridCol w="1364186">
                  <a:extLst>
                    <a:ext uri="{9D8B030D-6E8A-4147-A177-3AD203B41FA5}">
                      <a16:colId xmlns:a16="http://schemas.microsoft.com/office/drawing/2014/main" val="1623815086"/>
                    </a:ext>
                  </a:extLst>
                </a:gridCol>
                <a:gridCol w="795775">
                  <a:extLst>
                    <a:ext uri="{9D8B030D-6E8A-4147-A177-3AD203B41FA5}">
                      <a16:colId xmlns:a16="http://schemas.microsoft.com/office/drawing/2014/main" val="2690792706"/>
                    </a:ext>
                  </a:extLst>
                </a:gridCol>
                <a:gridCol w="966298">
                  <a:extLst>
                    <a:ext uri="{9D8B030D-6E8A-4147-A177-3AD203B41FA5}">
                      <a16:colId xmlns:a16="http://schemas.microsoft.com/office/drawing/2014/main" val="386127448"/>
                    </a:ext>
                  </a:extLst>
                </a:gridCol>
                <a:gridCol w="1079981">
                  <a:extLst>
                    <a:ext uri="{9D8B030D-6E8A-4147-A177-3AD203B41FA5}">
                      <a16:colId xmlns:a16="http://schemas.microsoft.com/office/drawing/2014/main" val="3273666854"/>
                    </a:ext>
                  </a:extLst>
                </a:gridCol>
                <a:gridCol w="454729">
                  <a:extLst>
                    <a:ext uri="{9D8B030D-6E8A-4147-A177-3AD203B41FA5}">
                      <a16:colId xmlns:a16="http://schemas.microsoft.com/office/drawing/2014/main" val="1639101636"/>
                    </a:ext>
                  </a:extLst>
                </a:gridCol>
                <a:gridCol w="369467">
                  <a:extLst>
                    <a:ext uri="{9D8B030D-6E8A-4147-A177-3AD203B41FA5}">
                      <a16:colId xmlns:a16="http://schemas.microsoft.com/office/drawing/2014/main" val="2334159678"/>
                    </a:ext>
                  </a:extLst>
                </a:gridCol>
                <a:gridCol w="369467">
                  <a:extLst>
                    <a:ext uri="{9D8B030D-6E8A-4147-A177-3AD203B41FA5}">
                      <a16:colId xmlns:a16="http://schemas.microsoft.com/office/drawing/2014/main" val="2998304591"/>
                    </a:ext>
                  </a:extLst>
                </a:gridCol>
                <a:gridCol w="1079981">
                  <a:extLst>
                    <a:ext uri="{9D8B030D-6E8A-4147-A177-3AD203B41FA5}">
                      <a16:colId xmlns:a16="http://schemas.microsoft.com/office/drawing/2014/main" val="3500324693"/>
                    </a:ext>
                  </a:extLst>
                </a:gridCol>
              </a:tblGrid>
              <a:tr h="93788">
                <a:tc gridSpan="14">
                  <a:txBody>
                    <a:bodyPr/>
                    <a:lstStyle/>
                    <a:p>
                      <a:pPr algn="l" fontAlgn="b">
                        <a:buNone/>
                      </a:pPr>
                      <a:r>
                        <a:rPr sz="400" b="1">
                          <a:solidFill>
                            <a:srgbClr val="000000"/>
                          </a:solidFill>
                          <a:latin typeface="Arial"/>
                        </a:rPr>
                        <a:t>International Research Data Requests — Priority &amp; Mailing Register</a:t>
                      </a:r>
                      <a:endParaRPr lang="en-US" sz="900" b="1" i="0" u="none" strike="noStrike">
                        <a:solidFill>
                          <a:srgbClr val="FFFFFF"/>
                        </a:solidFill>
                        <a:effectLst/>
                        <a:latin typeface="Carlito"/>
                      </a:endParaRPr>
                    </a:p>
                  </a:txBody>
                  <a:tcPr marL="2842" marR="2842" marT="2842"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20888678"/>
                  </a:ext>
                </a:extLst>
              </a:tr>
              <a:tr h="72472">
                <a:tc gridSpan="14">
                  <a:txBody>
                    <a:bodyPr/>
                    <a:lstStyle/>
                    <a:p>
                      <a:pPr algn="l" fontAlgn="b">
                        <a:buNone/>
                      </a:pPr>
                      <a:r>
                        <a:rPr sz="400" b="1">
                          <a:solidFill>
                            <a:srgbClr val="000000"/>
                          </a:solidFill>
                          <a:latin typeface="Arial"/>
                        </a:rPr>
                        <a:t>Purpose: obtain public, scientifically defensible data that parameterize degraded, disrupted, intermittent, or resource-constrained conditions relevant to the Praxis.</a:t>
                      </a:r>
                      <a:endParaRPr lang="en-US" sz="700" b="0" i="1" u="none" strike="noStrike">
                        <a:effectLst/>
                        <a:latin typeface="Carlito"/>
                      </a:endParaRPr>
                    </a:p>
                  </a:txBody>
                  <a:tcPr marL="2842" marR="2842" marT="2842"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00860941"/>
                  </a:ext>
                </a:extLst>
              </a:tr>
              <a:tr h="66078">
                <a:tc gridSpan="14">
                  <a:txBody>
                    <a:bodyPr/>
                    <a:lstStyle/>
                    <a:p>
                      <a:pPr algn="l" fontAlgn="b">
                        <a:buNone/>
                      </a:pPr>
                      <a:r>
                        <a:rPr lang="en-US" sz="400" u="none" strike="noStrike">
                          <a:solidFill>
                            <a:srgbClr val="000000"/>
                          </a:solidFill>
                          <a:effectLst/>
                          <a:latin typeface="Arial"/>
                        </a:rPr>
                        <a:t>Primary outreach wave = priorities 1–6.  Main bucket = strongest reason to contact; secondary buckets show additional value.</a:t>
                      </a:r>
                      <a:endParaRPr lang="en-US" sz="700" b="0" i="0" u="none" strike="noStrike">
                        <a:effectLst/>
                        <a:latin typeface="Carlito"/>
                      </a:endParaRPr>
                    </a:p>
                  </a:txBody>
                  <a:tcPr marL="2842" marR="2842" marT="2842"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52297282"/>
                  </a:ext>
                </a:extLst>
              </a:tr>
              <a:tr h="65367">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extLst>
                  <a:ext uri="{0D108BD9-81ED-4DB2-BD59-A6C34878D82A}">
                    <a16:rowId xmlns:a16="http://schemas.microsoft.com/office/drawing/2014/main" val="3255309544"/>
                  </a:ext>
                </a:extLst>
              </a:tr>
              <a:tr h="108709">
                <a:tc>
                  <a:txBody>
                    <a:bodyPr/>
                    <a:lstStyle/>
                    <a:p>
                      <a:pPr algn="ctr" fontAlgn="ctr">
                        <a:buNone/>
                      </a:pPr>
                      <a:r>
                        <a:rPr lang="en-US" sz="400" u="none" strike="noStrike">
                          <a:solidFill>
                            <a:srgbClr val="000000"/>
                          </a:solidFill>
                          <a:effectLst/>
                          <a:latin typeface="Arial"/>
                        </a:rPr>
                        <a:t>Priority</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Tier</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Country</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Entity / Program</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Main Data Bucket</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Secondary Buckets</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Mailing Address</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POC / Office</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Email</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Website / Intake</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Status</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Date Sent</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Response Date</a:t>
                      </a:r>
                      <a:endParaRPr lang="en-US" sz="700" b="1" i="0" u="none" strike="noStrike">
                        <a:solidFill>
                          <a:srgbClr val="FFFFFF"/>
                        </a:solidFill>
                        <a:effectLst/>
                        <a:latin typeface="Carlito"/>
                      </a:endParaRPr>
                    </a:p>
                  </a:txBody>
                  <a:tcPr marL="2842" marR="2842" marT="2842" marB="0" anchor="ctr"/>
                </a:tc>
                <a:tc>
                  <a:txBody>
                    <a:bodyPr/>
                    <a:lstStyle/>
                    <a:p>
                      <a:pPr algn="ctr" fontAlgn="ctr">
                        <a:buNone/>
                      </a:pPr>
                      <a:r>
                        <a:rPr lang="en-US" sz="400" u="none" strike="noStrike">
                          <a:solidFill>
                            <a:srgbClr val="000000"/>
                          </a:solidFill>
                          <a:effectLst/>
                          <a:latin typeface="Arial"/>
                        </a:rPr>
                        <a:t>Notes</a:t>
                      </a:r>
                      <a:endParaRPr lang="en-US" sz="700" b="1" i="0" u="none" strike="noStrike">
                        <a:solidFill>
                          <a:srgbClr val="FFFFFF"/>
                        </a:solidFill>
                        <a:effectLst/>
                        <a:latin typeface="Carlito"/>
                      </a:endParaRPr>
                    </a:p>
                  </a:txBody>
                  <a:tcPr marL="2842" marR="2842" marT="2842" marB="0" anchor="ctr"/>
                </a:tc>
                <a:extLst>
                  <a:ext uri="{0D108BD9-81ED-4DB2-BD59-A6C34878D82A}">
                    <a16:rowId xmlns:a16="http://schemas.microsoft.com/office/drawing/2014/main" val="1956709271"/>
                  </a:ext>
                </a:extLst>
              </a:tr>
              <a:tr h="173365">
                <a:tc>
                  <a:txBody>
                    <a:bodyPr/>
                    <a:lstStyle/>
                    <a:p>
                      <a:pPr algn="r" fontAlgn="t">
                        <a:buNone/>
                      </a:pPr>
                      <a:r>
                        <a:rPr lang="en-US" sz="400" u="none" strike="noStrike">
                          <a:solidFill>
                            <a:srgbClr val="000000"/>
                          </a:solidFill>
                          <a:effectLst/>
                          <a:latin typeface="Arial"/>
                        </a:rPr>
                        <a:t>1</a:t>
                      </a:r>
                      <a:endParaRPr lang="en-US" sz="700" b="1"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1 - Primary</a:t>
                      </a:r>
                      <a:endParaRPr lang="en-US" sz="700" b="1"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Japan</a:t>
                      </a:r>
                      <a:endParaRPr lang="en-US" sz="700" b="1" i="0" u="none" strike="noStrike">
                        <a:solidFill>
                          <a:srgbClr val="1F1F1F"/>
                        </a:solidFill>
                        <a:effectLst/>
                        <a:latin typeface="Carlito"/>
                      </a:endParaRPr>
                    </a:p>
                  </a:txBody>
                  <a:tcPr marL="2842" marR="2842" marT="2842" marB="0"/>
                </a:tc>
                <a:tc>
                  <a:txBody>
                    <a:bodyPr/>
                    <a:lstStyle/>
                    <a:p>
                      <a:pPr algn="l" fontAlgn="t">
                        <a:buNone/>
                      </a:pPr>
                      <a:r>
                        <a:rPr lang="en-US" sz="400" u="none" strike="noStrike" dirty="0">
                          <a:solidFill>
                            <a:srgbClr val="000000"/>
                          </a:solidFill>
                          <a:effectLst/>
                          <a:latin typeface="Arial"/>
                        </a:rPr>
                        <a:t>NICT — World Data Center for Ionosphere &amp; Space Weather</a:t>
                      </a:r>
                      <a:endParaRPr lang="en-US" sz="700" b="1" i="0" u="none" strike="noStrike" dirty="0">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Downlink Bottlenecks &amp; DDIL</a:t>
                      </a:r>
                      <a:endParaRPr lang="en-US" sz="700" b="1"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Persistent SDA; bounded-response trigger data; workload-event volume</a:t>
                      </a:r>
                      <a:endParaRPr lang="en-US" sz="700" b="1"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World Data Center for Ionosphere and Space Weather, Space Environment Laboratory, Applied Electromagnetic Research Center, NICT, 4-2-1 Nukui-Kitamachi, Koganei, Tokyo 184-8795, JAPAN</a:t>
                      </a:r>
                      <a:endParaRPr lang="en-US" sz="700" b="1"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World Data Center for Ionosphere &amp; Space Weather</a:t>
                      </a:r>
                      <a:endParaRPr lang="en-US" sz="700" b="1"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iono@ml.nict.go.jp</a:t>
                      </a:r>
                      <a:endParaRPr lang="en-US" sz="700" b="1"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https://wdc.nict.go.jp/wdc-top/contact.html</a:t>
                      </a:r>
                      <a:endParaRPr lang="en-US" sz="700" b="1" i="0" u="none" strike="noStrike">
                        <a:solidFill>
                          <a:srgbClr val="1F1F1F"/>
                        </a:solidFill>
                        <a:effectLst/>
                        <a:latin typeface="Carlito"/>
                      </a:endParaRPr>
                    </a:p>
                  </a:txBody>
                  <a:tcPr marL="2842" marR="2842" marT="2842" marB="0"/>
                </a:tc>
                <a:tc>
                  <a:txBody>
                    <a:bodyPr/>
                    <a:lstStyle/>
                    <a:p>
                      <a:pPr algn="l" fontAlgn="t">
                        <a:buNone/>
                      </a:pPr>
                      <a:r>
                        <a:rPr sz="400" b="1">
                          <a:solidFill>
                            <a:srgbClr val="000000"/>
                          </a:solidFill>
                          <a:latin typeface="Arial"/>
                        </a:rPr>
                        <a:t>Responded / clarification</a:t>
                      </a:r>
                      <a:endParaRPr lang="en-US" sz="700" b="1"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Aug 17; Sep 14</a:t>
                      </a:r>
                      <a:endParaRPr lang="en-US" sz="700" b="1"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Sep 14</a:t>
                      </a:r>
                      <a:endParaRPr lang="en-US" sz="700" b="1"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NICT requested specific ionosonde/TEC parameters; Japanese follow-up sent. Files pending.</a:t>
                      </a:r>
                      <a:endParaRPr lang="en-US" sz="700" b="1"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2133760539"/>
                  </a:ext>
                </a:extLst>
              </a:tr>
              <a:tr h="173365">
                <a:tc>
                  <a:txBody>
                    <a:bodyPr/>
                    <a:lstStyle/>
                    <a:p>
                      <a:pPr algn="r" fontAlgn="t">
                        <a:buNone/>
                      </a:pPr>
                      <a:r>
                        <a:rPr lang="en-US" sz="400" u="none" strike="noStrike">
                          <a:solidFill>
                            <a:srgbClr val="000000"/>
                          </a:solidFill>
                          <a:effectLst/>
                          <a:latin typeface="Arial"/>
                        </a:rPr>
                        <a:t>2</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1 - Primary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Canada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University of Victoria — LENS / Starlink@PanLab</a:t>
                      </a:r>
                      <a:endParaRPr lang="en-US" sz="700" b="0" i="0" u="none" strike="noStrike">
                        <a:solidFill>
                          <a:srgbClr val="1F1F1F"/>
                        </a:solidFill>
                        <a:effectLst/>
                        <a:latin typeface="Carlito"/>
                      </a:endParaRPr>
                    </a:p>
                  </a:txBody>
                  <a:tcPr marL="2842" marR="2842" marT="2842" marB="0"/>
                </a:tc>
                <a:tc>
                  <a:txBody>
                    <a:bodyPr/>
                    <a:lstStyle/>
                    <a:p>
                      <a:r>
                        <a:rPr sz="400">
                          <a:solidFill>
                            <a:srgbClr val="000000"/>
                          </a:solidFill>
                          <a:latin typeface="Arial"/>
                        </a:rPr>
                        <a:t>Decision-Cycle Latency</a:t>
                      </a:r>
                    </a:p>
                  </a:txBody>
                  <a:tcPr marL="2842" marR="2842" marT="2842" marB="0"/>
                </a:tc>
                <a:tc>
                  <a:txBody>
                    <a:bodyPr/>
                    <a:lstStyle/>
                    <a:p>
                      <a:pPr algn="l" fontAlgn="t">
                        <a:buNone/>
                      </a:pPr>
                      <a:r>
                        <a:rPr lang="en-US" sz="400" u="none" strike="noStrike">
                          <a:solidFill>
                            <a:srgbClr val="000000"/>
                          </a:solidFill>
                          <a:effectLst/>
                          <a:latin typeface="Arial"/>
                        </a:rPr>
                        <a:t>Downlink Bottlenecks &amp; DDIL; response/recovery timing</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Department of Computer Science, University of Victoria, Engineering &amp; Computer Science Building, Room 504, PO Box 1700 STN CSC, Victoria, BC V8W 2Y2, CANADA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Jinwei Zhao; Prof. Jianping Pan</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clarkzjw@uvic.ca; pan@uvic.ca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https://onlineacademiccommunity.uvic.ca/starlink/</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1">
                          <a:solidFill>
                            <a:srgbClr val="000000"/>
                          </a:solidFill>
                          <a:latin typeface="Arial"/>
                        </a:rPr>
                        <a:t>Responded / awaiting</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Aug 17; Sep 13</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Sep 12</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Prof. Pan asked for clarification; LENS latency/loss/uptime variables requested. Files pending.</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4235011484"/>
                  </a:ext>
                </a:extLst>
              </a:tr>
              <a:tr h="173365">
                <a:tc>
                  <a:txBody>
                    <a:bodyPr/>
                    <a:lstStyle/>
                    <a:p>
                      <a:pPr algn="r" fontAlgn="t">
                        <a:buNone/>
                      </a:pPr>
                      <a:r>
                        <a:rPr lang="en-US" sz="400" u="none" strike="noStrike">
                          <a:solidFill>
                            <a:srgbClr val="000000"/>
                          </a:solidFill>
                          <a:effectLst/>
                          <a:latin typeface="Arial"/>
                        </a:rPr>
                        <a:t>3</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1 - Primary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Germany / Netherlands</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WetLinks — Osnabrück University / University of Twente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dirty="0">
                          <a:solidFill>
                            <a:srgbClr val="000000"/>
                          </a:solidFill>
                          <a:effectLst/>
                          <a:latin typeface="Arial"/>
                        </a:rPr>
                        <a:t>Downlink Bottlenecks &amp; DDIL</a:t>
                      </a:r>
                      <a:endParaRPr lang="en-US" sz="700" b="0" i="0" u="none" strike="noStrike" dirty="0">
                        <a:solidFill>
                          <a:srgbClr val="1F1F1F"/>
                        </a:solidFill>
                        <a:effectLst/>
                        <a:latin typeface="Carlito"/>
                      </a:endParaRPr>
                    </a:p>
                  </a:txBody>
                  <a:tcPr marL="2842" marR="2842" marT="2842" marB="0"/>
                </a:tc>
                <a:tc>
                  <a:txBody>
                    <a:bodyPr/>
                    <a:lstStyle/>
                    <a:p>
                      <a:r>
                        <a:rPr sz="400">
                          <a:solidFill>
                            <a:srgbClr val="000000"/>
                          </a:solidFill>
                          <a:latin typeface="Arial"/>
                        </a:rPr>
                        <a:t>Decision-Cycle Latency; environmental correlation</a:t>
                      </a:r>
                    </a:p>
                  </a:txBody>
                  <a:tcPr marL="2842" marR="2842" marT="2842" marB="0"/>
                </a:tc>
                <a:tc>
                  <a:txBody>
                    <a:bodyPr/>
                    <a:lstStyle/>
                    <a:p>
                      <a:pPr algn="l" fontAlgn="t">
                        <a:buNone/>
                      </a:pPr>
                      <a:r>
                        <a:rPr lang="en-US" sz="400" u="none" strike="noStrike">
                          <a:solidFill>
                            <a:srgbClr val="000000"/>
                          </a:solidFill>
                          <a:effectLst/>
                          <a:latin typeface="Arial"/>
                        </a:rPr>
                        <a:t>c/o Distributed Systems Group, Institute of Computer Science, Osnabrück University, Friedrich-Janssen-Str. 1, 49076 Osnabrück, GERMANY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Dominic Laniewski; Prof. Nils Aschenbruck; Prof. Roland van Rijswijk-Deij</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laniewski@uni-osnabrueck.de; aschenbruck@uni-osnabrueck.de; r.m.vanrijswijk@utwente.nl</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https://arxiv.org/abs/2402.16448</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1">
                          <a:solidFill>
                            <a:srgbClr val="000000"/>
                          </a:solidFill>
                          <a:latin typeface="Arial"/>
                        </a:rPr>
                        <a:t>Responded</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Aug 17</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Aug 25</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WetLinks public repository + dataset/paper links received; screen files/fields next.</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2332652592"/>
                  </a:ext>
                </a:extLst>
              </a:tr>
              <a:tr h="163418">
                <a:tc>
                  <a:txBody>
                    <a:bodyPr/>
                    <a:lstStyle/>
                    <a:p>
                      <a:pPr algn="r" fontAlgn="t">
                        <a:buNone/>
                      </a:pPr>
                      <a:r>
                        <a:rPr lang="en-US" sz="400" u="none" strike="noStrike">
                          <a:solidFill>
                            <a:srgbClr val="000000"/>
                          </a:solidFill>
                          <a:effectLst/>
                          <a:latin typeface="Arial"/>
                        </a:rPr>
                        <a:t>4</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1 - Primary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Netherlands</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RIPE NCC — RIPE Atlas</a:t>
                      </a:r>
                      <a:endParaRPr lang="en-US" sz="700" b="0" i="0" u="none" strike="noStrike">
                        <a:solidFill>
                          <a:srgbClr val="1F1F1F"/>
                        </a:solidFill>
                        <a:effectLst/>
                        <a:latin typeface="Carlito"/>
                      </a:endParaRPr>
                    </a:p>
                  </a:txBody>
                  <a:tcPr marL="2842" marR="2842" marT="2842" marB="0"/>
                </a:tc>
                <a:tc>
                  <a:txBody>
                    <a:bodyPr/>
                    <a:lstStyle/>
                    <a:p>
                      <a:r>
                        <a:rPr sz="400">
                          <a:solidFill>
                            <a:srgbClr val="000000"/>
                          </a:solidFill>
                          <a:latin typeface="Arial"/>
                        </a:rPr>
                        <a:t>Decision-Cycle Latency</a:t>
                      </a:r>
                    </a:p>
                  </a:txBody>
                  <a:tcPr marL="2842" marR="2842" marT="2842" marB="0"/>
                </a:tc>
                <a:tc>
                  <a:txBody>
                    <a:bodyPr/>
                    <a:lstStyle/>
                    <a:p>
                      <a:pPr algn="l" fontAlgn="t">
                        <a:buNone/>
                      </a:pPr>
                      <a:r>
                        <a:rPr lang="en-US" sz="400" u="none" strike="noStrike">
                          <a:solidFill>
                            <a:srgbClr val="000000"/>
                          </a:solidFill>
                          <a:effectLst/>
                          <a:latin typeface="Arial"/>
                        </a:rPr>
                        <a:t>Downlink Bottlenecks &amp; DDIL; outage/recovery; event-volume inputs</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RIPE Network Coordination Centre, P.O. Box 10096, 1001 EB Amsterdam, NETHERLANDS</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RIPE Atlas Team</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atlas@ripe.net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https://atlas.ripe.net/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Not Contacted</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Potential independent/original active measurement campaign.</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2776582623"/>
                  </a:ext>
                </a:extLst>
              </a:tr>
              <a:tr h="173365">
                <a:tc>
                  <a:txBody>
                    <a:bodyPr/>
                    <a:lstStyle/>
                    <a:p>
                      <a:pPr algn="r" fontAlgn="t">
                        <a:buNone/>
                      </a:pPr>
                      <a:r>
                        <a:rPr lang="en-US" sz="400" u="none" strike="noStrike">
                          <a:solidFill>
                            <a:srgbClr val="000000"/>
                          </a:solidFill>
                          <a:effectLst/>
                          <a:latin typeface="Arial"/>
                        </a:rPr>
                        <a:t>5</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1 - Primary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New Zealand</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University of Otago — Solar Tsunamis / MANA Network</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dirty="0">
                          <a:solidFill>
                            <a:srgbClr val="000000"/>
                          </a:solidFill>
                          <a:effectLst/>
                          <a:latin typeface="Arial"/>
                        </a:rPr>
                        <a:t>DDIL / Environmental Degradation</a:t>
                      </a:r>
                      <a:endParaRPr lang="en-US" sz="700" b="0" i="0" u="none" strike="noStrike" dirty="0">
                        <a:solidFill>
                          <a:srgbClr val="1F1F1F"/>
                        </a:solidFill>
                        <a:effectLst/>
                        <a:latin typeface="Carlito"/>
                      </a:endParaRPr>
                    </a:p>
                  </a:txBody>
                  <a:tcPr marL="2842" marR="2842" marT="2842" marB="0"/>
                </a:tc>
                <a:tc>
                  <a:txBody>
                    <a:bodyPr/>
                    <a:lstStyle/>
                    <a:p>
                      <a:pPr algn="l" fontAlgn="t">
                        <a:buNone/>
                      </a:pPr>
                      <a:r>
                        <a:rPr lang="en-US" sz="400" u="none" strike="noStrike" dirty="0">
                          <a:solidFill>
                            <a:srgbClr val="000000"/>
                          </a:solidFill>
                          <a:effectLst/>
                          <a:latin typeface="Arial"/>
                        </a:rPr>
                        <a:t>Persistent SDA</a:t>
                      </a:r>
                      <a:endParaRPr lang="en-US" sz="700" b="0" i="0" u="none" strike="noStrike" dirty="0">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c/o Department of Physics, University of Otago, PO Box 56, Dunedin 9054, NEW ZEALAND</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Dr Johnny Malone-Leigh; Prof. Craig Rodger; Lisa Evans</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john.m.leigh@otago.ac.nz; craig.rodger@otago.ac.nz; lisa.evans@otago.ac.nz</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https://solartsunamis.otago.ac.nz/mana/mana-data/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Not Contacted</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Formal scientific data access; Southern Hemisphere geomagnetic disturbance timelines.</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3157937385"/>
                  </a:ext>
                </a:extLst>
              </a:tr>
              <a:tr h="163418">
                <a:tc>
                  <a:txBody>
                    <a:bodyPr/>
                    <a:lstStyle/>
                    <a:p>
                      <a:pPr algn="r" fontAlgn="t">
                        <a:buNone/>
                      </a:pPr>
                      <a:r>
                        <a:rPr lang="en-US" sz="400" b="1" u="none" strike="noStrike">
                          <a:solidFill>
                            <a:srgbClr val="000000"/>
                          </a:solidFill>
                          <a:effectLst/>
                          <a:latin typeface="Arial"/>
                        </a:rPr>
                        <a:t>6</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Tier 1 - Primary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New Zealand</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Earth Sciences New Zealand — Geomagnetism Project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Persistent SDA / Environmental Degradation</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dirty="0">
                          <a:solidFill>
                            <a:srgbClr val="000000"/>
                          </a:solidFill>
                          <a:effectLst/>
                          <a:latin typeface="Arial"/>
                        </a:rPr>
                        <a:t>DDIL environmental proxy; bounded-response trigger data</a:t>
                      </a:r>
                      <a:endParaRPr lang="en-US" sz="700" b="0" i="0" u="none" strike="noStrike" dirty="0">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Avalon Campus, 1 Fairway Drive, Avalon 5011, PO Box 30-368, Lower Hutt 5040, NEW ZEALAND</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Dr Tanja Petersen</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https://www.gns.cri.nz/about-us/staff-search/tanja-petersen/</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Not Contacted</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INTERMAGNET / Scott Base context; independent validation. General phone: +64 4 570 1444.</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15468816"/>
                  </a:ext>
                </a:extLst>
              </a:tr>
              <a:tr h="163418">
                <a:tc>
                  <a:txBody>
                    <a:bodyPr/>
                    <a:lstStyle/>
                    <a:p>
                      <a:pPr algn="r" fontAlgn="t">
                        <a:buNone/>
                      </a:pPr>
                      <a:r>
                        <a:rPr lang="en-US" sz="400" u="none" strike="noStrike">
                          <a:solidFill>
                            <a:srgbClr val="000000"/>
                          </a:solidFill>
                          <a:effectLst/>
                          <a:latin typeface="Arial"/>
                        </a:rPr>
                        <a:t>7</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2 - Secondary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Australia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Australian Space Weather Forecasting Centre — Bureau of Meteorology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DDIL / Communications Degradation</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Persistent SDA; bounded-response triggers; workload-event volume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Australian Space Weather Forecasting Centre, Bureau of Meteorology, Lot Fourteen, Adelaide, SA 5000, AUSTRALIA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Space Weather Forecaster</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ASWFC@bom.gov.au; space@bom.gov.au</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https://www.sws.bom.gov.au/Contact_Us</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1">
                          <a:solidFill>
                            <a:srgbClr val="000000"/>
                          </a:solidFill>
                          <a:latin typeface="Arial"/>
                        </a:rPr>
                        <a:t>Responded / links</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Aug 17; Sep 13</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Sep 13</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ASWFC supplied HF/ionosphere/K-index links + citation guidance; no direct network data.</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1205464723"/>
                  </a:ext>
                </a:extLst>
              </a:tr>
              <a:tr h="163418">
                <a:tc>
                  <a:txBody>
                    <a:bodyPr/>
                    <a:lstStyle/>
                    <a:p>
                      <a:pPr algn="r" fontAlgn="t">
                        <a:buNone/>
                      </a:pPr>
                      <a:r>
                        <a:rPr lang="en-US" sz="400" u="none" strike="noStrike">
                          <a:solidFill>
                            <a:srgbClr val="000000"/>
                          </a:solidFill>
                          <a:effectLst/>
                          <a:latin typeface="Arial"/>
                        </a:rPr>
                        <a:t>8</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2 - Secondary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United Kingdom</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Met Office — Space Weather Operations Centre (MOSWOC)</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DDIL / Communications Degradation</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Persistent SDA; bounded-response triggers; workload-event volume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Met Office, FitzRoy Road, Exeter, Devon EX1 3PB, UNITED KINGDOM</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Mark Gibbs / MOSWOC</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enquiries@metoffice.gov.uk</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https://weather.metoffice.gov.uk/learn-about/space-weather/met-office-role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Not Contacted</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Independent operational flare/radio-blackout/geomagnetic interpretation.</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4206322140"/>
                  </a:ext>
                </a:extLst>
              </a:tr>
              <a:tr h="163418">
                <a:tc>
                  <a:txBody>
                    <a:bodyPr/>
                    <a:lstStyle/>
                    <a:p>
                      <a:pPr algn="r" fontAlgn="t">
                        <a:buNone/>
                      </a:pPr>
                      <a:r>
                        <a:rPr lang="en-US" sz="400" u="none" strike="noStrike">
                          <a:solidFill>
                            <a:srgbClr val="000000"/>
                          </a:solidFill>
                          <a:effectLst/>
                          <a:latin typeface="Arial"/>
                        </a:rPr>
                        <a:t>9</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2 - Secondary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South Africa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SANSA — Space Weather Centre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DDIL / Communications Degradation</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Persistent SDA; bounded-response triggers; workload-event volume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SANSA Space Science, PO Box 32, Hermanus 7200, Western Cape, SOUTH AFRICA. Physical site: Hospital Street, Hermanus 7200.</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Space Weather Centre / SANSA Space Science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spaceweather@sansa.org.za; spacesci-info@sansa.org.za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https://www.sansa.org.za/products-and-services/space-science/</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1">
                          <a:solidFill>
                            <a:srgbClr val="000000"/>
                          </a:solidFill>
                          <a:latin typeface="Arial"/>
                        </a:rPr>
                        <a:t>Responded / environmental</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Aug 17; Sep 13</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Sep 14</a:t>
                      </a:r>
                      <a:endParaRPr lang="en-US" sz="700" b="0" i="0" u="none" strike="noStrike">
                        <a:solidFill>
                          <a:srgbClr val="1F1F1F"/>
                        </a:solidFill>
                        <a:effectLst/>
                        <a:latin typeface="Carlito"/>
                      </a:endParaRPr>
                    </a:p>
                  </a:txBody>
                  <a:tcPr marL="2842" marR="2842" marT="2842" marB="0"/>
                </a:tc>
                <a:tc>
                  <a:txBody>
                    <a:bodyPr/>
                    <a:lstStyle/>
                    <a:p>
                      <a:pPr algn="l" fontAlgn="t">
                        <a:buNone/>
                      </a:pPr>
                      <a:r>
                        <a:rPr sz="400" b="0">
                          <a:solidFill>
                            <a:srgbClr val="000000"/>
                          </a:solidFill>
                          <a:latin typeface="Arial"/>
                        </a:rPr>
                        <a:t>SANSA provided Hermanus geomagnetic-data route/citation; no direct latency/loss/availability.</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1222799630"/>
                  </a:ext>
                </a:extLst>
              </a:tr>
              <a:tr h="163418">
                <a:tc>
                  <a:txBody>
                    <a:bodyPr/>
                    <a:lstStyle/>
                    <a:p>
                      <a:pPr algn="r" fontAlgn="t">
                        <a:buNone/>
                      </a:pPr>
                      <a:r>
                        <a:rPr lang="en-US" sz="400" u="none" strike="noStrike">
                          <a:solidFill>
                            <a:srgbClr val="000000"/>
                          </a:solidFill>
                          <a:effectLst/>
                          <a:latin typeface="Arial"/>
                        </a:rPr>
                        <a:t>10</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2 - Secondary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Belgium</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ESA — Space Weather Service Network / Coordination Centre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Persistent SDA / DDIL</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Bounded autonomous-response trigger data; workload-event volume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Space Weather Coordination Centre, Space Pole, Avenue Circulaire–Ringlaan 3, 1180 Uccle–Ukkel, BELGIUM</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SWE Service Helpdesk</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helpdesk.swe@esa.int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https://swe.ssa.esa.int/contact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Not Contacted</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European product-selection, archive, API and V&amp;V support.</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3203443701"/>
                  </a:ext>
                </a:extLst>
              </a:tr>
              <a:tr h="163418">
                <a:tc>
                  <a:txBody>
                    <a:bodyPr/>
                    <a:lstStyle/>
                    <a:p>
                      <a:pPr algn="r" fontAlgn="t">
                        <a:buNone/>
                      </a:pPr>
                      <a:r>
                        <a:rPr lang="en-US" sz="400" u="none" strike="noStrike">
                          <a:solidFill>
                            <a:srgbClr val="000000"/>
                          </a:solidFill>
                          <a:effectLst/>
                          <a:latin typeface="Arial"/>
                        </a:rPr>
                        <a:t>11</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3 - Supporting</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Germany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EUMETSAT — User Service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Persistent SDA / Ground-Station Availability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DDIL atmospheric/ground-site proxy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EUMETSAT, Eumetsat-Allee 1, D-64295 Darmstadt, GERMANY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User Service Helpdesk</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ops@eumetsat.int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https://www.eumetsat.int/contact-eumetsat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Not Contacted</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Meteorology/precipitation/cloud inputs for notional ground-station availability.</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1924037065"/>
                  </a:ext>
                </a:extLst>
              </a:tr>
              <a:tr h="163418">
                <a:tc>
                  <a:txBody>
                    <a:bodyPr/>
                    <a:lstStyle/>
                    <a:p>
                      <a:pPr algn="r" fontAlgn="t">
                        <a:buNone/>
                      </a:pPr>
                      <a:r>
                        <a:rPr lang="en-US" sz="400" b="1" u="none" strike="noStrike">
                          <a:solidFill>
                            <a:srgbClr val="000000"/>
                          </a:solidFill>
                          <a:effectLst/>
                          <a:latin typeface="Arial"/>
                        </a:rPr>
                        <a:t>12</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Tier 3 - Supporting</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New Zealand</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New Zealand Space Agency — MBIE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Cross-Cutting Referral Source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All five families by referral only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New Zealand Space Agency, Ministry of Business, Innovation and Employment, PO Box 1473, Wellington 6140, NEW ZEALAND</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New Zealand Space Agency / MBIE</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nzspaceagency@mbie.govt.nz</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https://www.mbie.govt.nz/science-and-technology/space/connect-with-nzsa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Not Contacted</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b="1" u="none" strike="noStrike">
                          <a:solidFill>
                            <a:srgbClr val="000000"/>
                          </a:solidFill>
                          <a:effectLst/>
                          <a:latin typeface="Arial"/>
                        </a:rPr>
                        <a:t>Referral/ecosystem source, not primary scientific data.</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4277094299"/>
                  </a:ext>
                </a:extLst>
              </a:tr>
              <a:tr h="163418">
                <a:tc>
                  <a:txBody>
                    <a:bodyPr/>
                    <a:lstStyle/>
                    <a:p>
                      <a:pPr algn="r" fontAlgn="t">
                        <a:buNone/>
                      </a:pPr>
                      <a:r>
                        <a:rPr lang="en-US" sz="400" u="none" strike="noStrike">
                          <a:solidFill>
                            <a:srgbClr val="000000"/>
                          </a:solidFill>
                          <a:effectLst/>
                          <a:latin typeface="Arial"/>
                        </a:rPr>
                        <a:t>13</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Tier 3 - Supporting</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Germany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ESA Space Debris Office — DISCOS / SDUP</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Bounded Autonomous Response / Maneuver Support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Persistent SDA</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Space Debris Office, ESOC/ESA, Robert-Bosch-Str. 5, 64293 Darmstadt, GERMANY</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Space Debris Office / SDUP Support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space.debris.support@esa.int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https://sdup.esoc.esa.int/contact</a:t>
                      </a: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Not Contacted</a:t>
                      </a: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endParaRPr lang="en-US" sz="700" b="0" i="0" u="none" strike="noStrike">
                        <a:solidFill>
                          <a:srgbClr val="1F1F1F"/>
                        </a:solidFill>
                        <a:effectLst/>
                        <a:latin typeface="Carlito"/>
                      </a:endParaRPr>
                    </a:p>
                  </a:txBody>
                  <a:tcPr marL="2842" marR="2842" marT="2842" marB="0"/>
                </a:tc>
                <a:tc>
                  <a:txBody>
                    <a:bodyPr/>
                    <a:lstStyle/>
                    <a:p>
                      <a:pPr algn="l" fontAlgn="t">
                        <a:buNone/>
                      </a:pPr>
                      <a:r>
                        <a:rPr lang="en-US" sz="400" u="none" strike="noStrike">
                          <a:solidFill>
                            <a:srgbClr val="000000"/>
                          </a:solidFill>
                          <a:effectLst/>
                          <a:latin typeface="Arial"/>
                        </a:rPr>
                        <a:t>Public conjunction/object metadata and event-trigger context.</a:t>
                      </a:r>
                      <a:endParaRPr lang="en-US" sz="700" b="0" i="0" u="none" strike="noStrike">
                        <a:solidFill>
                          <a:srgbClr val="1F1F1F"/>
                        </a:solidFill>
                        <a:effectLst/>
                        <a:latin typeface="Carlito"/>
                      </a:endParaRPr>
                    </a:p>
                  </a:txBody>
                  <a:tcPr marL="2842" marR="2842" marT="2842" marB="0"/>
                </a:tc>
                <a:extLst>
                  <a:ext uri="{0D108BD9-81ED-4DB2-BD59-A6C34878D82A}">
                    <a16:rowId xmlns:a16="http://schemas.microsoft.com/office/drawing/2014/main" val="4192029128"/>
                  </a:ext>
                </a:extLst>
              </a:tr>
              <a:tr h="65367">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tc>
                  <a:txBody>
                    <a:bodyPr/>
                    <a:lstStyle/>
                    <a:p>
                      <a:pPr algn="l" fontAlgn="b">
                        <a:buNone/>
                      </a:pPr>
                      <a:endParaRPr lang="en-US" sz="700" b="0" i="0" u="none" strike="noStrike">
                        <a:effectLst/>
                        <a:latin typeface="Carlito"/>
                      </a:endParaRPr>
                    </a:p>
                  </a:txBody>
                  <a:tcPr marL="2842" marR="2842" marT="2842" marB="0" anchor="b"/>
                </a:tc>
                <a:extLst>
                  <a:ext uri="{0D108BD9-81ED-4DB2-BD59-A6C34878D82A}">
                    <a16:rowId xmlns:a16="http://schemas.microsoft.com/office/drawing/2014/main" val="143607818"/>
                  </a:ext>
                </a:extLst>
              </a:tr>
              <a:tr h="59683">
                <a:tc gridSpan="14">
                  <a:txBody>
                    <a:bodyPr/>
                    <a:lstStyle/>
                    <a:p>
                      <a:r>
                        <a:rPr sz="400" b="0">
                          <a:solidFill>
                            <a:srgbClr val="000000"/>
                          </a:solidFill>
                          <a:latin typeface="Arial"/>
                        </a:rPr>
                        <a:t>Request framing: seek public, scientifically defensible observations that reproduce system symptoms of degraded/disrupted operations: latency, outages, observation gaps, disturbance onset/recovery, alert volume and quality/confidence. Do not use classified, CUI, proprietary or operational data.</a:t>
                      </a:r>
                    </a:p>
                  </a:txBody>
                  <a:tcPr marL="2842" marR="2842" marT="2842"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85467432"/>
                  </a:ext>
                </a:extLst>
              </a:tr>
            </a:tbl>
          </a:graphicData>
        </a:graphic>
      </p:graphicFrame>
    </p:spTree>
    <p:extLst>
      <p:ext uri="{BB962C8B-B14F-4D97-AF65-F5344CB8AC3E}">
        <p14:creationId xmlns:p14="http://schemas.microsoft.com/office/powerpoint/2010/main" val="3222840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3337B-5C21-77C1-9DDF-3A21DA14CEF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9D091FE-A28F-05CC-17C4-C87E61AB9B27}"/>
              </a:ext>
            </a:extLst>
          </p:cNvPr>
          <p:cNvGraphicFramePr>
            <a:graphicFrameLocks noGrp="1"/>
          </p:cNvGraphicFramePr>
          <p:nvPr>
            <p:extLst>
              <p:ext uri="{D42A27DB-BD31-4B8C-83A1-F6EECF244321}">
                <p14:modId xmlns:p14="http://schemas.microsoft.com/office/powerpoint/2010/main" val="2916218584"/>
              </p:ext>
            </p:extLst>
          </p:nvPr>
        </p:nvGraphicFramePr>
        <p:xfrm>
          <a:off x="0" y="0"/>
          <a:ext cx="10496146" cy="6778719"/>
        </p:xfrm>
        <a:graphic>
          <a:graphicData uri="http://schemas.openxmlformats.org/drawingml/2006/table">
            <a:tbl>
              <a:tblPr>
                <a:tableStyleId>{5C22544A-7EE6-4342-B048-85BDC9FD1C3A}</a:tableStyleId>
              </a:tblPr>
              <a:tblGrid>
                <a:gridCol w="1492785">
                  <a:extLst>
                    <a:ext uri="{9D8B030D-6E8A-4147-A177-3AD203B41FA5}">
                      <a16:colId xmlns:a16="http://schemas.microsoft.com/office/drawing/2014/main" val="1996507533"/>
                    </a:ext>
                  </a:extLst>
                </a:gridCol>
                <a:gridCol w="1492785">
                  <a:extLst>
                    <a:ext uri="{9D8B030D-6E8A-4147-A177-3AD203B41FA5}">
                      <a16:colId xmlns:a16="http://schemas.microsoft.com/office/drawing/2014/main" val="3398532133"/>
                    </a:ext>
                  </a:extLst>
                </a:gridCol>
                <a:gridCol w="1072940">
                  <a:extLst>
                    <a:ext uri="{9D8B030D-6E8A-4147-A177-3AD203B41FA5}">
                      <a16:colId xmlns:a16="http://schemas.microsoft.com/office/drawing/2014/main" val="1879967249"/>
                    </a:ext>
                  </a:extLst>
                </a:gridCol>
                <a:gridCol w="746392">
                  <a:extLst>
                    <a:ext uri="{9D8B030D-6E8A-4147-A177-3AD203B41FA5}">
                      <a16:colId xmlns:a16="http://schemas.microsoft.com/office/drawing/2014/main" val="4185818586"/>
                    </a:ext>
                  </a:extLst>
                </a:gridCol>
                <a:gridCol w="1586085">
                  <a:extLst>
                    <a:ext uri="{9D8B030D-6E8A-4147-A177-3AD203B41FA5}">
                      <a16:colId xmlns:a16="http://schemas.microsoft.com/office/drawing/2014/main" val="2539688200"/>
                    </a:ext>
                  </a:extLst>
                </a:gridCol>
                <a:gridCol w="1772682">
                  <a:extLst>
                    <a:ext uri="{9D8B030D-6E8A-4147-A177-3AD203B41FA5}">
                      <a16:colId xmlns:a16="http://schemas.microsoft.com/office/drawing/2014/main" val="2818989750"/>
                    </a:ext>
                  </a:extLst>
                </a:gridCol>
                <a:gridCol w="1772682">
                  <a:extLst>
                    <a:ext uri="{9D8B030D-6E8A-4147-A177-3AD203B41FA5}">
                      <a16:colId xmlns:a16="http://schemas.microsoft.com/office/drawing/2014/main" val="506568899"/>
                    </a:ext>
                  </a:extLst>
                </a:gridCol>
                <a:gridCol w="559795">
                  <a:extLst>
                    <a:ext uri="{9D8B030D-6E8A-4147-A177-3AD203B41FA5}">
                      <a16:colId xmlns:a16="http://schemas.microsoft.com/office/drawing/2014/main" val="1340291357"/>
                    </a:ext>
                  </a:extLst>
                </a:gridCol>
              </a:tblGrid>
              <a:tr h="189523">
                <a:tc gridSpan="8">
                  <a:txBody>
                    <a:bodyPr/>
                    <a:lstStyle/>
                    <a:p>
                      <a:pPr algn="l" fontAlgn="ctr">
                        <a:buNone/>
                      </a:pPr>
                      <a:r>
                        <a:rPr lang="en-US" sz="459" b="1" u="none" strike="noStrike">
                          <a:solidFill>
                            <a:srgbClr val="000000"/>
                          </a:solidFill>
                          <a:effectLst/>
                          <a:latin typeface="Arial"/>
                        </a:rPr>
                        <a:t>International Research Data Outreach Register</a:t>
                      </a:r>
                      <a:endParaRPr lang="en-US" sz="1050" b="1" i="0" u="none" strike="noStrike">
                        <a:solidFill>
                          <a:srgbClr val="FFFFFF"/>
                        </a:solidFill>
                        <a:effectLst/>
                        <a:latin typeface="Carlito"/>
                      </a:endParaRPr>
                    </a:p>
                  </a:txBody>
                  <a:tcPr marL="3283" marR="3283" marT="3283"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07915942"/>
                  </a:ext>
                </a:extLst>
              </a:tr>
              <a:tr h="127618">
                <a:tc gridSpan="8">
                  <a:txBody>
                    <a:bodyPr/>
                    <a:lstStyle/>
                    <a:p>
                      <a:pPr algn="l" fontAlgn="b">
                        <a:buNone/>
                      </a:pPr>
                      <a:r>
                        <a:rPr sz="459" b="1">
                          <a:solidFill>
                            <a:srgbClr val="000000"/>
                          </a:solidFill>
                          <a:latin typeface="Arial"/>
                        </a:rPr>
                        <a:t>Prioritized POC/data-source register • v07 • 2026-09-16</a:t>
                      </a:r>
                      <a:endParaRPr lang="en-US" sz="700" b="0" i="1" u="none" strike="noStrike">
                        <a:solidFill>
                          <a:srgbClr val="1F2937"/>
                        </a:solidFill>
                        <a:effectLst/>
                        <a:latin typeface="Carlito"/>
                      </a:endParaRPr>
                    </a:p>
                  </a:txBody>
                  <a:tcPr marL="3283" marR="3283" marT="328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09743281"/>
                  </a:ext>
                </a:extLst>
              </a:tr>
              <a:tr h="145305">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extLst>
                  <a:ext uri="{0D108BD9-81ED-4DB2-BD59-A6C34878D82A}">
                    <a16:rowId xmlns:a16="http://schemas.microsoft.com/office/drawing/2014/main" val="4047792588"/>
                  </a:ext>
                </a:extLst>
              </a:tr>
              <a:tr h="286800">
                <a:tc>
                  <a:txBody>
                    <a:bodyPr/>
                    <a:lstStyle/>
                    <a:p>
                      <a:pPr algn="ctr" fontAlgn="b">
                        <a:buNone/>
                      </a:pPr>
                      <a:r>
                        <a:rPr lang="en-US" sz="459" b="1" u="none" strike="noStrike">
                          <a:solidFill>
                            <a:srgbClr val="000000"/>
                          </a:solidFill>
                          <a:effectLst/>
                          <a:latin typeface="Arial"/>
                        </a:rPr>
                        <a:t>Metric</a:t>
                      </a:r>
                      <a:endParaRPr lang="en-US" sz="800" b="1" i="0" u="none" strike="noStrike">
                        <a:solidFill>
                          <a:srgbClr val="FFFFFF"/>
                        </a:solidFill>
                        <a:effectLst/>
                        <a:latin typeface="Carlito"/>
                      </a:endParaRPr>
                    </a:p>
                  </a:txBody>
                  <a:tcPr marL="3283" marR="3283" marT="3283" marB="0" anchor="b"/>
                </a:tc>
                <a:tc>
                  <a:txBody>
                    <a:bodyPr/>
                    <a:lstStyle/>
                    <a:p>
                      <a:pPr algn="ctr" fontAlgn="b">
                        <a:buNone/>
                      </a:pPr>
                      <a:r>
                        <a:rPr lang="en-US" sz="459" b="1" u="none" strike="noStrike">
                          <a:solidFill>
                            <a:srgbClr val="000000"/>
                          </a:solidFill>
                          <a:effectLst/>
                          <a:latin typeface="Arial"/>
                        </a:rPr>
                        <a:t>Value</a:t>
                      </a:r>
                      <a:endParaRPr lang="en-US" sz="800" b="1" i="0" u="none" strike="noStrike">
                        <a:solidFill>
                          <a:srgbClr val="FFFFFF"/>
                        </a:solidFill>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ctr" fontAlgn="b">
                        <a:buNone/>
                      </a:pPr>
                      <a:r>
                        <a:rPr lang="en-US" sz="459" b="1" u="none" strike="noStrike">
                          <a:solidFill>
                            <a:srgbClr val="000000"/>
                          </a:solidFill>
                          <a:effectLst/>
                          <a:latin typeface="Arial"/>
                        </a:rPr>
                        <a:t>Priority</a:t>
                      </a:r>
                      <a:endParaRPr lang="en-US" sz="800" b="1" i="0" u="none" strike="noStrike">
                        <a:solidFill>
                          <a:srgbClr val="FFFFFF"/>
                        </a:solidFill>
                        <a:effectLst/>
                        <a:latin typeface="Carlito"/>
                      </a:endParaRPr>
                    </a:p>
                  </a:txBody>
                  <a:tcPr marL="3283" marR="3283" marT="3283" marB="0" anchor="b"/>
                </a:tc>
                <a:tc>
                  <a:txBody>
                    <a:bodyPr/>
                    <a:lstStyle/>
                    <a:p>
                      <a:pPr algn="ctr" fontAlgn="b">
                        <a:buNone/>
                      </a:pPr>
                      <a:r>
                        <a:rPr lang="en-US" sz="459" b="1" u="none" strike="noStrike">
                          <a:solidFill>
                            <a:srgbClr val="000000"/>
                          </a:solidFill>
                          <a:effectLst/>
                          <a:latin typeface="Arial"/>
                        </a:rPr>
                        <a:t>Country</a:t>
                      </a:r>
                      <a:endParaRPr lang="en-US" sz="800" b="1" i="0" u="none" strike="noStrike">
                        <a:solidFill>
                          <a:srgbClr val="FFFFFF"/>
                        </a:solidFill>
                        <a:effectLst/>
                        <a:latin typeface="Carlito"/>
                      </a:endParaRPr>
                    </a:p>
                  </a:txBody>
                  <a:tcPr marL="3283" marR="3283" marT="3283" marB="0" anchor="b"/>
                </a:tc>
                <a:tc>
                  <a:txBody>
                    <a:bodyPr/>
                    <a:lstStyle/>
                    <a:p>
                      <a:pPr algn="ctr" fontAlgn="b">
                        <a:buNone/>
                      </a:pPr>
                      <a:r>
                        <a:rPr lang="en-US" sz="459" b="1" u="none" strike="noStrike">
                          <a:solidFill>
                            <a:srgbClr val="000000"/>
                          </a:solidFill>
                          <a:effectLst/>
                          <a:latin typeface="Arial"/>
                        </a:rPr>
                        <a:t>Organization</a:t>
                      </a:r>
                      <a:endParaRPr lang="en-US" sz="800" b="1" i="0" u="none" strike="noStrike">
                        <a:solidFill>
                          <a:srgbClr val="FFFFFF"/>
                        </a:solidFill>
                        <a:effectLst/>
                        <a:latin typeface="Carlito"/>
                      </a:endParaRPr>
                    </a:p>
                  </a:txBody>
                  <a:tcPr marL="3283" marR="3283" marT="3283" marB="0" anchor="b"/>
                </a:tc>
                <a:tc>
                  <a:txBody>
                    <a:bodyPr/>
                    <a:lstStyle/>
                    <a:p>
                      <a:pPr algn="ctr" fontAlgn="b">
                        <a:buNone/>
                      </a:pPr>
                      <a:r>
                        <a:rPr lang="en-US" sz="459" b="1" u="none" strike="noStrike">
                          <a:solidFill>
                            <a:srgbClr val="000000"/>
                          </a:solidFill>
                          <a:effectLst/>
                          <a:latin typeface="Arial"/>
                        </a:rPr>
                        <a:t>Core Value</a:t>
                      </a:r>
                      <a:endParaRPr lang="en-US" sz="800" b="1" i="0" u="none" strike="noStrike">
                        <a:solidFill>
                          <a:srgbClr val="FFFFFF"/>
                        </a:solidFill>
                        <a:effectLst/>
                        <a:latin typeface="Carlito"/>
                      </a:endParaRPr>
                    </a:p>
                  </a:txBody>
                  <a:tcPr marL="3283" marR="3283" marT="3283" marB="0" anchor="b"/>
                </a:tc>
                <a:tc>
                  <a:txBody>
                    <a:bodyPr/>
                    <a:lstStyle/>
                    <a:p>
                      <a:pPr algn="ctr" fontAlgn="b">
                        <a:buNone/>
                      </a:pPr>
                      <a:r>
                        <a:rPr lang="en-US" sz="459" b="1" u="none" strike="noStrike">
                          <a:solidFill>
                            <a:srgbClr val="000000"/>
                          </a:solidFill>
                          <a:effectLst/>
                          <a:latin typeface="Arial"/>
                        </a:rPr>
                        <a:t>Planned wave</a:t>
                      </a:r>
                      <a:endParaRPr lang="en-US" sz="800" b="1" i="0" u="none" strike="noStrike">
                        <a:solidFill>
                          <a:srgbClr val="FFFFFF"/>
                        </a:solidFill>
                        <a:effectLst/>
                        <a:latin typeface="Carlito"/>
                      </a:endParaRPr>
                    </a:p>
                  </a:txBody>
                  <a:tcPr marL="3283" marR="3283" marT="3283" marB="0" anchor="b"/>
                </a:tc>
                <a:extLst>
                  <a:ext uri="{0D108BD9-81ED-4DB2-BD59-A6C34878D82A}">
                    <a16:rowId xmlns:a16="http://schemas.microsoft.com/office/drawing/2014/main" val="764187981"/>
                  </a:ext>
                </a:extLst>
              </a:tr>
              <a:tr h="286800">
                <a:tc>
                  <a:txBody>
                    <a:bodyPr/>
                    <a:lstStyle/>
                    <a:p>
                      <a:pPr algn="l" fontAlgn="b">
                        <a:buNone/>
                      </a:pPr>
                      <a:r>
                        <a:rPr lang="en-US" sz="459" u="none" strike="noStrike">
                          <a:solidFill>
                            <a:srgbClr val="000000"/>
                          </a:solidFill>
                          <a:effectLst/>
                          <a:latin typeface="Arial"/>
                        </a:rPr>
                        <a:t>Total Targets</a:t>
                      </a:r>
                      <a:endParaRPr lang="en-US" sz="800" b="0" i="0" u="none" strike="noStrike">
                        <a:effectLst/>
                        <a:latin typeface="Carlito"/>
                      </a:endParaRPr>
                    </a:p>
                  </a:txBody>
                  <a:tcPr marL="3283" marR="3283" marT="3283" marB="0" anchor="b"/>
                </a:tc>
                <a:tc>
                  <a:txBody>
                    <a:bodyPr/>
                    <a:lstStyle/>
                    <a:p>
                      <a:pPr algn="r" fontAlgn="b">
                        <a:buNone/>
                      </a:pPr>
                      <a:r>
                        <a:rPr lang="en-US" sz="459" u="none" strike="noStrike">
                          <a:solidFill>
                            <a:srgbClr val="000000"/>
                          </a:solidFill>
                          <a:effectLst/>
                          <a:latin typeface="Arial"/>
                        </a:rPr>
                        <a:t>13</a:t>
                      </a: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r" fontAlgn="t">
                        <a:buNone/>
                      </a:pPr>
                      <a:r>
                        <a:rPr lang="en-US" sz="459" u="none" strike="noStrike">
                          <a:solidFill>
                            <a:srgbClr val="000000"/>
                          </a:solidFill>
                          <a:effectLst/>
                          <a:latin typeface="Arial"/>
                        </a:rPr>
                        <a:t>1</a:t>
                      </a:r>
                      <a:endParaRPr lang="en-US" sz="800" b="1" i="0" u="none" strike="noStrike">
                        <a:solidFill>
                          <a:srgbClr val="1F2937"/>
                        </a:solidFill>
                        <a:effectLst/>
                        <a:latin typeface="Carlito"/>
                      </a:endParaRPr>
                    </a:p>
                  </a:txBody>
                  <a:tcPr marL="3283" marR="3283" marT="3283" marB="0"/>
                </a:tc>
                <a:tc>
                  <a:txBody>
                    <a:bodyPr/>
                    <a:lstStyle/>
                    <a:p>
                      <a:pPr algn="l" fontAlgn="t">
                        <a:buNone/>
                      </a:pPr>
                      <a:r>
                        <a:rPr lang="en-US" sz="459" u="none" strike="noStrike" dirty="0">
                          <a:solidFill>
                            <a:srgbClr val="000000"/>
                          </a:solidFill>
                          <a:effectLst/>
                          <a:latin typeface="Arial"/>
                        </a:rPr>
                        <a:t>Japan</a:t>
                      </a:r>
                      <a:endParaRPr lang="en-US" sz="800" b="1" i="0" u="none" strike="noStrike" dirty="0">
                        <a:solidFill>
                          <a:srgbClr val="1F2937"/>
                        </a:solidFill>
                        <a:effectLst/>
                        <a:latin typeface="Carlito"/>
                      </a:endParaRPr>
                    </a:p>
                  </a:txBody>
                  <a:tcPr marL="3283" marR="3283" marT="3283" marB="0"/>
                </a:tc>
                <a:tc>
                  <a:txBody>
                    <a:bodyPr/>
                    <a:lstStyle/>
                    <a:p>
                      <a:pPr algn="l" fontAlgn="t">
                        <a:buNone/>
                      </a:pPr>
                      <a:r>
                        <a:rPr lang="en-US" sz="459" u="none" strike="noStrike" dirty="0">
                          <a:solidFill>
                            <a:srgbClr val="000000"/>
                          </a:solidFill>
                          <a:effectLst/>
                          <a:latin typeface="Arial"/>
                        </a:rPr>
                        <a:t>NICT — World Data Center for Ionosphere &amp; Space Weather</a:t>
                      </a:r>
                      <a:endParaRPr lang="en-US" sz="800" b="1" i="0" u="none" strike="noStrike" dirty="0">
                        <a:solidFill>
                          <a:srgbClr val="1F2937"/>
                        </a:solidFill>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Space weather / ionosphere / solar-flare effects</a:t>
                      </a:r>
                      <a:endParaRPr lang="en-US" sz="800" b="1" i="0" u="none" strike="noStrike">
                        <a:solidFill>
                          <a:srgbClr val="1F2937"/>
                        </a:solidFill>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Wave 1</a:t>
                      </a:r>
                      <a:endParaRPr lang="en-US" sz="800" b="1" i="0" u="none" strike="noStrike">
                        <a:solidFill>
                          <a:srgbClr val="1F2937"/>
                        </a:solidFill>
                        <a:effectLst/>
                        <a:latin typeface="Carlito"/>
                      </a:endParaRPr>
                    </a:p>
                  </a:txBody>
                  <a:tcPr marL="3283" marR="3283" marT="3283" marB="0"/>
                </a:tc>
                <a:extLst>
                  <a:ext uri="{0D108BD9-81ED-4DB2-BD59-A6C34878D82A}">
                    <a16:rowId xmlns:a16="http://schemas.microsoft.com/office/drawing/2014/main" val="1817659501"/>
                  </a:ext>
                </a:extLst>
              </a:tr>
              <a:tr h="286800">
                <a:tc>
                  <a:txBody>
                    <a:bodyPr/>
                    <a:lstStyle/>
                    <a:p>
                      <a:pPr algn="l" fontAlgn="b">
                        <a:buNone/>
                      </a:pPr>
                      <a:r>
                        <a:rPr lang="en-US" sz="459" u="none" strike="noStrike">
                          <a:solidFill>
                            <a:srgbClr val="000000"/>
                          </a:solidFill>
                          <a:effectLst/>
                          <a:latin typeface="Arial"/>
                        </a:rPr>
                        <a:t>Tier 1 — Primary</a:t>
                      </a:r>
                      <a:endParaRPr lang="en-US" sz="800" b="0" i="0" u="none" strike="noStrike">
                        <a:effectLst/>
                        <a:latin typeface="Carlito"/>
                      </a:endParaRPr>
                    </a:p>
                  </a:txBody>
                  <a:tcPr marL="3283" marR="3283" marT="3283" marB="0" anchor="b"/>
                </a:tc>
                <a:tc>
                  <a:txBody>
                    <a:bodyPr/>
                    <a:lstStyle/>
                    <a:p>
                      <a:pPr algn="r" fontAlgn="b">
                        <a:buNone/>
                      </a:pPr>
                      <a:r>
                        <a:rPr lang="en-US" sz="459" u="none" strike="noStrike">
                          <a:solidFill>
                            <a:srgbClr val="000000"/>
                          </a:solidFill>
                          <a:effectLst/>
                          <a:latin typeface="Arial"/>
                        </a:rPr>
                        <a:t>6</a:t>
                      </a: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r" fontAlgn="t">
                        <a:buNone/>
                      </a:pPr>
                      <a:r>
                        <a:rPr lang="en-US" sz="459" u="none" strike="noStrike">
                          <a:solidFill>
                            <a:srgbClr val="000000"/>
                          </a:solidFill>
                          <a:effectLst/>
                          <a:latin typeface="Arial"/>
                        </a:rPr>
                        <a:t>2</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Canada</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University of Victoria — Starlink@PanLab / LENS</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LEO latency / one-way delay / network performance</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Wave 1</a:t>
                      </a:r>
                      <a:endParaRPr lang="en-US" sz="800" b="0" i="0" u="none" strike="noStrike">
                        <a:effectLst/>
                        <a:latin typeface="Carlito"/>
                      </a:endParaRPr>
                    </a:p>
                  </a:txBody>
                  <a:tcPr marL="3283" marR="3283" marT="3283" marB="0"/>
                </a:tc>
                <a:extLst>
                  <a:ext uri="{0D108BD9-81ED-4DB2-BD59-A6C34878D82A}">
                    <a16:rowId xmlns:a16="http://schemas.microsoft.com/office/drawing/2014/main" val="138079166"/>
                  </a:ext>
                </a:extLst>
              </a:tr>
              <a:tr h="286800">
                <a:tc>
                  <a:txBody>
                    <a:bodyPr/>
                    <a:lstStyle/>
                    <a:p>
                      <a:pPr algn="l" fontAlgn="b">
                        <a:buNone/>
                      </a:pPr>
                      <a:r>
                        <a:rPr lang="en-US" sz="459" u="none" strike="noStrike">
                          <a:solidFill>
                            <a:srgbClr val="000000"/>
                          </a:solidFill>
                          <a:effectLst/>
                          <a:latin typeface="Arial"/>
                        </a:rPr>
                        <a:t>Tier 2 — Secondary</a:t>
                      </a:r>
                      <a:endParaRPr lang="en-US" sz="800" b="0" i="0" u="none" strike="noStrike">
                        <a:effectLst/>
                        <a:latin typeface="Carlito"/>
                      </a:endParaRPr>
                    </a:p>
                  </a:txBody>
                  <a:tcPr marL="3283" marR="3283" marT="3283" marB="0" anchor="b"/>
                </a:tc>
                <a:tc>
                  <a:txBody>
                    <a:bodyPr/>
                    <a:lstStyle/>
                    <a:p>
                      <a:pPr algn="r" fontAlgn="b">
                        <a:buNone/>
                      </a:pPr>
                      <a:r>
                        <a:rPr lang="en-US" sz="459" u="none" strike="noStrike">
                          <a:solidFill>
                            <a:srgbClr val="000000"/>
                          </a:solidFill>
                          <a:effectLst/>
                          <a:latin typeface="Arial"/>
                        </a:rPr>
                        <a:t>4</a:t>
                      </a: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r" fontAlgn="t">
                        <a:buNone/>
                      </a:pPr>
                      <a:r>
                        <a:rPr lang="en-US" sz="459" u="none" strike="noStrike">
                          <a:solidFill>
                            <a:srgbClr val="000000"/>
                          </a:solidFill>
                          <a:effectLst/>
                          <a:latin typeface="Arial"/>
                        </a:rPr>
                        <a:t>3</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Germany / Netherlands</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WetLinks — Osnabrück University / University of Twente</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Starlink RTT / packet loss / throughput / traceroute / weather</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Wave 1</a:t>
                      </a:r>
                      <a:endParaRPr lang="en-US" sz="800" b="0" i="0" u="none" strike="noStrike">
                        <a:effectLst/>
                        <a:latin typeface="Carlito"/>
                      </a:endParaRPr>
                    </a:p>
                  </a:txBody>
                  <a:tcPr marL="3283" marR="3283" marT="3283" marB="0"/>
                </a:tc>
                <a:extLst>
                  <a:ext uri="{0D108BD9-81ED-4DB2-BD59-A6C34878D82A}">
                    <a16:rowId xmlns:a16="http://schemas.microsoft.com/office/drawing/2014/main" val="1739662848"/>
                  </a:ext>
                </a:extLst>
              </a:tr>
              <a:tr h="286800">
                <a:tc>
                  <a:txBody>
                    <a:bodyPr/>
                    <a:lstStyle/>
                    <a:p>
                      <a:pPr algn="l" fontAlgn="b">
                        <a:buNone/>
                      </a:pPr>
                      <a:r>
                        <a:rPr lang="en-US" sz="459" u="none" strike="noStrike">
                          <a:solidFill>
                            <a:srgbClr val="000000"/>
                          </a:solidFill>
                          <a:effectLst/>
                          <a:latin typeface="Arial"/>
                        </a:rPr>
                        <a:t>Tier 3 — Supporting</a:t>
                      </a:r>
                      <a:endParaRPr lang="en-US" sz="800" b="0" i="0" u="none" strike="noStrike">
                        <a:effectLst/>
                        <a:latin typeface="Carlito"/>
                      </a:endParaRPr>
                    </a:p>
                  </a:txBody>
                  <a:tcPr marL="3283" marR="3283" marT="3283" marB="0" anchor="b"/>
                </a:tc>
                <a:tc>
                  <a:txBody>
                    <a:bodyPr/>
                    <a:lstStyle/>
                    <a:p>
                      <a:pPr algn="r" fontAlgn="b">
                        <a:buNone/>
                      </a:pPr>
                      <a:r>
                        <a:rPr lang="en-US" sz="459" u="none" strike="noStrike">
                          <a:solidFill>
                            <a:srgbClr val="000000"/>
                          </a:solidFill>
                          <a:effectLst/>
                          <a:latin typeface="Arial"/>
                        </a:rPr>
                        <a:t>3</a:t>
                      </a: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r" fontAlgn="t">
                        <a:buNone/>
                      </a:pPr>
                      <a:r>
                        <a:rPr lang="en-US" sz="459" u="none" strike="noStrike">
                          <a:solidFill>
                            <a:srgbClr val="000000"/>
                          </a:solidFill>
                          <a:effectLst/>
                          <a:latin typeface="Arial"/>
                        </a:rPr>
                        <a:t>4</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Netherlands</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RIPE NCC — RIPE Atlas</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Independent active Internet measurements / ping / traceroute</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Wave 1</a:t>
                      </a:r>
                      <a:endParaRPr lang="en-US" sz="800" b="0" i="0" u="none" strike="noStrike">
                        <a:effectLst/>
                        <a:latin typeface="Carlito"/>
                      </a:endParaRPr>
                    </a:p>
                  </a:txBody>
                  <a:tcPr marL="3283" marR="3283" marT="3283" marB="0"/>
                </a:tc>
                <a:extLst>
                  <a:ext uri="{0D108BD9-81ED-4DB2-BD59-A6C34878D82A}">
                    <a16:rowId xmlns:a16="http://schemas.microsoft.com/office/drawing/2014/main" val="2676985935"/>
                  </a:ext>
                </a:extLst>
              </a:tr>
              <a:tr h="286800">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r" fontAlgn="t">
                        <a:buNone/>
                      </a:pPr>
                      <a:r>
                        <a:rPr lang="en-US" sz="459" u="none" strike="noStrike">
                          <a:solidFill>
                            <a:srgbClr val="000000"/>
                          </a:solidFill>
                          <a:effectLst/>
                          <a:latin typeface="Arial"/>
                        </a:rPr>
                        <a:t>5</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New Zealand</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University of Otago — Solar Tsunamis / MANA Network</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Geomagnetic observations / Southern Hemisphere environmental stress</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Wave 1</a:t>
                      </a:r>
                      <a:endParaRPr lang="en-US" sz="800" b="0" i="0" u="none" strike="noStrike">
                        <a:effectLst/>
                        <a:latin typeface="Carlito"/>
                      </a:endParaRPr>
                    </a:p>
                  </a:txBody>
                  <a:tcPr marL="3283" marR="3283" marT="3283" marB="0"/>
                </a:tc>
                <a:extLst>
                  <a:ext uri="{0D108BD9-81ED-4DB2-BD59-A6C34878D82A}">
                    <a16:rowId xmlns:a16="http://schemas.microsoft.com/office/drawing/2014/main" val="198794100"/>
                  </a:ext>
                </a:extLst>
              </a:tr>
              <a:tr h="286800">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r" fontAlgn="t">
                        <a:buNone/>
                      </a:pPr>
                      <a:r>
                        <a:rPr lang="en-US" sz="459" u="none" strike="noStrike">
                          <a:solidFill>
                            <a:srgbClr val="000000"/>
                          </a:solidFill>
                          <a:effectLst/>
                          <a:latin typeface="Arial"/>
                        </a:rPr>
                        <a:t>6</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New Zealand</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Earth Sciences New Zealand — Geomagnetism Project</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Geomagnetic observatory / INTERMAGNET / Scott Base context</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Wave 1</a:t>
                      </a:r>
                      <a:endParaRPr lang="en-US" sz="800" b="0" i="0" u="none" strike="noStrike">
                        <a:effectLst/>
                        <a:latin typeface="Carlito"/>
                      </a:endParaRPr>
                    </a:p>
                  </a:txBody>
                  <a:tcPr marL="3283" marR="3283" marT="3283" marB="0"/>
                </a:tc>
                <a:extLst>
                  <a:ext uri="{0D108BD9-81ED-4DB2-BD59-A6C34878D82A}">
                    <a16:rowId xmlns:a16="http://schemas.microsoft.com/office/drawing/2014/main" val="528936872"/>
                  </a:ext>
                </a:extLst>
              </a:tr>
              <a:tr h="145305">
                <a:tc>
                  <a:txBody>
                    <a:bodyPr/>
                    <a:lstStyle/>
                    <a:p>
                      <a:pPr algn="l" fontAlgn="b">
                        <a:buNone/>
                      </a:pPr>
                      <a:r>
                        <a:rPr lang="en-US" sz="459" b="1" u="none" strike="noStrike">
                          <a:solidFill>
                            <a:srgbClr val="000000"/>
                          </a:solidFill>
                          <a:effectLst/>
                          <a:latin typeface="Arial"/>
                        </a:rPr>
                        <a:t>Color</a:t>
                      </a:r>
                      <a:endParaRPr lang="en-US" sz="800" b="1" i="0" u="none" strike="noStrike">
                        <a:solidFill>
                          <a:srgbClr val="FFFFFF"/>
                        </a:solidFill>
                        <a:effectLst/>
                        <a:latin typeface="Carlito"/>
                      </a:endParaRPr>
                    </a:p>
                  </a:txBody>
                  <a:tcPr marL="3283" marR="3283" marT="3283" marB="0" anchor="b"/>
                </a:tc>
                <a:tc>
                  <a:txBody>
                    <a:bodyPr/>
                    <a:lstStyle/>
                    <a:p>
                      <a:pPr algn="l" fontAlgn="b">
                        <a:buNone/>
                      </a:pPr>
                      <a:r>
                        <a:rPr lang="en-US" sz="459" b="1" u="none" strike="noStrike">
                          <a:solidFill>
                            <a:srgbClr val="000000"/>
                          </a:solidFill>
                          <a:effectLst/>
                          <a:latin typeface="Arial"/>
                        </a:rPr>
                        <a:t>Meaning</a:t>
                      </a:r>
                      <a:endParaRPr lang="en-US" sz="800" b="1" i="0" u="none" strike="noStrike">
                        <a:solidFill>
                          <a:srgbClr val="FFFFFF"/>
                        </a:solidFill>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extLst>
                  <a:ext uri="{0D108BD9-81ED-4DB2-BD59-A6C34878D82A}">
                    <a16:rowId xmlns:a16="http://schemas.microsoft.com/office/drawing/2014/main" val="984803452"/>
                  </a:ext>
                </a:extLst>
              </a:tr>
              <a:tr h="286800">
                <a:tc>
                  <a:txBody>
                    <a:bodyPr/>
                    <a:lstStyle/>
                    <a:p>
                      <a:pPr algn="l" fontAlgn="b">
                        <a:buNone/>
                      </a:pPr>
                      <a:r>
                        <a:rPr lang="en-US" sz="459" u="none" strike="noStrike">
                          <a:solidFill>
                            <a:srgbClr val="000000"/>
                          </a:solidFill>
                          <a:effectLst/>
                          <a:latin typeface="Arial"/>
                        </a:rPr>
                        <a:t>Tier 1</a:t>
                      </a:r>
                      <a:endParaRPr lang="en-US" sz="800" b="0" i="0" u="none" strike="noStrike">
                        <a:effectLst/>
                        <a:latin typeface="Carlito"/>
                      </a:endParaRPr>
                    </a:p>
                  </a:txBody>
                  <a:tcPr marL="3283" marR="3283" marT="3283" marB="0" anchor="b"/>
                </a:tc>
                <a:tc>
                  <a:txBody>
                    <a:bodyPr/>
                    <a:lstStyle/>
                    <a:p>
                      <a:pPr algn="l" fontAlgn="b">
                        <a:buNone/>
                      </a:pPr>
                      <a:r>
                        <a:rPr lang="en-US" sz="459" u="none" strike="noStrike">
                          <a:solidFill>
                            <a:srgbClr val="000000"/>
                          </a:solidFill>
                          <a:effectLst/>
                          <a:latin typeface="Arial"/>
                        </a:rPr>
                        <a:t>Primary outreach — material value to model/data/V&amp;V</a:t>
                      </a: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extLst>
                  <a:ext uri="{0D108BD9-81ED-4DB2-BD59-A6C34878D82A}">
                    <a16:rowId xmlns:a16="http://schemas.microsoft.com/office/drawing/2014/main" val="2616048449"/>
                  </a:ext>
                </a:extLst>
              </a:tr>
              <a:tr h="286800">
                <a:tc>
                  <a:txBody>
                    <a:bodyPr/>
                    <a:lstStyle/>
                    <a:p>
                      <a:pPr algn="l" fontAlgn="b">
                        <a:buNone/>
                      </a:pPr>
                      <a:r>
                        <a:rPr lang="en-US" sz="459" u="none" strike="noStrike">
                          <a:solidFill>
                            <a:srgbClr val="000000"/>
                          </a:solidFill>
                          <a:effectLst/>
                          <a:latin typeface="Arial"/>
                        </a:rPr>
                        <a:t>Tier 2</a:t>
                      </a:r>
                      <a:endParaRPr lang="en-US" sz="800" b="0" i="0" u="none" strike="noStrike">
                        <a:effectLst/>
                        <a:latin typeface="Carlito"/>
                      </a:endParaRPr>
                    </a:p>
                  </a:txBody>
                  <a:tcPr marL="3283" marR="3283" marT="3283" marB="0" anchor="b"/>
                </a:tc>
                <a:tc>
                  <a:txBody>
                    <a:bodyPr/>
                    <a:lstStyle/>
                    <a:p>
                      <a:pPr algn="l" fontAlgn="b">
                        <a:buNone/>
                      </a:pPr>
                      <a:r>
                        <a:rPr lang="en-US" sz="459" u="none" strike="noStrike">
                          <a:solidFill>
                            <a:srgbClr val="000000"/>
                          </a:solidFill>
                          <a:effectLst/>
                          <a:latin typeface="Arial"/>
                        </a:rPr>
                        <a:t>Secondary wave — cross-validation / operational interpretation</a:t>
                      </a: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extLst>
                  <a:ext uri="{0D108BD9-81ED-4DB2-BD59-A6C34878D82A}">
                    <a16:rowId xmlns:a16="http://schemas.microsoft.com/office/drawing/2014/main" val="3400409357"/>
                  </a:ext>
                </a:extLst>
              </a:tr>
              <a:tr h="286800">
                <a:tc>
                  <a:txBody>
                    <a:bodyPr/>
                    <a:lstStyle/>
                    <a:p>
                      <a:pPr algn="l" fontAlgn="b">
                        <a:buNone/>
                      </a:pPr>
                      <a:r>
                        <a:rPr lang="en-US" sz="459" u="none" strike="noStrike">
                          <a:solidFill>
                            <a:srgbClr val="000000"/>
                          </a:solidFill>
                          <a:effectLst/>
                          <a:latin typeface="Arial"/>
                        </a:rPr>
                        <a:t>Tier 3</a:t>
                      </a:r>
                      <a:endParaRPr lang="en-US" sz="800" b="0" i="0" u="none" strike="noStrike">
                        <a:effectLst/>
                        <a:latin typeface="Carlito"/>
                      </a:endParaRPr>
                    </a:p>
                  </a:txBody>
                  <a:tcPr marL="3283" marR="3283" marT="3283" marB="0" anchor="b"/>
                </a:tc>
                <a:tc>
                  <a:txBody>
                    <a:bodyPr/>
                    <a:lstStyle/>
                    <a:p>
                      <a:pPr algn="l" fontAlgn="b">
                        <a:buNone/>
                      </a:pPr>
                      <a:r>
                        <a:rPr lang="en-US" sz="459" u="none" strike="noStrike">
                          <a:solidFill>
                            <a:srgbClr val="000000"/>
                          </a:solidFill>
                          <a:effectLst/>
                          <a:latin typeface="Arial"/>
                        </a:rPr>
                        <a:t>Supporting — contextual, referral, or lower marginal value</a:t>
                      </a: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extLst>
                  <a:ext uri="{0D108BD9-81ED-4DB2-BD59-A6C34878D82A}">
                    <a16:rowId xmlns:a16="http://schemas.microsoft.com/office/drawing/2014/main" val="1060977965"/>
                  </a:ext>
                </a:extLst>
              </a:tr>
              <a:tr h="145305">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tc>
                  <a:txBody>
                    <a:bodyPr/>
                    <a:lstStyle/>
                    <a:p>
                      <a:pPr algn="l" fontAlgn="b">
                        <a:buNone/>
                      </a:pPr>
                      <a:endParaRPr lang="en-US" sz="800" b="0" i="0" u="none" strike="noStrike">
                        <a:effectLst/>
                        <a:latin typeface="Carlito"/>
                      </a:endParaRPr>
                    </a:p>
                  </a:txBody>
                  <a:tcPr marL="3283" marR="3283" marT="3283" marB="0" anchor="b"/>
                </a:tc>
                <a:extLst>
                  <a:ext uri="{0D108BD9-81ED-4DB2-BD59-A6C34878D82A}">
                    <a16:rowId xmlns:a16="http://schemas.microsoft.com/office/drawing/2014/main" val="584840930"/>
                  </a:ext>
                </a:extLst>
              </a:tr>
              <a:tr h="162871">
                <a:tc gridSpan="8">
                  <a:txBody>
                    <a:bodyPr/>
                    <a:lstStyle/>
                    <a:p>
                      <a:pPr algn="l" fontAlgn="ctr">
                        <a:buNone/>
                      </a:pPr>
                      <a:r>
                        <a:rPr lang="en-US" sz="459" u="none" strike="noStrike">
                          <a:solidFill>
                            <a:srgbClr val="000000"/>
                          </a:solidFill>
                          <a:effectLst/>
                          <a:latin typeface="Arial"/>
                        </a:rPr>
                        <a:t>Top table: priority planning. Below: actual six-country postal outreach of August 17. Shared WetLinks coverage is not counted as a separate Dutch reply.</a:t>
                      </a:r>
                      <a:endParaRPr lang="en-US" sz="700" b="0" i="0" u="none" strike="noStrike">
                        <a:solidFill>
                          <a:srgbClr val="1F2937"/>
                        </a:solidFill>
                        <a:effectLst/>
                        <a:latin typeface="Carlito"/>
                      </a:endParaRPr>
                    </a:p>
                  </a:txBody>
                  <a:tcPr marL="3283" marR="3283" marT="3283"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7347550"/>
                  </a:ext>
                </a:extLst>
              </a:tr>
              <a:tr h="162992">
                <a:tc gridSpan="8">
                  <a:txBody>
                    <a:bodyPr/>
                    <a:lstStyle/>
                    <a:p>
                      <a:pPr algn="l" fontAlgn="ctr">
                        <a:buNone/>
                      </a:pPr>
                      <a:r>
                        <a:rPr sz="459" b="1">
                          <a:solidFill>
                            <a:srgbClr val="000000"/>
                          </a:solidFill>
                          <a:latin typeface="Arial"/>
                        </a:rPr>
                        <a:t>FIRST-WAVE RESPONSE STATUS — SEPTEMBER 16, 2026</a:t>
                      </a:r>
                      <a:endParaRPr lang="en-US" sz="900" b="1" i="0" u="none" strike="noStrike">
                        <a:solidFill>
                          <a:srgbClr val="FFFFFF"/>
                        </a:solidFill>
                        <a:effectLst/>
                        <a:latin typeface="Carlito"/>
                      </a:endParaRPr>
                    </a:p>
                  </a:txBody>
                  <a:tcPr marL="3283" marR="3283" marT="3283"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44104453"/>
                  </a:ext>
                </a:extLst>
              </a:tr>
              <a:tr h="162871">
                <a:tc>
                  <a:txBody>
                    <a:bodyPr/>
                    <a:lstStyle/>
                    <a:p>
                      <a:pPr algn="l" fontAlgn="ctr">
                        <a:buNone/>
                      </a:pPr>
                      <a:r>
                        <a:rPr sz="459" b="1">
                          <a:solidFill>
                            <a:srgbClr val="000000"/>
                          </a:solidFill>
                          <a:latin typeface="Arial"/>
                        </a:rPr>
                        <a:t>Packets mailed</a:t>
                      </a:r>
                      <a:endParaRPr lang="en-US" sz="700" b="0" i="0" u="none" strike="noStrike">
                        <a:solidFill>
                          <a:srgbClr val="1F2937"/>
                        </a:solidFill>
                        <a:effectLst/>
                        <a:latin typeface="Carlito"/>
                      </a:endParaRPr>
                    </a:p>
                  </a:txBody>
                  <a:tcPr marL="3283" marR="3283" marT="3283" marB="0" anchor="ctr"/>
                </a:tc>
                <a:tc>
                  <a:txBody>
                    <a:bodyPr/>
                    <a:lstStyle/>
                    <a:p>
                      <a:pPr algn="ctr" fontAlgn="ctr">
                        <a:buNone/>
                      </a:pPr>
                      <a:r>
                        <a:rPr sz="459" b="0">
                          <a:solidFill>
                            <a:srgbClr val="000000"/>
                          </a:solidFill>
                          <a:latin typeface="Arial"/>
                        </a:rPr>
                        <a:t>6</a:t>
                      </a:r>
                      <a:endParaRPr lang="en-US" sz="700" b="1" i="0" u="none" strike="noStrike">
                        <a:solidFill>
                          <a:srgbClr val="17365D"/>
                        </a:solidFill>
                        <a:effectLst/>
                        <a:latin typeface="Carlito"/>
                      </a:endParaRPr>
                    </a:p>
                  </a:txBody>
                  <a:tcPr marL="3283" marR="3283" marT="3283" marB="0" anchor="ctr"/>
                </a:tc>
                <a:tc>
                  <a:txBody>
                    <a:bodyPr/>
                    <a:lstStyle/>
                    <a:p>
                      <a:pPr algn="l" fontAlgn="ctr">
                        <a:buNone/>
                      </a:pPr>
                      <a:r>
                        <a:rPr sz="459" b="1">
                          <a:solidFill>
                            <a:srgbClr val="000000"/>
                          </a:solidFill>
                          <a:latin typeface="Arial"/>
                        </a:rPr>
                        <a:t>Direct replies</a:t>
                      </a:r>
                      <a:endParaRPr lang="en-US" sz="700" b="0" i="0" u="none" strike="noStrike">
                        <a:solidFill>
                          <a:srgbClr val="1F2937"/>
                        </a:solidFill>
                        <a:effectLst/>
                        <a:latin typeface="Carlito"/>
                      </a:endParaRPr>
                    </a:p>
                  </a:txBody>
                  <a:tcPr marL="3283" marR="3283" marT="3283" marB="0" anchor="ctr"/>
                </a:tc>
                <a:tc>
                  <a:txBody>
                    <a:bodyPr/>
                    <a:lstStyle/>
                    <a:p>
                      <a:pPr algn="ctr" fontAlgn="ctr">
                        <a:buNone/>
                      </a:pPr>
                      <a:r>
                        <a:rPr sz="459" b="0">
                          <a:solidFill>
                            <a:srgbClr val="000000"/>
                          </a:solidFill>
                          <a:latin typeface="Arial"/>
                        </a:rPr>
                        <a:t>5</a:t>
                      </a:r>
                      <a:endParaRPr lang="en-US" sz="700" b="1" i="0" u="none" strike="noStrike">
                        <a:solidFill>
                          <a:srgbClr val="17365D"/>
                        </a:solidFill>
                        <a:effectLst/>
                        <a:latin typeface="Carlito"/>
                      </a:endParaRPr>
                    </a:p>
                  </a:txBody>
                  <a:tcPr marL="3283" marR="3283" marT="3283" marB="0" anchor="ctr"/>
                </a:tc>
                <a:tc>
                  <a:txBody>
                    <a:bodyPr/>
                    <a:lstStyle/>
                    <a:p>
                      <a:pPr algn="l" fontAlgn="ctr">
                        <a:buNone/>
                      </a:pPr>
                      <a:r>
                        <a:rPr sz="459" b="1">
                          <a:solidFill>
                            <a:srgbClr val="000000"/>
                          </a:solidFill>
                          <a:latin typeface="Arial"/>
                        </a:rPr>
                        <a:t>Auto-reply only</a:t>
                      </a:r>
                      <a:endParaRPr lang="en-US" sz="700" b="0" i="0" u="none" strike="noStrike">
                        <a:solidFill>
                          <a:srgbClr val="1F2937"/>
                        </a:solidFill>
                        <a:effectLst/>
                        <a:latin typeface="Carlito"/>
                      </a:endParaRPr>
                    </a:p>
                  </a:txBody>
                  <a:tcPr marL="3283" marR="3283" marT="3283" marB="0" anchor="ctr"/>
                </a:tc>
                <a:tc>
                  <a:txBody>
                    <a:bodyPr/>
                    <a:lstStyle/>
                    <a:p>
                      <a:pPr algn="ctr" fontAlgn="ctr">
                        <a:buNone/>
                      </a:pPr>
                      <a:r>
                        <a:rPr sz="459" b="0">
                          <a:solidFill>
                            <a:srgbClr val="000000"/>
                          </a:solidFill>
                          <a:latin typeface="Arial"/>
                        </a:rPr>
                        <a:t>0</a:t>
                      </a:r>
                      <a:endParaRPr lang="en-US" sz="700" b="1" i="0" u="none" strike="noStrike">
                        <a:solidFill>
                          <a:srgbClr val="17365D"/>
                        </a:solidFill>
                        <a:effectLst/>
                        <a:latin typeface="Carlito"/>
                      </a:endParaRPr>
                    </a:p>
                  </a:txBody>
                  <a:tcPr marL="3283" marR="3283" marT="3283" marB="0" anchor="ctr"/>
                </a:tc>
                <a:tc>
                  <a:txBody>
                    <a:bodyPr/>
                    <a:lstStyle/>
                    <a:p>
                      <a:pPr algn="l" fontAlgn="ctr">
                        <a:buNone/>
                      </a:pPr>
                      <a:r>
                        <a:rPr sz="459" b="1">
                          <a:solidFill>
                            <a:srgbClr val="000000"/>
                          </a:solidFill>
                          <a:latin typeface="Arial"/>
                        </a:rPr>
                        <a:t>Archive-link replies</a:t>
                      </a:r>
                      <a:endParaRPr lang="en-US" sz="700" b="0" i="0" u="none" strike="noStrike">
                        <a:solidFill>
                          <a:srgbClr val="1F2937"/>
                        </a:solidFill>
                        <a:effectLst/>
                        <a:latin typeface="Carlito"/>
                      </a:endParaRPr>
                    </a:p>
                  </a:txBody>
                  <a:tcPr marL="3283" marR="3283" marT="3283" marB="0" anchor="ctr"/>
                </a:tc>
                <a:tc>
                  <a:txBody>
                    <a:bodyPr/>
                    <a:lstStyle/>
                    <a:p>
                      <a:pPr algn="ctr" fontAlgn="ctr">
                        <a:buNone/>
                      </a:pPr>
                      <a:r>
                        <a:rPr sz="459" b="0">
                          <a:solidFill>
                            <a:srgbClr val="000000"/>
                          </a:solidFill>
                          <a:latin typeface="Arial"/>
                        </a:rPr>
                        <a:t>3</a:t>
                      </a:r>
                      <a:endParaRPr lang="en-US" sz="700" b="1" i="0" u="none" strike="noStrike">
                        <a:solidFill>
                          <a:srgbClr val="17365D"/>
                        </a:solidFill>
                        <a:effectLst/>
                        <a:latin typeface="Carlito"/>
                      </a:endParaRPr>
                    </a:p>
                  </a:txBody>
                  <a:tcPr marL="3283" marR="3283" marT="3283" marB="0" anchor="ctr"/>
                </a:tc>
                <a:extLst>
                  <a:ext uri="{0D108BD9-81ED-4DB2-BD59-A6C34878D82A}">
                    <a16:rowId xmlns:a16="http://schemas.microsoft.com/office/drawing/2014/main" val="857589230"/>
                  </a:ext>
                </a:extLst>
              </a:tr>
              <a:tr h="145305">
                <a:tc>
                  <a:txBody>
                    <a:bodyPr/>
                    <a:lstStyle/>
                    <a:p>
                      <a:pPr algn="ctr" fontAlgn="ctr">
                        <a:buNone/>
                      </a:pPr>
                      <a:r>
                        <a:rPr lang="en-US" sz="459" b="1" u="none" strike="noStrike">
                          <a:solidFill>
                            <a:srgbClr val="000000"/>
                          </a:solidFill>
                          <a:effectLst/>
                          <a:latin typeface="Arial"/>
                        </a:rPr>
                        <a:t>Country</a:t>
                      </a:r>
                      <a:endParaRPr lang="en-US" sz="800" b="1" i="0" u="none" strike="noStrike">
                        <a:solidFill>
                          <a:srgbClr val="FFFFFF"/>
                        </a:solidFill>
                        <a:effectLst/>
                        <a:latin typeface="Carlito"/>
                      </a:endParaRPr>
                    </a:p>
                  </a:txBody>
                  <a:tcPr marL="3283" marR="3283" marT="3283" marB="0" anchor="ctr"/>
                </a:tc>
                <a:tc>
                  <a:txBody>
                    <a:bodyPr/>
                    <a:lstStyle/>
                    <a:p>
                      <a:pPr algn="ctr" fontAlgn="ctr">
                        <a:buNone/>
                      </a:pPr>
                      <a:r>
                        <a:rPr lang="en-US" sz="459" b="1" u="none" strike="noStrike">
                          <a:solidFill>
                            <a:srgbClr val="000000"/>
                          </a:solidFill>
                          <a:effectLst/>
                          <a:latin typeface="Arial"/>
                        </a:rPr>
                        <a:t>Organization / Contact</a:t>
                      </a:r>
                      <a:endParaRPr lang="en-US" sz="800" b="1" i="0" u="none" strike="noStrike">
                        <a:solidFill>
                          <a:srgbClr val="FFFFFF"/>
                        </a:solidFill>
                        <a:effectLst/>
                        <a:latin typeface="Carlito"/>
                      </a:endParaRPr>
                    </a:p>
                  </a:txBody>
                  <a:tcPr marL="3283" marR="3283" marT="3283" marB="0" anchor="ctr"/>
                </a:tc>
                <a:tc>
                  <a:txBody>
                    <a:bodyPr/>
                    <a:lstStyle/>
                    <a:p>
                      <a:pPr algn="ctr" fontAlgn="ctr">
                        <a:buNone/>
                      </a:pPr>
                      <a:r>
                        <a:rPr lang="en-US" sz="459" b="1" u="none" strike="noStrike">
                          <a:solidFill>
                            <a:srgbClr val="000000"/>
                          </a:solidFill>
                          <a:effectLst/>
                          <a:latin typeface="Arial"/>
                        </a:rPr>
                        <a:t>Status</a:t>
                      </a:r>
                      <a:endParaRPr lang="en-US" sz="800" b="1" i="0" u="none" strike="noStrike">
                        <a:solidFill>
                          <a:srgbClr val="FFFFFF"/>
                        </a:solidFill>
                        <a:effectLst/>
                        <a:latin typeface="Carlito"/>
                      </a:endParaRPr>
                    </a:p>
                  </a:txBody>
                  <a:tcPr marL="3283" marR="3283" marT="3283" marB="0" anchor="ctr"/>
                </a:tc>
                <a:tc>
                  <a:txBody>
                    <a:bodyPr/>
                    <a:lstStyle/>
                    <a:p>
                      <a:pPr algn="ctr" fontAlgn="ctr">
                        <a:buNone/>
                      </a:pPr>
                      <a:r>
                        <a:rPr lang="en-US" sz="459" b="1" u="none" strike="noStrike">
                          <a:solidFill>
                            <a:srgbClr val="000000"/>
                          </a:solidFill>
                          <a:effectLst/>
                          <a:latin typeface="Arial"/>
                        </a:rPr>
                        <a:t>Response date</a:t>
                      </a:r>
                      <a:endParaRPr lang="en-US" sz="800" b="1" i="0" u="none" strike="noStrike">
                        <a:solidFill>
                          <a:srgbClr val="FFFFFF"/>
                        </a:solidFill>
                        <a:effectLst/>
                        <a:latin typeface="Carlito"/>
                      </a:endParaRPr>
                    </a:p>
                  </a:txBody>
                  <a:tcPr marL="3283" marR="3283" marT="3283" marB="0" anchor="ctr"/>
                </a:tc>
                <a:tc>
                  <a:txBody>
                    <a:bodyPr/>
                    <a:lstStyle/>
                    <a:p>
                      <a:pPr algn="ctr" fontAlgn="ctr">
                        <a:buNone/>
                      </a:pPr>
                      <a:r>
                        <a:rPr lang="en-US" sz="459" b="1" u="none" strike="noStrike">
                          <a:solidFill>
                            <a:srgbClr val="000000"/>
                          </a:solidFill>
                          <a:effectLst/>
                          <a:latin typeface="Arial"/>
                        </a:rPr>
                        <a:t>Next action</a:t>
                      </a:r>
                      <a:endParaRPr lang="en-US" sz="800" b="1" i="0" u="none" strike="noStrike">
                        <a:solidFill>
                          <a:srgbClr val="FFFFFF"/>
                        </a:solidFill>
                        <a:effectLst/>
                        <a:latin typeface="Carlito"/>
                      </a:endParaRPr>
                    </a:p>
                  </a:txBody>
                  <a:tcPr marL="3283" marR="3283" marT="3283" marB="0" anchor="ctr"/>
                </a:tc>
                <a:tc>
                  <a:txBody>
                    <a:bodyPr/>
                    <a:lstStyle/>
                    <a:p>
                      <a:pPr algn="ctr" fontAlgn="ctr">
                        <a:buNone/>
                      </a:pPr>
                      <a:r>
                        <a:rPr lang="en-US" sz="459" b="1" u="none" strike="noStrike">
                          <a:solidFill>
                            <a:srgbClr val="000000"/>
                          </a:solidFill>
                          <a:effectLst/>
                          <a:latin typeface="Arial"/>
                        </a:rPr>
                        <a:t>Data status</a:t>
                      </a:r>
                      <a:endParaRPr lang="en-US" sz="800" b="1" i="0" u="none" strike="noStrike">
                        <a:solidFill>
                          <a:srgbClr val="FFFFFF"/>
                        </a:solidFill>
                        <a:effectLst/>
                        <a:latin typeface="Carlito"/>
                      </a:endParaRPr>
                    </a:p>
                  </a:txBody>
                  <a:tcPr marL="3283" marR="3283" marT="3283" marB="0" anchor="ctr"/>
                </a:tc>
                <a:tc>
                  <a:txBody>
                    <a:bodyPr/>
                    <a:lstStyle/>
                    <a:p>
                      <a:pPr algn="ctr" fontAlgn="ctr">
                        <a:buNone/>
                      </a:pPr>
                      <a:r>
                        <a:rPr lang="en-US" sz="459" b="1" u="none" strike="noStrike">
                          <a:solidFill>
                            <a:srgbClr val="000000"/>
                          </a:solidFill>
                          <a:effectLst/>
                          <a:latin typeface="Arial"/>
                        </a:rPr>
                        <a:t>Evidence / limits</a:t>
                      </a:r>
                      <a:endParaRPr lang="en-US" sz="800" b="1" i="0" u="none" strike="noStrike">
                        <a:solidFill>
                          <a:srgbClr val="FFFFFF"/>
                        </a:solidFill>
                        <a:effectLst/>
                        <a:latin typeface="Carlito"/>
                      </a:endParaRPr>
                    </a:p>
                  </a:txBody>
                  <a:tcPr marL="3283" marR="3283" marT="3283" marB="0" anchor="ctr"/>
                </a:tc>
                <a:tc>
                  <a:txBody>
                    <a:bodyPr/>
                    <a:lstStyle/>
                    <a:p>
                      <a:pPr algn="ctr" fontAlgn="ctr">
                        <a:buNone/>
                      </a:pPr>
                      <a:r>
                        <a:rPr lang="en-US" sz="459" b="1" u="none" strike="noStrike">
                          <a:solidFill>
                            <a:srgbClr val="000000"/>
                          </a:solidFill>
                          <a:effectLst/>
                          <a:latin typeface="Arial"/>
                        </a:rPr>
                        <a:t> </a:t>
                      </a:r>
                      <a:endParaRPr lang="en-US" sz="800" b="1" i="0" u="none" strike="noStrike">
                        <a:solidFill>
                          <a:srgbClr val="FFFFFF"/>
                        </a:solidFill>
                        <a:effectLst/>
                        <a:latin typeface="Carlito"/>
                      </a:endParaRPr>
                    </a:p>
                  </a:txBody>
                  <a:tcPr marL="3283" marR="3283" marT="3283" marB="0" anchor="ctr"/>
                </a:tc>
                <a:extLst>
                  <a:ext uri="{0D108BD9-81ED-4DB2-BD59-A6C34878D82A}">
                    <a16:rowId xmlns:a16="http://schemas.microsoft.com/office/drawing/2014/main" val="1437420939"/>
                  </a:ext>
                </a:extLst>
              </a:tr>
              <a:tr h="365747">
                <a:tc>
                  <a:txBody>
                    <a:bodyPr/>
                    <a:lstStyle/>
                    <a:p>
                      <a:pPr algn="l" fontAlgn="t">
                        <a:buNone/>
                      </a:pPr>
                      <a:r>
                        <a:rPr lang="en-US" sz="459" u="none" strike="noStrike">
                          <a:solidFill>
                            <a:srgbClr val="000000"/>
                          </a:solidFill>
                          <a:effectLst/>
                          <a:latin typeface="Arial"/>
                        </a:rPr>
                        <a:t>Germany</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Osnabrück University - Prof. Dr. Nils Aschenbruck</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RESPONDED</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Aug 25, 2026</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Inspect/select public files; see shared WetLinks coverage below.</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Public links received</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GitHub + dataset/paper DOI. Data/code supplied as-is.</a:t>
                      </a:r>
                      <a:endParaRPr lang="en-US" sz="800" b="0" i="0" u="none" strike="noStrike">
                        <a:effectLst/>
                        <a:latin typeface="Carlito"/>
                      </a:endParaRPr>
                    </a:p>
                  </a:txBody>
                  <a:tcPr marL="3283" marR="3283" marT="3283" marB="0"/>
                </a:tc>
                <a:tc>
                  <a:txBody>
                    <a:bodyPr/>
                    <a:lstStyle/>
                    <a:p>
                      <a:pPr algn="l" fontAlgn="t">
                        <a:buNone/>
                      </a:pPr>
                      <a:endParaRPr lang="en-US" sz="800" b="0" i="0" u="none" strike="noStrike">
                        <a:effectLst/>
                        <a:latin typeface="Carlito"/>
                      </a:endParaRPr>
                    </a:p>
                  </a:txBody>
                  <a:tcPr marL="3283" marR="3283" marT="3283" marB="0"/>
                </a:tc>
                <a:extLst>
                  <a:ext uri="{0D108BD9-81ED-4DB2-BD59-A6C34878D82A}">
                    <a16:rowId xmlns:a16="http://schemas.microsoft.com/office/drawing/2014/main" val="1741242342"/>
                  </a:ext>
                </a:extLst>
              </a:tr>
              <a:tr h="365747">
                <a:tc>
                  <a:txBody>
                    <a:bodyPr/>
                    <a:lstStyle/>
                    <a:p>
                      <a:pPr algn="l" fontAlgn="t">
                        <a:buNone/>
                      </a:pPr>
                      <a:r>
                        <a:rPr lang="en-US" sz="459" u="none" strike="noStrike">
                          <a:solidFill>
                            <a:srgbClr val="000000"/>
                          </a:solidFill>
                          <a:effectLst/>
                          <a:latin typeface="Arial"/>
                        </a:rPr>
                        <a:t>Canada</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University of Victoria - Prof. Jianping Pan</a:t>
                      </a:r>
                      <a:endParaRPr lang="en-US" sz="800" b="0" i="0" u="none" strike="noStrike">
                        <a:effectLst/>
                        <a:latin typeface="Carlito"/>
                      </a:endParaRPr>
                    </a:p>
                  </a:txBody>
                  <a:tcPr marL="3283" marR="3283" marT="3283" marB="0"/>
                </a:tc>
                <a:tc>
                  <a:txBody>
                    <a:bodyPr/>
                    <a:lstStyle/>
                    <a:p>
                      <a:pPr algn="l" fontAlgn="t">
                        <a:buNone/>
                      </a:pPr>
                      <a:r>
                        <a:rPr sz="459" b="1">
                          <a:solidFill>
                            <a:srgbClr val="000000"/>
                          </a:solidFill>
                          <a:latin typeface="Arial"/>
                        </a:rPr>
                        <a:t>RESPONDED / CLARIFICATION</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Sep 12, 2026</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Await LENS file/field guidance after field-specific clarification.</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No files yet</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Latency/loss/throughput/outage/recovery requested; public variables not confirmed.</a:t>
                      </a:r>
                      <a:endParaRPr lang="en-US" sz="800" b="0" i="0" u="none" strike="noStrike">
                        <a:effectLst/>
                        <a:latin typeface="Carlito"/>
                      </a:endParaRPr>
                    </a:p>
                  </a:txBody>
                  <a:tcPr marL="3283" marR="3283" marT="3283" marB="0"/>
                </a:tc>
                <a:tc>
                  <a:txBody>
                    <a:bodyPr/>
                    <a:lstStyle/>
                    <a:p>
                      <a:pPr algn="l" fontAlgn="t">
                        <a:buNone/>
                      </a:pPr>
                      <a:endParaRPr lang="en-US" sz="800" b="0" i="0" u="none" strike="noStrike">
                        <a:effectLst/>
                        <a:latin typeface="Carlito"/>
                      </a:endParaRPr>
                    </a:p>
                  </a:txBody>
                  <a:tcPr marL="3283" marR="3283" marT="3283" marB="0"/>
                </a:tc>
                <a:extLst>
                  <a:ext uri="{0D108BD9-81ED-4DB2-BD59-A6C34878D82A}">
                    <a16:rowId xmlns:a16="http://schemas.microsoft.com/office/drawing/2014/main" val="2750225576"/>
                  </a:ext>
                </a:extLst>
              </a:tr>
              <a:tr h="365747">
                <a:tc>
                  <a:txBody>
                    <a:bodyPr/>
                    <a:lstStyle/>
                    <a:p>
                      <a:pPr algn="l" fontAlgn="t">
                        <a:buNone/>
                      </a:pPr>
                      <a:r>
                        <a:rPr lang="en-US" sz="459" u="none" strike="noStrike">
                          <a:solidFill>
                            <a:srgbClr val="000000"/>
                          </a:solidFill>
                          <a:effectLst/>
                          <a:latin typeface="Arial"/>
                        </a:rPr>
                        <a:t>Japan</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NICT - WDC</a:t>
                      </a:r>
                      <a:endParaRPr lang="en-US" sz="800" b="0" i="0" u="none" strike="noStrike">
                        <a:effectLst/>
                        <a:latin typeface="Carlito"/>
                      </a:endParaRPr>
                    </a:p>
                  </a:txBody>
                  <a:tcPr marL="3283" marR="3283" marT="3283" marB="0"/>
                </a:tc>
                <a:tc>
                  <a:txBody>
                    <a:bodyPr/>
                    <a:lstStyle/>
                    <a:p>
                      <a:pPr algn="l" fontAlgn="t">
                        <a:buNone/>
                      </a:pPr>
                      <a:r>
                        <a:rPr sz="459" b="1">
                          <a:solidFill>
                            <a:srgbClr val="000000"/>
                          </a:solidFill>
                          <a:latin typeface="Arial"/>
                        </a:rPr>
                        <a:t>RESPONDED / CLARIFICATION</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Sep 14, 2026</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Await guidance after Japanese follow-up requesting foF2/TEC and network-data referral.</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No files yet</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NICT asked for product specifics; follow-up supplied with sample period and citation request.</a:t>
                      </a:r>
                      <a:endParaRPr lang="en-US" sz="800" b="0" i="0" u="none" strike="noStrike">
                        <a:effectLst/>
                        <a:latin typeface="Carlito"/>
                      </a:endParaRPr>
                    </a:p>
                  </a:txBody>
                  <a:tcPr marL="3283" marR="3283" marT="3283" marB="0"/>
                </a:tc>
                <a:tc>
                  <a:txBody>
                    <a:bodyPr/>
                    <a:lstStyle/>
                    <a:p>
                      <a:pPr algn="l" fontAlgn="t">
                        <a:buNone/>
                      </a:pPr>
                      <a:endParaRPr lang="en-US" sz="800" b="0" i="0" u="none" strike="noStrike">
                        <a:effectLst/>
                        <a:latin typeface="Carlito"/>
                      </a:endParaRPr>
                    </a:p>
                  </a:txBody>
                  <a:tcPr marL="3283" marR="3283" marT="3283" marB="0"/>
                </a:tc>
                <a:extLst>
                  <a:ext uri="{0D108BD9-81ED-4DB2-BD59-A6C34878D82A}">
                    <a16:rowId xmlns:a16="http://schemas.microsoft.com/office/drawing/2014/main" val="1113770901"/>
                  </a:ext>
                </a:extLst>
              </a:tr>
              <a:tr h="428296">
                <a:tc>
                  <a:txBody>
                    <a:bodyPr/>
                    <a:lstStyle/>
                    <a:p>
                      <a:pPr algn="l" fontAlgn="t">
                        <a:buNone/>
                      </a:pPr>
                      <a:r>
                        <a:rPr lang="en-US" sz="459" u="none" strike="noStrike">
                          <a:solidFill>
                            <a:srgbClr val="000000"/>
                          </a:solidFill>
                          <a:effectLst/>
                          <a:latin typeface="Arial"/>
                        </a:rPr>
                        <a:t>Netherlands</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University of Twente - shared WetLinks work</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Standing by</a:t>
                      </a:r>
                      <a:endParaRPr lang="en-US" sz="800" b="0" i="0" u="none" strike="noStrike">
                        <a:effectLst/>
                        <a:latin typeface="Carlito"/>
                      </a:endParaRPr>
                    </a:p>
                  </a:txBody>
                  <a:tcPr marL="3283" marR="3283" marT="3283" marB="0"/>
                </a:tc>
                <a:tc>
                  <a:txBody>
                    <a:bodyPr/>
                    <a:lstStyle/>
                    <a:p>
                      <a:pPr algn="l" fontAlgn="t">
                        <a:buNone/>
                      </a:pP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No separate follow-up unless a Twente-specific issue arises.</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Shared WetLinks links</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Covered by the German reply, per existing register; not an independent Dutch response.</a:t>
                      </a:r>
                      <a:endParaRPr lang="en-US" sz="800" b="0" i="0" u="none" strike="noStrike">
                        <a:effectLst/>
                        <a:latin typeface="Carlito"/>
                      </a:endParaRPr>
                    </a:p>
                  </a:txBody>
                  <a:tcPr marL="3283" marR="3283" marT="3283" marB="0"/>
                </a:tc>
                <a:tc>
                  <a:txBody>
                    <a:bodyPr/>
                    <a:lstStyle/>
                    <a:p>
                      <a:pPr algn="l" fontAlgn="t">
                        <a:buNone/>
                      </a:pPr>
                      <a:endParaRPr lang="en-US" sz="800" b="0" i="0" u="none" strike="noStrike">
                        <a:effectLst/>
                        <a:latin typeface="Carlito"/>
                      </a:endParaRPr>
                    </a:p>
                  </a:txBody>
                  <a:tcPr marL="3283" marR="3283" marT="3283" marB="0"/>
                </a:tc>
                <a:extLst>
                  <a:ext uri="{0D108BD9-81ED-4DB2-BD59-A6C34878D82A}">
                    <a16:rowId xmlns:a16="http://schemas.microsoft.com/office/drawing/2014/main" val="4161119904"/>
                  </a:ext>
                </a:extLst>
              </a:tr>
              <a:tr h="569791">
                <a:tc>
                  <a:txBody>
                    <a:bodyPr/>
                    <a:lstStyle/>
                    <a:p>
                      <a:pPr algn="l" fontAlgn="t">
                        <a:buNone/>
                      </a:pPr>
                      <a:r>
                        <a:rPr lang="en-US" sz="459" u="none" strike="noStrike">
                          <a:solidFill>
                            <a:srgbClr val="000000"/>
                          </a:solidFill>
                          <a:effectLst/>
                          <a:latin typeface="Arial"/>
                        </a:rPr>
                        <a:t>South Africa</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SANSA - Dr Mpho Tshisaphungo</a:t>
                      </a:r>
                      <a:endParaRPr lang="en-US" sz="800" b="0" i="0" u="none" strike="noStrike">
                        <a:effectLst/>
                        <a:latin typeface="Carlito"/>
                      </a:endParaRPr>
                    </a:p>
                  </a:txBody>
                  <a:tcPr marL="3283" marR="3283" marT="3283" marB="0"/>
                </a:tc>
                <a:tc>
                  <a:txBody>
                    <a:bodyPr/>
                    <a:lstStyle/>
                    <a:p>
                      <a:pPr algn="l" fontAlgn="t">
                        <a:buNone/>
                      </a:pPr>
                      <a:r>
                        <a:rPr sz="459" b="1">
                          <a:solidFill>
                            <a:srgbClr val="000000"/>
                          </a:solidFill>
                          <a:latin typeface="Arial"/>
                        </a:rPr>
                        <a:t>RESPONDED / ENVIRONMENTAL</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Sep 14, 2026</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Use Hermanus geomagnetic data if needed; no direct satellite-link metrics.</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Public geomagnetic route</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SANSA confirmed public research use/citation; no latency, packet-loss or availability data.</a:t>
                      </a:r>
                      <a:endParaRPr lang="en-US" sz="800" b="0" i="0" u="none" strike="noStrike">
                        <a:effectLst/>
                        <a:latin typeface="Carlito"/>
                      </a:endParaRPr>
                    </a:p>
                  </a:txBody>
                  <a:tcPr marL="3283" marR="3283" marT="3283" marB="0"/>
                </a:tc>
                <a:tc>
                  <a:txBody>
                    <a:bodyPr/>
                    <a:lstStyle/>
                    <a:p>
                      <a:pPr algn="l" fontAlgn="t">
                        <a:buNone/>
                      </a:pPr>
                      <a:endParaRPr lang="en-US" sz="800" b="0" i="0" u="none" strike="noStrike">
                        <a:effectLst/>
                        <a:latin typeface="Carlito"/>
                      </a:endParaRPr>
                    </a:p>
                  </a:txBody>
                  <a:tcPr marL="3283" marR="3283" marT="3283" marB="0"/>
                </a:tc>
                <a:extLst>
                  <a:ext uri="{0D108BD9-81ED-4DB2-BD59-A6C34878D82A}">
                    <a16:rowId xmlns:a16="http://schemas.microsoft.com/office/drawing/2014/main" val="2277847213"/>
                  </a:ext>
                </a:extLst>
              </a:tr>
              <a:tr h="428296">
                <a:tc>
                  <a:txBody>
                    <a:bodyPr/>
                    <a:lstStyle/>
                    <a:p>
                      <a:pPr algn="l" fontAlgn="t">
                        <a:buNone/>
                      </a:pPr>
                      <a:r>
                        <a:rPr lang="en-US" sz="459" u="none" strike="noStrike">
                          <a:solidFill>
                            <a:srgbClr val="000000"/>
                          </a:solidFill>
                          <a:effectLst/>
                          <a:latin typeface="Arial"/>
                        </a:rPr>
                        <a:t>Australia</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ASWFC / Bureau - Cassie Marshall</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RESPONDED / ARCHIVES</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Sep 13, 2026</a:t>
                      </a:r>
                      <a:endParaRPr lang="en-US" sz="800" b="0" i="0" u="none" strike="noStrike">
                        <a:effectLst/>
                        <a:latin typeface="Carlito"/>
                      </a:endParaRPr>
                    </a:p>
                  </a:txBody>
                  <a:tcPr marL="3283" marR="3283" marT="3283" marB="0"/>
                </a:tc>
                <a:tc>
                  <a:txBody>
                    <a:bodyPr/>
                    <a:lstStyle/>
                    <a:p>
                      <a:pPr algn="l" fontAlgn="t">
                        <a:buNone/>
                      </a:pPr>
                      <a:r>
                        <a:rPr sz="459">
                          <a:solidFill>
                            <a:srgbClr val="000000"/>
                          </a:solidFill>
                          <a:latin typeface="Arial"/>
                        </a:rPr>
                        <a:t>Inspect archive/API fields and usage terms; clarify regional K-index only if needed.</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Public links received</a:t>
                      </a:r>
                      <a:endParaRPr lang="en-US" sz="800" b="0" i="0" u="none" strike="noStrike">
                        <a:effectLst/>
                        <a:latin typeface="Carlito"/>
                      </a:endParaRPr>
                    </a:p>
                  </a:txBody>
                  <a:tcPr marL="3283" marR="3283" marT="3283" marB="0"/>
                </a:tc>
                <a:tc>
                  <a:txBody>
                    <a:bodyPr/>
                    <a:lstStyle/>
                    <a:p>
                      <a:pPr algn="l" fontAlgn="t">
                        <a:buNone/>
                      </a:pPr>
                      <a:r>
                        <a:rPr lang="en-US" sz="459" u="none" strike="noStrike">
                          <a:solidFill>
                            <a:srgbClr val="000000"/>
                          </a:solidFill>
                          <a:effectLst/>
                          <a:latin typeface="Arial"/>
                        </a:rPr>
                        <a:t>Eight links; citation guidance received. X-ray flux must not be attributed to Bureau.</a:t>
                      </a:r>
                      <a:endParaRPr lang="en-US" sz="800" b="0" i="0" u="none" strike="noStrike">
                        <a:effectLst/>
                        <a:latin typeface="Carlito"/>
                      </a:endParaRPr>
                    </a:p>
                  </a:txBody>
                  <a:tcPr marL="3283" marR="3283" marT="3283" marB="0"/>
                </a:tc>
                <a:tc>
                  <a:txBody>
                    <a:bodyPr/>
                    <a:lstStyle/>
                    <a:p>
                      <a:pPr algn="l" fontAlgn="t">
                        <a:buNone/>
                      </a:pPr>
                      <a:r>
                        <a:rPr lang="en-US" sz="459" u="none" strike="noStrike" dirty="0">
                          <a:solidFill>
                            <a:srgbClr val="000000"/>
                          </a:solidFill>
                          <a:effectLst/>
                          <a:latin typeface="Arial"/>
                        </a:rPr>
                        <a:t> </a:t>
                      </a:r>
                      <a:endParaRPr lang="en-US" sz="800" b="0" i="0" u="none" strike="noStrike" dirty="0">
                        <a:effectLst/>
                        <a:latin typeface="Carlito"/>
                      </a:endParaRPr>
                    </a:p>
                  </a:txBody>
                  <a:tcPr marL="3283" marR="3283" marT="3283" marB="0"/>
                </a:tc>
                <a:extLst>
                  <a:ext uri="{0D108BD9-81ED-4DB2-BD59-A6C34878D82A}">
                    <a16:rowId xmlns:a16="http://schemas.microsoft.com/office/drawing/2014/main" val="335616742"/>
                  </a:ext>
                </a:extLst>
              </a:tr>
            </a:tbl>
          </a:graphicData>
        </a:graphic>
      </p:graphicFrame>
    </p:spTree>
    <p:extLst>
      <p:ext uri="{BB962C8B-B14F-4D97-AF65-F5344CB8AC3E}">
        <p14:creationId xmlns:p14="http://schemas.microsoft.com/office/powerpoint/2010/main" val="198787155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7343</TotalTime>
  <Words>13515</Words>
  <Application>Microsoft Office PowerPoint</Application>
  <PresentationFormat>Widescreen</PresentationFormat>
  <Paragraphs>1381</Paragraphs>
  <Slides>17</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Aptos</vt:lpstr>
      <vt:lpstr>Arial</vt:lpstr>
      <vt:lpstr>Carlito</vt:lpstr>
      <vt:lpstr>Times New Roman</vt:lpstr>
      <vt:lpstr>Custom Design</vt:lpstr>
      <vt:lpstr>1_Custom Design</vt:lpstr>
      <vt:lpstr>Modeling Orbital Edge Processing in Degraded Communications</vt:lpstr>
      <vt:lpstr>Response to Advisor Feedback from previous meeting(s)</vt:lpstr>
      <vt:lpstr>Progress Since Last Meeting</vt:lpstr>
      <vt:lpstr>Issues Encountered and Setbacks</vt:lpstr>
      <vt:lpstr>Tasks for the Next Two Weeks</vt:lpstr>
      <vt:lpstr>PowerPoint Presentation</vt:lpstr>
      <vt:lpstr>Problem and Thesis Statements</vt:lpstr>
      <vt:lpstr>Research Objectives and Questions</vt:lpstr>
      <vt:lpstr>Research Hypotheses — Proposed Refinement</vt:lpstr>
      <vt:lpstr>5 Foundational References</vt:lpstr>
      <vt:lpstr>Data Sources</vt:lpstr>
      <vt:lpstr>Summary of Methodology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Healy, Devin Marie</dc:creator>
  <cp:lastModifiedBy>Carlo Nino</cp:lastModifiedBy>
  <cp:revision>38</cp:revision>
  <dcterms:created xsi:type="dcterms:W3CDTF">2020-03-10T16:22:03Z</dcterms:created>
  <dcterms:modified xsi:type="dcterms:W3CDTF">2026-09-19T18:33:34Z</dcterms:modified>
</cp:coreProperties>
</file>