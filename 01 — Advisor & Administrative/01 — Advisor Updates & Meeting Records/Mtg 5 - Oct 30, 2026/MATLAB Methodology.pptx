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8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7FAD-62B1-592B-4ADF-E8B86B960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9D965-6E09-2B0B-B02D-7FA2FA1EC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6762C-0A41-0D29-39E0-4AC39E2A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16832-695B-8C5D-FE38-97DE0DCB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E3191-E4C5-1DA0-4F7A-3AE05AE3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2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F3B4C-AD2F-F777-0C9A-9ACA9483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D290-BA21-3E2A-6E81-A116F38D2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9B409-ACFB-46A6-E662-10127932D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E426F-2921-2EF2-5112-9F6BCF66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CCE8-E339-72B6-03FD-A9C88702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2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17D16-30B2-3ED4-0755-B1BA8026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D6CB2-DE52-0114-C3F3-279016989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33759-9D1C-A9A6-B1B3-D76E2F47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023AE-442A-BD45-D74F-C9DA4C07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B446C-8F2D-987F-B05F-225D1ED0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15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FD1E4-9A72-7DA1-AFB6-D256633C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B0D12-6A69-CF19-AE4D-BE4823547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315DF-F72F-AA30-EE86-A17311004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72238-81D8-E816-15A7-3DC8886F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EC3EC-960E-D667-A32C-F52E9A00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F0B1E-57B0-5171-037A-F6801797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8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6BE9-0EF1-186F-EF34-0CDD1F2F6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9657D-A778-8031-333B-EB4FA0B29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AAD23-4932-4245-7CE5-E71FBC6E4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227D8-A262-E7ED-A1C0-354C81954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0BBD9-3D47-CE8A-180F-2C8B8FB9A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A0AF7-1849-06F1-EFEB-88CFFBD5F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96E358-C99B-2EF2-18FF-024914BFA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AFE0B-9895-7FF7-DFF5-7F01EE0C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5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9AED-73D4-A221-53E0-D0AC8682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5EFE6-CC05-76A1-5BC8-99558C27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7CB50-761D-2F10-4355-A24E3B7F9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A3808-780B-2E2A-2B8A-6F142993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74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4B1C8D-C4FE-07FB-CDBC-10A08769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E07C4-8BD2-6F86-5373-420ACA197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9FBB8-5377-E250-FBC7-F743497B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57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E915-84A6-E7F5-0999-EAF3A26C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C2B81-5377-70DE-1075-A266E5793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814C8-CD01-7379-2F8F-94574BB9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FB71-7179-2501-16AF-96A55C15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49C12-157B-7DA4-912F-6BA3DCA1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41B50-EDD1-382E-DDF4-D018A518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18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3A4D-562F-CD3D-3F43-D8F5CC7E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F909C-4195-7573-AF43-1927EC59243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D2B3B-C604-AD76-F3CF-E0DC38D5A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7DF0E-AFFF-92E4-AFB9-4CC550477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45B86-BDFE-0474-271D-6946D8CE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9EB9D-263A-750B-BC58-46A4DDC7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3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4B8D0-6B9C-EE96-86E1-B8D5521D0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57E22-5651-A34F-B115-98770154F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CB718-3D9C-369D-C005-CFFDFA8A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CCE91-D24E-AA6A-524D-71898844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D963-BD3D-80A8-A6BC-8F3C4EEC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9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AD1F2-4F91-B12C-D4E8-84BFF1D5C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BFD26-0659-23A2-C63E-6A439165F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1F1BE-5AD0-CBCB-1455-BB3A2708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6419F-0D10-2758-1172-0FC6325FD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C1FE8-4C7F-6C77-A3E9-AFC91DAA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1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A4FD00-87CD-9236-8DA7-62C8D88D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C69A9-5AA8-00F3-B914-43DA71469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0F831-23D7-7C48-02D8-84342BD44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3E0CC7-F486-4567-A0CC-76F8D910702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9AE64-2123-C520-CD5F-8A8D12E8A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0CDBE-BDF8-802F-43C3-EB19E939D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BF79A1-E98E-46EE-B8C7-AEBDEC73F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8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17A4F0-E62A-5A61-6F09-D08F0F48884A}"/>
              </a:ext>
            </a:extLst>
          </p:cNvPr>
          <p:cNvSpPr txBox="1"/>
          <p:nvPr/>
        </p:nvSpPr>
        <p:spPr>
          <a:xfrm>
            <a:off x="3041072" y="172318"/>
            <a:ext cx="559030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ACE MATLAB / </a:t>
            </a:r>
            <a:r>
              <a:rPr lang="en-US" b="1" dirty="0" err="1"/>
              <a:t>SimEvents</a:t>
            </a:r>
            <a:r>
              <a:rPr lang="en-US" b="1" dirty="0"/>
              <a:t> -  Session 5 -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B9CFE-129F-18C3-E065-977C2B9867C5}"/>
              </a:ext>
            </a:extLst>
          </p:cNvPr>
          <p:cNvSpPr txBox="1"/>
          <p:nvPr/>
        </p:nvSpPr>
        <p:spPr>
          <a:xfrm>
            <a:off x="262832" y="589146"/>
            <a:ext cx="8486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Purpose</a:t>
            </a:r>
            <a:r>
              <a:rPr lang="en-US" sz="1600" dirty="0"/>
              <a:t>: </a:t>
            </a:r>
            <a:r>
              <a:rPr lang="en-US" sz="1600" i="1" dirty="0"/>
              <a:t>replay</a:t>
            </a:r>
            <a:r>
              <a:rPr lang="en-US" sz="1600" dirty="0"/>
              <a:t> the </a:t>
            </a:r>
            <a:r>
              <a:rPr lang="en-US" sz="1600" i="1" dirty="0"/>
              <a:t>same</a:t>
            </a:r>
            <a:r>
              <a:rPr lang="en-US" sz="1600" dirty="0"/>
              <a:t> ACE observations through a </a:t>
            </a:r>
            <a:r>
              <a:rPr lang="en-US" sz="1600" dirty="0">
                <a:solidFill>
                  <a:srgbClr val="FF0000"/>
                </a:solidFill>
              </a:rPr>
              <a:t>ground-centric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path</a:t>
            </a:r>
            <a:r>
              <a:rPr lang="en-US" sz="1600" dirty="0"/>
              <a:t> and a </a:t>
            </a:r>
            <a:r>
              <a:rPr lang="en-US" sz="1600" dirty="0">
                <a:solidFill>
                  <a:schemeClr val="accent6"/>
                </a:solidFill>
              </a:rPr>
              <a:t>bounded orbital-edge path </a:t>
            </a:r>
            <a:r>
              <a:rPr lang="en-US" sz="1600" dirty="0"/>
              <a:t>under the same link rules, then check the </a:t>
            </a:r>
            <a:r>
              <a:rPr lang="en-US" sz="1600" dirty="0" err="1">
                <a:solidFill>
                  <a:schemeClr val="accent5"/>
                </a:solidFill>
              </a:rPr>
              <a:t>SimEvents</a:t>
            </a:r>
            <a:r>
              <a:rPr lang="en-US" sz="1600" dirty="0"/>
              <a:t> </a:t>
            </a:r>
            <a:r>
              <a:rPr lang="en-US" sz="1600" i="1" dirty="0"/>
              <a:t>output</a:t>
            </a:r>
          </a:p>
          <a:p>
            <a:r>
              <a:rPr lang="en-US" sz="1600" dirty="0"/>
              <a:t>against the stored Excel/MATLAB reference.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414C2C-AB68-91A9-A2FE-7E8B920093A7}"/>
              </a:ext>
            </a:extLst>
          </p:cNvPr>
          <p:cNvSpPr txBox="1"/>
          <p:nvPr/>
        </p:nvSpPr>
        <p:spPr>
          <a:xfrm>
            <a:off x="199527" y="1755807"/>
            <a:ext cx="238597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1 · SAME INPUT</a:t>
            </a:r>
          </a:p>
          <a:p>
            <a:r>
              <a:rPr lang="en-US" sz="1200" dirty="0"/>
              <a:t>100 accepted ACE observations</a:t>
            </a:r>
          </a:p>
          <a:p>
            <a:r>
              <a:rPr lang="en-US" sz="1200" dirty="0"/>
              <a:t>Same arrivals and link schedule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77984B-18EC-058B-8BCB-D6429D2B25D2}"/>
              </a:ext>
            </a:extLst>
          </p:cNvPr>
          <p:cNvSpPr txBox="1"/>
          <p:nvPr/>
        </p:nvSpPr>
        <p:spPr>
          <a:xfrm>
            <a:off x="2211425" y="2341912"/>
            <a:ext cx="2531918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2 · TWO PATHS</a:t>
            </a:r>
          </a:p>
          <a:p>
            <a:r>
              <a:rPr lang="en-US" sz="1200" dirty="0"/>
              <a:t>Ground: downlink → compute</a:t>
            </a:r>
          </a:p>
          <a:p>
            <a:r>
              <a:rPr lang="en-US" sz="1200" dirty="0"/>
              <a:t>Edge: compute → reduced downlink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F1704-7551-09A8-6CF8-C4D753940452}"/>
              </a:ext>
            </a:extLst>
          </p:cNvPr>
          <p:cNvSpPr txBox="1"/>
          <p:nvPr/>
        </p:nvSpPr>
        <p:spPr>
          <a:xfrm>
            <a:off x="4693628" y="2918811"/>
            <a:ext cx="2285195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3 · CONTACT WINDOWS</a:t>
            </a:r>
          </a:p>
          <a:p>
            <a:r>
              <a:rPr lang="en-US" sz="1200" dirty="0"/>
              <a:t>Single server</a:t>
            </a:r>
          </a:p>
          <a:p>
            <a:r>
              <a:rPr lang="en-US" sz="1200" dirty="0"/>
              <a:t>600 s up / 120 s down</a:t>
            </a:r>
          </a:p>
          <a:p>
            <a:r>
              <a:rPr lang="en-US" sz="1200" dirty="0"/>
              <a:t>Wait if transmission will not fit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D58F8C-E858-A76E-0E92-86D7B54C6288}"/>
              </a:ext>
            </a:extLst>
          </p:cNvPr>
          <p:cNvSpPr txBox="1"/>
          <p:nvPr/>
        </p:nvSpPr>
        <p:spPr>
          <a:xfrm>
            <a:off x="6903848" y="3429000"/>
            <a:ext cx="2285195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4 · REGRESSION CHECK</a:t>
            </a:r>
          </a:p>
          <a:p>
            <a:r>
              <a:rPr lang="en-US" sz="1200" dirty="0"/>
              <a:t>Compare every latency</a:t>
            </a:r>
          </a:p>
          <a:p>
            <a:r>
              <a:rPr lang="en-US" sz="1200" dirty="0"/>
              <a:t>PASS only if max error ≤ 1×10−6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91D7E7-046C-38BF-27C3-E59596E2A702}"/>
              </a:ext>
            </a:extLst>
          </p:cNvPr>
          <p:cNvSpPr txBox="1"/>
          <p:nvPr/>
        </p:nvSpPr>
        <p:spPr>
          <a:xfrm>
            <a:off x="97437" y="3177260"/>
            <a:ext cx="2385971" cy="138499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ONE COMMAND</a:t>
            </a:r>
          </a:p>
          <a:p>
            <a:endParaRPr lang="en-US" sz="1200" dirty="0"/>
          </a:p>
          <a:p>
            <a:r>
              <a:rPr lang="en-US" sz="1200" dirty="0" err="1"/>
              <a:t>run_simevents</a:t>
            </a:r>
            <a:endParaRPr lang="en-US" sz="1200" dirty="0"/>
          </a:p>
          <a:p>
            <a:r>
              <a:rPr lang="en-US" sz="1200" dirty="0"/>
              <a:t>- export ACE inputs</a:t>
            </a:r>
          </a:p>
          <a:p>
            <a:r>
              <a:rPr lang="en-US" sz="1200" dirty="0"/>
              <a:t>- build Ground / Edge model</a:t>
            </a:r>
          </a:p>
          <a:p>
            <a:r>
              <a:rPr lang="en-US" sz="1200" dirty="0"/>
              <a:t>- simulate both paths</a:t>
            </a:r>
          </a:p>
          <a:p>
            <a:r>
              <a:rPr lang="en-US" sz="1200" dirty="0"/>
              <a:t>- compare every result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28E1D2-7401-3BDB-1552-CC81AA3D7759}"/>
              </a:ext>
            </a:extLst>
          </p:cNvPr>
          <p:cNvSpPr txBox="1"/>
          <p:nvPr/>
        </p:nvSpPr>
        <p:spPr>
          <a:xfrm>
            <a:off x="9433344" y="541650"/>
            <a:ext cx="2385971" cy="193899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STORED BASELINE RESULT</a:t>
            </a:r>
          </a:p>
          <a:p>
            <a:r>
              <a:rPr lang="en-US" sz="1200" dirty="0"/>
              <a:t>(Initial Seed Extracted from Data to test the DES Model, will scale to 10,000 runs)</a:t>
            </a:r>
          </a:p>
          <a:p>
            <a:endParaRPr lang="en-US" sz="1200" dirty="0"/>
          </a:p>
          <a:p>
            <a:r>
              <a:rPr lang="en-US" sz="1200" dirty="0"/>
              <a:t>PASS</a:t>
            </a:r>
          </a:p>
          <a:p>
            <a:r>
              <a:rPr lang="en-US" sz="1200" dirty="0"/>
              <a:t>200 entity-level comparisons</a:t>
            </a:r>
          </a:p>
          <a:p>
            <a:r>
              <a:rPr lang="en-US" sz="1200" dirty="0"/>
              <a:t>reported max latency error: 0</a:t>
            </a:r>
          </a:p>
          <a:p>
            <a:r>
              <a:rPr lang="en-US" sz="1200" dirty="0"/>
              <a:t>Ground mean: 1067.6434 s</a:t>
            </a:r>
          </a:p>
          <a:p>
            <a:r>
              <a:rPr lang="en-US" sz="1200" dirty="0"/>
              <a:t>Edge mean: </a:t>
            </a:r>
            <a:r>
              <a:rPr lang="en-US" sz="1200" dirty="0">
                <a:highlight>
                  <a:srgbClr val="FFFF00"/>
                </a:highlight>
              </a:rPr>
              <a:t>198.2280 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D3ED21-0A74-76C5-3BF6-DA8ECE8CEC2E}"/>
              </a:ext>
            </a:extLst>
          </p:cNvPr>
          <p:cNvSpPr txBox="1"/>
          <p:nvPr/>
        </p:nvSpPr>
        <p:spPr>
          <a:xfrm>
            <a:off x="2211425" y="4472180"/>
            <a:ext cx="2385971" cy="193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WHAT </a:t>
            </a:r>
            <a:r>
              <a:rPr lang="en-US" sz="1200" b="1" dirty="0"/>
              <a:t>PASS</a:t>
            </a:r>
            <a:r>
              <a:rPr lang="en-US" sz="1200" dirty="0"/>
              <a:t> MEANS</a:t>
            </a:r>
          </a:p>
          <a:p>
            <a:endParaRPr lang="en-US" sz="1200" dirty="0"/>
          </a:p>
          <a:p>
            <a:r>
              <a:rPr lang="en-US" sz="1200" dirty="0"/>
              <a:t>Model consistency was demonstrated in the stored package.</a:t>
            </a:r>
          </a:p>
          <a:p>
            <a:r>
              <a:rPr lang="en-US" sz="1200" dirty="0"/>
              <a:t>It hasn’t established measured satellite performance yet.</a:t>
            </a:r>
          </a:p>
          <a:p>
            <a:r>
              <a:rPr lang="en-US" sz="1200" dirty="0"/>
              <a:t>It does not yet establish H1 as a research finding.</a:t>
            </a:r>
          </a:p>
          <a:p>
            <a:r>
              <a:rPr lang="en-US" sz="1200"/>
              <a:t>Reproduction is  </a:t>
            </a:r>
            <a:r>
              <a:rPr lang="en-US" sz="1200" dirty="0"/>
              <a:t>the next gate.</a:t>
            </a:r>
          </a:p>
        </p:txBody>
      </p:sp>
    </p:spTree>
    <p:extLst>
      <p:ext uri="{BB962C8B-B14F-4D97-AF65-F5344CB8AC3E}">
        <p14:creationId xmlns:p14="http://schemas.microsoft.com/office/powerpoint/2010/main" val="2660068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208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Nino</dc:creator>
  <cp:lastModifiedBy>Carlo Nino</cp:lastModifiedBy>
  <cp:revision>1</cp:revision>
  <dcterms:created xsi:type="dcterms:W3CDTF">2026-10-29T23:33:57Z</dcterms:created>
  <dcterms:modified xsi:type="dcterms:W3CDTF">2026-10-29T23:53:41Z</dcterms:modified>
</cp:coreProperties>
</file>