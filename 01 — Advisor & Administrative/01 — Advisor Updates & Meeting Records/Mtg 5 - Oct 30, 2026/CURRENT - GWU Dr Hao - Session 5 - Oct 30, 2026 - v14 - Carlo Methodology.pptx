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Masters/carlo_slideMaster1.xml" ContentType="application/vnd.openxmlformats-officedocument.presentationml.slideMaster+xml"/>
  <Override PartName="/ppt/theme/carlo_theme1.xml" ContentType="application/vnd.openxmlformats-officedocument.theme+xml"/>
  <Override PartName="/ppt/slideLayouts/carlo_slideLayout1.xml" ContentType="application/vnd.openxmlformats-officedocument.presentationml.slideLayout+xml"/>
  <Override PartName="/ppt/slideLayouts/carlo_slideLayout2.xml" ContentType="application/vnd.openxmlformats-officedocument.presentationml.slideLayout+xml"/>
  <Override PartName="/ppt/slideLayouts/carlo_slideLayout3.xml" ContentType="application/vnd.openxmlformats-officedocument.presentationml.slideLayout+xml"/>
  <Override PartName="/ppt/slideLayouts/carlo_slideLayout4.xml" ContentType="application/vnd.openxmlformats-officedocument.presentationml.slideLayout+xml"/>
  <Override PartName="/ppt/slideLayouts/carlo_slideLayout5.xml" ContentType="application/vnd.openxmlformats-officedocument.presentationml.slideLayout+xml"/>
  <Override PartName="/ppt/slideLayouts/carlo_slideLayout6.xml" ContentType="application/vnd.openxmlformats-officedocument.presentationml.slideLayout+xml"/>
  <Override PartName="/ppt/slideLayouts/carlo_slideLayout7.xml" ContentType="application/vnd.openxmlformats-officedocument.presentationml.slideLayout+xml"/>
  <Override PartName="/ppt/slideLayouts/carlo_slideLayout8.xml" ContentType="application/vnd.openxmlformats-officedocument.presentationml.slideLayout+xml"/>
  <Override PartName="/ppt/slideLayouts/carlo_slideLayout9.xml" ContentType="application/vnd.openxmlformats-officedocument.presentationml.slideLayout+xml"/>
  <Override PartName="/ppt/slideLayouts/carlo_slideLayout10.xml" ContentType="application/vnd.openxmlformats-officedocument.presentationml.slideLayout+xml"/>
  <Override PartName="/ppt/slideLayouts/carlo_slideLayout1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 id="2147483669" r:id="rIdCarloMaster40"/>
  </p:sldMasterIdLst>
  <p:notesMasterIdLst>
    <p:notesMasterId r:id="rId26"/>
  </p:notesMasterIdLst>
  <p:sldIdLst>
    <p:sldId id="256" r:id="rId3"/>
    <p:sldId id="257" r:id="rId4"/>
    <p:sldId id="258" r:id="rId5"/>
    <p:sldId id="259" r:id="rId6"/>
    <p:sldId id="260" r:id="rId7"/>
    <p:sldId id="261" r:id="rId8"/>
    <p:sldId id="279" r:id="rId35"/>
    <p:sldId id="280" r:id="rId36"/>
    <p:sldId id="281" r:id="rId37"/>
    <p:sldId id="282" r:id="rId38"/>
    <p:sldId id="262" r:id="rId9"/>
    <p:sldId id="263" r:id="rId10"/>
    <p:sldId id="264" r:id="rId11"/>
    <p:sldId id="265" r:id="rId12"/>
    <p:sldId id="266" r:id="rId13"/>
    <p:sldId id="267" r:id="rId14"/>
    <p:sldId id="268" r:id="rId15"/>
    <p:sldId id="274" r:id="rId16"/>
    <p:sldId id="278" r:id="rId17"/>
    <p:sldId id="277" r:id="rId18"/>
    <p:sldId id="275" r:id="rId19"/>
    <p:sldId id="276" r:id="rId20"/>
    <p:sldId id="269" r:id="rId21"/>
    <p:sldId id="270" r:id="rId22"/>
    <p:sldId id="271" r:id="rId23"/>
    <p:sldId id="283" r:id="rId39"/>
    <p:sldId id="272" r:id="rId24"/>
    <p:sldId id="273" r:id="rId25"/>
    <p:sldId id="284" r:id="rId40"/>
  </p:sldIdLst>
  <p:sldSz cx="12192000" cy="6858000"/>
  <p:notesSz cx="6858000" cy="9144000"/>
  <p:embeddedFontLst>
    <p:embeddedFont>
      <p:font typeface="Carlito"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1EB017-BC45-4DEE-9ABB-B4D90C79D28D}">
  <a:tblStyle styleId="{3C1EB017-BC45-4DEE-9ABB-B4D90C79D2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57" autoAdjust="0"/>
  </p:normalViewPr>
  <p:slideViewPr>
    <p:cSldViewPr snapToGrid="0">
      <p:cViewPr varScale="1">
        <p:scale>
          <a:sx n="90" d="100"/>
          <a:sy n="90"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26.xml"/><Relationship Id="rId40" Type="http://schemas.openxmlformats.org/officeDocument/2006/relationships/slide" Target="slides/slide29.xml"/><Relationship Id="rIdCarloMaster40" Type="http://schemas.openxmlformats.org/officeDocument/2006/relationships/slideMaster" Target="slideMasters/carlo_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Narrative pages</c:v>
                </c:pt>
              </c:strCache>
            </c:strRef>
          </c:tx>
          <c:dPt>
            <c:idx val="0"/>
            <c:spPr>
              <a:solidFill>
                <a:srgbClr val="286B98"/>
              </a:solidFill>
              <a:ln>
                <a:noFill/>
              </a:ln>
            </c:spPr>
          </c:dPt>
          <c:dPt>
            <c:idx val="1"/>
            <c:spPr>
              <a:solidFill>
                <a:srgbClr val="167E86"/>
              </a:solidFill>
              <a:ln>
                <a:noFill/>
              </a:ln>
            </c:spPr>
          </c:dPt>
          <c:dPt>
            <c:idx val="2"/>
            <c:spPr>
              <a:solidFill>
                <a:srgbClr val="BD8E36"/>
              </a:solidFill>
              <a:ln>
                <a:noFill/>
              </a:ln>
            </c:spPr>
          </c:dPt>
          <c:cat>
            <c:strRef>
              <c:f>Sheet1!$A$2:$A$4</c:f>
              <c:strCache>
                <c:ptCount val="3"/>
                <c:pt idx="0">
                  <c:v>Meeting 4 · v8</c:v>
                </c:pt>
                <c:pt idx="1">
                  <c:v>v9 · Oct 24</c:v>
                </c:pt>
                <c:pt idx="2">
                  <c:v>v10 · Oct 28</c:v>
                </c:pt>
              </c:strCache>
            </c:strRef>
          </c:cat>
          <c:val>
            <c:numRef>
              <c:f>Sheet1!$B$2:$B$4</c:f>
              <c:numCache>
                <c:formatCode>General</c:formatCode>
                <c:ptCount val="3"/>
                <c:pt idx="0">
                  <c:v>17</c:v>
                </c:pt>
                <c:pt idx="1">
                  <c:v>32</c:v>
                </c:pt>
                <c:pt idx="2">
                  <c:v>47</c:v>
                </c:pt>
              </c:numCache>
            </c:numRef>
          </c:val>
        </c:ser>
        <c:dLbls>
          <c:txPr>
            <a:bodyPr/>
            <a:lstStyle/>
            <a:p>
              <a:pPr>
                <a:defRPr sz="20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50.0"/>
          <c:min val="0.0"/>
        </c:scaling>
        <c:delete val="0"/>
        <c:axPos val="l"/>
        <c:majorGridlines/>
        <c:majorTickMark val="out"/>
        <c:minorTickMark val="none"/>
        <c:tickLblPos val="nextTo"/>
        <c:txPr>
          <a:bodyPr/>
          <a:lstStyle/>
          <a:p>
            <a:pPr>
              <a:defRPr sz="1300"/>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Mean latency (s)</c:v>
                </c:pt>
              </c:strCache>
            </c:strRef>
          </c:tx>
          <c:dPt>
            <c:idx val="0"/>
            <c:spPr>
              <a:solidFill>
                <a:srgbClr val="286B98"/>
              </a:solidFill>
            </c:spPr>
          </c:dPt>
          <c:dPt>
            <c:idx val="1"/>
            <c:spPr>
              <a:solidFill>
                <a:srgbClr val="71559F"/>
              </a:solidFill>
            </c:spPr>
          </c:dPt>
          <c:cat>
            <c:strRef>
              <c:f>Sheet1!$A$2:$A$3</c:f>
              <c:strCache>
                <c:ptCount val="2"/>
                <c:pt idx="0">
                  <c:v>Ground</c:v>
                </c:pt>
                <c:pt idx="1">
                  <c:v>Bounded Edge</c:v>
                </c:pt>
              </c:strCache>
            </c:strRef>
          </c:cat>
          <c:val>
            <c:numRef>
              <c:f>Sheet1!$B$2:$B$3</c:f>
              <c:numCache>
                <c:formatCode>General</c:formatCode>
                <c:ptCount val="2"/>
                <c:pt idx="0">
                  <c:v>1067.6434</c:v>
                </c:pt>
                <c:pt idx="1">
                  <c:v>198.228</c:v>
                </c:pt>
              </c:numCache>
            </c:numRef>
          </c:val>
        </c:ser>
        <c:dLbls>
          <c:numFmt formatCode="0.0" sourceLinked="0"/>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200.0"/>
          <c:min val="0.0"/>
        </c:scaling>
        <c:delete val="0"/>
        <c:axPos val="b"/>
        <c:majorGridlines/>
        <c:majorTickMark val="out"/>
        <c:minorTickMark val="none"/>
        <c:tickLblPos val="nextTo"/>
        <c:txPr>
          <a:bodyPr/>
          <a:lstStyle/>
          <a:p>
            <a:pPr>
              <a:defRPr sz="1200"/>
            </a:pPr>
          </a:p>
        </c:txPr>
        <c:crossAx val="-2068027336"/>
        <c:crosses val="autoZero"/>
        <c:majorUnit val="300.0"/>
      </c:valAx>
    </c:plotArea>
    <c:dispBlanksAs val="gap"/>
  </c:chart>
  <c:txPr>
    <a:bodyPr/>
    <a:lstStyle/>
    <a:p>
      <a:pPr>
        <a:defRPr sz="18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4.277"/>
    </inkml:context>
    <inkml:brush xml:id="br0">
      <inkml:brushProperty name="width" value="0.035" units="cm"/>
      <inkml:brushProperty name="height" value="0.035" units="cm"/>
      <inkml:brushProperty name="color" value="#E71224"/>
    </inkml:brush>
  </inkml:definitions>
  <inkml:trace contextRef="#ctx0" brushRef="#br0">0 186 24575,'13'12'0,"1"-1"0,-1 0 0,2-1 0,-1-1 0,2 0 0,-1-1 0,1 0 0,0-1 0,0-1 0,1-1 0,0 0 0,27 3 0,14-1 0,1-4 0,83-4 0,-60-1 0,416-16 0,-339 4 0,175-39 0,-107-12 0,-97 25 0,192-55-1365,-257 79-5461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5.327"/>
    </inkml:context>
    <inkml:brush xml:id="br0">
      <inkml:brushProperty name="width" value="0.035" units="cm"/>
      <inkml:brushProperty name="height" value="0.035" units="cm"/>
      <inkml:brushProperty name="color" value="#E71224"/>
    </inkml:brush>
  </inkml:definitions>
  <inkml:trace contextRef="#ctx0" brushRef="#br0">1 1 24575,'7'4'0,"-1"1"0,1-1 0,1 0 0,-1-1 0,0 0 0,1 0 0,0-1 0,0 0 0,0 0 0,12 1 0,14 4 0,322 70 0,-192-44 0,148 58 0,-118-29 0,-84-27 48,145 67 0,93 69-910,-285-139 263,-16-8-6227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7.302"/>
    </inkml:context>
    <inkml:brush xml:id="br0">
      <inkml:brushProperty name="width" value="0.035" units="cm"/>
      <inkml:brushProperty name="height" value="0.035" units="cm"/>
      <inkml:brushProperty name="color" value="#E71224"/>
    </inkml:brush>
  </inkml:definitions>
  <inkml:trace contextRef="#ctx0" brushRef="#br0">19504 0 24575,'-3'25'0,"0"0"0,-2-1 0,-1 0 0,-1 0 0,-1 0 0,-1-1 0,-18 31 0,9-12 0,-19 41 0,-4-2 0,-3-2 0,-3-1 0,-58 70 0,73-108 0,-1-2 0,-3-2 0,-1 0 0,-1-3 0,-2-1 0,-1-2 0,-1-2 0,-84 41 0,49-37 0,-1-3 0,-106 23 0,-172 20 0,303-62 0,-221 39 0,-643 131 0,698-129 0,-802 151 0,95-118-218,-7-36-112,503-28 274,156 1 56,3 12 0,0 12 0,3 12 0,3 12 0,3 11 0,-253 115 0,240-91 0,212-85 0,-2-3 0,-94 12 0,-325 1 448,241-19-292,101-2-79,-1406 54-1079,370-59 496,-1086 28-855,1044 29 772,1067-54 757,-1-7 1,1-6-1,-215-37 1,-840-261 1541,1110 271-1228,-155-76-1,-74-73-447,191 108-34,-45-28 0,155 86 0,1-1 0,0-2 0,1 0 0,-30-35 0,40 38 0,1-1 0,0-1 0,2 0 0,0 0 0,-13-36 0,-27-108 0,23 67 0,-89-268 0,116 361 0,-3-9 0,1 1 0,0-1 0,1 0 0,-2-18 0,4 27 0,1-1 0,-1 0 0,0 1 0,1-1 0,0 1 0,0-1 0,0 1 0,0-1 0,1 1 0,-1 0 0,1-1 0,0 1 0,0 0 0,0 0 0,0 0 0,0 0 0,1 1 0,0-1 0,2-2 0,14-9 0,1 1 0,0 0 0,1 1 0,0 1 0,1 2 0,38-13 0,145-29 0,292-35 0,-30 6 0,-435 74-455,-1-1 0,39-14 0,-46 9-6371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3.351"/>
    </inkml:context>
    <inkml:brush xml:id="br0">
      <inkml:brushProperty name="width" value="0.035" units="cm"/>
      <inkml:brushProperty name="height" value="0.035" units="cm"/>
      <inkml:brushProperty name="color" value="#E71224"/>
    </inkml:brush>
  </inkml:definitions>
  <inkml:trace contextRef="#ctx0" brushRef="#br0">0 0 24575,'7'2'0,"0"-1"0,0 1 0,0 0 0,-1 1 0,1 0 0,-1 0 0,1 0 0,9 7 0,5 2 0,44 25 0,-1 3 0,93 76 0,106 116 0,-132-113 0,-17-19 0,306 298 0,-401-374 0,24 37 0,-34-46 0,1 0 0,0-1 0,1 0 0,0-1 0,1 0 0,1-1 0,17 14 0,23 7 0,1-3 0,110 46 0,-157-73 0,-1 0 0,0 1 0,0 0 0,0 0 0,0 0 0,0 1 0,-1 0 0,0 0 0,0 1 0,-1-1 0,1 1 0,-1 0 0,4 8 0,5 10 0,-2 1 0,10 30 0,-8-21 0,53 190-1365,-61-205-5461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5.521"/>
    </inkml:context>
    <inkml:brush xml:id="br0">
      <inkml:brushProperty name="width" value="0.035" units="cm"/>
      <inkml:brushProperty name="height" value="0.035" units="cm"/>
      <inkml:brushProperty name="color" value="#E71224"/>
    </inkml:brush>
  </inkml:definitions>
  <inkml:trace contextRef="#ctx0" brushRef="#br0">2538 0 24575,'-3'26'0,"-1"0"0,-2 0 0,0 0 0,-2-1 0,-1 0 0,-15 31 0,1-3 0,-2-1 0,-1-1 0,-4-1 0,-1-2 0,-2-1 0,-3-2 0,-68 69 0,-66 47 0,-173 150 0,283-264 0,-2-3 0,-1-2 0,-2-3 0,-80 34 0,79-45 0,15-8 0,1 2 0,1 2 0,1 2 0,-88 65 0,84-44 0,2 1 0,-47 60 0,-78 119 0,12-15 0,139-184 0,-2 0 0,0-2 0,-2-1 0,-1-1 0,-56 35 0,65-44-84,-13 6 282,32-20-268,-1-1-1,1 1 1,-1-1-1,0 1 1,1-1 0,-1 0-1,1 0 1,-1 1-1,1-1 1,-1 0-1,0-1 1,1 1-1,-1 0 1,1 0 0,-1-1-1,0 1 1,1 0-1,-1-1 1,1 0-1,-3-1 1,-15-12-6756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8.811"/>
    </inkml:context>
    <inkml:brush xml:id="br0">
      <inkml:brushProperty name="width" value="0.035" units="cm"/>
      <inkml:brushProperty name="height" value="0.035" units="cm"/>
      <inkml:brushProperty name="color" value="#E71224"/>
    </inkml:brush>
  </inkml:definitions>
  <inkml:trace contextRef="#ctx0" brushRef="#br0">0 1 24575,'5'4'0,"11"22"0,22 20 0,19 22 0,24 18 0,17 4 0,-3-3 0,-13-12 0,-16-14 0,-14-18 0,-16-15-8191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9.813"/>
    </inkml:context>
    <inkml:brush xml:id="br0">
      <inkml:brushProperty name="width" value="0.035" units="cm"/>
      <inkml:brushProperty name="height" value="0.035" units="cm"/>
      <inkml:brushProperty name="color" value="#E71224"/>
    </inkml:brush>
  </inkml:definitions>
  <inkml:trace contextRef="#ctx0" brushRef="#br0">1 0 24575,'2'22'0,"1"0"0,1 0 0,0 0 0,2-1 0,1 0 0,1 0 0,12 25 0,-5-10 0,59 137 0,7-4 0,8-3 0,7-4 0,194 250 0,-280-400 0,-4-3 0,1-1 0,-1-1 0,1 1 0,1-1 0,-1 0 0,1-1 0,14 9 0,-22-14 2,0-1-1,1 0 0,-1 1 1,1-1-1,-1 0 0,0 1 0,1-1 1,-1 0-1,1 0 0,-1 1 1,1-1-1,-1 0 0,1 0 1,-1 0-1,1 0 0,-1 0 1,1 0-1,-1 0 0,1 0 1,-1 0-1,1 0 0,-1 0 1,1 0-1,-1 0 0,1 0 0,-1 0 1,1-1-1,-1 1 0,1 0 1,-1 0-1,0 0 0,1-1 1,-1 1-1,1 0 0,-1-1 1,0 1-1,1 0 0,-1-1 1,0 1-1,1 0 0,-1-1 1,0 1-1,1-1 0,-1 1 0,0-1 1,0 1-1,0-1 0,1 1 1,-1-1-1,0 1 0,0-1 1,0 1-1,0-1 0,0 1 1,0-1-1,0 0 0,-5-30-1259,5 30 1076,-8-26-6644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0.777"/>
    </inkml:context>
    <inkml:brush xml:id="br0">
      <inkml:brushProperty name="width" value="0.035" units="cm"/>
      <inkml:brushProperty name="height" value="0.035" units="cm"/>
      <inkml:brushProperty name="color" value="#E71224"/>
    </inkml:brush>
  </inkml:definitions>
  <inkml:trace contextRef="#ctx0" brushRef="#br0">0 1 24575,'23'20'0,"0"0"0,40 25 0,14 10 0,502 476 0,-418-374 0,-98-97 0,486 508 0,-515-522 0,-29-36 0,-22-26 0,-2-4-341,1 0 0,1-2-1,-20-32 1,24 32-6485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1.543"/>
    </inkml:context>
    <inkml:brush xml:id="br0">
      <inkml:brushProperty name="width" value="0.035" units="cm"/>
      <inkml:brushProperty name="height" value="0.035" units="cm"/>
      <inkml:brushProperty name="color" value="#E71224"/>
    </inkml:brush>
  </inkml:definitions>
  <inkml:trace contextRef="#ctx0" brushRef="#br0">0 0 24575,'173'149'0,"-29"-29"0,-31-22 0,3-5 0,205 125 0,-305-208 0,-11-6 0,1 0 0,1 0 0,-1-1 0,0 1 0,1-1 0,0-1 0,-1 1 0,1-1 0,13 2 0,-20-4 0,1 0 0,-1 0 0,1-1 0,-1 1 0,1 0 0,-1 0 0,0-1 0,1 1 0,-1 0 0,1 0 0,-1-1 0,1 1 0,-1 0 0,0-1 0,1 1 0,-1 0 0,0-1 0,1 1 0,-1-1 0,0 1 0,0-1 0,1 1 0,-1-1 0,0 1 0,0-1 0,0 1 0,0-1 0,0 1 0,0-1 0,0 1 0,0-1 0,0 1 0,0-1 0,0 1 0,0-1 0,0 1 0,0-1 0,0 1 0,0-1 0,0 1 0,-1-1 0,1 1 0,-1-1 0,-9-25 0,10 24 0,-24-43-1365,-3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3.873"/>
    </inkml:context>
    <inkml:brush xml:id="br0">
      <inkml:brushProperty name="width" value="0.035" units="cm"/>
      <inkml:brushProperty name="height" value="0.035" units="cm"/>
      <inkml:brushProperty name="color" value="#E71224"/>
    </inkml:brush>
  </inkml:definitions>
  <inkml:trace contextRef="#ctx0" brushRef="#br0">974 346 24575,'-2'23'0,"-2"0"0,0 0 0,-1-1 0,-1 1 0,-17 41 0,1-4 0,3 6 0,3 1 0,2 1 0,4 0 0,2 0 0,3 1 0,9 124 0,0-154 0,2 0 0,2-1 0,1 0 0,2-1 0,2 0 0,32 65 0,-19-54 0,3-1 0,1-2 0,2-1 0,51 54 0,-12-28 0,3-3 0,3-4 0,2-2 0,171 96 0,14-22 0,-225-119 0,-1-2 0,2-2 0,0-1 0,0-2 0,45 4 0,-71-12 0,1 0 0,-1-1 0,0-1 0,0-1 0,1 0 0,-1 0 0,0-2 0,-1 1 0,1-2 0,-1 0 0,0 0 0,0-2 0,0 1 0,-1-2 0,0 1 0,0-2 0,-1 0 0,0 0 0,-1-1 0,11-12 0,1-5 0,-2-1 0,-1 0 0,-1-2 0,-1 0 0,-1-1 0,-2-1 0,12-43 0,-1-7 0,-3-2 0,-4 0 0,-4-1 0,-4-1 0,-3 0 0,-4 0 0,-4 0 0,-4 0 0,-3 0 0,-4 0 0,-4 2 0,-4 0 0,-3 0 0,-4 2 0,-3 2 0,-4 0 0,-3 2 0,-4 2 0,-3 2 0,-84-109 0,108 158 0,-1 0 0,-1 1 0,-1 2 0,-32-25 0,48 42 0,1 0 0,-1 0 0,0 1 0,0 0 0,-1 1 0,1 0 0,-1 0 0,1 0 0,-1 1 0,0 0 0,0 1 0,0 0 0,0 0 0,0 0 0,0 1 0,-1 0 0,1 1 0,0 0 0,0 0 0,0 1 0,0 0 0,-10 4 0,-2 4 0,0 0 0,1 1 0,1 1 0,0 1 0,-17 15 0,-81 84 0,62-57 0,-18 15 0,-2-4 0,-3-3 0,-3-3 0,-2-4 0,-104 53 0,-28-15 0,-359 106 0,495-175-682,-118 20-1,117-36-6143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4.576"/>
    </inkml:context>
    <inkml:brush xml:id="br0">
      <inkml:brushProperty name="width" value="0.035" units="cm"/>
      <inkml:brushProperty name="height" value="0.035" units="cm"/>
      <inkml:brushProperty name="color" value="#E71224"/>
    </inkml:brush>
  </inkml:definitions>
  <inkml:trace contextRef="#ctx0" brushRef="#br0">616 0 24575,'-4'117'0,"-5"0"0,-34 157 0,19-144 0,-75 361 0,64-349 0,-77 196 0,-8-58 120,87-214-615,-3 0 0,-47 65 0,66-108-6331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3.445"/>
    </inkml:context>
    <inkml:brush xml:id="br0">
      <inkml:brushProperty name="width" value="0.035" units="cm"/>
      <inkml:brushProperty name="height" value="0.035" units="cm"/>
      <inkml:brushProperty name="color" value="#E71224"/>
    </inkml:brush>
  </inkml:definitions>
  <inkml:trace contextRef="#ctx0" brushRef="#br0">0 1 24575,'0'5'0,"0"11"0,0 7 0,0 6 0,0 6 0,0 12 0,0 13 0,0 10 0,0 12 0,0 3 0,0-5 0,0-10 0,0-22 0,0-29 0,0-28 0,0-26 0,0-12 0,0 2-8191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4.336"/>
    </inkml:context>
    <inkml:brush xml:id="br0">
      <inkml:brushProperty name="width" value="0.035" units="cm"/>
      <inkml:brushProperty name="height" value="0.035" units="cm"/>
      <inkml:brushProperty name="color" value="#E71224"/>
    </inkml:brush>
  </inkml:definitions>
  <inkml:trace contextRef="#ctx0" brushRef="#br0">0 24 24575,'565'47'0,"-361"-22"0,-177-21 0,19 1 0,76 0 0,-109-5 0,-1-1 0,1-1 0,0 0 0,-1 0 0,1-1 0,-1-1 0,0 0 0,0-1 0,-1 0 0,19-12 0,-26 14-124,0 1 0,-1-1 0,1 0 0,-1-1 0,0 1 0,0-1-1,0 1 1,0-1 0,-1 0 0,3-6 0,4-11-6702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6.415"/>
    </inkml:context>
    <inkml:brush xml:id="br0">
      <inkml:brushProperty name="width" value="0.035" units="cm"/>
      <inkml:brushProperty name="height" value="0.035" units="cm"/>
      <inkml:brushProperty name="color" value="#E71224"/>
    </inkml:brush>
  </inkml:definitions>
  <inkml:trace contextRef="#ctx0" brushRef="#br0">262 337 24575,'-2'73'0,"-4"-1"0,-2 0 0,-24 94 0,-80 205 0,86-285-67,4 1 1,3 1-1,5 1 0,3 0 0,5 1 0,3 0 0,13 135 1,11-53-113,7-2 1,97 323 0,-75-334 132,6-3-1,7-2 1,90 157-1,-110-240 16,2-2-1,4-2 0,61 66 0,-68-89 20,2-2 1,3-1-1,0-3 1,100 61-1,-64-56 14,1-3 1,2-4-1,1-4 1,2-4-1,121 23 1,472 45-148,-589-86 75,1378 191-919,-1331-180 976,-66-9-2,0 0 104,125 5 1,-191-16-29,0-1 0,1-1 0,-1 0 0,0 0 0,0 0 0,0-1 0,0 0 0,0-1 0,8-3 0,-11 3-45,-1 0 1,0 0 0,0 0 0,0-1 0,0 1 0,-1-1 0,1 0 0,-1 0-1,0 0 1,0-1 0,0 1 0,-1-1 0,1 1 0,-1-1 0,2-8 0,2-8 26,0 1 1,-2-1-1,-1 0 1,0 0-1,-2-39 1,-15-120 0,-68-264-27,-30-1 13,22 95-18,-77-450 10,32-3-79,98 572 0,-41-199-242,51 309 218,-64-173 1,76 255 63,-1 2 1,-29-50-1,36 73 45,0 0 0,-1 1-1,-1 0 1,0 1 0,-1 0 0,0 1-1,0 0 1,-25-15 0,13 12 117,0 2 0,-1 0 0,-1 2 0,0 1 0,0 1 0,-44-8 0,-169-9-183,214 24 60,-81-5-22,0 4 0,0 5 0,-203 33 0,252-25 0,1 3 0,1 2 0,1 3 0,0 2 0,1 2 0,1 3 0,2 2 0,-91 67 0,83-46-5,3 2 0,2 2-1,-85 113 1,-107 201 150,147-214 220,80-124-338,-2-1 0,-1 0-1,-40 39 1,52-58-28,-1-1 0,0 0 1,-1 0-1,0-1 0,0-1 1,0 0-1,-1 0 0,0-1 1,0-1-1,0 0 1,-1-1-1,-20 3 0,-72 3-54,-29 3 209,117-9-363,1 1 0,0 0 0,1 1 0,-1 0-1,1 1 1,-15 9 0,6 0-6617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Session 5 briefing dated 30 October 2026 at Carlo's direction. Folder: Mtg 5 - Oct 30, 2026. Manuscript source: vx - Oct 28 cn.docx; delivered as v10 - Oct 28 cn.docx. Data/verification claims are scoped in the evidence slides.</a:t>
            </a: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Exact comment text transcribed from Chap 2 - Literature Review v8 - mtg 4_HH.docx, comment IDs 4, 5, and 1. Spelling in the second quote is retained. Status means content added to the working draft; advisor acceptance remains pending. Page references are Chapter 2 printed pages in v10, excluding front matter.</a:t>
            </a:r>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Narrative-page audit: Meeting 4 v8 = 17; v9 = 32; v10 = 47. Reference entries: 58 → 76 → 91. Additions = +30 narrative pages since v8, or +15 since v9. The 20 §2.3 sources produce 15 additional unique entries because 5 already exist in v9. Counts exclude bibliography and front matter.</a:t>
            </a:r>
          </a:p>
        </p:txBody>
      </p:sp>
      <p:sp>
        <p:nvSpPr>
          <p:cNvPr id="106" name="Google Shape;10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No new MATLAB run is claimed by this deck update. All original chapter prose is retained in the highlighted working copy. Section 2.3 contains future workflows; the implemented DES endpoint is information delivery. Front-matter placeholders remain a final packaging task.</a:t>
            </a:r>
          </a:p>
        </p:txBody>
      </p:sp>
      <p:sp>
        <p:nvSpPr>
          <p:cNvPr id="119" name="Google Shape;1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Upcoming activities are planned, not completed. Current briefing marker = October 30; next review gate = November 14. Chapter 2 modification/reduction/editing remains the priority.</a:t>
            </a: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47" name="Google Shape;14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5</a:t>
            </a:r>
          </a:p>
          <a:p>
            <a:r>
              <a:t>(A) Deliverable | (B) Format | (C) WC</a:t>
            </a:r>
          </a:p>
          <a:p>
            <a:r>
              <a:t>Issue | Human-in-the-loop satellite control introduces significant latency, which limits timely responses to threats in contested space environments. | 16</a:t>
            </a:r>
          </a:p>
          <a:p>
            <a:r>
              <a:t>Reference | United States Space Force. (2020). Spacepower: Doctrine for Space Forces (CSO-P). https://www.spaceforce.mil/Portals/2/Space%20Capstone%20Publication_10%20Aug%202020.pdf | NA</a:t>
            </a:r>
          </a:p>
          <a:p>
            <a:r>
              <a:t>”so what” | During communication denials, reliance on centralized networks slows the OODA loop, preventing timely target prioritization and jeopardizing mission survival. | 19</a:t>
            </a:r>
          </a:p>
          <a:p>
            <a:r>
              <a:t>Reference | United States Space Force. (2025). Space Warfighting: A Framework for Planners. United States Space Force | NA</a:t>
            </a:r>
          </a:p>
          <a:p>
            <a:r>
              <a:t>Problem statement | The multi-node communication architecture of traditional satellite control creates severe decision latency and operator cognitive burden, slowing the OODA loop and jeopardizing mission survival during communication denials. | 27</a:t>
            </a:r>
          </a:p>
          <a:p>
            <a:r>
              <a:t>Industry | Aerospace and Defense / United States Space Force | NA</a:t>
            </a:r>
          </a:p>
          <a:p>
            <a:r>
              <a:t>PS elaboration 1 | Round-trip data routing from operators to satellites, ground stations, and centralized continental networks creates unsustainable bottlenecks for tactical operations. | 19</a:t>
            </a:r>
          </a:p>
          <a:p>
            <a:r>
              <a:t>PS elaboration 2 | Satellites require edge computing for limited autonomous target acquisition to maintain operational capability when disconnected from the primary network. | 19</a:t>
            </a:r>
          </a:p>
          <a:p>
            <a:r>
              <a:t>Problem Statement</a:t>
            </a:r>
          </a:p>
          <a:p>
            <a:r>
              <a:t>SPEAKER NOTES</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The quoted July problem statement retains original terminology. It is not represented as the current civil framing; that refinement is explicitly stated on the slide.</a:t>
            </a:r>
          </a:p>
          <a:p>
            <a:r>
              <a:t>Session 5 update: current chapter v10; source measurements, synthetic inputs and simulation outputs remain separately qualified. Baseline regression is documented; owner reproduction and extended sensitivity remain next steps.</a:t>
            </a:r>
          </a:p>
        </p:txBody>
      </p:sp>
      <p:sp>
        <p:nvSpPr>
          <p:cNvPr id="153" name="Google Shape;15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Session 5 update: current chapter v10; source measurements, synthetic inputs and simulation outputs remain separately qualified. Baseline regression is documented; owner reproduction and extended sensitivity remain next steps.</a:t>
            </a:r>
          </a:p>
        </p:txBody>
      </p:sp>
      <p:sp>
        <p:nvSpPr>
          <p:cNvPr id="165" name="Google Shape;16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Hypothesis wording follows the supplied Session 5 deck. Architecture rows are alternatives, not conclusions about hypothesis rejection. Data path matches SIMEVENTS_README.txt and the implemented Ground/Edge topology. No fictional simulation statistics are used.</a:t>
            </a:r>
          </a:p>
        </p:txBody>
      </p:sp>
      <p:sp>
        <p:nvSpPr>
          <p:cNvPr id="180" name="Google Shape;180;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9</a:t>
            </a:r>
            <a:endParaRPr dirty="0"/>
          </a:p>
          <a:p>
            <a:pPr marL="0" lvl="0" indent="0" algn="l" rtl="0">
              <a:spcBef>
                <a:spcPts val="0"/>
              </a:spcBef>
              <a:spcAft>
                <a:spcPts val="0"/>
              </a:spcAft>
              <a:buNone/>
            </a:pPr>
            <a:r>
              <a:rPr lang="en-US" sz="1200" dirty="0"/>
              <a:t>Reference | Osoba, O. A., </a:t>
            </a:r>
            <a:r>
              <a:rPr lang="en-US" sz="1200" dirty="0" err="1"/>
              <a:t>Nacouzi</a:t>
            </a:r>
            <a:r>
              <a:rPr lang="en-US" sz="1200" dirty="0"/>
              <a:t>, G., Hagen, J., Tran, J., Zhang, L. A., Herron, M., Lynch, C., Eisman, M., &amp; Barton, C. (2023). The resilience assessment framework: Assessing commercial contributions to U.S. Space Force mission resilience (RR-A980-1). RAND Corporation. https://doi.org/10.7249/RRA980-1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https://www.rand.org/content/dam/rand/pubs/research_reports/RRA900/RRA980-1/RAND_RRA980-1.pdf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RAND develops a framework for assessing how architecture changes affect space mission resilience. The framework combines physics-based modeling and statistical systems analysis. | 22</a:t>
            </a:r>
            <a:endParaRPr dirty="0"/>
          </a:p>
          <a:p>
            <a:pPr marL="0" lvl="0" indent="0" algn="l" rtl="0">
              <a:spcBef>
                <a:spcPts val="0"/>
              </a:spcBef>
              <a:spcAft>
                <a:spcPts val="0"/>
              </a:spcAft>
              <a:buNone/>
            </a:pPr>
            <a:r>
              <a:rPr lang="en-US" sz="1200" dirty="0"/>
              <a:t>Methodology | Physics-based modeling and statistical systems analysis. | NA</a:t>
            </a:r>
            <a:endParaRPr dirty="0"/>
          </a:p>
          <a:p>
            <a:pPr marL="0" lvl="0" indent="0" algn="l" rtl="0">
              <a:spcBef>
                <a:spcPts val="0"/>
              </a:spcBef>
              <a:spcAft>
                <a:spcPts val="0"/>
              </a:spcAft>
              <a:buNone/>
            </a:pPr>
            <a:r>
              <a:rPr lang="en-US" sz="1200" dirty="0"/>
              <a:t>Evaluation | The source is reliable because RAND developed it for USSF mission-resilience assessment.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evaluates resilience broadly, not orbital edge processing specifically.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architecture-resilience evaluation and degraded-mission performance comparison for my simulation framework.</a:t>
            </a:r>
            <a:endParaRPr dirty="0"/>
          </a:p>
          <a:p>
            <a:pPr marL="0" lvl="0" indent="0" algn="l" rtl="0">
              <a:spcBef>
                <a:spcPts val="0"/>
              </a:spcBef>
              <a:spcAft>
                <a:spcPts val="0"/>
              </a:spcAft>
              <a:buNone/>
            </a:pPr>
            <a:br>
              <a:rPr lang="en-US" sz="1200" dirty="0"/>
            </a:br>
            <a:r>
              <a:rPr lang="en-US" sz="1200" dirty="0"/>
              <a:t>It helps connect public modeling assumptions to mission-resilience measures without requiring classified data.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RAND Corp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10</a:t>
            </a:r>
            <a:endParaRPr dirty="0"/>
          </a:p>
          <a:p>
            <a:pPr marL="0" lvl="0" indent="0" algn="l" rtl="0">
              <a:spcBef>
                <a:spcPts val="0"/>
              </a:spcBef>
              <a:spcAft>
                <a:spcPts val="0"/>
              </a:spcAft>
              <a:buNone/>
            </a:pPr>
            <a:r>
              <a:rPr lang="en-US" sz="1200" dirty="0"/>
              <a:t>Reference | National Aeronautics and Space Administration. (2013). Space Communications and Navigation (</a:t>
            </a:r>
            <a:r>
              <a:rPr lang="en-US" sz="1200" dirty="0" err="1"/>
              <a:t>SCaN</a:t>
            </a:r>
            <a:r>
              <a:rPr lang="en-US" sz="1200" dirty="0"/>
              <a:t>) Network Architecture Definition Document (ADD)</a:t>
            </a:r>
            <a:endParaRPr dirty="0"/>
          </a:p>
          <a:p>
            <a:pPr marL="0" lvl="0" indent="0" algn="l" rtl="0">
              <a:spcBef>
                <a:spcPts val="0"/>
              </a:spcBef>
              <a:spcAft>
                <a:spcPts val="0"/>
              </a:spcAft>
              <a:buNone/>
            </a:pPr>
            <a:r>
              <a:rPr lang="en-US" sz="1200" dirty="0"/>
              <a:t>Executive Summary, Volume 1, Revision 4. NASA. (https://www.nasa.gov/wp-content/uploads/2023/09/scan-add-vol1rev4.pdf)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NASA describes communications architecture assets, options, and network evolution.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document links architecture decisions to future mission communications requirements. | 19</a:t>
            </a:r>
            <a:endParaRPr dirty="0"/>
          </a:p>
          <a:p>
            <a:pPr marL="0" lvl="0" indent="0" algn="l" rtl="0">
              <a:spcBef>
                <a:spcPts val="0"/>
              </a:spcBef>
              <a:spcAft>
                <a:spcPts val="0"/>
              </a:spcAft>
              <a:buNone/>
            </a:pPr>
            <a:r>
              <a:rPr lang="en-US" sz="1200" dirty="0"/>
              <a:t>Methodology | Architecture definition. | NA</a:t>
            </a:r>
            <a:endParaRPr dirty="0"/>
          </a:p>
          <a:p>
            <a:pPr marL="0" lvl="0" indent="0" algn="l" rtl="0">
              <a:spcBef>
                <a:spcPts val="0"/>
              </a:spcBef>
              <a:spcAft>
                <a:spcPts val="0"/>
              </a:spcAft>
              <a:buNone/>
            </a:pPr>
            <a:r>
              <a:rPr lang="en-US" sz="1200" dirty="0"/>
              <a:t>Evaluation | The advantage is that it is civil-space focused, not DoD-specific.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reliable because it is a NASA architecture document. | 21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the ground-station and relay-network portion of my model.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justify modeling communications paths as architecture trade variables. | 22</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NASA </a:t>
            </a:r>
            <a:r>
              <a:rPr lang="en-US" sz="1200" dirty="0" err="1"/>
              <a:t>SCaN</a:t>
            </a:r>
            <a:r>
              <a:rPr lang="en-US" sz="1200" dirty="0"/>
              <a:t> Architecture (Space Communications and Navigation Network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11</a:t>
            </a:r>
            <a:endParaRPr dirty="0"/>
          </a:p>
          <a:p>
            <a:pPr marL="0" lvl="0" indent="0" algn="l" rtl="0">
              <a:spcBef>
                <a:spcPts val="0"/>
              </a:spcBef>
              <a:spcAft>
                <a:spcPts val="0"/>
              </a:spcAft>
              <a:buNone/>
            </a:pPr>
            <a:r>
              <a:rPr lang="en-US" sz="1200" dirty="0"/>
              <a:t>Reference | </a:t>
            </a:r>
            <a:r>
              <a:rPr lang="en-US" sz="1200" dirty="0" err="1"/>
              <a:t>Kodheli</a:t>
            </a:r>
            <a:r>
              <a:rPr lang="en-US" sz="1200" dirty="0"/>
              <a:t>, O., Lagunas, E., Maturo, N., et al. (2021). Satellite communications in the new space era: A survey and future challenges. IEEE Communications Surveys &amp; Tutorials, 23, 70–109.</a:t>
            </a:r>
            <a:endParaRPr dirty="0"/>
          </a:p>
          <a:p>
            <a:pPr marL="0" lvl="0" indent="0" algn="l" rtl="0">
              <a:spcBef>
                <a:spcPts val="0"/>
              </a:spcBef>
              <a:spcAft>
                <a:spcPts val="0"/>
              </a:spcAft>
              <a:buNone/>
            </a:pPr>
            <a:r>
              <a:rPr lang="en-US" sz="1200" dirty="0"/>
              <a:t>https://ieeexplore.ieee.org/document/9210567</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The article surveys modern satellite communications and future research challenges.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identifies onboard processing and space-based data processing as innovation drivers but provides quality standard baselines to measure from. | 21</a:t>
            </a:r>
            <a:endParaRPr dirty="0"/>
          </a:p>
          <a:p>
            <a:pPr marL="0" lvl="0" indent="0" algn="l" rtl="0">
              <a:spcBef>
                <a:spcPts val="0"/>
              </a:spcBef>
              <a:spcAft>
                <a:spcPts val="0"/>
              </a:spcAft>
              <a:buNone/>
            </a:pPr>
            <a:r>
              <a:rPr lang="en-US" sz="1200" dirty="0"/>
              <a:t>Methodology | Literature Survey | NA</a:t>
            </a:r>
            <a:endParaRPr dirty="0"/>
          </a:p>
          <a:p>
            <a:pPr marL="0" lvl="0" indent="0" algn="l" rtl="0">
              <a:spcBef>
                <a:spcPts val="0"/>
              </a:spcBef>
              <a:spcAft>
                <a:spcPts val="0"/>
              </a:spcAft>
              <a:buNone/>
            </a:pPr>
            <a:r>
              <a:rPr lang="en-US" sz="1200" dirty="0"/>
              <a:t>Evaluation | The source is reliable because it is a highly cited IEEE survey.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covers many topics beyond my specific model.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onboard processing as a legitimate satellite communications research area.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connect my edge-processing layer to current satellite network research.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IEEE Communications Surveys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12</a:t>
            </a:r>
            <a:endParaRPr dirty="0"/>
          </a:p>
          <a:p>
            <a:pPr marL="0" lvl="0" indent="0" algn="l" rtl="0">
              <a:spcBef>
                <a:spcPts val="0"/>
              </a:spcBef>
              <a:spcAft>
                <a:spcPts val="0"/>
              </a:spcAft>
              <a:buNone/>
            </a:pPr>
            <a:r>
              <a:rPr lang="en-US" sz="1200" dirty="0"/>
              <a:t>Reference | </a:t>
            </a:r>
            <a:r>
              <a:rPr lang="en-US" sz="1200" dirty="0" err="1"/>
              <a:t>CelesTrak</a:t>
            </a:r>
            <a:r>
              <a:rPr lang="en-US" sz="1200" dirty="0"/>
              <a:t>. (n.d.). NORAD GP element sets: Current data.</a:t>
            </a:r>
            <a:endParaRPr dirty="0"/>
          </a:p>
          <a:p>
            <a:pPr marL="0" lvl="0" indent="0" algn="l" rtl="0">
              <a:spcBef>
                <a:spcPts val="0"/>
              </a:spcBef>
              <a:spcAft>
                <a:spcPts val="0"/>
              </a:spcAft>
              <a:buNone/>
            </a:pPr>
            <a:r>
              <a:rPr lang="en-US" sz="1200" dirty="0"/>
              <a:t>https://celestrak.org/NORAD/elements/?</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a:t>
            </a:r>
            <a:r>
              <a:rPr lang="en-US" sz="1200" dirty="0" err="1"/>
              <a:t>CelesTrak</a:t>
            </a:r>
            <a:r>
              <a:rPr lang="en-US" sz="1200" dirty="0"/>
              <a:t> provides public General Perturbations data for orbital modeling.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data supports repeatable satellite visibility and access assumptions. | 18</a:t>
            </a:r>
            <a:endParaRPr dirty="0"/>
          </a:p>
          <a:p>
            <a:pPr marL="0" lvl="0" indent="0" algn="l" rtl="0">
              <a:spcBef>
                <a:spcPts val="0"/>
              </a:spcBef>
              <a:spcAft>
                <a:spcPts val="0"/>
              </a:spcAft>
              <a:buNone/>
            </a:pPr>
            <a:r>
              <a:rPr lang="en-US" sz="1200" dirty="0"/>
              <a:t>Methodology | Public orbital data publication. | NA</a:t>
            </a:r>
            <a:endParaRPr dirty="0"/>
          </a:p>
          <a:p>
            <a:pPr marL="0" lvl="0" indent="0" algn="l" rtl="0">
              <a:spcBef>
                <a:spcPts val="0"/>
              </a:spcBef>
              <a:spcAft>
                <a:spcPts val="0"/>
              </a:spcAft>
              <a:buNone/>
            </a:pPr>
            <a:r>
              <a:rPr lang="en-US" sz="1200" dirty="0"/>
              <a:t>Evaluation | The limitation is that public GP data supports notional analysis, not operational precision.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useful because it provides open orbital data. | 23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orbital context for my MATLAB simulation.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keep the research unclassified, repeatable, and auditable. | 19</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err="1"/>
              <a:t>CelesTrak</a:t>
            </a:r>
            <a:r>
              <a:rPr lang="en-US" sz="1200" dirty="0"/>
              <a:t> Public Orbital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13</a:t>
            </a:r>
            <a:endParaRPr dirty="0"/>
          </a:p>
          <a:p>
            <a:pPr marL="0" lvl="0" indent="0" algn="l" rtl="0">
              <a:spcBef>
                <a:spcPts val="0"/>
              </a:spcBef>
              <a:spcAft>
                <a:spcPts val="0"/>
              </a:spcAft>
              <a:buNone/>
            </a:pPr>
            <a:r>
              <a:rPr lang="en-US" sz="1200" dirty="0"/>
              <a:t>Reference | National Oceanic and Atmospheric Administration, Space Weather Prediction Center. (n.d.). Planetary K-index.</a:t>
            </a:r>
            <a:endParaRPr dirty="0"/>
          </a:p>
          <a:p>
            <a:pPr marL="0" lvl="0" indent="0" algn="l" rtl="0">
              <a:spcBef>
                <a:spcPts val="0"/>
              </a:spcBef>
              <a:spcAft>
                <a:spcPts val="0"/>
              </a:spcAft>
              <a:buNone/>
            </a:pPr>
            <a:r>
              <a:rPr lang="en-US" sz="1200" dirty="0"/>
              <a:t>https://www.spaceweather.gov/products/planetary-k-index?</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NOAA provides public space-weather products used to characterize geomagnetic disturbances.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err="1"/>
              <a:t>Kp</a:t>
            </a:r>
            <a:r>
              <a:rPr lang="en-US" sz="1200" dirty="0"/>
              <a:t> helps represent environmental conditions that can affect space and communications systems. | 22</a:t>
            </a:r>
            <a:endParaRPr dirty="0"/>
          </a:p>
          <a:p>
            <a:pPr marL="0" lvl="0" indent="0" algn="l" rtl="0">
              <a:spcBef>
                <a:spcPts val="0"/>
              </a:spcBef>
              <a:spcAft>
                <a:spcPts val="0"/>
              </a:spcAft>
              <a:buNone/>
            </a:pPr>
            <a:r>
              <a:rPr lang="en-US" sz="1200" dirty="0"/>
              <a:t>Methodology | Operational environmental observation. | NA</a:t>
            </a:r>
            <a:endParaRPr dirty="0"/>
          </a:p>
          <a:p>
            <a:pPr marL="0" lvl="0" indent="0" algn="l" rtl="0">
              <a:spcBef>
                <a:spcPts val="0"/>
              </a:spcBef>
              <a:spcAft>
                <a:spcPts val="0"/>
              </a:spcAft>
              <a:buNone/>
            </a:pPr>
            <a:r>
              <a:rPr lang="en-US" sz="1200" dirty="0"/>
              <a:t>Evaluation | The source is reliable because it is an official NOAA operational product.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a:t>
            </a:r>
            <a:r>
              <a:rPr lang="en-US" sz="1200" dirty="0" err="1"/>
              <a:t>Kp</a:t>
            </a:r>
            <a:r>
              <a:rPr lang="en-US" sz="1200" dirty="0"/>
              <a:t> is an environmental proxy, not a direct latency measure. | 25</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environmental inputs for simulated degradation scenarios.</a:t>
            </a:r>
            <a:endParaRPr dirty="0"/>
          </a:p>
          <a:p>
            <a:pPr marL="0" lvl="0" indent="0" algn="l" rtl="0">
              <a:spcBef>
                <a:spcPts val="0"/>
              </a:spcBef>
              <a:spcAft>
                <a:spcPts val="0"/>
              </a:spcAft>
              <a:buNone/>
            </a:pPr>
            <a:br>
              <a:rPr lang="en-US" sz="1200" dirty="0"/>
            </a:br>
            <a:r>
              <a:rPr lang="en-US" sz="1200" dirty="0"/>
              <a:t>It supports unclassified modeling of space-weather effects without using sensitive disruption assumptions.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proxy is that </a:t>
            </a:r>
            <a:r>
              <a:rPr lang="en-US" sz="1200" dirty="0" err="1"/>
              <a:t>Kp</a:t>
            </a:r>
            <a:r>
              <a:rPr lang="en-US" sz="1200" dirty="0"/>
              <a:t> is an environmental proxy, not a direct man-made measure. | 22</a:t>
            </a:r>
            <a:endParaRPr dirty="0"/>
          </a:p>
          <a:p>
            <a:pPr marL="0" lvl="0" indent="0" algn="l" rtl="0">
              <a:spcBef>
                <a:spcPts val="0"/>
              </a:spcBef>
              <a:spcAft>
                <a:spcPts val="0"/>
              </a:spcAft>
              <a:buNone/>
            </a:pPr>
            <a:r>
              <a:rPr lang="en-US" sz="1200" dirty="0"/>
              <a:t>Annotated Bibliography </a:t>
            </a:r>
            <a:endParaRPr dirty="0"/>
          </a:p>
          <a:p>
            <a:pPr marL="0" lvl="0" indent="0" algn="l" rtl="0">
              <a:spcBef>
                <a:spcPts val="0"/>
              </a:spcBef>
              <a:spcAft>
                <a:spcPts val="0"/>
              </a:spcAft>
              <a:buNone/>
            </a:pPr>
            <a:r>
              <a:rPr lang="en-US" sz="1200" dirty="0"/>
              <a:t> NOAA Space Weather / </a:t>
            </a:r>
            <a:r>
              <a:rPr lang="en-US" sz="1200" dirty="0" err="1"/>
              <a:t>Kp</a:t>
            </a:r>
            <a:r>
              <a:rPr lang="en-US" sz="1200" dirty="0"/>
              <a:t> Index</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URLs and author strings are preserved from the final submission. The five entries are a separate snapshot, not added to the 31-work GWU register count.</a:t>
            </a:r>
            <a:endParaRPr dirty="0"/>
          </a:p>
        </p:txBody>
      </p:sp>
      <p:sp>
        <p:nvSpPr>
          <p:cNvPr id="193" name="Google Shape;19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International_Research_Data_POC_Register_2026-09-13_v05_Battle_Rhythm.xlsx, POC Register, Research Fit, Source Status and Australia Sources. The snapshot reports prior correspondence, not newly verified public web content.</a:t>
            </a:r>
          </a:p>
          <a:p>
            <a:r>
              <a:t>Germany: https://github.com/sys-uos ; latest dataset referral https://doi.org/10.26249/FK2/YXPS4G ; associated paper referral https://doi.org/10.1145/3789240.3827586 . Distinguish WetLinks from related/newer datasets when selecting actual files; as-is, no extended support.</a:t>
            </a:r>
          </a:p>
          <a:p>
            <a:r>
              <a:t>Canada: https://onlineacademiccommunity.uvic.ca/starlink/ ; specific files/fields pending.</a:t>
            </a:r>
          </a:p>
          <a:p>
            <a:r>
              <a:t>Australia: Cassie Marshall email of 13 Sep 2026; ASWFC@bom.gov.au. Eight links: https://rudimirz.com/flares/ ; https://listserver.ips.gov.au/pipermail/ips-swf-alert/ ; https://www.sws.bom.gov.au/World_Data_Centre/1/3 ; https://listserver.ips.gov.au/pipermail/ips-mag-alert/ ; https://sws-data.sws.bom.gov.au/ ; https://kp.gfz.de/en/ ; https://listserver.ips.gov.au/pipermail/ips-dsgr/ ; https://www.sws.bom.gov.au/Products_and_Services/4/1 . Bureau material: cite ASWFC/Bureau. X-ray flux: cite original source, not Bureau.</a:t>
            </a:r>
          </a:p>
          <a:p>
            <a:r>
              <a:t>SANSA: targeted RFI sent to mtshisaphungo@sansa.org.za cc spaceweather@sansa.org.za at 15:30 Pacific, 13 Sep 2026.</a:t>
            </a:r>
          </a:p>
          <a:p>
            <a:r>
              <a:t>Japan: iono@ml.nict.go.jp .</a:t>
            </a:r>
          </a:p>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p>
            <a:r>
              <a:t>3 | Ground Weather | NOAA Local Climate Data | Hourly weather observations support ground-station availability assumptions near a notional antenna for example. | CSV | Per 30 day window sample period | 720 hourly records | Y</a:t>
            </a:r>
          </a:p>
          <a:p/>
          <a:p>
            <a:r>
              <a:t>4 | C2 Architecture Baseline  | NASA SCaN Network Architecture Definition Document, Vol 1, Rev 4 | Architecture descriptions support baseline ground-station and relay network path assumptions. | CSV/PDF | 2013 publication | 1 doc | Y</a:t>
            </a:r>
          </a:p>
          <a:p/>
          <a:p>
            <a:r>
              <a:t>5 | Resilience Metrics | RAND Resilience Assessment Framework | Resilience framework supporting degraded mission performance comparison. | CSV/PDF | 2023 publication</a:t>
            </a:r>
          </a:p>
          <a:p>
            <a:r>
              <a:t> | 1 doc | Y</a:t>
            </a:r>
          </a:p>
          <a:p/>
          <a:p>
            <a:r>
              <a:t>6 | Scenario Vectors | Author created MATLAB scenario table | Simulation vectors control outage duration, bandwidth reduction, processing time, and threshold limits. | CSV/MAT | Simulation period | 10,000 runs | Y</a:t>
            </a:r>
          </a:p>
          <a:p/>
          <a:p>
            <a:r>
              <a:t>Data Sources List</a:t>
            </a:r>
          </a:p>
          <a:p>
            <a:r>
              <a:t>SPEAKER NOTES</a:t>
            </a:r>
          </a:p>
          <a:p>
            <a:r>
              <a:t>Shown up-front, the model does not use classified data, restricted data, or internal program data. </a:t>
            </a:r>
          </a:p>
          <a:p/>
          <a:p>
            <a:r>
              <a:t>The sources either provide public inputs for the simulation or support the assumptions behind the model. </a:t>
            </a:r>
          </a:p>
          <a:p/>
          <a:p>
            <a:r>
              <a:t>The key point is traceability: every input has a sourced and I updated the earlier slides with the hyperlinks per Instructor feedback.</a:t>
            </a:r>
          </a:p>
          <a:p/>
          <a:p>
            <a:r>
              <a:t>FINAL SUBMISSION, SLIDE 17</a:t>
            </a:r>
          </a:p>
          <a:p>
            <a:r>
              <a:t>Use public orbital elements to calculate satellite visibility, access windows, and route availability.</a:t>
            </a:r>
          </a:p>
          <a:p>
            <a:r>
              <a:t>Data Treatment:</a:t>
            </a:r>
          </a:p>
          <a:p>
            <a:r>
              <a:t>Select a limited satellite subset aligned to the notional scenario.</a:t>
            </a:r>
          </a:p>
          <a:p>
            <a:r>
              <a:t>Convert all timestamps to UTC for simulation data normalization across the fields.</a:t>
            </a:r>
          </a:p>
          <a:p>
            <a:r>
              <a:t>Filter records with missing or stale orbital elements.</a:t>
            </a:r>
          </a:p>
          <a:p/>
          <a:p/>
          <a:p/>
          <a:p/>
          <a:p/>
          <a:p>
            <a:r>
              <a:t>CelesTrak Example</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Object_Name | NORAD_CAT_ID | EPOCH | INCLINATION | MEAN_MOTION</a:t>
            </a:r>
          </a:p>
          <a:p>
            <a:r>
              <a:t>Sat1 | 001 | UTC Timestamp | degrees | rev/day</a:t>
            </a:r>
          </a:p>
          <a:p>
            <a:r>
              <a:t>Sat2 | 002 | UTC Timestamp | degrees | rev/day</a:t>
            </a:r>
          </a:p>
          <a:p>
            <a:r>
              <a:t>Sat3 | 003 | UTC Timestamp | degrees | rev/day</a:t>
            </a:r>
          </a:p>
          <a:p>
            <a:r>
              <a:t>Sample Data:</a:t>
            </a:r>
          </a:p>
          <a:p>
            <a:r>
              <a:t>SPEAKER NOTES</a:t>
            </a:r>
          </a:p>
          <a:p>
            <a:r>
              <a:t>CelesTrak provides public satellite orbital data. I use it to estimate satellite visibility, access windows, and route availability.</a:t>
            </a:r>
          </a:p>
          <a:p/>
          <a:p>
            <a:r>
              <a:t>FINAL SUBMISSION, SLIDE 18</a:t>
            </a:r>
          </a:p>
          <a:p>
            <a:r>
              <a:t>Use Kp values to represent space weather degradation severity during simulated communications scenarios.</a:t>
            </a:r>
          </a:p>
          <a:p>
            <a:r>
              <a:t>Data Treatment:</a:t>
            </a:r>
          </a:p>
          <a:p>
            <a:r>
              <a:t>Convert Kp  readings into normal, degraded, and severe categories</a:t>
            </a:r>
          </a:p>
          <a:p>
            <a:r>
              <a:t>Align three hour Kp intervals to the simulation clock</a:t>
            </a:r>
          </a:p>
          <a:p>
            <a:r>
              <a:t>Flag missing intervals rather than assuming valid conditions</a:t>
            </a:r>
          </a:p>
          <a:p/>
          <a:p/>
          <a:p/>
          <a:p/>
          <a:p>
            <a:r>
              <a:t>NOAA Space Weather Prediction Center (SWPC) Kp Example</a:t>
            </a:r>
          </a:p>
          <a:p>
            <a:r>
              <a:t>ID | Name | Source | Brief Description | Format | Time Span | Num. of records | Access </a:t>
            </a:r>
          </a:p>
          <a:p>
            <a:r>
              <a:t>(Y/N)</a:t>
            </a:r>
          </a:p>
          <a:p>
            <a:r>
              <a:t>2 | Space Weather | NOAA SWPC Planetary K-Index | Kp values represent geomagnetic/solar storm severity for degraded communications scenarios. | CSV/HTML | Per 30 day window sample period | 240 intervals | Y</a:t>
            </a:r>
          </a:p>
          <a:p>
            <a:r>
              <a:t>UTC_Time | KP_INDEX | DEGRADATION_LEVEL</a:t>
            </a:r>
          </a:p>
          <a:p>
            <a:r>
              <a:t>7/1/2026 0:00 | 2 | Normal</a:t>
            </a:r>
          </a:p>
          <a:p>
            <a:r>
              <a:t>7/1/2026 3:00 | 5 | Degraded</a:t>
            </a:r>
          </a:p>
          <a:p>
            <a:r>
              <a:t>7/1/2026 6:00 | 7 | Severe</a:t>
            </a:r>
          </a:p>
          <a:p>
            <a:r>
              <a:t>Sample Data:</a:t>
            </a:r>
          </a:p>
          <a:p>
            <a:r>
              <a:t>SPEAKER NOTES</a:t>
            </a:r>
          </a:p>
          <a:p>
            <a:r>
              <a:t>The NOAA Space Weather Prediction Center provides Kp and related space-weather information. I use this to represent environmental conditions that may degrade communications.</a:t>
            </a:r>
          </a:p>
          <a:p/>
          <a:p>
            <a:r>
              <a:t>FINAL SUBMISSION, SLIDE 19</a:t>
            </a:r>
          </a:p>
          <a:p>
            <a:r>
              <a:t>Use of weather observations to estimate ground station availability representing a notional remote antenna, the Remote Ground Station (RGS).</a:t>
            </a:r>
          </a:p>
          <a:p>
            <a:r>
              <a:t>Data treatment:</a:t>
            </a:r>
          </a:p>
          <a:p>
            <a:r>
              <a:t>Select the nearest public weather station to the notional antenna</a:t>
            </a:r>
          </a:p>
          <a:p>
            <a:r>
              <a:t>Standardize solar, electro-magnetic/polar or gravimetric data </a:t>
            </a:r>
          </a:p>
          <a:p>
            <a:r>
              <a:t>Convert weather values into availability-impact scores.</a:t>
            </a:r>
          </a:p>
          <a:p/>
          <a:p/>
          <a:p/>
          <a:p>
            <a:r>
              <a:t>NOAA National Centers for Environmental Information Weather (NCEI) Example</a:t>
            </a:r>
          </a:p>
          <a:p>
            <a:r>
              <a:t>ID | Name | Source | Brief Description | Format | Time Span | Num. of records | Access </a:t>
            </a:r>
          </a:p>
          <a:p>
            <a:r>
              <a:t>(Y/N)</a:t>
            </a:r>
          </a:p>
          <a:p>
            <a:r>
              <a:t>3 | Ground Weather | NOAA Local Climate Data | Hourly weather observations support ground-station availability assumptions near a notional antenna for example. | CSV | Per 30 day window sample period | 720 hourly records | Y</a:t>
            </a:r>
          </a:p>
          <a:p>
            <a:r>
              <a:t>UTC_TIME | SOURCE | VARIABLE | VALUE | UNIT | DEGRADATION_LEVEL | AVAILABILITY_IMPACT</a:t>
            </a:r>
          </a:p>
          <a:p>
            <a:r>
              <a:t>2026_07_01 00:00 | NOAA NCEI LCD | Visibility | 8 | km | km | Normal</a:t>
            </a:r>
          </a:p>
          <a:p>
            <a:r>
              <a:t>2026_07_01 03:00 | NOAA SWPC Kp | Kp Index | 6 | index | index | Degraded</a:t>
            </a:r>
          </a:p>
          <a:p>
            <a:r>
              <a:t>2026_07_01 04:30 | NOAA GOES X-ray | Radio Blackout | R1 | category | category | Degraded</a:t>
            </a:r>
          </a:p>
          <a:p>
            <a:r>
              <a:t>2026_07_01 06:15 | USGS Earthquake API | Magnitude | 5.6 | Mw | Mw | Severe</a:t>
            </a:r>
          </a:p>
          <a:p>
            <a:r>
              <a:t>Sample Data:</a:t>
            </a:r>
          </a:p>
          <a:p>
            <a:r>
              <a:t>SPEAKER NOTES</a:t>
            </a:r>
          </a:p>
          <a:p>
            <a:r>
              <a:t>The NOAA National Centers for Environmental Information provides historical ground-weather observations near a notional remote ground station.</a:t>
            </a:r>
          </a:p>
          <a:p/>
          <a:p>
            <a:r>
              <a:t>FINAL SUBMISSION, SLIDE 20</a:t>
            </a:r>
          </a:p>
          <a:p>
            <a:r>
              <a:t>Use public architecture descriptions to define baseline ground station and relay network assumptions.</a:t>
            </a:r>
          </a:p>
          <a:p>
            <a:r>
              <a:t>Data treatment:</a:t>
            </a:r>
          </a:p>
          <a:p>
            <a:r>
              <a:t>Extract architecture elements relevant to the ground, relay and user segments for modeling</a:t>
            </a:r>
          </a:p>
          <a:p>
            <a:r>
              <a:t>Convert qualitative architecture descriptions into notional model states.</a:t>
            </a:r>
          </a:p>
          <a:p>
            <a:r>
              <a:t>Cite derived assumptions rather than treating them as measured data.</a:t>
            </a:r>
          </a:p>
          <a:p/>
          <a:p/>
          <a:p/>
          <a:p/>
          <a:p>
            <a:r>
              <a:t>NASA SCaN Example</a:t>
            </a:r>
          </a:p>
          <a:p>
            <a:r>
              <a:t>ID | Name | Source | Brief Description | Format | Time Span | Num. of records | Access </a:t>
            </a:r>
          </a:p>
          <a:p>
            <a:r>
              <a:t>(Y/N)</a:t>
            </a:r>
          </a:p>
          <a:p>
            <a:r>
              <a:t>4 | C2 Architecture Baseline  | NASA SCaN Network Architecture Definition Document, Vol 1, Rev 4 | Architecture descriptions support baseline ground-station and relay network path assumptions. | CSV/PDF | 2013 publication | 1 doc | Y</a:t>
            </a:r>
          </a:p>
          <a:p>
            <a:r>
              <a:t>ARCHITECTURE_ELEMENT | MODEL_VARIABLE | SIMULATION_ROLE</a:t>
            </a:r>
          </a:p>
          <a:p>
            <a:r>
              <a:t>Ground station | RGS Availability | Baseline path gate</a:t>
            </a:r>
          </a:p>
          <a:p>
            <a:r>
              <a:t>Relay network | Route availability | Alternate path support</a:t>
            </a:r>
          </a:p>
          <a:p>
            <a:r>
              <a:t>User segment | Operator receipt | Decision support endpoint</a:t>
            </a:r>
          </a:p>
          <a:p>
            <a:r>
              <a:t>Sample Data:</a:t>
            </a:r>
          </a:p>
          <a:p>
            <a:r>
              <a:t>SPEAKER NOTES</a:t>
            </a:r>
          </a:p>
          <a:p>
            <a:r>
              <a:t>The NASA SCaN architecture document is not a live dataset. It provides the public architecture baseline for ground stations, relay networks, and communications paths.</a:t>
            </a:r>
          </a:p>
          <a:p/>
          <a:p>
            <a:r>
              <a:t>FINAL SUBMISSION, SLIDE 21</a:t>
            </a:r>
          </a:p>
          <a:p>
            <a:r>
              <a:t>Use resilience concepts to define degraded mission performance measures and decision criteria.</a:t>
            </a:r>
          </a:p>
          <a:p>
            <a:r>
              <a:t>Data treatment:</a:t>
            </a:r>
          </a:p>
          <a:p>
            <a:r>
              <a:t>Retrieve resilience concepts and ideas relevant to latency, availability, and degradation</a:t>
            </a:r>
          </a:p>
          <a:p>
            <a:r>
              <a:t>Map the concepts and ideas to a measurable simulation output</a:t>
            </a:r>
          </a:p>
          <a:p>
            <a:r>
              <a:t>Use this for methodology support, not direct operational data</a:t>
            </a:r>
          </a:p>
          <a:p/>
          <a:p/>
          <a:p/>
          <a:p/>
          <a:p>
            <a:r>
              <a:t>RAND Example</a:t>
            </a:r>
          </a:p>
          <a:p>
            <a:r>
              <a:t>ID | Name | Source | Brief Description | Format | Time Span | Num. of records | Access </a:t>
            </a:r>
          </a:p>
          <a:p>
            <a:r>
              <a:t>(Y/N)</a:t>
            </a:r>
          </a:p>
          <a:p>
            <a:r>
              <a:t>5 | Resilience Metrics | RAND Resilience Assessment Framework | Resilience framework supporting degraded mission performance comparison. | CSV/PDF | 2023 publication | 1 doc | Y</a:t>
            </a:r>
          </a:p>
          <a:p>
            <a:r>
              <a:t>RESILIENCE_CONCEPT | MODEL_METRIC | DECISION_CRITERION</a:t>
            </a:r>
          </a:p>
          <a:p>
            <a:r>
              <a:t>Degradation | Path availability (%) | Maintains threshold</a:t>
            </a:r>
          </a:p>
          <a:p>
            <a:r>
              <a:t>Recovery | Recovery time (s) | Restores service</a:t>
            </a:r>
          </a:p>
          <a:p>
            <a:r>
              <a:t>Mission performance | Response latency (s) | Improves baseline</a:t>
            </a:r>
          </a:p>
          <a:p>
            <a:r>
              <a:t>Sample Data:</a:t>
            </a:r>
          </a:p>
          <a:p>
            <a:r>
              <a:t>SPEAKER NOTES</a:t>
            </a:r>
          </a:p>
          <a:p>
            <a:r>
              <a:t>The RAND Resilience Assessment Framework provides resilience concepts and performance measures that help define degradation, recovery, and mission-performance criteria.</a:t>
            </a:r>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r>
              <a:t>Session 5 update: current chapter v10; source measurements, synthetic inputs and simulation outputs remain separately qualified. Baseline regression is documented; owner reproduction and extended sensitivity remain next steps.</a:t>
            </a:r>
          </a:p>
        </p:txBody>
      </p:sp>
      <p:sp>
        <p:nvSpPr>
          <p:cNvPr id="201" name="Google Shape;20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p>
            <a:r>
              <a:t>Outputs:</a:t>
            </a:r>
            <a:br/>
            <a:r>
              <a:t>“The outputs include response latency, OODA-loop time, path availability, dropped messages, recovery time, workload reduction, and what % of the time the correct response was selected.”</a:t>
            </a:r>
          </a:p>
          <a:p/>
          <a:p>
            <a:r>
              <a:t>Purpose:</a:t>
            </a:r>
            <a:br/>
            <a:r>
              <a:t>“This method shows what happens during each individual disruption and compares the ground-centric path with the edge-enabled path.”</a:t>
            </a:r>
          </a:p>
          <a:p>
            <a:br/>
          </a:p>
          <a:p/>
          <a:p/>
          <a:p>
            <a:r>
              <a:t>FINAL SUBMISSION, SLIDE 15</a:t>
            </a:r>
          </a:p>
          <a:p>
            <a:r>
              <a:t>Methodology 2</a:t>
            </a:r>
          </a:p>
          <a:p>
            <a:r>
              <a:t>A) Deliverable | B) Content | C) WC</a:t>
            </a:r>
          </a:p>
          <a:p>
            <a:r>
              <a:t>Methodology | System Dynamic Simulation |        3</a:t>
            </a:r>
          </a:p>
          <a:p>
            <a:r>
              <a:t>Inputs | Time step(s), simulation duration (hr), path availability (%), bandwidth capacity (Mbps), data volume rate (MB/min), Kp index (0-9), weather severity index (0-1), queue depth (count), edge compute load (%) resource availability (%), AI confidence score (%) | NA</a:t>
            </a:r>
          </a:p>
          <a:p>
            <a:r>
              <a:t>Outputs | Average response latency, 95th percentile latency, OODA loop times, path availability (%), bandwidth demand (Mbps), queue growth rate (messages/min), operator workflow trends (count/hr), resource consumption (%), mission success probability (%). </a:t>
            </a:r>
          </a:p>
          <a:p/>
          <a:p>
            <a:r>
              <a:t>Dropped messages (count), recovery time, operator workflow reduction comparison, correct action selection (%).</a:t>
            </a:r>
          </a:p>
          <a:p>
            <a:r>
              <a:t> | NA</a:t>
            </a:r>
          </a:p>
          <a:p>
            <a:r>
              <a:t>SPEAKER NOTES</a:t>
            </a:r>
          </a:p>
          <a:p>
            <a:r>
              <a:t>Methodology 2 — System Dynamics Simulation</a:t>
            </a:r>
          </a:p>
          <a:p>
            <a:r>
              <a:t>Method:</a:t>
            </a:r>
            <a:br/>
            <a:r>
              <a:t>“My second methodology is system dynamics simulation. It looks at how the entire system behaves and changes over a longer period of time.”</a:t>
            </a:r>
          </a:p>
          <a:p/>
          <a:p>
            <a:r>
              <a:t>Inputs:</a:t>
            </a:r>
            <a:br/>
            <a:r>
              <a:t>“The inputs include simulation time, path availability, incoming data rate, space-weather severity, and available resources.”</a:t>
            </a:r>
          </a:p>
          <a:p/>
          <a:p>
            <a:r>
              <a:t>Outputs:</a:t>
            </a:r>
            <a:br/>
            <a:r>
              <a:t>“The outputs include average latency, 95th-percentile latency, OODA-loop trends, operator workload, resource use, and % mission-success over time.”</a:t>
            </a:r>
          </a:p>
          <a:p/>
          <a:p>
            <a:r>
              <a:t>Purpose:</a:t>
            </a:r>
            <a:br/>
            <a:r>
              <a:t>“This method shows whether the edge-enabled architecture remains effective as degraded conditions continue. </a:t>
            </a:r>
          </a:p>
          <a:p/>
          <a:p>
            <a:r>
              <a:t>What happens during on-going disruption and compares the ground-centric path with the edge-enabled path.”</a:t>
            </a:r>
          </a:p>
          <a:p/>
          <a:p>
            <a:br/>
          </a:p>
          <a:p>
            <a:r>
              <a:t>Transition:</a:t>
            </a:r>
            <a:br/>
            <a:r>
              <a:t>“Methodology 1 shows what happens event by event. Methodology 2 shows how performance changes over time.” </a:t>
            </a:r>
          </a:p>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p>
            <a:r>
              <a:t>FINAL SUBMISSION, SLIDE 24</a:t>
            </a:r>
          </a:p>
          <a:p>
            <a:r>
              <a:t>Methodology 1 Map</a:t>
            </a:r>
          </a:p>
          <a:p>
            <a:r>
              <a:t>SPEAKER NOTES</a:t>
            </a:r>
          </a:p>
          <a:p>
            <a:r>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p>
          <a:p/>
          <a:p>
            <a:r>
              <a:t>Summary combines clearly labeled current scope with inputs and planned analysis in the July source. Complete original DES inputs/outputs, including AI-confidence and operator/action metrics, are retained above as baseline notes; they are not silently asserted as current core measures. No sample figures in the final submission are claimed as downloaded measurements or executed simulation results.</a:t>
            </a:r>
          </a:p>
          <a:p>
            <a:r>
              <a:t>Session 5 update: current chapter v10; source measurements, synthetic inputs and simulation outputs remain separately qualified. Baseline regression is documented; owner reproduction and extended sensitivity remain next steps.</a:t>
            </a:r>
          </a:p>
        </p:txBody>
      </p:sp>
      <p:sp>
        <p:nvSpPr>
          <p:cNvPr id="211" name="Google Shape;21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Backup figure from draft OV-1 v3, received 28 Sep 2026. The intersection is a shared timestamp window, not proof that environment caused communications behavior. Source labels and field qualification remain subject to review.</a:t>
            </a:r>
            <a:endParaRPr/>
          </a:p>
        </p:txBody>
      </p:sp>
      <p:sp>
        <p:nvSpPr>
          <p:cNvPr id="251" name="Google Shape;251;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antt_overview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antt_overview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57" name="Google Shape;257;gantt_overview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antt_near_term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antt_near_term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63" name="Google Shape;263;gantt_near_term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19" name="Google Shape;21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27" name="Google Shape;22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33" name="Google Shape;233;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9" name="Google Shape;239;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45" name="Google Shape;245;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Date-positioned native Gantt. Vertical markers fixed to 2026-10-30 and 2026-11-14 as requested. Planned task intervals are planning targets, not completion claims.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Concept illustration retained from the existing full deck. Text updated to preserve neutral architecture comparison and the declared information-delivery endpoint. The image is not a reconstruction of OPS-SAT historical geometry.</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p>
            <a:r>
              <a:t>Session 5 update: current chapter v10; source measurements, synthetic inputs and simulation outputs remain separately qualified. Baseline regression is documented; owner reproduction and extended sensitivity remain next steps.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Measured from rendered source documents. v8 PDF Chapter 2 starts on physical page 13 and References on physical page 30: 17 narrative pages. v9 narrative is 32 pages. v10 starts on physical page 11; References physical page 58: 47 narrative pages. Front matter/bibliography excluded from the +30/+15 counts. Highlight cue compares v10 to the actual Meeting 4 v8 baseline, including material added during v9.</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Case descriptions derive from the user-edited §2.3 Expansion v4 and the merged v10. The DES endpoint is information delivery; downstream human, medical and municipal outcomes require their own evaluation. Page labels refer to printed Chapter 2 page numbers. Citation bibliography is consolidated in v10.</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 SIMEVENTS_README.txt, Google Drive file 1T3_AuhTFSIC5n8d17GtcVqevxs_HBnT7, modified 24 Oct 2026. 200 comparisons = 100 accepted observations in each architecture, not 200 Monte Carlo trials. Ground mean 1067.6434 s; Edge mean 198.2280 s; zero SimEvents-to-engine latency error; tolerance 1e-6; MATLAB engine approximately 9e-13 vs Excel. This update did not execute MATLAB. Next gate: Carlo's licensed environment, release/version/warnings/PASS log and actual elapsed time. The model uses paired traces and identical FIFO single-resource link rules.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slideLayouts/_rels/carlo_slideLayout1.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2.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3.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4.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5.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6.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7.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8.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9.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10.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11.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carlo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7FAD-62B1-592B-4ADF-E8B86B9607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19D965-6E09-2B0B-B02D-7FA2FA1EC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E6762C-0A41-0D29-39E0-4AC39E2A9693}"/>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DA016832-695B-8C5D-FE38-97DE0DCB1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3E3191-E4C5-1DA0-4F7A-3AE05AE3810C}"/>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3883823320"/>
      </p:ext>
    </p:extLst>
  </p:cSld>
  <p:clrMapOvr>
    <a:masterClrMapping/>
  </p:clrMapOvr>
</p:sldLayout>
</file>

<file path=ppt/slideLayouts/carlo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F3B4C-AD2F-F777-0C9A-9ACA9483AF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FED290-BA21-3E2A-6E81-A116F38D26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B9B409-ACFB-46A6-E662-10127932D236}"/>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CA0E426F-2921-2EF2-5112-9F6BCF662A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64CCE8-E339-72B6-03FD-A9C88702687D}"/>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4249427404"/>
      </p:ext>
    </p:extLst>
  </p:cSld>
  <p:clrMapOvr>
    <a:masterClrMapping/>
  </p:clrMapOvr>
</p:sldLayout>
</file>

<file path=ppt/slideLayouts/carlo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17D16-30B2-3ED4-0755-B1BA802648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CD6CB2-DE52-0114-C3F3-279016989E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33759-9D1C-A9A6-B1B3-D76E2F47F1B0}"/>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B1A023AE-442A-BD45-D74F-C9DA4C072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B446C-8F2D-987F-B05F-225D1ED08F8F}"/>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2020915476"/>
      </p:ext>
    </p:extLst>
  </p:cSld>
  <p:clrMapOvr>
    <a:masterClrMapping/>
  </p:clrMapOvr>
</p:sldLayout>
</file>

<file path=ppt/slideLayouts/carlo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FD1E4-9A72-7DA1-AFB6-D256633C3E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5B0D12-6A69-CF19-AE4D-BE4823547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B315DF-F72F-AA30-EE86-A173110040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B72238-81D8-E816-15A7-3DC8886F792C}"/>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6" name="Footer Placeholder 5">
            <a:extLst>
              <a:ext uri="{FF2B5EF4-FFF2-40B4-BE49-F238E27FC236}">
                <a16:creationId xmlns:a16="http://schemas.microsoft.com/office/drawing/2014/main" id="{E16EC3EC-960E-D667-A32C-F52E9A00DB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F0B1E-57B0-5171-037A-F6801797A327}"/>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3404688300"/>
      </p:ext>
    </p:extLst>
  </p:cSld>
  <p:clrMapOvr>
    <a:masterClrMapping/>
  </p:clrMapOvr>
</p:sldLayout>
</file>

<file path=ppt/slideLayouts/carlo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6BE9-0EF1-186F-EF34-0CDD1F2F6D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79657D-A778-8031-333B-EB4FA0B29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DAAD23-4932-4245-7CE5-E71FBC6E48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0227D8-A262-E7ED-A1C0-354C81954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D0BBD9-3D47-CE8A-180F-2C8B8FB9AF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A0AF7-1849-06F1-EFEB-88CFFBD5FC61}"/>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8" name="Footer Placeholder 7">
            <a:extLst>
              <a:ext uri="{FF2B5EF4-FFF2-40B4-BE49-F238E27FC236}">
                <a16:creationId xmlns:a16="http://schemas.microsoft.com/office/drawing/2014/main" id="{3896E358-C99B-2EF2-18FF-024914BFA0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FAFE0B-9895-7FF7-DFF5-7F01EE0C500C}"/>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1847656297"/>
      </p:ext>
    </p:extLst>
  </p:cSld>
  <p:clrMapOvr>
    <a:masterClrMapping/>
  </p:clrMapOvr>
</p:sldLayout>
</file>

<file path=ppt/slideLayouts/carlo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79AED-73D4-A221-53E0-D0AC8682BA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65EFE6-CC05-76A1-5BC8-99558C2767F9}"/>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4" name="Footer Placeholder 3">
            <a:extLst>
              <a:ext uri="{FF2B5EF4-FFF2-40B4-BE49-F238E27FC236}">
                <a16:creationId xmlns:a16="http://schemas.microsoft.com/office/drawing/2014/main" id="{0787CB50-761D-2F10-4355-A24E3B7F9B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BA3808-780B-2E2A-2B8A-6F142993CC90}"/>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4198174886"/>
      </p:ext>
    </p:extLst>
  </p:cSld>
  <p:clrMapOvr>
    <a:masterClrMapping/>
  </p:clrMapOvr>
</p:sldLayout>
</file>

<file path=ppt/slideLayouts/carlo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4B1C8D-C4FE-07FB-CDBC-10A08769F3F6}"/>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3" name="Footer Placeholder 2">
            <a:extLst>
              <a:ext uri="{FF2B5EF4-FFF2-40B4-BE49-F238E27FC236}">
                <a16:creationId xmlns:a16="http://schemas.microsoft.com/office/drawing/2014/main" id="{872E07C4-8BD2-6F86-5373-420ACA1978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A9FBB8-5377-E250-FBC7-F743497B12A1}"/>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4114257582"/>
      </p:ext>
    </p:extLst>
  </p:cSld>
  <p:clrMapOvr>
    <a:masterClrMapping/>
  </p:clrMapOvr>
</p:sldLayout>
</file>

<file path=ppt/slideLayouts/carlo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E915-84A6-E7F5-0999-EAF3A26CE1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FC2B81-5377-70DE-1075-A266E5793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9814C8-CD01-7379-2F8F-94574BB9A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FFB71-7179-2501-16AF-96A55C15648D}"/>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6" name="Footer Placeholder 5">
            <a:extLst>
              <a:ext uri="{FF2B5EF4-FFF2-40B4-BE49-F238E27FC236}">
                <a16:creationId xmlns:a16="http://schemas.microsoft.com/office/drawing/2014/main" id="{E1449C12-157B-7DA4-912F-6BA3DCA1DD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41B50-EDD1-382E-DDF4-D018A5184F9D}"/>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2400618799"/>
      </p:ext>
    </p:extLst>
  </p:cSld>
  <p:clrMapOvr>
    <a:masterClrMapping/>
  </p:clrMapOvr>
</p:sldLayout>
</file>

<file path=ppt/slideLayouts/carlo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D3A4D-562F-CD3D-3F43-D8F5CC7E4E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FF909C-4195-7573-AF43-1927EC59243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5D2B3B-C604-AD76-F3CF-E0DC38D5A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D7DF0E-AFFF-92E4-AFB9-4CC5504779BB}"/>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6" name="Footer Placeholder 5">
            <a:extLst>
              <a:ext uri="{FF2B5EF4-FFF2-40B4-BE49-F238E27FC236}">
                <a16:creationId xmlns:a16="http://schemas.microsoft.com/office/drawing/2014/main" id="{58045B86-BDFE-0474-271D-6946D8CE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69EB9D-263A-750B-BC58-46A4DDC71B9B}"/>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3979330765"/>
      </p:ext>
    </p:extLst>
  </p:cSld>
  <p:clrMapOvr>
    <a:masterClrMapping/>
  </p:clrMapOvr>
</p:sldLayout>
</file>

<file path=ppt/slideLayouts/carlo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4B8D0-6B9C-EE96-86E1-B8D5521D0C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957E22-5651-A34F-B115-98770154FD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CB718-3D9C-369D-C005-CFFDFA8A705F}"/>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467CCE91-D24E-AA6A-524D-718988445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FD963-BD3D-80A8-A6BC-8F3C4EEC38FB}"/>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650690722"/>
      </p:ext>
    </p:extLst>
  </p:cSld>
  <p:clrMapOvr>
    <a:masterClrMapping/>
  </p:clrMapOvr>
</p:sldLayout>
</file>

<file path=ppt/slideLayouts/carlo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AD1F2-4F91-B12C-D4E8-84BFF1D5C6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8BFD26-0659-23A2-C63E-6A439165F7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51F1BE-5AD0-CBCB-1455-BB3A2708D11A}"/>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0276419F-0D10-2758-1172-0FC6325FDE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C1FE8-4C7F-6C77-A3E9-AFC91DAAFEA9}"/>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1580615386"/>
      </p:ext>
    </p:extLst>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 name="Google Shape;13;p2"/>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932331" y="1861441"/>
            <a:ext cx="10327340" cy="31702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5"/>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6"/>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 name="Google Shape;29;p6"/>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1"/>
        <p:cNvGrpSpPr/>
        <p:nvPr/>
      </p:nvGrpSpPr>
      <p:grpSpPr>
        <a:xfrm>
          <a:off x="0" y="0"/>
          <a:ext cx="0" cy="0"/>
          <a:chOff x="0" y="0"/>
          <a:chExt cx="0" cy="0"/>
        </a:xfrm>
      </p:grpSpPr>
      <p:sp>
        <p:nvSpPr>
          <p:cNvPr id="32" name="Google Shape;32;p7"/>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34"/>
        <p:cNvGrpSpPr/>
        <p:nvPr/>
      </p:nvGrpSpPr>
      <p:grpSpPr>
        <a:xfrm>
          <a:off x="0" y="0"/>
          <a:ext cx="0" cy="0"/>
          <a:chOff x="0" y="0"/>
          <a:chExt cx="0" cy="0"/>
        </a:xfrm>
      </p:grpSpPr>
      <p:sp>
        <p:nvSpPr>
          <p:cNvPr id="35" name="Google Shape;35;p8"/>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36" name="Google Shape;36;p8"/>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7"/>
        <p:cNvGrpSpPr/>
        <p:nvPr/>
      </p:nvGrpSpPr>
      <p:grpSpPr>
        <a:xfrm>
          <a:off x="0" y="0"/>
          <a:ext cx="0" cy="0"/>
          <a:chOff x="0" y="0"/>
          <a:chExt cx="0" cy="0"/>
        </a:xfrm>
      </p:grpSpPr>
      <p:pic>
        <p:nvPicPr>
          <p:cNvPr id="38" name="Google Shape;38;p9"/>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1" name="Google Shape;41;p10"/>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42" name="Google Shape;42;p10"/>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0"/>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F8A3-0BCE-EEF3-9702-1ED5AE8DA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76FB8A-906B-63A3-82E3-1824BA492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5D2237-08D3-C1A5-8C80-8808E9D42894}"/>
              </a:ext>
            </a:extLst>
          </p:cNvPr>
          <p:cNvSpPr>
            <a:spLocks noGrp="1"/>
          </p:cNvSpPr>
          <p:nvPr>
            <p:ph type="dt" sz="half" idx="10"/>
          </p:nvPr>
        </p:nvSpPr>
        <p:spPr/>
        <p:txBody>
          <a:bodyPr/>
          <a:lstStyle/>
          <a:p>
            <a:fld id="{CA226CB3-9231-4EF9-8F54-04FEBCEF8C2F}" type="datetimeFigureOut">
              <a:rPr lang="en-US" smtClean="0"/>
              <a:t>10/1/2026</a:t>
            </a:fld>
            <a:endParaRPr lang="en-US"/>
          </a:p>
        </p:txBody>
      </p:sp>
      <p:sp>
        <p:nvSpPr>
          <p:cNvPr id="5" name="Footer Placeholder 4">
            <a:extLst>
              <a:ext uri="{FF2B5EF4-FFF2-40B4-BE49-F238E27FC236}">
                <a16:creationId xmlns:a16="http://schemas.microsoft.com/office/drawing/2014/main" id="{154EBECE-FBE5-0A22-3E6C-13E54B17E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140B7-8D68-51F2-C041-2F0720DF5470}"/>
              </a:ext>
            </a:extLst>
          </p:cNvPr>
          <p:cNvSpPr>
            <a:spLocks noGrp="1"/>
          </p:cNvSpPr>
          <p:nvPr>
            <p:ph type="sldNum" sz="quarter" idx="12"/>
          </p:nvPr>
        </p:nvSpPr>
        <p:spPr/>
        <p:txBody>
          <a:bodyPr/>
          <a:lstStyle/>
          <a:p>
            <a:fld id="{B79208BB-2DFD-40AA-973E-A3388C5B0329}" type="slidenum">
              <a:rPr lang="en-US" smtClean="0"/>
              <a:t>‹#›</a:t>
            </a:fld>
            <a:endParaRPr lang="en-US"/>
          </a:p>
        </p:txBody>
      </p:sp>
    </p:spTree>
    <p:extLst>
      <p:ext uri="{BB962C8B-B14F-4D97-AF65-F5344CB8AC3E}">
        <p14:creationId xmlns:p14="http://schemas.microsoft.com/office/powerpoint/2010/main" val="254326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7"/>
        <p:cNvGrpSpPr/>
        <p:nvPr/>
      </p:nvGrpSpPr>
      <p:grpSpPr>
        <a:xfrm>
          <a:off x="0" y="0"/>
          <a:ext cx="0" cy="0"/>
          <a:chOff x="0" y="0"/>
          <a:chExt cx="0" cy="0"/>
        </a:xfrm>
      </p:grpSpPr>
      <p:pic>
        <p:nvPicPr>
          <p:cNvPr id="48" name="Google Shape;48;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9" name="Google Shape;49;p13"/>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3"/>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1"/>
        <p:cNvGrpSpPr/>
        <p:nvPr/>
      </p:nvGrpSpPr>
      <p:grpSpPr>
        <a:xfrm>
          <a:off x="0" y="0"/>
          <a:ext cx="0" cy="0"/>
          <a:chOff x="0" y="0"/>
          <a:chExt cx="0" cy="0"/>
        </a:xfrm>
      </p:grpSpPr>
      <p:sp>
        <p:nvSpPr>
          <p:cNvPr id="52" name="Google Shape;52;p14"/>
          <p:cNvSpPr txBox="1">
            <a:spLocks noGrp="1"/>
          </p:cNvSpPr>
          <p:nvPr>
            <p:ph type="body" idx="1"/>
          </p:nvPr>
        </p:nvSpPr>
        <p:spPr>
          <a:xfrm>
            <a:off x="932331" y="1264359"/>
            <a:ext cx="10327340" cy="400755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4"/>
          <p:cNvSpPr txBox="1">
            <a:spLocks noGrp="1"/>
          </p:cNvSpPr>
          <p:nvPr>
            <p:ph type="title"/>
          </p:nvPr>
        </p:nvSpPr>
        <p:spPr>
          <a:xfrm>
            <a:off x="917987" y="366959"/>
            <a:ext cx="10341684" cy="73935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15"/>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57"/>
        <p:cNvGrpSpPr/>
        <p:nvPr/>
      </p:nvGrpSpPr>
      <p:grpSpPr>
        <a:xfrm>
          <a:off x="0" y="0"/>
          <a:ext cx="0" cy="0"/>
          <a:chOff x="0" y="0"/>
          <a:chExt cx="0" cy="0"/>
        </a:xfrm>
      </p:grpSpPr>
      <p:sp>
        <p:nvSpPr>
          <p:cNvPr id="58" name="Google Shape;58;p1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6"/>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16"/>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7"/>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4" name="Google Shape;64;p17"/>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65" name="Google Shape;65;p17"/>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6" name="Google Shape;66;p17"/>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67"/>
        <p:cNvGrpSpPr/>
        <p:nvPr/>
      </p:nvGrpSpPr>
      <p:grpSpPr>
        <a:xfrm>
          <a:off x="0" y="0"/>
          <a:ext cx="0" cy="0"/>
          <a:chOff x="0" y="0"/>
          <a:chExt cx="0" cy="0"/>
        </a:xfrm>
      </p:grpSpPr>
      <p:sp>
        <p:nvSpPr>
          <p:cNvPr id="68" name="Google Shape;68;p18"/>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70"/>
        <p:cNvGrpSpPr/>
        <p:nvPr/>
      </p:nvGrpSpPr>
      <p:grpSpPr>
        <a:xfrm>
          <a:off x="0" y="0"/>
          <a:ext cx="0" cy="0"/>
          <a:chOff x="0" y="0"/>
          <a:chExt cx="0" cy="0"/>
        </a:xfrm>
      </p:grpSpPr>
      <p:sp>
        <p:nvSpPr>
          <p:cNvPr id="71" name="Google Shape;71;p19"/>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72" name="Google Shape;72;p19"/>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3"/>
        <p:cNvGrpSpPr/>
        <p:nvPr/>
      </p:nvGrpSpPr>
      <p:grpSpPr>
        <a:xfrm>
          <a:off x="0" y="0"/>
          <a:ext cx="0" cy="0"/>
          <a:chOff x="0" y="0"/>
          <a:chExt cx="0" cy="0"/>
        </a:xfrm>
      </p:grpSpPr>
      <p:pic>
        <p:nvPicPr>
          <p:cNvPr id="74" name="Google Shape;74;p20"/>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75"/>
        <p:cNvGrpSpPr/>
        <p:nvPr/>
      </p:nvGrpSpPr>
      <p:grpSpPr>
        <a:xfrm>
          <a:off x="0" y="0"/>
          <a:ext cx="0" cy="0"/>
          <a:chOff x="0" y="0"/>
          <a:chExt cx="0" cy="0"/>
        </a:xfrm>
      </p:grpSpPr>
      <p:pic>
        <p:nvPicPr>
          <p:cNvPr id="76" name="Google Shape;76;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7" name="Google Shape;77;p21"/>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78" name="Google Shape;78;p21"/>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21"/>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Masters/_rels/carlo_slideMaster1.xml.rels><?xml version='1.0' encoding='UTF-8' standalone='yes'?>
<Relationships xmlns="http://schemas.openxmlformats.org/package/2006/relationships"><Relationship Id="rId8" Type="http://schemas.openxmlformats.org/officeDocument/2006/relationships/slideLayout" Target="../slideLayouts/carlo_slideLayout8.xml"/><Relationship Id="rId3" Type="http://schemas.openxmlformats.org/officeDocument/2006/relationships/slideLayout" Target="../slideLayouts/carlo_slideLayout3.xml"/><Relationship Id="rId7" Type="http://schemas.openxmlformats.org/officeDocument/2006/relationships/slideLayout" Target="../slideLayouts/carlo_slideLayout7.xml"/><Relationship Id="rId12" Type="http://schemas.openxmlformats.org/officeDocument/2006/relationships/theme" Target="../theme/carlo_theme1.xml"/><Relationship Id="rId2" Type="http://schemas.openxmlformats.org/officeDocument/2006/relationships/slideLayout" Target="../slideLayouts/carlo_slideLayout2.xml"/><Relationship Id="rId1" Type="http://schemas.openxmlformats.org/officeDocument/2006/relationships/slideLayout" Target="../slideLayouts/carlo_slideLayout1.xml"/><Relationship Id="rId6" Type="http://schemas.openxmlformats.org/officeDocument/2006/relationships/slideLayout" Target="../slideLayouts/carlo_slideLayout6.xml"/><Relationship Id="rId11" Type="http://schemas.openxmlformats.org/officeDocument/2006/relationships/slideLayout" Target="../slideLayouts/carlo_slideLayout11.xml"/><Relationship Id="rId5" Type="http://schemas.openxmlformats.org/officeDocument/2006/relationships/slideLayout" Target="../slideLayouts/carlo_slideLayout5.xml"/><Relationship Id="rId10" Type="http://schemas.openxmlformats.org/officeDocument/2006/relationships/slideLayout" Target="../slideLayouts/carlo_slideLayout10.xml"/><Relationship Id="rId4" Type="http://schemas.openxmlformats.org/officeDocument/2006/relationships/slideLayout" Target="../slideLayouts/carlo_slideLayout4.xml"/><Relationship Id="rId9" Type="http://schemas.openxmlformats.org/officeDocument/2006/relationships/slideLayout" Target="../slideLayouts/carlo_slideLayout9.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 Id="rId11" Type="http://schemas.openxmlformats.org/officeDocument/2006/relationships/image" Target="../media/image1.jpg"/></Relationships>
</file>

<file path=ppt/slideMasters/carlo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A4FD00-87CD-9236-8DA7-62C8D88D53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1C69A9-5AA8-00F3-B914-43DA714695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0F831-23D7-7C48-02D8-84342BD44E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4FE9AE64-2123-C520-CD5F-8A8D12E8AB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00CDBE-BDF8-802F-43C3-EB19E939D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BF79A1-E98E-46EE-B8C7-AEBDEC73F579}" type="slidenum">
              <a:rPr lang="en-US" smtClean="0"/>
              <a:t>‹#›</a:t>
            </a:fld>
            <a:endParaRPr lang="en-US"/>
          </a:p>
        </p:txBody>
      </p:sp>
    </p:spTree>
    <p:extLst>
      <p:ext uri="{BB962C8B-B14F-4D97-AF65-F5344CB8AC3E}">
        <p14:creationId xmlns:p14="http://schemas.microsoft.com/office/powerpoint/2010/main" val="2540581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pic>
        <p:nvPicPr>
          <p:cNvPr id="46" name="Google Shape;46;p12"/>
          <p:cNvPicPr preferRelativeResize="0"/>
          <p:nvPr/>
        </p:nvPicPr>
        <p:blipFill rotWithShape="1">
          <a:blip r:embed="rId11">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carlo_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jpg"/><Relationship Id="rId3" Type="http://schemas.openxmlformats.org/officeDocument/2006/relationships/customXml" Target="../ink/ink1.xml"/><Relationship Id="rId4" Type="http://schemas.openxmlformats.org/officeDocument/2006/relationships/image" Target="../media/image8.png"/><Relationship Id="rId5" Type="http://schemas.openxmlformats.org/officeDocument/2006/relationships/customXml" Target="../ink/ink2.xml"/><Relationship Id="rId6" Type="http://schemas.openxmlformats.org/officeDocument/2006/relationships/image" Target="../media/image9.png"/><Relationship Id="rId7" Type="http://schemas.openxmlformats.org/officeDocument/2006/relationships/customXml" Target="../ink/ink3.xml"/><Relationship Id="rId8" Type="http://schemas.openxmlformats.org/officeDocument/2006/relationships/image" Target="../media/image10.png"/><Relationship Id="rId9" Type="http://schemas.openxmlformats.org/officeDocument/2006/relationships/customXml" Target="../ink/ink4.xml"/><Relationship Id="rId10" Type="http://schemas.openxmlformats.org/officeDocument/2006/relationships/image" Target="../media/image11.png"/><Relationship Id="rId11" Type="http://schemas.openxmlformats.org/officeDocument/2006/relationships/customXml" Target="../ink/ink5.xml"/><Relationship Id="rId12" Type="http://schemas.openxmlformats.org/officeDocument/2006/relationships/image" Target="../media/image12.png"/><Relationship Id="rId13" Type="http://schemas.openxmlformats.org/officeDocument/2006/relationships/customXml" Target="../ink/ink6.xml"/><Relationship Id="rId14" Type="http://schemas.openxmlformats.org/officeDocument/2006/relationships/image" Target="../media/image13.png"/><Relationship Id="rId15" Type="http://schemas.openxmlformats.org/officeDocument/2006/relationships/customXml" Target="../ink/ink7.xml"/><Relationship Id="rId16" Type="http://schemas.openxmlformats.org/officeDocument/2006/relationships/image" Target="../media/image14.png"/><Relationship Id="rId17" Type="http://schemas.openxmlformats.org/officeDocument/2006/relationships/customXml" Target="../ink/ink8.xml"/><Relationship Id="rId18" Type="http://schemas.openxmlformats.org/officeDocument/2006/relationships/image" Target="../media/image15.png"/><Relationship Id="rId19" Type="http://schemas.openxmlformats.org/officeDocument/2006/relationships/customXml" Target="../ink/ink9.xml"/><Relationship Id="rId20" Type="http://schemas.openxmlformats.org/officeDocument/2006/relationships/image" Target="../media/image16.png"/><Relationship Id="rId21" Type="http://schemas.openxmlformats.org/officeDocument/2006/relationships/customXml" Target="../ink/ink10.xml"/><Relationship Id="rId22" Type="http://schemas.openxmlformats.org/officeDocument/2006/relationships/image" Target="../media/image17.png"/><Relationship Id="rId23" Type="http://schemas.openxmlformats.org/officeDocument/2006/relationships/customXml" Target="../ink/ink11.xml"/><Relationship Id="rId24" Type="http://schemas.openxmlformats.org/officeDocument/2006/relationships/image" Target="../media/image18.png"/><Relationship Id="rId25" Type="http://schemas.openxmlformats.org/officeDocument/2006/relationships/customXml" Target="../ink/ink12.xml"/><Relationship Id="rId26" Type="http://schemas.openxmlformats.org/officeDocument/2006/relationships/image" Target="../media/image19.png"/><Relationship Id="rId27" Type="http://schemas.openxmlformats.org/officeDocument/2006/relationships/customXml" Target="../ink/ink13.xml"/><Relationship Id="rId28" Type="http://schemas.openxmlformats.org/officeDocument/2006/relationships/image" Target="../media/image20.png"/><Relationship Id="rId29" Type="http://schemas.openxmlformats.org/officeDocument/2006/relationships/customXml" Target="../ink/ink14.xml"/><Relationship Id="rId30" Type="http://schemas.openxmlformats.org/officeDocument/2006/relationships/image" Target="../media/image21.png"/><Relationship Id="rId31"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2"/>
          <p:cNvSpPr txBox="1">
            <a:spLocks noGrp="1"/>
          </p:cNvSpPr>
          <p:nvPr>
            <p:ph type="ctrTitle"/>
          </p:nvPr>
        </p:nvSpPr>
        <p:spPr>
          <a:xfrm>
            <a:off x="447888" y="1611357"/>
            <a:ext cx="5320839" cy="60011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300"/>
              </a:spcAft>
              <a:buClr>
                <a:srgbClr val="FFFFFF"/>
              </a:buClr>
              <a:buSzPts val="2000"/>
              <a:buFont typeface="Arial"/>
              <a:buNone/>
            </a:pPr>
            <a:r>
              <a:rPr sz="1900" b="1">
                <a:solidFill>
                  <a:srgbClr val="FFFFFF"/>
                </a:solidFill>
                <a:latin typeface="Calibri"/>
              </a:rPr>
              <a:t>Modeling Orbital Edge Processing in Contested Environments</a:t>
            </a:r>
            <a:endParaRPr sz="2000" dirty="0">
              <a:latin typeface="Arial"/>
              <a:ea typeface="Arial"/>
              <a:cs typeface="Arial"/>
              <a:sym typeface="Arial"/>
            </a:endParaRPr>
          </a:p>
        </p:txBody>
      </p:sp>
      <p:sp>
        <p:nvSpPr>
          <p:cNvPr id="86" name="Google Shape;86;p22"/>
          <p:cNvSpPr txBox="1">
            <a:spLocks noGrp="1"/>
          </p:cNvSpPr>
          <p:nvPr>
            <p:ph type="subTitle" idx="1"/>
          </p:nvPr>
        </p:nvSpPr>
        <p:spPr>
          <a:xfrm>
            <a:off x="422294" y="2360317"/>
            <a:ext cx="4058106"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300"/>
              </a:spcAft>
              <a:buClr>
                <a:srgbClr val="ECE9C6"/>
              </a:buClr>
              <a:buSzPts val="1800"/>
              <a:buNone/>
            </a:pPr>
            <a:r>
              <a:rPr sz="1550" b="0">
                <a:solidFill>
                  <a:srgbClr val="FFFFFF"/>
                </a:solidFill>
                <a:latin typeface="Calibri"/>
              </a:rPr>
              <a:t>Carlo Antonio Nino
October 30, 2026 | 4:00 PM PT | Session 5</a:t>
            </a:r>
            <a:endParaRPr dirty="0"/>
          </a:p>
        </p:txBody>
      </p:sp>
      <p:sp>
        <p:nvSpPr>
          <p:cNvPr id="87" name="Google Shape;87;p22"/>
          <p:cNvSpPr/>
          <p:nvPr/>
        </p:nvSpPr>
        <p:spPr>
          <a:xfrm>
            <a:off x="2647718" y="4851"/>
            <a:ext cx="5886682" cy="120023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FFFFFF"/>
              </a:buClr>
              <a:buSzPts val="3200"/>
              <a:buFont typeface="Arial"/>
              <a:buNone/>
            </a:pPr>
            <a:r>
              <a:rPr lang="en-US" sz="3200" b="1" cap="none">
                <a:solidFill>
                  <a:srgbClr val="FFFFFF"/>
                </a:solidFill>
                <a:latin typeface="Arial"/>
                <a:ea typeface="Arial"/>
                <a:cs typeface="Arial"/>
                <a:sym typeface="Arial"/>
              </a:rPr>
              <a:t>Student Biweekly Progress Presentation to Advisor</a:t>
            </a:r>
            <a:endParaRPr/>
          </a:p>
        </p:txBody>
      </p:sp>
      <p:sp>
        <p:nvSpPr>
          <p:cNvPr id="89" name="Google Shape;89;p22"/>
          <p:cNvSpPr/>
          <p:nvPr/>
        </p:nvSpPr>
        <p:spPr>
          <a:xfrm>
            <a:off x="422294" y="3291840"/>
            <a:ext cx="4892040" cy="2240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300"/>
              </a:spcAft>
              <a:buClr>
                <a:srgbClr val="FFFFFF"/>
              </a:buClr>
              <a:buSzPts val="1150"/>
              <a:buFont typeface="Calibri"/>
              <a:buNone/>
            </a:pPr>
            <a:r>
              <a:rPr sz="1300">
                <a:solidFill>
                  <a:srgbClr val="FFFFFF"/>
                </a:solidFill>
                <a:latin typeface="Calibri"/>
              </a:rPr>
              <a:t>Chapter 2 v10 | working copy dated October 28</a:t>
            </a:r>
            <a:endParaRPr dirty="0"/>
          </a:p>
          <a:p>
            <a:pPr>
              <a:spcAft>
                <a:spcPts val="300"/>
              </a:spcAft>
            </a:pPr>
            <a:r>
              <a:rPr sz="1300">
                <a:solidFill>
                  <a:srgbClr val="FFFFFF"/>
                </a:solidFill>
                <a:latin typeface="Calibri"/>
              </a:rPr>
              <a:t>47 narrative pages: +30 since the Meeting 4 baseline.</a:t>
            </a:r>
          </a:p>
          <a:p>
            <a:pPr>
              <a:spcAft>
                <a:spcPts val="300"/>
              </a:spcAft>
            </a:pPr>
            <a:r>
              <a:rPr sz="1300">
                <a:solidFill>
                  <a:srgbClr val="FFFFFF"/>
                </a:solidFill>
                <a:latin typeface="Calibri"/>
              </a:rPr>
              <a:t>Three civilian use cases and quantified processing / human-oversight discussion added.</a:t>
            </a:r>
          </a:p>
          <a:p>
            <a:pPr>
              <a:spcAft>
                <a:spcPts val="300"/>
              </a:spcAft>
            </a:pPr>
            <a:r>
              <a:rPr sz="1300">
                <a:solidFill>
                  <a:srgbClr val="FFFFFF"/>
                </a:solidFill>
                <a:latin typeface="Calibri"/>
              </a:rPr>
              <a:t>Recorded ACE MATLAB / SimEvents regression PASS; independent owner reproduction is the next model gate.</a:t>
            </a:r>
          </a:p>
        </p:txBody>
      </p:sp>
      <p:sp>
        <p:nvSpPr>
          <p:cNvPr id="90" name="TextBox 8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 of 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3"/>
          <p:cNvSpPr txBox="1">
            <a:spLocks noGrp="1"/>
          </p:cNvSpPr>
          <p:nvPr>
            <p:ph type="title"/>
          </p:nvPr>
        </p:nvSpPr>
        <p:spPr>
          <a:xfrm>
            <a:off x="483495" y="316733"/>
            <a:ext cx="11525951"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Response to Dr. Hao’s Chapter 2 Feedback</a:t>
            </a:r>
            <a:endParaRPr/>
          </a:p>
        </p:txBody>
      </p:sp>
      <p:sp>
        <p:nvSpPr>
          <p:cNvPr id="106" name="TextBox 10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 of 29</a:t>
            </a:r>
          </a:p>
        </p:txBody>
      </p:sp>
      <p:sp>
        <p:nvSpPr>
          <p:cNvPr id="107" name="TextBox 106"/>
          <p:cNvSpPr txBox="1"/>
          <p:nvPr/>
        </p:nvSpPr>
        <p:spPr>
          <a:xfrm>
            <a:off x="594360" y="960120"/>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“Can we quantify any of this?” — 19 Oct 2026</a:t>
            </a:r>
          </a:p>
        </p:txBody>
      </p:sp>
      <p:sp>
        <p:nvSpPr>
          <p:cNvPr id="108" name="TextBox 107"/>
          <p:cNvSpPr txBox="1"/>
          <p:nvPr/>
        </p:nvSpPr>
        <p:spPr>
          <a:xfrm>
            <a:off x="612648" y="1225296"/>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v10 adds published inference-time, power/energy, memory and throughput measurements plus numerical contact-window examples in §2.3. — 29 Oct 2026</a:t>
            </a:r>
          </a:p>
        </p:txBody>
      </p:sp>
      <p:sp>
        <p:nvSpPr>
          <p:cNvPr id="109" name="TextBox 108"/>
          <p:cNvSpPr txBox="1"/>
          <p:nvPr/>
        </p:nvSpPr>
        <p:spPr>
          <a:xfrm>
            <a:off x="594360" y="2130552"/>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“Is loosing a human in-the-loop a challenge? Is there a fear of too much automation?” — 19 Oct 2026</a:t>
            </a:r>
          </a:p>
        </p:txBody>
      </p:sp>
      <p:sp>
        <p:nvSpPr>
          <p:cNvPr id="110" name="TextBox 109"/>
          <p:cNvSpPr txBox="1"/>
          <p:nvPr/>
        </p:nvSpPr>
        <p:spPr>
          <a:xfrm>
            <a:off x="612648" y="2395728"/>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v10 adds human authority, situation awareness, reliance/confidence and referral workload, with three civilian cases that retain human decisions. — 29 Oct 2026</a:t>
            </a:r>
          </a:p>
        </p:txBody>
      </p:sp>
      <p:sp>
        <p:nvSpPr>
          <p:cNvPr id="111" name="TextBox 110"/>
          <p:cNvSpPr txBox="1"/>
          <p:nvPr/>
        </p:nvSpPr>
        <p:spPr>
          <a:xfrm>
            <a:off x="594360" y="3300984"/>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“We’ll need to revisit this after you complete the paper (through chapter 5) with the results and discussion” — 19 Oct 2026</a:t>
            </a:r>
          </a:p>
        </p:txBody>
      </p:sp>
      <p:sp>
        <p:nvSpPr>
          <p:cNvPr id="112" name="TextBox 111"/>
          <p:cNvSpPr txBox="1"/>
          <p:nvPr/>
        </p:nvSpPr>
        <p:spPr>
          <a:xfrm>
            <a:off x="612648" y="3566160"/>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The abstract remains provisional and is deferred until the methods, results and discussion are complete. — 29 Oct 2026</a:t>
            </a:r>
          </a:p>
        </p:txBody>
      </p:sp>
      <p:sp>
        <p:nvSpPr>
          <p:cNvPr id="113" name="TextBox 112"/>
          <p:cNvSpPr txBox="1"/>
          <p:nvPr/>
        </p:nvSpPr>
        <p:spPr>
          <a:xfrm>
            <a:off x="594360" y="4471416"/>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“We’re on a good track to get the first draft out by early November.” / “we’ll want to edit for conciseness later on when we have more content.” — 19 Oct 2026</a:t>
            </a:r>
          </a:p>
        </p:txBody>
      </p:sp>
      <p:sp>
        <p:nvSpPr>
          <p:cNvPr id="114" name="TextBox 113"/>
          <p:cNvSpPr txBox="1"/>
          <p:nvPr/>
        </p:nvSpPr>
        <p:spPr>
          <a:xfrm>
            <a:off x="612648" y="4736592"/>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v10 is the Session 5 working draft. The 14 Nov suspense is Dr. Hao comments incorporated + final revisions, including concision and final source/figure checks. — 29 Oct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Progress Since Meeting 4</a:t>
            </a:r>
            <a:endParaRPr/>
          </a:p>
        </p:txBody>
      </p:sp>
      <p:sp>
        <p:nvSpPr>
          <p:cNvPr id="110" name="Rounded Rectangle 109"/>
          <p:cNvSpPr/>
          <p:nvPr/>
        </p:nvSpPr>
        <p:spPr>
          <a:xfrm>
            <a:off x="594360" y="1170432"/>
            <a:ext cx="2606040" cy="987552"/>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0408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47</a:t>
            </a:r>
          </a:p>
        </p:txBody>
      </p:sp>
      <p:sp>
        <p:nvSpPr>
          <p:cNvPr id="112" name="TextBox 111"/>
          <p:cNvSpPr txBox="1"/>
          <p:nvPr/>
        </p:nvSpPr>
        <p:spPr>
          <a:xfrm>
            <a:off x="70408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Chapter 2 body pages</a:t>
            </a:r>
          </a:p>
        </p:txBody>
      </p:sp>
      <p:sp>
        <p:nvSpPr>
          <p:cNvPr id="113" name="Rounded Rectangle 112"/>
          <p:cNvSpPr/>
          <p:nvPr/>
        </p:nvSpPr>
        <p:spPr>
          <a:xfrm>
            <a:off x="3383280" y="1170432"/>
            <a:ext cx="2606040" cy="987552"/>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49300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+30</a:t>
            </a:r>
          </a:p>
        </p:txBody>
      </p:sp>
      <p:sp>
        <p:nvSpPr>
          <p:cNvPr id="115" name="TextBox 114"/>
          <p:cNvSpPr txBox="1"/>
          <p:nvPr/>
        </p:nvSpPr>
        <p:spPr>
          <a:xfrm>
            <a:off x="349300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Pages since v8 / Oct 17</a:t>
            </a:r>
          </a:p>
        </p:txBody>
      </p:sp>
      <p:sp>
        <p:nvSpPr>
          <p:cNvPr id="116" name="Rounded Rectangle 115"/>
          <p:cNvSpPr/>
          <p:nvPr/>
        </p:nvSpPr>
        <p:spPr>
          <a:xfrm>
            <a:off x="6172200" y="1170432"/>
            <a:ext cx="2606040" cy="987552"/>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8192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a:t>
            </a:r>
          </a:p>
        </p:txBody>
      </p:sp>
      <p:sp>
        <p:nvSpPr>
          <p:cNvPr id="118" name="TextBox 117"/>
          <p:cNvSpPr txBox="1"/>
          <p:nvPr/>
        </p:nvSpPr>
        <p:spPr>
          <a:xfrm>
            <a:off x="628192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Civilian use cases</a:t>
            </a:r>
          </a:p>
        </p:txBody>
      </p:sp>
      <p:sp>
        <p:nvSpPr>
          <p:cNvPr id="119" name="Rounded Rectangle 118"/>
          <p:cNvSpPr/>
          <p:nvPr/>
        </p:nvSpPr>
        <p:spPr>
          <a:xfrm>
            <a:off x="8961120" y="1170432"/>
            <a:ext cx="2606040" cy="987552"/>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07084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PASS</a:t>
            </a:r>
          </a:p>
        </p:txBody>
      </p:sp>
      <p:sp>
        <p:nvSpPr>
          <p:cNvPr id="121" name="TextBox 120"/>
          <p:cNvSpPr txBox="1"/>
          <p:nvPr/>
        </p:nvSpPr>
        <p:spPr>
          <a:xfrm>
            <a:off x="907084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Recorded ACE regression</a:t>
            </a:r>
          </a:p>
        </p:txBody>
      </p:sp>
      <p:sp>
        <p:nvSpPr>
          <p:cNvPr id="122" name="TextBox 121"/>
          <p:cNvSpPr txBox="1"/>
          <p:nvPr/>
        </p:nvSpPr>
        <p:spPr>
          <a:xfrm>
            <a:off x="594360" y="2331720"/>
            <a:ext cx="10972800" cy="59436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v10 integrates the updated §2.3 text, 91 unique references and pale-tan revision cues.</a:t>
            </a:r>
          </a:p>
          <a:p>
            <a:pPr algn="l">
              <a:lnSpc>
                <a:spcPct val="105000"/>
              </a:lnSpc>
              <a:spcBef>
                <a:spcPts val="0"/>
              </a:spcBef>
              <a:spcAft>
                <a:spcPts val="200"/>
              </a:spcAft>
            </a:pPr>
            <a:r>
              <a:rPr sz="1700" b="0">
                <a:solidFill>
                  <a:srgbClr val="263746"/>
                </a:solidFill>
                <a:latin typeface="Calibri"/>
              </a:rPr>
              <a:t>All 20 expansion sources are retained in the consolidated bibliography; 15 were new to v9.</a:t>
            </a:r>
          </a:p>
        </p:txBody>
      </p:sp>
      <p:sp>
        <p:nvSpPr>
          <p:cNvPr id="123" name="TextBox 122"/>
          <p:cNvSpPr txBox="1"/>
          <p:nvPr/>
        </p:nvSpPr>
        <p:spPr>
          <a:xfrm>
            <a:off x="594360" y="3035808"/>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1">
                <a:solidFill>
                  <a:srgbClr val="576573"/>
                </a:solidFill>
                <a:latin typeface="Calibri"/>
              </a:rPr>
              <a:t>METHOD PRECEDENTS RETAINED IN THE LITERATURE REVIEW</a:t>
            </a:r>
          </a:p>
        </p:txBody>
      </p:sp>
      <p:graphicFrame>
        <p:nvGraphicFramePr>
          <p:cNvPr id="114" name="Google Shape;114;p24"/>
          <p:cNvGraphicFramePr/>
          <p:nvPr/>
        </p:nvGraphicFramePr>
        <p:xfrm>
          <a:off x="585216" y="3346704"/>
          <a:ext cx="10991100" cy="1901952"/>
        </p:xfrm>
        <a:graphic>
          <a:graphicData uri="http://schemas.openxmlformats.org/drawingml/2006/table">
            <a:tbl>
              <a:tblPr firstRow="1" bandRow="1">
                <a:noFill/>
                <a:tableStyleId>{3C1EB017-BC45-4DEE-9ABB-B4D90C79D28D}</a:tableStyleId>
              </a:tblPr>
              <a:tblGrid>
                <a:gridCol w="1828800">
                  <a:extLst>
                    <a:ext uri="{9D8B030D-6E8A-4147-A177-3AD203B41FA5}">
                      <a16:colId xmlns:a16="http://schemas.microsoft.com/office/drawing/2014/main" val="20000"/>
                    </a:ext>
                  </a:extLst>
                </a:gridCol>
                <a:gridCol w="4663450">
                  <a:extLst>
                    <a:ext uri="{9D8B030D-6E8A-4147-A177-3AD203B41FA5}">
                      <a16:colId xmlns:a16="http://schemas.microsoft.com/office/drawing/2014/main" val="20001"/>
                    </a:ext>
                  </a:extLst>
                </a:gridCol>
                <a:gridCol w="4498850">
                  <a:extLst>
                    <a:ext uri="{9D8B030D-6E8A-4147-A177-3AD203B41FA5}">
                      <a16:colId xmlns:a16="http://schemas.microsoft.com/office/drawing/2014/main" val="20002"/>
                    </a:ext>
                  </a:extLst>
                </a:gridCol>
              </a:tblGrid>
              <a:tr h="27432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Author / year</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Registered work — short title</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Method / relevance recorded</a:t>
                      </a:r>
                      <a:endParaRPr/>
                    </a:p>
                  </a:txBody>
                  <a:tcPr marL="68575" marR="68575" marT="36575" marB="22850" anchor="ctr">
                    <a:solidFill>
                      <a:srgbClr val="E7EEF3"/>
                    </a:solidFill>
                  </a:tcPr>
                </a:tc>
                <a:extLst>
                  <a:ext uri="{0D108BD9-81ED-4DB2-BD59-A6C34878D82A}">
                    <a16:rowId xmlns:a16="http://schemas.microsoft.com/office/drawing/2014/main" val="10000"/>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Browne (2024)</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EV charging: arrivals, utilization and wait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queueing and congestion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Littlefield (2017)</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Reliability of highly parallel systems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redundancy and reliability</a:t>
                      </a:r>
                      <a:endParaRPr/>
                    </a:p>
                  </a:txBody>
                  <a:tcPr marL="68575" marR="68575" marT="36575" marB="22850" anchor="ctr">
                    <a:solidFill>
                      <a:srgbClr val="F6F8FA"/>
                    </a:solidFill>
                  </a:tcPr>
                </a:tc>
                <a:extLst>
                  <a:ext uri="{0D108BD9-81ED-4DB2-BD59-A6C34878D82A}">
                    <a16:rowId xmlns:a16="http://schemas.microsoft.com/office/drawing/2014/main" val="10002"/>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Shanbhag (2021)</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Overcommitment on cloud-computing workloads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finite compute resources and overload</a:t>
                      </a:r>
                      <a:endParaRPr/>
                    </a:p>
                  </a:txBody>
                  <a:tcPr marL="68575" marR="68575" marT="36575" marB="22850" anchor="ctr">
                    <a:solidFill>
                      <a:srgbClr val="FFFFFF"/>
                    </a:solidFill>
                  </a:tcPr>
                </a:tc>
                <a:extLst>
                  <a:ext uri="{0D108BD9-81ED-4DB2-BD59-A6C34878D82A}">
                    <a16:rowId xmlns:a16="http://schemas.microsoft.com/office/drawing/2014/main" val="10003"/>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Newell (2023)</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Spare-part quantities and obsolescence cycles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repair and operational availability</a:t>
                      </a:r>
                      <a:endParaRPr/>
                    </a:p>
                  </a:txBody>
                  <a:tcPr marL="68575" marR="68575" marT="36575" marB="22850" anchor="ctr">
                    <a:solidFill>
                      <a:srgbClr val="F6F8FA"/>
                    </a:solidFill>
                  </a:tcPr>
                </a:tc>
                <a:extLst>
                  <a:ext uri="{0D108BD9-81ED-4DB2-BD59-A6C34878D82A}">
                    <a16:rowId xmlns:a16="http://schemas.microsoft.com/office/drawing/2014/main" val="10004"/>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Devineni (2023)</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IT service incident resolution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waiting and resolution time</a:t>
                      </a:r>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24" name="TextBox 12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3 of 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Open Items and Submission Controls</a:t>
            </a:r>
            <a:endParaRPr/>
          </a:p>
        </p:txBody>
      </p:sp>
      <p:sp>
        <p:nvSpPr>
          <p:cNvPr id="123" name="Rectangle 122"/>
          <p:cNvSpPr/>
          <p:nvPr/>
        </p:nvSpPr>
        <p:spPr>
          <a:xfrm>
            <a:off x="566928" y="1188720"/>
            <a:ext cx="10991088" cy="905256"/>
          </a:xfrm>
          <a:prstGeom prst="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31520" y="126187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Chapter 2 editing</a:t>
            </a:r>
          </a:p>
        </p:txBody>
      </p:sp>
      <p:sp>
        <p:nvSpPr>
          <p:cNvPr id="125" name="TextBox 124"/>
          <p:cNvSpPr txBox="1"/>
          <p:nvPr/>
        </p:nvSpPr>
        <p:spPr>
          <a:xfrm>
            <a:off x="2971800" y="126187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Content is expanded. Next: shorten repetitive passages, resolve grammar and retain Carlo’s wording, technical boundaries and inline citations.</a:t>
            </a:r>
          </a:p>
        </p:txBody>
      </p:sp>
      <p:sp>
        <p:nvSpPr>
          <p:cNvPr id="126" name="Rectangle 125"/>
          <p:cNvSpPr/>
          <p:nvPr/>
        </p:nvSpPr>
        <p:spPr>
          <a:xfrm>
            <a:off x="566928" y="228600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31520" y="235915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Advisor disposition</a:t>
            </a:r>
          </a:p>
        </p:txBody>
      </p:sp>
      <p:sp>
        <p:nvSpPr>
          <p:cNvPr id="128" name="TextBox 127"/>
          <p:cNvSpPr txBox="1"/>
          <p:nvPr/>
        </p:nvSpPr>
        <p:spPr>
          <a:xfrm>
            <a:off x="2971800" y="235915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Quantification and oversight additions are ready for review. The abstract revision is deferred until Chapter 5; approval remains with Dr. Hao.</a:t>
            </a:r>
          </a:p>
        </p:txBody>
      </p:sp>
      <p:sp>
        <p:nvSpPr>
          <p:cNvPr id="129" name="Rectangle 128"/>
          <p:cNvSpPr/>
          <p:nvPr/>
        </p:nvSpPr>
        <p:spPr>
          <a:xfrm>
            <a:off x="566928" y="338328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31520" y="345643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Model evidence</a:t>
            </a:r>
          </a:p>
        </p:txBody>
      </p:sp>
      <p:sp>
        <p:nvSpPr>
          <p:cNvPr id="131" name="TextBox 130"/>
          <p:cNvSpPr txBox="1"/>
          <p:nvPr/>
        </p:nvSpPr>
        <p:spPr>
          <a:xfrm>
            <a:off x="2971800" y="345643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 saved regression reports PASS. Carlo’s licensed-environment reproduction, warnings and wall-clock log remain to be recorded.</a:t>
            </a:r>
          </a:p>
        </p:txBody>
      </p:sp>
      <p:sp>
        <p:nvSpPr>
          <p:cNvPr id="132" name="Rectangle 131"/>
          <p:cNvSpPr/>
          <p:nvPr/>
        </p:nvSpPr>
        <p:spPr>
          <a:xfrm>
            <a:off x="566928" y="448056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31520" y="455371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Geometry and provenance</a:t>
            </a:r>
          </a:p>
        </p:txBody>
      </p:sp>
      <p:sp>
        <p:nvSpPr>
          <p:cNvPr id="134" name="TextBox 133"/>
          <p:cNvSpPr txBox="1"/>
          <p:nvPr/>
        </p:nvSpPr>
        <p:spPr>
          <a:xfrm>
            <a:off x="2971800" y="455371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Historical OPS-SAT orbital inputs remain pending verification. The current 600 s up / 120 s down schedule remains a declared synthetic scenario.</a:t>
            </a:r>
          </a:p>
        </p:txBody>
      </p:sp>
      <p:sp>
        <p:nvSpPr>
          <p:cNvPr id="135" name="TextBox 13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4 of 29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Next Steps: Chapter 2 First</a:t>
            </a:r>
            <a:endParaRPr/>
          </a:p>
        </p:txBody>
      </p:sp>
      <p:sp>
        <p:nvSpPr>
          <p:cNvPr id="134" name="Rectangle 133"/>
          <p:cNvSpPr/>
          <p:nvPr/>
        </p:nvSpPr>
        <p:spPr>
          <a:xfrm>
            <a:off x="566928" y="1143000"/>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94360" y="1170432"/>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01</a:t>
            </a:r>
          </a:p>
        </p:txBody>
      </p:sp>
      <p:sp>
        <p:nvSpPr>
          <p:cNvPr id="136" name="TextBox 135"/>
          <p:cNvSpPr txBox="1"/>
          <p:nvPr/>
        </p:nvSpPr>
        <p:spPr>
          <a:xfrm>
            <a:off x="1161288" y="1143000"/>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Reduce and edit Chapter 2</a:t>
            </a:r>
          </a:p>
        </p:txBody>
      </p:sp>
      <p:sp>
        <p:nvSpPr>
          <p:cNvPr id="137" name="TextBox 136"/>
          <p:cNvSpPr txBox="1"/>
          <p:nvPr/>
        </p:nvSpPr>
        <p:spPr>
          <a:xfrm>
            <a:off x="1161288" y="1463040"/>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Apply Hao’s guidance on concision; consolidate repetitive explanation while retaining the quantified examples and three civilian cases.</a:t>
            </a:r>
          </a:p>
        </p:txBody>
      </p:sp>
      <p:sp>
        <p:nvSpPr>
          <p:cNvPr id="138" name="Rectangle 137"/>
          <p:cNvSpPr/>
          <p:nvPr/>
        </p:nvSpPr>
        <p:spPr>
          <a:xfrm>
            <a:off x="566928" y="2029968"/>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94360" y="2057400"/>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02</a:t>
            </a:r>
          </a:p>
        </p:txBody>
      </p:sp>
      <p:sp>
        <p:nvSpPr>
          <p:cNvPr id="140" name="TextBox 139"/>
          <p:cNvSpPr txBox="1"/>
          <p:nvPr/>
        </p:nvSpPr>
        <p:spPr>
          <a:xfrm>
            <a:off x="1161288" y="2029968"/>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Prepare the advisor submission</a:t>
            </a:r>
          </a:p>
        </p:txBody>
      </p:sp>
      <p:sp>
        <p:nvSpPr>
          <p:cNvPr id="141" name="TextBox 140"/>
          <p:cNvSpPr txBox="1"/>
          <p:nvPr/>
        </p:nvSpPr>
        <p:spPr>
          <a:xfrm>
            <a:off x="1161288" y="2350008"/>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Review prose, citations, References, captions and front matter. Preserve the highlighted working copy as the change record.</a:t>
            </a:r>
          </a:p>
        </p:txBody>
      </p:sp>
      <p:sp>
        <p:nvSpPr>
          <p:cNvPr id="142" name="Rectangle 141"/>
          <p:cNvSpPr/>
          <p:nvPr/>
        </p:nvSpPr>
        <p:spPr>
          <a:xfrm>
            <a:off x="566928" y="2916936"/>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94360" y="2944368"/>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03</a:t>
            </a:r>
          </a:p>
        </p:txBody>
      </p:sp>
      <p:sp>
        <p:nvSpPr>
          <p:cNvPr id="144" name="TextBox 143"/>
          <p:cNvSpPr txBox="1"/>
          <p:nvPr/>
        </p:nvSpPr>
        <p:spPr>
          <a:xfrm>
            <a:off x="1161288" y="2916936"/>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Reproduce and document the model</a:t>
            </a:r>
          </a:p>
        </p:txBody>
      </p:sp>
      <p:sp>
        <p:nvSpPr>
          <p:cNvPr id="145" name="TextBox 144"/>
          <p:cNvSpPr txBox="1"/>
          <p:nvPr/>
        </p:nvSpPr>
        <p:spPr>
          <a:xfrm>
            <a:off x="1161288" y="3236976"/>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Run the bounded ACE case on Carlo’s licensed installation; capture release, PASS/FAIL, errors, warnings and elapsed time.</a:t>
            </a:r>
          </a:p>
        </p:txBody>
      </p:sp>
      <p:sp>
        <p:nvSpPr>
          <p:cNvPr id="146" name="Rectangle 145"/>
          <p:cNvSpPr/>
          <p:nvPr/>
        </p:nvSpPr>
        <p:spPr>
          <a:xfrm>
            <a:off x="566928" y="3803904"/>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94360" y="3831336"/>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04</a:t>
            </a:r>
          </a:p>
        </p:txBody>
      </p:sp>
      <p:sp>
        <p:nvSpPr>
          <p:cNvPr id="148" name="TextBox 147"/>
          <p:cNvSpPr txBox="1"/>
          <p:nvPr/>
        </p:nvSpPr>
        <p:spPr>
          <a:xfrm>
            <a:off x="1161288" y="3803904"/>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Plan bounded extensions</a:t>
            </a:r>
          </a:p>
        </p:txBody>
      </p:sp>
      <p:sp>
        <p:nvSpPr>
          <p:cNvPr id="149" name="TextBox 148"/>
          <p:cNvSpPr txBox="1"/>
          <p:nvPr/>
        </p:nvSpPr>
        <p:spPr>
          <a:xfrm>
            <a:off x="1161288" y="4123944"/>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Benchmark small replication batches; define sensitivity factors. Aerospace geometry / visualization remains a separately verified next capability.</a:t>
            </a:r>
          </a:p>
        </p:txBody>
      </p:sp>
      <p:sp>
        <p:nvSpPr>
          <p:cNvPr id="150" name="Rectangle 149"/>
          <p:cNvSpPr/>
          <p:nvPr/>
        </p:nvSpPr>
        <p:spPr>
          <a:xfrm>
            <a:off x="566928" y="4690872"/>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94360" y="4718304"/>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05</a:t>
            </a:r>
          </a:p>
        </p:txBody>
      </p:sp>
      <p:sp>
        <p:nvSpPr>
          <p:cNvPr id="152" name="TextBox 151"/>
          <p:cNvSpPr txBox="1"/>
          <p:nvPr/>
        </p:nvSpPr>
        <p:spPr>
          <a:xfrm>
            <a:off x="1161288" y="4690872"/>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Session 6 • November 14 suspense</a:t>
            </a:r>
          </a:p>
        </p:txBody>
      </p:sp>
      <p:sp>
        <p:nvSpPr>
          <p:cNvPr id="153" name="TextBox 152"/>
          <p:cNvSpPr txBox="1"/>
          <p:nvPr/>
        </p:nvSpPr>
        <p:spPr>
          <a:xfrm>
            <a:off x="1161288" y="5010912"/>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520" b="0">
                <a:solidFill>
                  <a:srgbClr val="202020"/>
                </a:solidFill>
                <a:latin typeface="Calibri"/>
              </a:rPr>
              <a:t>Due: Dr. Hao comments incorporated + final Chapter 2 revisions; assemble the evidence package and carry forward any remaining model actions.</a:t>
            </a:r>
          </a:p>
        </p:txBody>
      </p:sp>
      <p:sp>
        <p:nvSpPr>
          <p:cNvPr id="154" name="TextBox 1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5 of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Work Package: Meeting 4 to Session 6</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Completed work is left of the green TODAY line; the red line is the next advisor suspense.</a:t>
            </a:r>
          </a:p>
        </p:txBody>
      </p:sp>
      <p:cxnSp>
        <p:nvCxnSpPr>
          <p:cNvPr id="4" name="Connector 3"/>
          <p:cNvCxnSpPr/>
          <p:nvPr/>
        </p:nvCxnSpPr>
        <p:spPr>
          <a:xfrm>
            <a:off x="352044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17 Oct</a:t>
            </a:r>
          </a:p>
        </p:txBody>
      </p:sp>
      <p:cxnSp>
        <p:nvCxnSpPr>
          <p:cNvPr id="6" name="Connector 5"/>
          <p:cNvCxnSpPr/>
          <p:nvPr/>
        </p:nvCxnSpPr>
        <p:spPr>
          <a:xfrm>
            <a:off x="550926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892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24 Oct</a:t>
            </a:r>
          </a:p>
        </p:txBody>
      </p:sp>
      <p:cxnSp>
        <p:nvCxnSpPr>
          <p:cNvPr id="8" name="Connector 7"/>
          <p:cNvCxnSpPr/>
          <p:nvPr/>
        </p:nvCxnSpPr>
        <p:spPr>
          <a:xfrm>
            <a:off x="7213962"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939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10" name="Connector 9"/>
          <p:cNvCxnSpPr/>
          <p:nvPr/>
        </p:nvCxnSpPr>
        <p:spPr>
          <a:xfrm>
            <a:off x="948690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668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7 Nov</a:t>
            </a:r>
          </a:p>
        </p:txBody>
      </p:sp>
      <p:cxnSp>
        <p:nvCxnSpPr>
          <p:cNvPr id="12" name="Connector 11"/>
          <p:cNvCxnSpPr/>
          <p:nvPr/>
        </p:nvCxnSpPr>
        <p:spPr>
          <a:xfrm>
            <a:off x="1147572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v9 literature expansion</a:t>
            </a:r>
          </a:p>
        </p:txBody>
      </p:sp>
      <p:sp>
        <p:nvSpPr>
          <p:cNvPr id="15" name="Rectangle 14"/>
          <p:cNvSpPr/>
          <p:nvPr/>
        </p:nvSpPr>
        <p:spPr>
          <a:xfrm>
            <a:off x="3520440" y="1984248"/>
            <a:ext cx="1988820"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286B98"/>
                </a:solidFill>
                <a:latin typeface="Calibri"/>
              </a:rPr>
              <a:t>DONE · 24 Oct</a:t>
            </a:r>
          </a:p>
        </p:txBody>
      </p:sp>
      <p:sp>
        <p:nvSpPr>
          <p:cNvPr id="17" name="TextBox 16"/>
          <p:cNvSpPr txBox="1"/>
          <p:nvPr/>
        </p:nvSpPr>
        <p:spPr>
          <a:xfrm>
            <a:off x="502920" y="256946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20">
                <a:solidFill>
                  <a:srgbClr val="202020"/>
                </a:solidFill>
                <a:latin typeface="Calibri"/>
              </a:rPr>
              <a:t>§2.3 quantification + oversight + v10</a:t>
            </a:r>
          </a:p>
        </p:txBody>
      </p:sp>
      <p:sp>
        <p:nvSpPr>
          <p:cNvPr id="18" name="Rectangle 17"/>
          <p:cNvSpPr/>
          <p:nvPr/>
        </p:nvSpPr>
        <p:spPr>
          <a:xfrm>
            <a:off x="5509260" y="2660903"/>
            <a:ext cx="1136468"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5836" y="2871215"/>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167E86"/>
                </a:solidFill>
                <a:latin typeface="Calibri"/>
              </a:rPr>
              <a:t>DONE · 28 Oct</a:t>
            </a:r>
          </a:p>
        </p:txBody>
      </p:sp>
      <p:sp>
        <p:nvSpPr>
          <p:cNvPr id="20" name="TextBox 19"/>
          <p:cNvSpPr txBox="1"/>
          <p:nvPr/>
        </p:nvSpPr>
        <p:spPr>
          <a:xfrm>
            <a:off x="502920" y="324612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50">
                <a:solidFill>
                  <a:srgbClr val="202020"/>
                </a:solidFill>
                <a:latin typeface="Calibri"/>
              </a:rPr>
              <a:t>Session 5 brief + MATLAB evidence</a:t>
            </a:r>
          </a:p>
        </p:txBody>
      </p:sp>
      <p:sp>
        <p:nvSpPr>
          <p:cNvPr id="21" name="Rectangle 20"/>
          <p:cNvSpPr/>
          <p:nvPr/>
        </p:nvSpPr>
        <p:spPr>
          <a:xfrm>
            <a:off x="6645728" y="3337560"/>
            <a:ext cx="568234"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82304" y="354787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DONE · 29 Oct</a:t>
            </a:r>
          </a:p>
        </p:txBody>
      </p:sp>
      <p:sp>
        <p:nvSpPr>
          <p:cNvPr id="23" name="TextBox 22"/>
          <p:cNvSpPr txBox="1"/>
          <p:nvPr/>
        </p:nvSpPr>
        <p:spPr>
          <a:xfrm>
            <a:off x="502920" y="39227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50">
                <a:solidFill>
                  <a:srgbClr val="202020"/>
                </a:solidFill>
                <a:latin typeface="Calibri"/>
              </a:rPr>
              <a:t>Dr. Hao comments + final revisions</a:t>
            </a:r>
          </a:p>
        </p:txBody>
      </p:sp>
      <p:sp>
        <p:nvSpPr>
          <p:cNvPr id="24" name="Rectangle 23"/>
          <p:cNvSpPr/>
          <p:nvPr/>
        </p:nvSpPr>
        <p:spPr>
          <a:xfrm>
            <a:off x="7213962" y="4014216"/>
            <a:ext cx="4261104"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50538" y="4224528"/>
            <a:ext cx="4261757"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PRIMARY SUSPENSE · 14 Nov</a:t>
            </a:r>
          </a:p>
        </p:txBody>
      </p:sp>
      <p:sp>
        <p:nvSpPr>
          <p:cNvPr id="26" name="TextBox 25"/>
          <p:cNvSpPr txBox="1"/>
          <p:nvPr/>
        </p:nvSpPr>
        <p:spPr>
          <a:xfrm>
            <a:off x="502920" y="459943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Session 6 evidence package</a:t>
            </a:r>
          </a:p>
        </p:txBody>
      </p:sp>
      <p:sp>
        <p:nvSpPr>
          <p:cNvPr id="27" name="Rectangle 26"/>
          <p:cNvSpPr/>
          <p:nvPr/>
        </p:nvSpPr>
        <p:spPr>
          <a:xfrm>
            <a:off x="10907485" y="4690872"/>
            <a:ext cx="568234"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4901184"/>
            <a:ext cx="155448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286B98"/>
                </a:solidFill>
                <a:latin typeface="Calibri"/>
              </a:rPr>
              <a:t>Briefing gate</a:t>
            </a:r>
          </a:p>
        </p:txBody>
      </p:sp>
      <p:cxnSp>
        <p:nvCxnSpPr>
          <p:cNvPr id="29" name="Connector 28"/>
          <p:cNvCxnSpPr/>
          <p:nvPr/>
        </p:nvCxnSpPr>
        <p:spPr>
          <a:xfrm>
            <a:off x="7213962" y="1627632"/>
            <a:ext cx="0" cy="3776472"/>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46520" y="1097280"/>
            <a:ext cx="15544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1" name="Connector 30"/>
          <p:cNvCxnSpPr/>
          <p:nvPr/>
        </p:nvCxnSpPr>
        <p:spPr>
          <a:xfrm>
            <a:off x="11475720" y="1627632"/>
            <a:ext cx="0" cy="3776472"/>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3" name="TextBox 32"/>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a:solidFill>
                  <a:srgbClr val="202020"/>
                </a:solidFill>
                <a:latin typeface="Calibri"/>
              </a:rPr>
              <a:t>Green = October 30 briefing.  Red suspense = November 14: Dr. Hao comments incorporated + final revisions.</a:t>
            </a:r>
          </a:p>
        </p:txBody>
      </p:sp>
      <p:sp>
        <p:nvSpPr>
          <p:cNvPr id="34" name="TextBox 3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6 of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Next Work Period: October 30–November 14</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Primary writing task: incorporate Session 5 guidance and close Chapter 2; model reproduction supports the evidence package.</a:t>
            </a:r>
          </a:p>
        </p:txBody>
      </p:sp>
      <p:cxnSp>
        <p:nvCxnSpPr>
          <p:cNvPr id="4" name="Connector 3"/>
          <p:cNvCxnSpPr/>
          <p:nvPr/>
        </p:nvCxnSpPr>
        <p:spPr>
          <a:xfrm>
            <a:off x="352044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6" name="Connector 5"/>
          <p:cNvCxnSpPr/>
          <p:nvPr/>
        </p:nvCxnSpPr>
        <p:spPr>
          <a:xfrm>
            <a:off x="5111496"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 Nov</a:t>
            </a:r>
          </a:p>
        </p:txBody>
      </p:sp>
      <p:cxnSp>
        <p:nvCxnSpPr>
          <p:cNvPr id="8" name="Connector 7"/>
          <p:cNvCxnSpPr/>
          <p:nvPr/>
        </p:nvCxnSpPr>
        <p:spPr>
          <a:xfrm>
            <a:off x="7232904"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6 Nov</a:t>
            </a:r>
          </a:p>
        </p:txBody>
      </p:sp>
      <p:cxnSp>
        <p:nvCxnSpPr>
          <p:cNvPr id="10" name="Connector 9"/>
          <p:cNvCxnSpPr/>
          <p:nvPr/>
        </p:nvCxnSpPr>
        <p:spPr>
          <a:xfrm>
            <a:off x="9354312"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10 Nov</a:t>
            </a:r>
          </a:p>
        </p:txBody>
      </p:sp>
      <p:cxnSp>
        <p:nvCxnSpPr>
          <p:cNvPr id="12" name="Connector 11"/>
          <p:cNvCxnSpPr/>
          <p:nvPr/>
        </p:nvCxnSpPr>
        <p:spPr>
          <a:xfrm>
            <a:off x="1147572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Capture Session 5 guidance</a:t>
            </a:r>
          </a:p>
        </p:txBody>
      </p:sp>
      <p:sp>
        <p:nvSpPr>
          <p:cNvPr id="15" name="Rectangle 14"/>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Planned</a:t>
            </a:r>
          </a:p>
        </p:txBody>
      </p:sp>
      <p:sp>
        <p:nvSpPr>
          <p:cNvPr id="17" name="TextBox 16"/>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30">
                <a:solidFill>
                  <a:srgbClr val="202020"/>
                </a:solidFill>
                <a:latin typeface="Calibri"/>
              </a:rPr>
              <a:t>Dr. Hao comments + final Chapter 2 revisions</a:t>
            </a:r>
          </a:p>
        </p:txBody>
      </p:sp>
      <p:sp>
        <p:nvSpPr>
          <p:cNvPr id="18" name="Rectangle 17"/>
          <p:cNvSpPr/>
          <p:nvPr/>
        </p:nvSpPr>
        <p:spPr>
          <a:xfrm>
            <a:off x="3520440" y="2542032"/>
            <a:ext cx="795528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PRIMARY SUSPENSE · 14 Nov</a:t>
            </a:r>
          </a:p>
        </p:txBody>
      </p:sp>
      <p:sp>
        <p:nvSpPr>
          <p:cNvPr id="20" name="TextBox 19"/>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30">
                <a:solidFill>
                  <a:srgbClr val="202020"/>
                </a:solidFill>
                <a:latin typeface="Calibri"/>
              </a:rPr>
              <a:t>Concision, citations, figures and formatting</a:t>
            </a:r>
          </a:p>
        </p:txBody>
      </p:sp>
      <p:sp>
        <p:nvSpPr>
          <p:cNvPr id="21" name="Rectangle 20"/>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Controlled final revision</a:t>
            </a:r>
          </a:p>
        </p:txBody>
      </p:sp>
      <p:sp>
        <p:nvSpPr>
          <p:cNvPr id="23" name="TextBox 22"/>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Owner MATLAB reproduction</a:t>
            </a:r>
          </a:p>
        </p:txBody>
      </p:sp>
      <p:sp>
        <p:nvSpPr>
          <p:cNvPr id="24" name="Rectangle 23"/>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PASS log + elapsed time</a:t>
            </a:r>
          </a:p>
        </p:txBody>
      </p:sp>
      <p:sp>
        <p:nvSpPr>
          <p:cNvPr id="26" name="TextBox 25"/>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V&amp;V / sensitivity plan</a:t>
            </a:r>
          </a:p>
        </p:txBody>
      </p:sp>
      <p:sp>
        <p:nvSpPr>
          <p:cNvPr id="27" name="Rectangle 26"/>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Bounded test design</a:t>
            </a:r>
          </a:p>
        </p:txBody>
      </p:sp>
      <p:sp>
        <p:nvSpPr>
          <p:cNvPr id="29" name="TextBox 28"/>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Session 6 review package</a:t>
            </a:r>
          </a:p>
        </p:txBody>
      </p:sp>
      <p:sp>
        <p:nvSpPr>
          <p:cNvPr id="30" name="Rectangle 29"/>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Final revisions + evidence</a:t>
            </a:r>
          </a:p>
        </p:txBody>
      </p:sp>
      <p:cxnSp>
        <p:nvCxnSpPr>
          <p:cNvPr id="32" name="Connector 31"/>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88920" y="1097280"/>
            <a:ext cx="160020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4" name="Connector 33"/>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6" name="TextBox 35"/>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a:solidFill>
                  <a:srgbClr val="202020"/>
                </a:solidFill>
                <a:latin typeface="Calibri"/>
              </a:rPr>
              <a:t>Green = October 30 briefing.  Red suspense = November 14: Dr. Hao comments incorporated + final revisions.</a:t>
            </a:r>
          </a:p>
        </p:txBody>
      </p:sp>
      <p:sp>
        <p:nvSpPr>
          <p:cNvPr id="37" name="TextBox 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7 of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Chapter 2 Growth: Narrative Pages Only</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Same 1-inch top/bottom and 1.25-inch side margins; counts begin at Chapter 2 and end before References.</a:t>
            </a:r>
          </a:p>
        </p:txBody>
      </p:sp>
      <p:graphicFrame>
        <p:nvGraphicFramePr>
          <p:cNvPr id="4" name="Chart 3"/>
          <p:cNvGraphicFramePr>
            <a:graphicFrameLocks noGrp="1"/>
          </p:cNvGraphicFramePr>
          <p:nvPr/>
        </p:nvGraphicFramePr>
        <p:xfrm>
          <a:off x="658368" y="1417320"/>
          <a:ext cx="6949440" cy="3986784"/>
        </p:xfrm>
        <a:graphic>
          <a:graphicData uri="http://schemas.openxmlformats.org/drawingml/2006/chart">
            <c:chart xmlns:c="http://schemas.openxmlformats.org/drawingml/2006/chart" r:id="rId2"/>
          </a:graphicData>
        </a:graphic>
      </p:graphicFrame>
      <p:sp>
        <p:nvSpPr>
          <p:cNvPr id="5" name="Rounded Rectangle 4"/>
          <p:cNvSpPr/>
          <p:nvPr/>
        </p:nvSpPr>
        <p:spPr>
          <a:xfrm>
            <a:off x="8001000" y="1508760"/>
            <a:ext cx="3474720" cy="1325880"/>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11312" y="1627632"/>
            <a:ext cx="3108960" cy="548640"/>
          </a:xfrm>
          <a:prstGeom prst="rect">
            <a:avLst/>
          </a:prstGeom>
          <a:noFill/>
        </p:spPr>
        <p:txBody>
          <a:bodyPr wrap="square" lIns="18288" rIns="18288" tIns="18288" bIns="18288">
            <a:spAutoFit/>
          </a:bodyPr>
          <a:lstStyle/>
          <a:p>
            <a:pPr algn="l">
              <a:lnSpc>
                <a:spcPct val="105000"/>
              </a:lnSpc>
              <a:spcBef>
                <a:spcPts val="0"/>
              </a:spcBef>
              <a:spcAft>
                <a:spcPts val="200"/>
              </a:spcAft>
            </a:pPr>
            <a:r>
              <a:rPr sz="3200" b="1">
                <a:solidFill>
                  <a:srgbClr val="29864D"/>
                </a:solidFill>
                <a:latin typeface="Calibri"/>
              </a:rPr>
              <a:t>+30 pages</a:t>
            </a:r>
          </a:p>
        </p:txBody>
      </p:sp>
      <p:sp>
        <p:nvSpPr>
          <p:cNvPr id="7" name="TextBox 6"/>
          <p:cNvSpPr txBox="1"/>
          <p:nvPr/>
        </p:nvSpPr>
        <p:spPr>
          <a:xfrm>
            <a:off x="8211312" y="2258568"/>
            <a:ext cx="3063240" cy="33832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since Meeting 4: 17 → 47</a:t>
            </a:r>
          </a:p>
        </p:txBody>
      </p:sp>
      <p:sp>
        <p:nvSpPr>
          <p:cNvPr id="8" name="Rounded Rectangle 7"/>
          <p:cNvSpPr/>
          <p:nvPr/>
        </p:nvSpPr>
        <p:spPr>
          <a:xfrm>
            <a:off x="8001000" y="3090672"/>
            <a:ext cx="3474720" cy="1188720"/>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227832"/>
            <a:ext cx="31089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2500" b="1">
                <a:solidFill>
                  <a:srgbClr val="002B49"/>
                </a:solidFill>
                <a:latin typeface="Calibri"/>
              </a:rPr>
              <a:t>+15 beyond v9</a:t>
            </a:r>
          </a:p>
        </p:txBody>
      </p:sp>
      <p:sp>
        <p:nvSpPr>
          <p:cNvPr id="10" name="TextBox 9"/>
          <p:cNvSpPr txBox="1"/>
          <p:nvPr/>
        </p:nvSpPr>
        <p:spPr>
          <a:xfrm>
            <a:off x="8211312" y="3739896"/>
            <a:ext cx="306324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32 → 47 narrative pages</a:t>
            </a:r>
          </a:p>
        </p:txBody>
      </p:sp>
      <p:sp>
        <p:nvSpPr>
          <p:cNvPr id="11" name="TextBox 10"/>
          <p:cNvSpPr txBox="1"/>
          <p:nvPr/>
        </p:nvSpPr>
        <p:spPr>
          <a:xfrm>
            <a:off x="8092440" y="4617720"/>
            <a:ext cx="3383280" cy="82296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v10 total: 71 pages</a:t>
            </a:r>
          </a:p>
          <a:p>
            <a:pPr algn="l">
              <a:lnSpc>
                <a:spcPct val="105000"/>
              </a:lnSpc>
              <a:spcBef>
                <a:spcPts val="0"/>
              </a:spcBef>
              <a:spcAft>
                <a:spcPts val="200"/>
              </a:spcAft>
            </a:pPr>
            <a:r>
              <a:rPr sz="1600" b="0">
                <a:solidFill>
                  <a:srgbClr val="263746"/>
                </a:solidFill>
                <a:latin typeface="Calibri"/>
              </a:rPr>
              <a:t>10 front matter + 47 body + 14 references</a:t>
            </a:r>
          </a:p>
        </p:txBody>
      </p:sp>
      <p:sp>
        <p:nvSpPr>
          <p:cNvPr id="12" name="TextBox 1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8 of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Three Distinct Civilian Use Cases</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§2.3 connects processing and communications constraints to defined information-delivery needs.</a:t>
            </a:r>
          </a:p>
        </p:txBody>
      </p:sp>
      <p:sp>
        <p:nvSpPr>
          <p:cNvPr id="4" name="Rounded Rectangle 3"/>
          <p:cNvSpPr/>
          <p:nvPr/>
        </p:nvSpPr>
        <p:spPr>
          <a:xfrm>
            <a:off x="548640" y="1371600"/>
            <a:ext cx="3474720" cy="3904487"/>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SCHOOL</a:t>
            </a:r>
          </a:p>
        </p:txBody>
      </p:sp>
      <p:sp>
        <p:nvSpPr>
          <p:cNvPr id="6" name="TextBox 5"/>
          <p:cNvSpPr txBox="1"/>
          <p:nvPr/>
        </p:nvSpPr>
        <p:spPr>
          <a:xfrm>
            <a:off x="704088"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Wildfire situational awareness</a:t>
            </a:r>
          </a:p>
        </p:txBody>
      </p:sp>
      <p:sp>
        <p:nvSpPr>
          <p:cNvPr id="7" name="TextBox 6"/>
          <p:cNvSpPr txBox="1"/>
          <p:nvPr/>
        </p:nvSpPr>
        <p:spPr>
          <a:xfrm>
            <a:off x="704088"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Thermal-event location, timestamp and quality / image context support district review. Staff retain activity and emergency decisions.</a:t>
            </a:r>
          </a:p>
        </p:txBody>
      </p:sp>
      <p:sp>
        <p:nvSpPr>
          <p:cNvPr id="8" name="TextBox 7"/>
          <p:cNvSpPr txBox="1"/>
          <p:nvPr/>
        </p:nvSpPr>
        <p:spPr>
          <a:xfrm>
            <a:off x="704088"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21–22 and 30–31</a:t>
            </a:r>
          </a:p>
        </p:txBody>
      </p:sp>
      <p:sp>
        <p:nvSpPr>
          <p:cNvPr id="9" name="TextBox 8"/>
          <p:cNvSpPr txBox="1"/>
          <p:nvPr/>
        </p:nvSpPr>
        <p:spPr>
          <a:xfrm>
            <a:off x="704088"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Schroeder et al. (2014); EPA &amp; CDC (2014)</a:t>
            </a:r>
          </a:p>
        </p:txBody>
      </p:sp>
      <p:sp>
        <p:nvSpPr>
          <p:cNvPr id="10" name="Rounded Rectangle 9"/>
          <p:cNvSpPr/>
          <p:nvPr/>
        </p:nvSpPr>
        <p:spPr>
          <a:xfrm>
            <a:off x="4361688" y="1371600"/>
            <a:ext cx="3474720" cy="3904487"/>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MEDICAL</a:t>
            </a:r>
          </a:p>
        </p:txBody>
      </p:sp>
      <p:sp>
        <p:nvSpPr>
          <p:cNvPr id="12" name="TextBox 11"/>
          <p:cNvSpPr txBox="1"/>
          <p:nvPr/>
        </p:nvSpPr>
        <p:spPr>
          <a:xfrm>
            <a:off x="4517136"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Flood information for hospital access</a:t>
            </a:r>
          </a:p>
        </p:txBody>
      </p:sp>
      <p:sp>
        <p:nvSpPr>
          <p:cNvPr id="13" name="TextBox 12"/>
          <p:cNvSpPr txBox="1"/>
          <p:nvPr/>
        </p:nvSpPr>
        <p:spPr>
          <a:xfrm>
            <a:off x="4517136"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Flood / access information supports transport and healthcare coordination. On-the-ground staff retain route confirmation and clinical judgment.</a:t>
            </a:r>
          </a:p>
        </p:txBody>
      </p:sp>
      <p:sp>
        <p:nvSpPr>
          <p:cNvPr id="14" name="TextBox 13"/>
          <p:cNvSpPr txBox="1"/>
          <p:nvPr/>
        </p:nvSpPr>
        <p:spPr>
          <a:xfrm>
            <a:off x="4517136"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22–23 and 31–32</a:t>
            </a:r>
          </a:p>
        </p:txBody>
      </p:sp>
      <p:sp>
        <p:nvSpPr>
          <p:cNvPr id="15" name="TextBox 14"/>
          <p:cNvSpPr txBox="1"/>
          <p:nvPr/>
        </p:nvSpPr>
        <p:spPr>
          <a:xfrm>
            <a:off x="4517136"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Petricola et al. (2022); Twele et al. (2016)</a:t>
            </a:r>
          </a:p>
        </p:txBody>
      </p:sp>
      <p:sp>
        <p:nvSpPr>
          <p:cNvPr id="16" name="Rounded Rectangle 15"/>
          <p:cNvSpPr/>
          <p:nvPr/>
        </p:nvSpPr>
        <p:spPr>
          <a:xfrm>
            <a:off x="8174736" y="1371600"/>
            <a:ext cx="3474720" cy="3904487"/>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3"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MUNICIPAL</a:t>
            </a:r>
          </a:p>
        </p:txBody>
      </p:sp>
      <p:sp>
        <p:nvSpPr>
          <p:cNvPr id="18" name="TextBox 17"/>
          <p:cNvSpPr txBox="1"/>
          <p:nvPr/>
        </p:nvSpPr>
        <p:spPr>
          <a:xfrm>
            <a:off x="8330183"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Reservoir and bloom monitoring</a:t>
            </a:r>
          </a:p>
        </p:txBody>
      </p:sp>
      <p:sp>
        <p:nvSpPr>
          <p:cNvPr id="19" name="TextBox 18"/>
          <p:cNvSpPr txBox="1"/>
          <p:nvPr/>
        </p:nvSpPr>
        <p:spPr>
          <a:xfrm>
            <a:off x="8330183"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Compact waterbody-screening reports guide sampling attention. Municipal personnel retain field verification and public-authority decisions.</a:t>
            </a:r>
          </a:p>
        </p:txBody>
      </p:sp>
      <p:sp>
        <p:nvSpPr>
          <p:cNvPr id="20" name="TextBox 19"/>
          <p:cNvSpPr txBox="1"/>
          <p:nvPr/>
        </p:nvSpPr>
        <p:spPr>
          <a:xfrm>
            <a:off x="8330183"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23–25 and 32–33</a:t>
            </a:r>
          </a:p>
        </p:txBody>
      </p:sp>
      <p:sp>
        <p:nvSpPr>
          <p:cNvPr id="21" name="TextBox 20"/>
          <p:cNvSpPr txBox="1"/>
          <p:nvPr/>
        </p:nvSpPr>
        <p:spPr>
          <a:xfrm>
            <a:off x="8330183"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Schaeffer et al. (2018); EPA (2026); California Water Board (n.d.)</a:t>
            </a:r>
          </a:p>
        </p:txBody>
      </p:sp>
      <p:sp>
        <p:nvSpPr>
          <p:cNvPr id="22" name="TextBox 2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9 of 29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17A4F0-E62A-5A61-6F09-D08F0F48884A}"/>
              </a:ext>
            </a:extLst>
          </p:cNvPr>
          <p:cNvSpPr txBox="1"/>
          <p:nvPr/>
        </p:nvSpPr>
        <p:spPr>
          <a:xfrm>
            <a:off x="3041072" y="172318"/>
            <a:ext cx="5590309" cy="369332"/>
          </a:xfrm>
          <a:prstGeom prst="rect">
            <a:avLst/>
          </a:prstGeom>
          <a:solidFill>
            <a:schemeClr val="accent3">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ACE MATLAB / </a:t>
            </a:r>
            <a:r>
              <a:rPr lang="en-US" b="1" dirty="0" err="1"/>
              <a:t>SimEvents</a:t>
            </a:r>
            <a:r>
              <a:rPr lang="en-US" b="1" dirty="0"/>
              <a:t> -  Session 5 - Methodology</a:t>
            </a:r>
          </a:p>
        </p:txBody>
      </p:sp>
      <p:sp>
        <p:nvSpPr>
          <p:cNvPr id="6" name="TextBox 5">
            <a:extLst>
              <a:ext uri="{FF2B5EF4-FFF2-40B4-BE49-F238E27FC236}">
                <a16:creationId xmlns:a16="http://schemas.microsoft.com/office/drawing/2014/main" id="{366B9CFE-129F-18C3-E065-977C2B9867C5}"/>
              </a:ext>
            </a:extLst>
          </p:cNvPr>
          <p:cNvSpPr txBox="1"/>
          <p:nvPr/>
        </p:nvSpPr>
        <p:spPr>
          <a:xfrm>
            <a:off x="262832" y="589146"/>
            <a:ext cx="8486313"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t>Purpose</a:t>
            </a:r>
            <a:r>
              <a:rPr lang="en-US" sz="1600" dirty="0"/>
              <a:t>: </a:t>
            </a:r>
            <a:r>
              <a:rPr lang="en-US" sz="1600" i="1" dirty="0"/>
              <a:t>replay</a:t>
            </a:r>
            <a:r>
              <a:rPr lang="en-US" sz="1600" dirty="0"/>
              <a:t> the </a:t>
            </a:r>
            <a:r>
              <a:rPr lang="en-US" sz="1600" i="1" dirty="0"/>
              <a:t>same</a:t>
            </a:r>
            <a:r>
              <a:rPr lang="en-US" sz="1600" dirty="0"/>
              <a:t> ACE observations through a </a:t>
            </a:r>
            <a:r>
              <a:rPr lang="en-US" sz="1600" dirty="0">
                <a:solidFill>
                  <a:srgbClr val="FF0000"/>
                </a:solidFill>
              </a:rPr>
              <a:t>ground-centric</a:t>
            </a:r>
            <a:r>
              <a:rPr lang="en-US" sz="1600" dirty="0"/>
              <a:t> </a:t>
            </a:r>
            <a:r>
              <a:rPr lang="en-US" sz="1600" dirty="0">
                <a:solidFill>
                  <a:srgbClr val="FF0000"/>
                </a:solidFill>
              </a:rPr>
              <a:t>path</a:t>
            </a:r>
            <a:r>
              <a:rPr lang="en-US" sz="1600" dirty="0"/>
              <a:t> and a </a:t>
            </a:r>
            <a:r>
              <a:rPr lang="en-US" sz="1600" dirty="0">
                <a:solidFill>
                  <a:schemeClr val="accent6"/>
                </a:solidFill>
              </a:rPr>
              <a:t>bounded orbital-edge path </a:t>
            </a:r>
            <a:r>
              <a:rPr lang="en-US" sz="1600" dirty="0"/>
              <a:t>under the same link rules, then check the </a:t>
            </a:r>
            <a:r>
              <a:rPr lang="en-US" sz="1600" dirty="0" err="1">
                <a:solidFill>
                  <a:schemeClr val="accent5"/>
                </a:solidFill>
              </a:rPr>
              <a:t>SimEvents</a:t>
            </a:r>
            <a:r>
              <a:rPr lang="en-US" sz="1600" dirty="0"/>
              <a:t> </a:t>
            </a:r>
            <a:r>
              <a:rPr lang="en-US" sz="1600" i="1" dirty="0"/>
              <a:t>output</a:t>
            </a:r>
          </a:p>
          <a:p>
            <a:r>
              <a:rPr lang="en-US" sz="1600" dirty="0"/>
              <a:t>against the stored Excel/MATLAB reference.</a:t>
            </a:r>
          </a:p>
        </p:txBody>
      </p:sp>
      <p:sp>
        <p:nvSpPr>
          <p:cNvPr id="8" name="TextBox 7">
            <a:extLst>
              <a:ext uri="{FF2B5EF4-FFF2-40B4-BE49-F238E27FC236}">
                <a16:creationId xmlns:a16="http://schemas.microsoft.com/office/drawing/2014/main" id="{D4414C2C-AB68-91A9-A2FE-7E8B920093A7}"/>
              </a:ext>
            </a:extLst>
          </p:cNvPr>
          <p:cNvSpPr txBox="1"/>
          <p:nvPr/>
        </p:nvSpPr>
        <p:spPr>
          <a:xfrm>
            <a:off x="199527" y="1755807"/>
            <a:ext cx="2385971" cy="646331"/>
          </a:xfrm>
          <a:prstGeom prst="rect">
            <a:avLst/>
          </a:prstGeom>
          <a:solidFill>
            <a:schemeClr val="accent1">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1 · SAME INPUT</a:t>
            </a:r>
          </a:p>
          <a:p>
            <a:r>
              <a:rPr lang="en-US" sz="1200" dirty="0"/>
              <a:t>100 accepted ACE observations</a:t>
            </a:r>
          </a:p>
          <a:p>
            <a:r>
              <a:rPr lang="en-US" sz="1200" dirty="0"/>
              <a:t>Same arrivals and link schedule</a:t>
            </a:r>
          </a:p>
        </p:txBody>
      </p:sp>
      <p:sp>
        <p:nvSpPr>
          <p:cNvPr id="10" name="TextBox 9">
            <a:extLst>
              <a:ext uri="{FF2B5EF4-FFF2-40B4-BE49-F238E27FC236}">
                <a16:creationId xmlns:a16="http://schemas.microsoft.com/office/drawing/2014/main" id="{6377984B-18EC-058B-8BCB-D6429D2B25D2}"/>
              </a:ext>
            </a:extLst>
          </p:cNvPr>
          <p:cNvSpPr txBox="1"/>
          <p:nvPr/>
        </p:nvSpPr>
        <p:spPr>
          <a:xfrm>
            <a:off x="2211425" y="2341912"/>
            <a:ext cx="2531918" cy="646331"/>
          </a:xfrm>
          <a:prstGeom prst="rect">
            <a:avLst/>
          </a:prstGeom>
          <a:solidFill>
            <a:schemeClr val="accent5">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2 · TWO PATHS</a:t>
            </a:r>
          </a:p>
          <a:p>
            <a:r>
              <a:rPr lang="en-US" sz="1200" dirty="0"/>
              <a:t>Ground: downlink → compute</a:t>
            </a:r>
          </a:p>
          <a:p>
            <a:r>
              <a:rPr lang="en-US" sz="1200" dirty="0"/>
              <a:t>Edge: compute → reduced downlink</a:t>
            </a:r>
          </a:p>
        </p:txBody>
      </p:sp>
      <p:sp>
        <p:nvSpPr>
          <p:cNvPr id="12" name="TextBox 11">
            <a:extLst>
              <a:ext uri="{FF2B5EF4-FFF2-40B4-BE49-F238E27FC236}">
                <a16:creationId xmlns:a16="http://schemas.microsoft.com/office/drawing/2014/main" id="{289F1704-7551-09A8-6CF8-C4D753940452}"/>
              </a:ext>
            </a:extLst>
          </p:cNvPr>
          <p:cNvSpPr txBox="1"/>
          <p:nvPr/>
        </p:nvSpPr>
        <p:spPr>
          <a:xfrm>
            <a:off x="4693628" y="2918811"/>
            <a:ext cx="2285195" cy="830997"/>
          </a:xfrm>
          <a:prstGeom prst="rect">
            <a:avLst/>
          </a:prstGeom>
          <a:solidFill>
            <a:schemeClr val="accent2">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3 · CONTACT WINDOWS</a:t>
            </a:r>
          </a:p>
          <a:p>
            <a:r>
              <a:rPr lang="en-US" sz="1200" dirty="0"/>
              <a:t>Single server</a:t>
            </a:r>
          </a:p>
          <a:p>
            <a:r>
              <a:rPr lang="en-US" sz="1200" dirty="0"/>
              <a:t>600 s up / 120 s down</a:t>
            </a:r>
          </a:p>
          <a:p>
            <a:r>
              <a:rPr lang="en-US" sz="1200" dirty="0"/>
              <a:t>Wait if transmission will not fit</a:t>
            </a:r>
          </a:p>
        </p:txBody>
      </p:sp>
      <p:sp>
        <p:nvSpPr>
          <p:cNvPr id="14" name="TextBox 13">
            <a:extLst>
              <a:ext uri="{FF2B5EF4-FFF2-40B4-BE49-F238E27FC236}">
                <a16:creationId xmlns:a16="http://schemas.microsoft.com/office/drawing/2014/main" id="{24D58F8C-E858-A76E-0E92-86D7B54C6288}"/>
              </a:ext>
            </a:extLst>
          </p:cNvPr>
          <p:cNvSpPr txBox="1"/>
          <p:nvPr/>
        </p:nvSpPr>
        <p:spPr>
          <a:xfrm>
            <a:off x="6903848" y="3429000"/>
            <a:ext cx="2285195" cy="646331"/>
          </a:xfrm>
          <a:prstGeom prst="rect">
            <a:avLst/>
          </a:prstGeom>
          <a:solidFill>
            <a:schemeClr val="accent3">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4 · REGRESSION CHECK</a:t>
            </a:r>
          </a:p>
          <a:p>
            <a:r>
              <a:rPr lang="en-US" sz="1200" dirty="0"/>
              <a:t>Compare every latency</a:t>
            </a:r>
          </a:p>
          <a:p>
            <a:r>
              <a:rPr lang="en-US" sz="1200" dirty="0"/>
              <a:t>PASS only if max error ≤ 1×10−6</a:t>
            </a:r>
          </a:p>
        </p:txBody>
      </p:sp>
      <p:sp>
        <p:nvSpPr>
          <p:cNvPr id="16" name="TextBox 15">
            <a:extLst>
              <a:ext uri="{FF2B5EF4-FFF2-40B4-BE49-F238E27FC236}">
                <a16:creationId xmlns:a16="http://schemas.microsoft.com/office/drawing/2014/main" id="{C391D7E7-046C-38BF-27C3-E59596E2A702}"/>
              </a:ext>
            </a:extLst>
          </p:cNvPr>
          <p:cNvSpPr txBox="1"/>
          <p:nvPr/>
        </p:nvSpPr>
        <p:spPr>
          <a:xfrm>
            <a:off x="97437" y="3177260"/>
            <a:ext cx="2385971" cy="1384995"/>
          </a:xfrm>
          <a:prstGeom prst="rect">
            <a:avLst/>
          </a:prstGeom>
          <a:solidFill>
            <a:schemeClr val="tx2">
              <a:lumMod val="25000"/>
              <a:lumOff val="7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a:t>ONE COMMAND</a:t>
            </a:r>
          </a:p>
          <a:p>
            <a:endParaRPr lang="en-US" sz="1200" dirty="0"/>
          </a:p>
          <a:p>
            <a:r>
              <a:rPr lang="en-US" sz="1200" dirty="0" err="1"/>
              <a:t>run_simevents</a:t>
            </a:r>
            <a:endParaRPr lang="en-US" sz="1200" dirty="0"/>
          </a:p>
          <a:p>
            <a:r>
              <a:rPr lang="en-US" sz="1200" dirty="0"/>
              <a:t>- export ACE inputs</a:t>
            </a:r>
          </a:p>
          <a:p>
            <a:r>
              <a:rPr lang="en-US" sz="1200" dirty="0"/>
              <a:t>- build Ground / Edge model</a:t>
            </a:r>
          </a:p>
          <a:p>
            <a:r>
              <a:rPr lang="en-US" sz="1200" dirty="0"/>
              <a:t>- simulate both paths</a:t>
            </a:r>
          </a:p>
          <a:p>
            <a:r>
              <a:rPr lang="en-US" sz="1200" dirty="0"/>
              <a:t>- compare every result</a:t>
            </a:r>
          </a:p>
        </p:txBody>
      </p:sp>
      <p:sp>
        <p:nvSpPr>
          <p:cNvPr id="18" name="TextBox 17">
            <a:extLst>
              <a:ext uri="{FF2B5EF4-FFF2-40B4-BE49-F238E27FC236}">
                <a16:creationId xmlns:a16="http://schemas.microsoft.com/office/drawing/2014/main" id="{2528E1D2-7401-3BDB-1552-CC81AA3D7759}"/>
              </a:ext>
            </a:extLst>
          </p:cNvPr>
          <p:cNvSpPr txBox="1"/>
          <p:nvPr/>
        </p:nvSpPr>
        <p:spPr>
          <a:xfrm>
            <a:off x="9433344" y="541650"/>
            <a:ext cx="2385971" cy="1938992"/>
          </a:xfrm>
          <a:prstGeom prst="rect">
            <a:avLst/>
          </a:prstGeom>
          <a:solidFill>
            <a:schemeClr val="bg2">
              <a:lumMod val="7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STORED BASELINE RESULT</a:t>
            </a:r>
          </a:p>
          <a:p>
            <a:r>
              <a:rPr lang="en-US" sz="1200" dirty="0"/>
              <a:t>(Initial Seed Extracted from Data to test the DES Model, will scale to 10,000 runs)</a:t>
            </a:r>
          </a:p>
          <a:p>
            <a:endParaRPr lang="en-US" sz="1200" dirty="0"/>
          </a:p>
          <a:p>
            <a:r>
              <a:rPr lang="en-US" sz="1200" dirty="0"/>
              <a:t>PASS</a:t>
            </a:r>
          </a:p>
          <a:p>
            <a:r>
              <a:rPr lang="en-US" sz="1200" dirty="0"/>
              <a:t>200 entity-level comparisons</a:t>
            </a:r>
          </a:p>
          <a:p>
            <a:r>
              <a:rPr lang="en-US" sz="1200" dirty="0"/>
              <a:t>reported max latency error: 0</a:t>
            </a:r>
          </a:p>
          <a:p>
            <a:r>
              <a:rPr lang="en-US" sz="1200" dirty="0"/>
              <a:t>Ground mean: 1067.6434 s</a:t>
            </a:r>
          </a:p>
          <a:p>
            <a:r>
              <a:rPr lang="en-US" sz="1200" dirty="0"/>
              <a:t>Edge mean: </a:t>
            </a:r>
            <a:r>
              <a:rPr lang="en-US" sz="1200" dirty="0">
                <a:highlight>
                  <a:srgbClr val="FFFF00"/>
                </a:highlight>
              </a:rPr>
              <a:t>198.2280 s</a:t>
            </a:r>
          </a:p>
        </p:txBody>
      </p:sp>
      <p:sp>
        <p:nvSpPr>
          <p:cNvPr id="20" name="TextBox 19">
            <a:extLst>
              <a:ext uri="{FF2B5EF4-FFF2-40B4-BE49-F238E27FC236}">
                <a16:creationId xmlns:a16="http://schemas.microsoft.com/office/drawing/2014/main" id="{97D3ED21-0A74-76C5-3BF6-DA8ECE8CEC2E}"/>
              </a:ext>
            </a:extLst>
          </p:cNvPr>
          <p:cNvSpPr txBox="1"/>
          <p:nvPr/>
        </p:nvSpPr>
        <p:spPr>
          <a:xfrm>
            <a:off x="2211425" y="4472180"/>
            <a:ext cx="2385971" cy="1938992"/>
          </a:xfrm>
          <a:prstGeom prst="rect">
            <a:avLst/>
          </a:prstGeom>
          <a:solidFill>
            <a:schemeClr val="accent3">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WHAT </a:t>
            </a:r>
            <a:r>
              <a:rPr lang="en-US" sz="1200" b="1" dirty="0"/>
              <a:t>PASS</a:t>
            </a:r>
            <a:r>
              <a:rPr lang="en-US" sz="1200" dirty="0"/>
              <a:t> MEANS</a:t>
            </a:r>
          </a:p>
          <a:p>
            <a:endParaRPr lang="en-US" sz="1200" dirty="0"/>
          </a:p>
          <a:p>
            <a:r>
              <a:rPr lang="en-US" sz="1200" dirty="0"/>
              <a:t>Model consistency was demonstrated in the stored package.</a:t>
            </a:r>
          </a:p>
          <a:p>
            <a:r>
              <a:rPr lang="en-US" sz="1200" dirty="0"/>
              <a:t>It hasn’t established measured satellite performance yet.</a:t>
            </a:r>
          </a:p>
          <a:p>
            <a:r>
              <a:rPr lang="en-US" sz="1200" dirty="0"/>
              <a:t>It does not yet establish H1 as a research finding.</a:t>
            </a:r>
          </a:p>
          <a:p>
            <a:r>
              <a:rPr lang="en-US" sz="1200"/>
              <a:t>Reproduction is  </a:t>
            </a:r>
            <a:r>
              <a:rPr lang="en-US" sz="1200" dirty="0"/>
              <a:t>the next gate.</a:t>
            </a:r>
          </a:p>
        </p:txBody>
      </p:sp>
    </p:spTree>
    <p:extLst>
      <p:ext uri="{BB962C8B-B14F-4D97-AF65-F5344CB8AC3E}">
        <p14:creationId xmlns:p14="http://schemas.microsoft.com/office/powerpoint/2010/main" val="2660068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body" idx="1"/>
          </p:nvPr>
        </p:nvSpPr>
        <p:spPr>
          <a:xfrm>
            <a:off x="564204" y="2081719"/>
            <a:ext cx="10695467" cy="294998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6000"/>
              <a:buNone/>
            </a:pPr>
            <a:r>
              <a:rPr lang="en-US" sz="6000" b="1">
                <a:solidFill>
                  <a:schemeClr val="dk1"/>
                </a:solidFill>
              </a:rPr>
              <a:t>Appendix</a:t>
            </a:r>
            <a:endParaRPr sz="3600" b="1">
              <a:solidFill>
                <a:schemeClr val="dk1"/>
              </a:solidFill>
            </a:endParaRPr>
          </a:p>
        </p:txBody>
      </p:sp>
      <p:sp>
        <p:nvSpPr>
          <p:cNvPr id="150" name="TextBox 14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11 of 29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Problem and Thesis Statements</a:t>
            </a:r>
            <a:endParaRPr/>
          </a:p>
        </p:txBody>
      </p:sp>
      <p:sp>
        <p:nvSpPr>
          <p:cNvPr id="156" name="Google Shape;156;p29"/>
          <p:cNvSpPr/>
          <p:nvPr/>
        </p:nvSpPr>
        <p:spPr>
          <a:xfrm>
            <a:off x="621792" y="1444752"/>
            <a:ext cx="10927080"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Problem statement</a:t>
            </a:r>
            <a:endParaRPr/>
          </a:p>
        </p:txBody>
      </p:sp>
      <p:sp>
        <p:nvSpPr>
          <p:cNvPr id="157" name="Google Shape;157;p29"/>
          <p:cNvSpPr/>
          <p:nvPr/>
        </p:nvSpPr>
        <p:spPr>
          <a:xfrm>
            <a:off x="621792" y="1728216"/>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Ground-dependent satellite data-processing architectures can create decision-support latency, bandwidth bottlenecks and operator workload when communications are degraded or intermittent.</a:t>
            </a:r>
            <a:endParaRPr/>
          </a:p>
        </p:txBody>
      </p:sp>
      <p:sp>
        <p:nvSpPr>
          <p:cNvPr id="158" name="Google Shape;158;p29"/>
          <p:cNvSpPr/>
          <p:nvPr/>
        </p:nvSpPr>
        <p:spPr>
          <a:xfrm>
            <a:off x="621792" y="2432304"/>
            <a:ext cx="10899648"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Thesis statement</a:t>
            </a:r>
            <a:endParaRPr/>
          </a:p>
        </p:txBody>
      </p:sp>
      <p:sp>
        <p:nvSpPr>
          <p:cNvPr id="159" name="Google Shape;159;p29"/>
          <p:cNvSpPr/>
          <p:nvPr/>
        </p:nvSpPr>
        <p:spPr>
          <a:xfrm>
            <a:off x="621792" y="2715768"/>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This Praxis will deliver a simulation-based systems engineering model comparing ground-centric processing with bounded orbital edge processing under degraded communications.</a:t>
            </a:r>
            <a:endParaRPr/>
          </a:p>
        </p:txBody>
      </p:sp>
      <p:graphicFrame>
        <p:nvGraphicFramePr>
          <p:cNvPr id="160" name="Google Shape;160;p29"/>
          <p:cNvGraphicFramePr/>
          <p:nvPr>
            <p:extLst>
              <p:ext uri="{D42A27DB-BD31-4B8C-83A1-F6EECF244321}">
                <p14:modId xmlns:p14="http://schemas.microsoft.com/office/powerpoint/2010/main" val="484890876"/>
              </p:ext>
            </p:extLst>
          </p:nvPr>
        </p:nvGraphicFramePr>
        <p:xfrm>
          <a:off x="621792" y="3410712"/>
          <a:ext cx="10917950" cy="1298450"/>
        </p:xfrm>
        <a:graphic>
          <a:graphicData uri="http://schemas.openxmlformats.org/drawingml/2006/table">
            <a:tbl>
              <a:tblPr firstRow="1" bandRow="1">
                <a:noFill/>
                <a:tableStyleId>{3C1EB017-BC45-4DEE-9ABB-B4D90C79D28D}</a:tableStyleId>
              </a:tblPr>
              <a:tblGrid>
                <a:gridCol w="1920250">
                  <a:extLst>
                    <a:ext uri="{9D8B030D-6E8A-4147-A177-3AD203B41FA5}">
                      <a16:colId xmlns:a16="http://schemas.microsoft.com/office/drawing/2014/main" val="20000"/>
                    </a:ext>
                  </a:extLst>
                </a:gridCol>
                <a:gridCol w="8997700">
                  <a:extLst>
                    <a:ext uri="{9D8B030D-6E8A-4147-A177-3AD203B41FA5}">
                      <a16:colId xmlns:a16="http://schemas.microsoft.com/office/drawing/2014/main" val="20001"/>
                    </a:ext>
                  </a:extLst>
                </a:gridCol>
              </a:tblGrid>
              <a:tr h="3017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Research product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Intended use / contribution</a:t>
                      </a:r>
                      <a:endParaRPr/>
                    </a:p>
                  </a:txBody>
                  <a:tcPr marL="68575" marR="68575" marT="36575" marB="22850" anchor="ctr">
                    <a:solidFill>
                      <a:srgbClr val="E7EEF3"/>
                    </a:solidFill>
                  </a:tcPr>
                </a:tc>
                <a:extLst>
                  <a:ext uri="{0D108BD9-81ED-4DB2-BD59-A6C34878D82A}">
                    <a16:rowId xmlns:a16="http://schemas.microsoft.com/office/drawing/2014/main" val="10000"/>
                  </a:ext>
                </a:extLst>
              </a:tr>
              <a:tr h="4937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0" u="none" strike="noStrike" cap="none">
                          <a:solidFill>
                            <a:srgbClr val="000000"/>
                          </a:solidFill>
                          <a:latin typeface="Times New Roman"/>
                          <a:ea typeface="Times New Roman"/>
                          <a:cs typeface="Times New Roman"/>
                          <a:sym typeface="Times New Roman"/>
                        </a:rPr>
                        <a:t>Simulation-Based Evaluation Framework</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u="sng" strike="noStrike" cap="none" dirty="0">
                          <a:solidFill>
                            <a:srgbClr val="000000"/>
                          </a:solidFill>
                          <a:latin typeface="Times New Roman"/>
                          <a:ea typeface="Times New Roman"/>
                          <a:cs typeface="Times New Roman"/>
                          <a:sym typeface="Times New Roman"/>
                        </a:rPr>
                        <a:t>Systems engineers will use the framework during early architecture trades </a:t>
                      </a:r>
                      <a:r>
                        <a:rPr lang="en-US" sz="1200" b="0" u="none" strike="noStrike" cap="none" dirty="0">
                          <a:solidFill>
                            <a:srgbClr val="000000"/>
                          </a:solidFill>
                          <a:latin typeface="Times New Roman"/>
                          <a:ea typeface="Times New Roman"/>
                          <a:cs typeface="Times New Roman"/>
                          <a:sym typeface="Times New Roman"/>
                        </a:rPr>
                        <a:t>for onboard processing under degraded communications.</a:t>
                      </a:r>
                      <a:endParaRPr sz="1600" dirty="0"/>
                    </a:p>
                  </a:txBody>
                  <a:tcPr marL="68575" marR="68575" marT="36575" marB="22850" anchor="ctr">
                    <a:solidFill>
                      <a:srgbClr val="FFFFFF"/>
                    </a:solidFill>
                  </a:tcPr>
                </a:tc>
                <a:extLst>
                  <a:ext uri="{0D108BD9-81ED-4DB2-BD59-A6C34878D82A}">
                    <a16:rowId xmlns:a16="http://schemas.microsoft.com/office/drawing/2014/main" val="10001"/>
                  </a:ext>
                </a:extLst>
              </a:tr>
              <a:tr h="50292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00" b="1" u="none" strike="noStrike" cap="none" dirty="0">
                          <a:solidFill>
                            <a:srgbClr val="000000"/>
                          </a:solidFill>
                          <a:latin typeface="Times New Roman"/>
                          <a:ea typeface="Times New Roman"/>
                          <a:cs typeface="Times New Roman"/>
                          <a:sym typeface="Times New Roman"/>
                        </a:rPr>
                        <a:t>MATLAB/</a:t>
                      </a:r>
                      <a:r>
                        <a:rPr lang="en-US" sz="1000" b="1" u="none" strike="noStrike" cap="none" dirty="0" err="1">
                          <a:solidFill>
                            <a:srgbClr val="000000"/>
                          </a:solidFill>
                          <a:latin typeface="Times New Roman"/>
                          <a:ea typeface="Times New Roman"/>
                          <a:cs typeface="Times New Roman"/>
                          <a:sym typeface="Times New Roman"/>
                        </a:rPr>
                        <a:t>SimEvents</a:t>
                      </a:r>
                      <a:r>
                        <a:rPr lang="en-US" sz="1000" b="1" u="none" strike="noStrike" cap="none" dirty="0">
                          <a:solidFill>
                            <a:srgbClr val="000000"/>
                          </a:solidFill>
                          <a:latin typeface="Times New Roman"/>
                          <a:ea typeface="Times New Roman"/>
                          <a:cs typeface="Times New Roman"/>
                          <a:sym typeface="Times New Roman"/>
                        </a:rPr>
                        <a:t> Model</a:t>
                      </a:r>
                      <a:endParaRPr sz="2000" dirty="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50" b="0" u="none" strike="noStrike" cap="none" dirty="0">
                          <a:solidFill>
                            <a:srgbClr val="000000"/>
                          </a:solidFill>
                          <a:latin typeface="Times New Roman"/>
                          <a:ea typeface="Times New Roman"/>
                          <a:cs typeface="Times New Roman"/>
                          <a:sym typeface="Times New Roman"/>
                        </a:rPr>
                        <a:t>This work contributes a public, repeatable method for evaluating orbital edge-processing performance without classified data, restricted data, or new algorithms.</a:t>
                      </a:r>
                      <a:endParaRPr sz="2400" dirty="0"/>
                    </a:p>
                  </a:txBody>
                  <a:tcPr marL="68575" marR="68575" marT="36575" marB="22850" anchor="ctr">
                    <a:solidFill>
                      <a:srgbClr val="F6F8FA"/>
                    </a:solidFill>
                  </a:tcPr>
                </a:tc>
                <a:extLst>
                  <a:ext uri="{0D108BD9-81ED-4DB2-BD59-A6C34878D82A}">
                    <a16:rowId xmlns:a16="http://schemas.microsoft.com/office/drawing/2014/main" val="10002"/>
                  </a:ext>
                </a:extLst>
              </a:tr>
            </a:tbl>
          </a:graphicData>
        </a:graphic>
      </p:graphicFrame>
      <p:sp>
        <p:nvSpPr>
          <p:cNvPr id="161" name="Google Shape;161;p29"/>
          <p:cNvSpPr/>
          <p:nvPr/>
        </p:nvSpPr>
        <p:spPr>
          <a:xfrm>
            <a:off x="621791" y="4919472"/>
            <a:ext cx="11284863"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Current working direction: civil ground-centric versus orbital-edge processing under matched degradation using DES, with core measures of uptime/service availability, downtime/recovery, latency, packet loss and queueing delay.</a:t>
            </a:r>
            <a:endParaRPr sz="1400" b="1">
              <a:solidFill>
                <a:srgbClr val="FFFF00"/>
              </a:solidFill>
              <a:latin typeface="Times New Roman"/>
              <a:ea typeface="Times New Roman"/>
              <a:cs typeface="Times New Roman"/>
              <a:sym typeface="Times New Roman"/>
            </a:endParaRPr>
          </a:p>
        </p:txBody>
      </p:sp>
      <p:sp>
        <p:nvSpPr>
          <p:cNvPr id="162" name="TextBox 16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12 of 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Research Objectives and Questions</a:t>
            </a:r>
            <a:endParaRPr/>
          </a:p>
        </p:txBody>
      </p:sp>
      <p:sp>
        <p:nvSpPr>
          <p:cNvPr id="169" name="Google Shape;169;p30"/>
          <p:cNvSpPr/>
          <p:nvPr/>
        </p:nvSpPr>
        <p:spPr>
          <a:xfrm>
            <a:off x="621792" y="151790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RQ1</a:t>
            </a:r>
            <a:endParaRPr/>
          </a:p>
        </p:txBody>
      </p:sp>
      <p:sp>
        <p:nvSpPr>
          <p:cNvPr id="170" name="Google Shape;170;p30"/>
          <p:cNvSpPr/>
          <p:nvPr/>
        </p:nvSpPr>
        <p:spPr>
          <a:xfrm>
            <a:off x="1207008" y="1517904"/>
            <a:ext cx="10195560" cy="518988"/>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600"/>
              <a:buFont typeface="Times New Roman"/>
              <a:buNone/>
            </a:pPr>
            <a:r>
              <a:rPr lang="en-US" sz="1600" b="1">
                <a:solidFill>
                  <a:srgbClr val="FFFF00"/>
                </a:solidFill>
                <a:latin typeface="Times New Roman"/>
                <a:ea typeface="Times New Roman"/>
                <a:cs typeface="Times New Roman"/>
                <a:sym typeface="Times New Roman"/>
              </a:rPr>
              <a:t>Can a discrete-event systems engineering model represent satellite data-processing latency and service availability under degraded communications?</a:t>
            </a:r>
            <a:endParaRPr/>
          </a:p>
        </p:txBody>
      </p:sp>
      <p:sp>
        <p:nvSpPr>
          <p:cNvPr id="171" name="Google Shape;171;p30"/>
          <p:cNvSpPr/>
          <p:nvPr/>
        </p:nvSpPr>
        <p:spPr>
          <a:xfrm>
            <a:off x="621792" y="229514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RQ2</a:t>
            </a:r>
            <a:endParaRPr/>
          </a:p>
        </p:txBody>
      </p:sp>
      <p:sp>
        <p:nvSpPr>
          <p:cNvPr id="172" name="Google Shape;172;p30"/>
          <p:cNvSpPr/>
          <p:nvPr/>
        </p:nvSpPr>
        <p:spPr>
          <a:xfrm>
            <a:off x="1207008" y="229514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Does bounded orbital edge processing reduce end-to-end decision-support latency and preserve service compared with a ground-centric architecture under matched degradation?</a:t>
            </a:r>
            <a:endParaRPr/>
          </a:p>
        </p:txBody>
      </p:sp>
      <p:sp>
        <p:nvSpPr>
          <p:cNvPr id="173" name="Google Shape;173;p30"/>
          <p:cNvSpPr/>
          <p:nvPr/>
        </p:nvSpPr>
        <p:spPr>
          <a:xfrm>
            <a:off x="621792" y="307238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RQ3</a:t>
            </a:r>
            <a:endParaRPr/>
          </a:p>
        </p:txBody>
      </p:sp>
      <p:sp>
        <p:nvSpPr>
          <p:cNvPr id="174" name="Google Shape;174;p30"/>
          <p:cNvSpPr/>
          <p:nvPr/>
        </p:nvSpPr>
        <p:spPr>
          <a:xfrm>
            <a:off x="1207008" y="307238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Which parameters most affect performance: communications delay/loss, bandwidth, outage duration, processing time and alert/data priority?</a:t>
            </a:r>
            <a:endParaRPr/>
          </a:p>
        </p:txBody>
      </p:sp>
      <p:sp>
        <p:nvSpPr>
          <p:cNvPr id="175" name="Google Shape;175;p30"/>
          <p:cNvSpPr/>
          <p:nvPr/>
        </p:nvSpPr>
        <p:spPr>
          <a:xfrm>
            <a:off x="585216" y="3995928"/>
            <a:ext cx="10991088" cy="26045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a:solidFill>
                  <a:srgbClr val="000000"/>
                </a:solidFill>
                <a:latin typeface="Times New Roman"/>
                <a:ea typeface="Times New Roman"/>
                <a:cs typeface="Times New Roman"/>
                <a:sym typeface="Times New Roman"/>
              </a:rPr>
              <a:t>PURPOSE — current scope</a:t>
            </a:r>
            <a:endParaRPr/>
          </a:p>
        </p:txBody>
      </p:sp>
      <p:sp>
        <p:nvSpPr>
          <p:cNvPr id="176" name="Google Shape;176;p30"/>
          <p:cNvSpPr/>
          <p:nvPr/>
        </p:nvSpPr>
        <p:spPr>
          <a:xfrm>
            <a:off x="621792" y="4379976"/>
            <a:ext cx="109270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Evaluate bounded orbital edge processing under degraded communications; compare ground-centric routing with an edge-enabled path; provide a repeatable public-data simulation framework for early architecture trades.</a:t>
            </a:r>
            <a:endParaRPr/>
          </a:p>
        </p:txBody>
      </p:sp>
      <p:sp>
        <p:nvSpPr>
          <p:cNvPr id="177" name="TextBox 17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13 of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H0 / H1: Matched Ground-versus-Edge Comparison</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Working hypotheses retained; processing order and transmission demand define the architecture trade.</a:t>
            </a:r>
          </a:p>
        </p:txBody>
      </p:sp>
      <p:sp>
        <p:nvSpPr>
          <p:cNvPr id="4" name="Rounded Rectangle 3"/>
          <p:cNvSpPr/>
          <p:nvPr/>
        </p:nvSpPr>
        <p:spPr>
          <a:xfrm>
            <a:off x="566928" y="1325880"/>
            <a:ext cx="5440680" cy="1371600"/>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H0 · Null hypothesis</a:t>
            </a:r>
          </a:p>
        </p:txBody>
      </p:sp>
      <p:sp>
        <p:nvSpPr>
          <p:cNvPr id="6" name="TextBox 5"/>
          <p:cNvSpPr txBox="1"/>
          <p:nvPr/>
        </p:nvSpPr>
        <p:spPr>
          <a:xfrm>
            <a:off x="704088"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Under matched degradation, the ground-centric and bounded orbital-edge architectures show no measurable difference in end-to-end latency or service availability.</a:t>
            </a:r>
          </a:p>
        </p:txBody>
      </p:sp>
      <p:sp>
        <p:nvSpPr>
          <p:cNvPr id="7" name="Rounded Rectangle 6"/>
          <p:cNvSpPr/>
          <p:nvPr/>
        </p:nvSpPr>
        <p:spPr>
          <a:xfrm>
            <a:off x="6181344" y="1325880"/>
            <a:ext cx="5440680" cy="1371600"/>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18504"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H1 · Alternative hypothesis</a:t>
            </a:r>
          </a:p>
        </p:txBody>
      </p:sp>
      <p:sp>
        <p:nvSpPr>
          <p:cNvPr id="9" name="TextBox 8"/>
          <p:cNvSpPr txBox="1"/>
          <p:nvPr/>
        </p:nvSpPr>
        <p:spPr>
          <a:xfrm>
            <a:off x="6318504"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Bounded orbital edge processing reduces end-to-end decision-support latency and improves service availability relative to ground processing under degraded communications.</a:t>
            </a:r>
          </a:p>
        </p:txBody>
      </p:sp>
      <p:sp>
        <p:nvSpPr>
          <p:cNvPr id="10" name="TextBox 9"/>
          <p:cNvSpPr txBox="1"/>
          <p:nvPr/>
        </p:nvSpPr>
        <p:spPr>
          <a:xfrm>
            <a:off x="621792" y="2816352"/>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576573"/>
                </a:solidFill>
                <a:latin typeface="Calibri"/>
              </a:rPr>
              <a:t>COMMON INPUTS: identical arrivals • paired processing draws • same communications schedule</a:t>
            </a:r>
          </a:p>
        </p:txBody>
      </p:sp>
      <p:sp>
        <p:nvSpPr>
          <p:cNvPr id="11" name="TextBox 10"/>
          <p:cNvSpPr txBox="1"/>
          <p:nvPr/>
        </p:nvSpPr>
        <p:spPr>
          <a:xfrm>
            <a:off x="603504" y="3429000"/>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286B98"/>
                </a:solidFill>
                <a:latin typeface="Calibri"/>
              </a:rPr>
              <a:t>GROUND</a:t>
            </a:r>
          </a:p>
        </p:txBody>
      </p:sp>
      <p:sp>
        <p:nvSpPr>
          <p:cNvPr id="12" name="Rounded Rectangle 11"/>
          <p:cNvSpPr/>
          <p:nvPr/>
        </p:nvSpPr>
        <p:spPr>
          <a:xfrm>
            <a:off x="181051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6537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14" name="TextBox 13"/>
          <p:cNvSpPr txBox="1"/>
          <p:nvPr/>
        </p:nvSpPr>
        <p:spPr>
          <a:xfrm>
            <a:off x="3172968"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5" name="Rounded Rectangle 14"/>
          <p:cNvSpPr/>
          <p:nvPr/>
        </p:nvSpPr>
        <p:spPr>
          <a:xfrm>
            <a:off x="3419856"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17" name="TextBox 16"/>
          <p:cNvSpPr txBox="1"/>
          <p:nvPr/>
        </p:nvSpPr>
        <p:spPr>
          <a:xfrm>
            <a:off x="4782312"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8" name="Rounded Rectangle 17"/>
          <p:cNvSpPr/>
          <p:nvPr/>
        </p:nvSpPr>
        <p:spPr>
          <a:xfrm>
            <a:off x="5029200"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Full downlink</a:t>
            </a:r>
          </a:p>
        </p:txBody>
      </p:sp>
      <p:sp>
        <p:nvSpPr>
          <p:cNvPr id="20" name="TextBox 19"/>
          <p:cNvSpPr txBox="1"/>
          <p:nvPr/>
        </p:nvSpPr>
        <p:spPr>
          <a:xfrm>
            <a:off x="6391656"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1" name="Rounded Rectangle 20"/>
          <p:cNvSpPr/>
          <p:nvPr/>
        </p:nvSpPr>
        <p:spPr>
          <a:xfrm>
            <a:off x="6638544"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7"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23" name="TextBox 22"/>
          <p:cNvSpPr txBox="1"/>
          <p:nvPr/>
        </p:nvSpPr>
        <p:spPr>
          <a:xfrm>
            <a:off x="8001000"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4" name="Rounded Rectangle 23"/>
          <p:cNvSpPr/>
          <p:nvPr/>
        </p:nvSpPr>
        <p:spPr>
          <a:xfrm>
            <a:off x="8247888"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Ground compute</a:t>
            </a:r>
          </a:p>
        </p:txBody>
      </p:sp>
      <p:sp>
        <p:nvSpPr>
          <p:cNvPr id="26" name="TextBox 25"/>
          <p:cNvSpPr txBox="1"/>
          <p:nvPr/>
        </p:nvSpPr>
        <p:spPr>
          <a:xfrm>
            <a:off x="9610344"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7" name="Rounded Rectangle 26"/>
          <p:cNvSpPr/>
          <p:nvPr/>
        </p:nvSpPr>
        <p:spPr>
          <a:xfrm>
            <a:off x="985723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1209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29" name="TextBox 28"/>
          <p:cNvSpPr txBox="1"/>
          <p:nvPr/>
        </p:nvSpPr>
        <p:spPr>
          <a:xfrm>
            <a:off x="603504" y="4471416"/>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71559F"/>
                </a:solidFill>
                <a:latin typeface="Calibri"/>
              </a:rPr>
              <a:t>EDGE</a:t>
            </a:r>
          </a:p>
        </p:txBody>
      </p:sp>
      <p:sp>
        <p:nvSpPr>
          <p:cNvPr id="30" name="Rounded Rectangle 29"/>
          <p:cNvSpPr/>
          <p:nvPr/>
        </p:nvSpPr>
        <p:spPr>
          <a:xfrm>
            <a:off x="181051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6537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32" name="TextBox 31"/>
          <p:cNvSpPr txBox="1"/>
          <p:nvPr/>
        </p:nvSpPr>
        <p:spPr>
          <a:xfrm>
            <a:off x="3172968"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3" name="Rounded Rectangle 32"/>
          <p:cNvSpPr/>
          <p:nvPr/>
        </p:nvSpPr>
        <p:spPr>
          <a:xfrm>
            <a:off x="3419856"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0"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35" name="TextBox 34"/>
          <p:cNvSpPr txBox="1"/>
          <p:nvPr/>
        </p:nvSpPr>
        <p:spPr>
          <a:xfrm>
            <a:off x="4782312"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6" name="Rounded Rectangle 35"/>
          <p:cNvSpPr/>
          <p:nvPr/>
        </p:nvSpPr>
        <p:spPr>
          <a:xfrm>
            <a:off x="5029200"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84064"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Onboard compute</a:t>
            </a:r>
          </a:p>
        </p:txBody>
      </p:sp>
      <p:sp>
        <p:nvSpPr>
          <p:cNvPr id="38" name="TextBox 37"/>
          <p:cNvSpPr txBox="1"/>
          <p:nvPr/>
        </p:nvSpPr>
        <p:spPr>
          <a:xfrm>
            <a:off x="6391656"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9" name="Rounded Rectangle 38"/>
          <p:cNvSpPr/>
          <p:nvPr/>
        </p:nvSpPr>
        <p:spPr>
          <a:xfrm>
            <a:off x="6638544"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3407"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41" name="TextBox 40"/>
          <p:cNvSpPr txBox="1"/>
          <p:nvPr/>
        </p:nvSpPr>
        <p:spPr>
          <a:xfrm>
            <a:off x="8001000"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2" name="Rounded Rectangle 41"/>
          <p:cNvSpPr/>
          <p:nvPr/>
        </p:nvSpPr>
        <p:spPr>
          <a:xfrm>
            <a:off x="8247888"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02752"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Reduced downlink</a:t>
            </a:r>
          </a:p>
        </p:txBody>
      </p:sp>
      <p:sp>
        <p:nvSpPr>
          <p:cNvPr id="44" name="TextBox 43"/>
          <p:cNvSpPr txBox="1"/>
          <p:nvPr/>
        </p:nvSpPr>
        <p:spPr>
          <a:xfrm>
            <a:off x="9610344"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5" name="Rounded Rectangle 44"/>
          <p:cNvSpPr/>
          <p:nvPr/>
        </p:nvSpPr>
        <p:spPr>
          <a:xfrm>
            <a:off x="985723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47" name="TextBox 46"/>
          <p:cNvSpPr txBox="1"/>
          <p:nvPr/>
        </p:nvSpPr>
        <p:spPr>
          <a:xfrm>
            <a:off x="640080" y="5166360"/>
            <a:ext cx="10881360" cy="292608"/>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576573"/>
                </a:solidFill>
                <a:latin typeface="Calibri"/>
              </a:rPr>
              <a:t>Compare recorded latency, queue delay and defined service measures. Effect-size thresholds and final statistical tests remain for advisor review.</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14 of 29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5 Foundational References</a:t>
            </a:r>
            <a:endParaRPr/>
          </a:p>
        </p:txBody>
      </p:sp>
      <p:sp>
        <p:nvSpPr>
          <p:cNvPr id="196" name="Google Shape;196;p32"/>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a:solidFill>
                  <a:srgbClr val="000000"/>
                </a:solidFill>
                <a:latin typeface="Times New Roman"/>
                <a:ea typeface="Times New Roman"/>
                <a:cs typeface="Times New Roman"/>
                <a:sym typeface="Times New Roman"/>
              </a:rPr>
              <a:t>EXTERNAL REFERENCE - slides 9–13</a:t>
            </a:r>
            <a:endParaRPr/>
          </a:p>
        </p:txBody>
      </p:sp>
      <p:graphicFrame>
        <p:nvGraphicFramePr>
          <p:cNvPr id="197" name="Google Shape;197;p32"/>
          <p:cNvGraphicFramePr/>
          <p:nvPr>
            <p:extLst>
              <p:ext uri="{D42A27DB-BD31-4B8C-83A1-F6EECF244321}">
                <p14:modId xmlns:p14="http://schemas.microsoft.com/office/powerpoint/2010/main" val="2014247529"/>
              </p:ext>
            </p:extLst>
          </p:nvPr>
        </p:nvGraphicFramePr>
        <p:xfrm>
          <a:off x="585216" y="1463040"/>
          <a:ext cx="10991100" cy="3438175"/>
        </p:xfrm>
        <a:graphic>
          <a:graphicData uri="http://schemas.openxmlformats.org/drawingml/2006/table">
            <a:tbl>
              <a:tblPr firstRow="1" bandRow="1">
                <a:noFill/>
                <a:tableStyleId>{3C1EB017-BC45-4DEE-9ABB-B4D90C79D28D}</a:tableStyleId>
              </a:tblPr>
              <a:tblGrid>
                <a:gridCol w="8229600">
                  <a:extLst>
                    <a:ext uri="{9D8B030D-6E8A-4147-A177-3AD203B41FA5}">
                      <a16:colId xmlns:a16="http://schemas.microsoft.com/office/drawing/2014/main" val="20000"/>
                    </a:ext>
                  </a:extLst>
                </a:gridCol>
                <a:gridCol w="2761500">
                  <a:extLst>
                    <a:ext uri="{9D8B030D-6E8A-4147-A177-3AD203B41FA5}">
                      <a16:colId xmlns:a16="http://schemas.microsoft.com/office/drawing/2014/main" val="20001"/>
                    </a:ext>
                  </a:extLst>
                </a:gridCol>
              </a:tblGrid>
              <a:tr h="320050">
                <a:tc>
                  <a:txBody>
                    <a:bodyPr/>
                    <a:lstStyle/>
                    <a:p>
                      <a:pPr marL="0" marR="0" lvl="0" indent="0" algn="l" rtl="0">
                        <a:spcBef>
                          <a:spcPts val="0"/>
                        </a:spcBef>
                        <a:spcAft>
                          <a:spcPts val="0"/>
                        </a:spcAft>
                        <a:buClr>
                          <a:srgbClr val="000000"/>
                        </a:buClr>
                        <a:buSzPts val="800"/>
                        <a:buFont typeface="Times New Roman"/>
                        <a:buNone/>
                      </a:pPr>
                      <a:r>
                        <a:rPr lang="en-US" sz="1200" b="1" u="none" strike="noStrike" cap="none">
                          <a:solidFill>
                            <a:srgbClr val="000000"/>
                          </a:solidFill>
                          <a:latin typeface="Times New Roman"/>
                          <a:ea typeface="Times New Roman"/>
                          <a:cs typeface="Times New Roman"/>
                          <a:sym typeface="Times New Roman"/>
                        </a:rPr>
                        <a:t>Foundational / Domestic Sources</a:t>
                      </a:r>
                      <a:endParaRPr sz="2800"/>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800"/>
                        <a:buFont typeface="Times New Roman"/>
                        <a:buNone/>
                      </a:pPr>
                      <a:r>
                        <a:rPr lang="en-US" sz="1200" b="1">
                          <a:solidFill>
                            <a:srgbClr val="000000"/>
                          </a:solidFill>
                          <a:latin typeface="Times New Roman"/>
                          <a:ea typeface="Times New Roman"/>
                          <a:cs typeface="Times New Roman"/>
                          <a:sym typeface="Times New Roman"/>
                        </a:rPr>
                        <a:t>Stated role in the Praxis</a:t>
                      </a:r>
                      <a:endParaRPr sz="2800"/>
                    </a:p>
                  </a:txBody>
                  <a:tcPr marL="68575" marR="68575" marT="36575" marB="22850" anchor="ctr">
                    <a:solidFill>
                      <a:srgbClr val="E7EEF3"/>
                    </a:solidFill>
                  </a:tcPr>
                </a:tc>
                <a:extLst>
                  <a:ext uri="{0D108BD9-81ED-4DB2-BD59-A6C34878D82A}">
                    <a16:rowId xmlns:a16="http://schemas.microsoft.com/office/drawing/2014/main" val="10000"/>
                  </a:ext>
                </a:extLst>
              </a:tr>
              <a:tr h="7772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Osoba, O. A., </a:t>
                      </a:r>
                      <a:r>
                        <a:rPr lang="en-US" sz="1100" b="0" dirty="0" err="1">
                          <a:solidFill>
                            <a:srgbClr val="000000"/>
                          </a:solidFill>
                          <a:latin typeface="Times New Roman"/>
                          <a:ea typeface="Times New Roman"/>
                          <a:cs typeface="Times New Roman"/>
                          <a:sym typeface="Times New Roman"/>
                        </a:rPr>
                        <a:t>Nacouzi</a:t>
                      </a:r>
                      <a:r>
                        <a:rPr lang="en-US" sz="1100" b="0" dirty="0">
                          <a:solidFill>
                            <a:srgbClr val="000000"/>
                          </a:solidFill>
                          <a:latin typeface="Times New Roman"/>
                          <a:ea typeface="Times New Roman"/>
                          <a:cs typeface="Times New Roman"/>
                          <a:sym typeface="Times New Roman"/>
                        </a:rPr>
                        <a:t>, G., Hagen, J., Tran, J., Zhang, L. A., Herron, M., Lynch, C., Eisman, M., &amp; Barton, C. (2023). The resilience assessment framework: Assessing commercial contributions to U.S. Space Force mission resilience (RR-A980-1). RAND Corporation. https://doi.org/10.7249/RRA980-1 https://www.rand.org/content/dam/rand/pubs/research_reports/RRA900/RRA980-1/RAND_RRA980-1.pdf</a:t>
                      </a:r>
                      <a:endParaRPr sz="2800" dirty="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Resilience assessment and degraded-performance comparison.</a:t>
                      </a:r>
                      <a:endParaRPr sz="2800"/>
                    </a:p>
                  </a:txBody>
                  <a:tcPr marL="68575" marR="68575" marT="36575" marB="22850" anchor="ctr">
                    <a:solidFill>
                      <a:srgbClr val="FFFFFF"/>
                    </a:solidFill>
                  </a:tcPr>
                </a:tc>
                <a:extLst>
                  <a:ext uri="{0D108BD9-81ED-4DB2-BD59-A6C34878D82A}">
                    <a16:rowId xmlns:a16="http://schemas.microsoft.com/office/drawing/2014/main" val="10001"/>
                  </a:ext>
                </a:extLst>
              </a:tr>
              <a:tr h="6858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National Aeronautics and Space Administration. (2013). Space Communications and Navigation (</a:t>
                      </a:r>
                      <a:r>
                        <a:rPr lang="en-US" sz="1100" b="0" dirty="0" err="1">
                          <a:solidFill>
                            <a:srgbClr val="000000"/>
                          </a:solidFill>
                          <a:latin typeface="Times New Roman"/>
                          <a:ea typeface="Times New Roman"/>
                          <a:cs typeface="Times New Roman"/>
                          <a:sym typeface="Times New Roman"/>
                        </a:rPr>
                        <a:t>SCaN</a:t>
                      </a:r>
                      <a:r>
                        <a:rPr lang="en-US" sz="1100" b="0" dirty="0">
                          <a:solidFill>
                            <a:srgbClr val="000000"/>
                          </a:solidFill>
                          <a:latin typeface="Times New Roman"/>
                          <a:ea typeface="Times New Roman"/>
                          <a:cs typeface="Times New Roman"/>
                          <a:sym typeface="Times New Roman"/>
                        </a:rPr>
                        <a:t>) Network Architecture Definition Document (ADD) Executive Summary, Volume 1, Revision 4. NASA. (https://www.nasa.gov/wp-content/uploads/2023/09/scan-add-vol1rev4.pdf)</a:t>
                      </a:r>
                      <a:endParaRPr sz="2800" dirty="0"/>
                    </a:p>
                  </a:txBody>
                  <a:tcPr marL="68575" marR="68575" marT="36575" marB="22850" anchor="ctr">
                    <a:solidFill>
                      <a:srgbClr val="F6F8FA"/>
                    </a:solidFill>
                  </a:tcPr>
                </a:tc>
                <a:tc>
                  <a:txBody>
                    <a:bodyPr/>
                    <a:lstStyle/>
                    <a:p>
                      <a:pPr marL="0" marR="0" lvl="0" indent="0" algn="l" rtl="0">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Ground-station and relay-network architecture; not live performance data.</a:t>
                      </a:r>
                      <a:endParaRPr sz="2800"/>
                    </a:p>
                  </a:txBody>
                  <a:tcPr marL="68575" marR="68575" marT="36575" marB="22850" anchor="ctr">
                    <a:solidFill>
                      <a:srgbClr val="F6F8FA"/>
                    </a:solidFill>
                  </a:tcPr>
                </a:tc>
                <a:extLst>
                  <a:ext uri="{0D108BD9-81ED-4DB2-BD59-A6C34878D82A}">
                    <a16:rowId xmlns:a16="http://schemas.microsoft.com/office/drawing/2014/main" val="10002"/>
                  </a:ext>
                </a:extLst>
              </a:tr>
              <a:tr h="585225">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Kodheli, O., Lagunas, E., Maturo, N., et al. (2021). Satellite communications in the new space era: A survey and future challenges. IEEE Communications Surveys &amp; Tutorials, 23, 70–109. https://ieeexplore.ieee.org/document/9210567</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Satellite communications survey and onboard-processing context.</a:t>
                      </a:r>
                      <a:endParaRPr sz="2800"/>
                    </a:p>
                  </a:txBody>
                  <a:tcPr marL="68575" marR="68575" marT="36575" marB="22850" anchor="ctr">
                    <a:solidFill>
                      <a:srgbClr val="FFFFFF"/>
                    </a:solidFill>
                  </a:tcPr>
                </a:tc>
                <a:extLst>
                  <a:ext uri="{0D108BD9-81ED-4DB2-BD59-A6C34878D82A}">
                    <a16:rowId xmlns:a16="http://schemas.microsoft.com/office/drawing/2014/main" val="10003"/>
                  </a:ext>
                </a:extLst>
              </a:tr>
              <a:tr h="4755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CelesTrak. (n.d.). NORAD GP element sets: Current data. https://celestrak.org/NORAD/elements/?</a:t>
                      </a:r>
                      <a:endParaRPr sz="280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Orbital elements for visibility/access assumptions.</a:t>
                      </a:r>
                      <a:endParaRPr sz="2800"/>
                    </a:p>
                  </a:txBody>
                  <a:tcPr marL="68575" marR="68575" marT="36575" marB="22850" anchor="ctr">
                    <a:solidFill>
                      <a:srgbClr val="F6F8FA"/>
                    </a:solidFill>
                  </a:tcPr>
                </a:tc>
                <a:extLst>
                  <a:ext uri="{0D108BD9-81ED-4DB2-BD59-A6C34878D82A}">
                    <a16:rowId xmlns:a16="http://schemas.microsoft.com/office/drawing/2014/main" val="10004"/>
                  </a:ext>
                </a:extLst>
              </a:tr>
              <a:tr h="5943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National Oceanic and Atmospheric Administration, Space Weather Prediction Center. (n.d.). Planetary K-index. https://www.spaceweather.gov/products/planetary-k-index?</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dirty="0">
                          <a:solidFill>
                            <a:srgbClr val="000000"/>
                          </a:solidFill>
                          <a:latin typeface="Times New Roman"/>
                          <a:ea typeface="Times New Roman"/>
                          <a:cs typeface="Times New Roman"/>
                          <a:sym typeface="Times New Roman"/>
                        </a:rPr>
                        <a:t>Environmental proxy for degradation scenarios; not direct latency.</a:t>
                      </a:r>
                      <a:endParaRPr sz="2800" dirty="0"/>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98" name="TextBox 19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15 of 29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TextBox 202"/>
          <p:cNvSpPr txBox="1"/>
          <p:nvPr/>
        </p:nvSpPr>
        <p:spPr>
          <a:xfrm>
            <a:off x="502920" y="246888"/>
            <a:ext cx="10607040" cy="411480"/>
          </a:xfrm>
          <a:prstGeom prst="rect">
            <a:avLst/>
          </a:prstGeom>
          <a:noFill/>
        </p:spPr>
        <p:txBody>
          <a:bodyPr wrap="none" lIns="27432" tIns="18288" rIns="27432" bIns="18288">
            <a:spAutoFit/>
          </a:bodyPr>
          <a:lstStyle/>
          <a:p>
            <a:pPr>
              <a:defRPr sz="2200" b="1">
                <a:solidFill>
                  <a:srgbClr val="2C3137"/>
                </a:solidFill>
                <a:latin typeface="Arial"/>
              </a:defRPr>
            </a:pPr>
            <a:r>
              <a:t>Data Sources — Current Simultaneity Stack and Supporting Candidates</a:t>
            </a:r>
          </a:p>
        </p:txBody>
      </p:sp>
      <p:sp>
        <p:nvSpPr>
          <p:cNvPr id="204" name="TextBox 203"/>
          <p:cNvSpPr txBox="1"/>
          <p:nvPr/>
        </p:nvSpPr>
        <p:spPr>
          <a:xfrm>
            <a:off x="530352" y="749808"/>
            <a:ext cx="10332720" cy="411480"/>
          </a:xfrm>
          <a:prstGeom prst="rect">
            <a:avLst/>
          </a:prstGeom>
          <a:noFill/>
        </p:spPr>
        <p:txBody>
          <a:bodyPr wrap="none" lIns="27432" tIns="18288" rIns="27432" bIns="18288">
            <a:spAutoFit/>
          </a:bodyPr>
          <a:lstStyle/>
          <a:p>
            <a:pPr>
              <a:defRPr sz="1050" b="0">
                <a:solidFill>
                  <a:srgbClr val="414141"/>
                </a:solidFill>
                <a:latin typeface="Arial"/>
              </a:defRPr>
            </a:pPr>
            <a:r>
              <a:t>ASOT event window: 28 Jan. 2022, 17:42–17:55 UTC. The first three sources are the simultaneous baseline; the last two remain supporting / foreign context candidates.</a:t>
            </a:r>
          </a:p>
        </p:txBody>
      </p:sp>
      <p:graphicFrame>
        <p:nvGraphicFramePr>
          <p:cNvPr id="205" name="Table 204"/>
          <p:cNvGraphicFramePr>
            <a:graphicFrameLocks noGrp="1"/>
          </p:cNvGraphicFramePr>
          <p:nvPr/>
        </p:nvGraphicFramePr>
        <p:xfrm>
          <a:off x="502920" y="1234440"/>
          <a:ext cx="11064240" cy="416052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tblGrid>
              <a:tr h="693420">
                <a:tc>
                  <a:txBody>
                    <a:bodyPr/>
                    <a:lstStyle/>
                    <a:p>
                      <a:pPr algn="ctr">
                        <a:defRPr sz="850" b="1">
                          <a:solidFill>
                            <a:srgbClr val="FFFFFF"/>
                          </a:solidFill>
                          <a:latin typeface="Arial"/>
                        </a:defRPr>
                      </a:pPr>
                      <a:r>
                        <a:t>ACE role</a:t>
                      </a:r>
                    </a:p>
                  </a:txBody>
                  <a:tcPr>
                    <a:solidFill>
                      <a:srgbClr val="1F4E79"/>
                    </a:solidFill>
                  </a:tcPr>
                </a:tc>
                <a:tc>
                  <a:txBody>
                    <a:bodyPr/>
                    <a:lstStyle/>
                    <a:p>
                      <a:pPr algn="ctr">
                        <a:defRPr sz="850" b="1">
                          <a:solidFill>
                            <a:srgbClr val="FFFFFF"/>
                          </a:solidFill>
                          <a:latin typeface="Arial"/>
                        </a:defRPr>
                      </a:pPr>
                      <a:r>
                        <a:t>Source / owner</a:t>
                      </a:r>
                    </a:p>
                  </a:txBody>
                  <a:tcPr>
                    <a:solidFill>
                      <a:srgbClr val="1F4E79"/>
                    </a:solidFill>
                  </a:tcPr>
                </a:tc>
                <a:tc>
                  <a:txBody>
                    <a:bodyPr/>
                    <a:lstStyle/>
                    <a:p>
                      <a:pPr algn="ctr">
                        <a:defRPr sz="850" b="1">
                          <a:solidFill>
                            <a:srgbClr val="FFFFFF"/>
                          </a:solidFill>
                          <a:latin typeface="Arial"/>
                        </a:defRPr>
                      </a:pPr>
                      <a:r>
                        <a:t>Status</a:t>
                      </a:r>
                    </a:p>
                  </a:txBody>
                  <a:tcPr>
                    <a:solidFill>
                      <a:srgbClr val="1F4E79"/>
                    </a:solidFill>
                  </a:tcPr>
                </a:tc>
                <a:tc>
                  <a:txBody>
                    <a:bodyPr/>
                    <a:lstStyle/>
                    <a:p>
                      <a:pPr algn="ctr">
                        <a:defRPr sz="850" b="1">
                          <a:solidFill>
                            <a:srgbClr val="FFFFFF"/>
                          </a:solidFill>
                          <a:latin typeface="Arial"/>
                        </a:defRPr>
                      </a:pPr>
                      <a:r>
                        <a:t>Use in workbook</a:t>
                      </a:r>
                    </a:p>
                  </a:txBody>
                  <a:tcPr>
                    <a:solidFill>
                      <a:srgbClr val="1F4E79"/>
                    </a:solidFill>
                  </a:tcPr>
                </a:tc>
                <a:tc>
                  <a:txBody>
                    <a:bodyPr/>
                    <a:lstStyle/>
                    <a:p>
                      <a:pPr algn="ctr">
                        <a:defRPr sz="850" b="1">
                          <a:solidFill>
                            <a:srgbClr val="FFFFFF"/>
                          </a:solidFill>
                          <a:latin typeface="Arial"/>
                        </a:defRPr>
                      </a:pPr>
                      <a:r>
                        <a:t>Boundary / note</a:t>
                      </a:r>
                    </a:p>
                  </a:txBody>
                  <a:tcPr>
                    <a:solidFill>
                      <a:srgbClr val="1F4E79"/>
                    </a:solidFill>
                  </a:tcPr>
                </a:tc>
                <a:extLst>
                  <a:ext uri="{0D108BD9-81ED-4DB2-BD59-A6C34878D82A}">
                    <a16:rowId xmlns:a16="http://schemas.microsoft.com/office/drawing/2014/main" val="10000"/>
                  </a:ext>
                </a:extLst>
              </a:tr>
              <a:tr h="693420">
                <a:tc>
                  <a:txBody>
                    <a:bodyPr/>
                    <a:lstStyle/>
                    <a:p>
                      <a:pPr algn="l">
                        <a:defRPr sz="800" b="1">
                          <a:solidFill>
                            <a:srgbClr val="000000"/>
                          </a:solidFill>
                          <a:latin typeface="Arial"/>
                        </a:defRPr>
                      </a:pPr>
                      <a:r>
                        <a:t>A — AI/ML</a:t>
                      </a:r>
                    </a:p>
                  </a:txBody>
                  <a:tcPr>
                    <a:solidFill>
                      <a:srgbClr val="CAE4F4"/>
                    </a:solidFill>
                  </a:tcPr>
                </a:tc>
                <a:tc>
                  <a:txBody>
                    <a:bodyPr/>
                    <a:lstStyle/>
                    <a:p>
                      <a:pPr algn="l">
                        <a:defRPr sz="760" b="0">
                          <a:solidFill>
                            <a:srgbClr val="000000"/>
                          </a:solidFill>
                          <a:latin typeface="Arial"/>
                        </a:defRPr>
                      </a:pPr>
                      <a:r>
                        <a:t>OPSSAT-AD v2</a:t>
                      </a:r>
                    </a:p>
                    <a:p>
                      <a:pPr algn="l">
                        <a:defRPr sz="760" b="0">
                          <a:solidFill>
                            <a:srgbClr val="000000"/>
                          </a:solidFill>
                          <a:latin typeface="Arial"/>
                        </a:defRPr>
                      </a:pPr>
                      <a:r>
                        <a:t>(dataset.csv + segments.csv)</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FFFFF"/>
                    </a:solidFill>
                  </a:tcPr>
                </a:tc>
                <a:tc>
                  <a:txBody>
                    <a:bodyPr/>
                    <a:lstStyle/>
                    <a:p>
                      <a:pPr algn="l">
                        <a:defRPr sz="800" b="0">
                          <a:solidFill>
                            <a:srgbClr val="000000"/>
                          </a:solidFill>
                          <a:latin typeface="Arial"/>
                        </a:defRPr>
                      </a:pPr>
                      <a:r>
                        <a:t>Telemetry / task leg; establishes observation and AI/ML workload timing.</a:t>
                      </a:r>
                    </a:p>
                  </a:txBody>
                  <a:tcPr>
                    <a:solidFill>
                      <a:srgbClr val="FFFFFF"/>
                    </a:solidFill>
                  </a:tcPr>
                </a:tc>
                <a:tc>
                  <a:txBody>
                    <a:bodyPr/>
                    <a:lstStyle/>
                    <a:p>
                      <a:pPr algn="l">
                        <a:defRPr sz="800" b="0">
                          <a:solidFill>
                            <a:srgbClr val="000000"/>
                          </a:solidFill>
                          <a:latin typeface="Arial"/>
                        </a:defRPr>
                      </a:pPr>
                      <a:r>
                        <a:t>Same OPS-SAT event window; bounded to accepted cohort.</a:t>
                      </a:r>
                    </a:p>
                  </a:txBody>
                  <a:tcPr>
                    <a:solidFill>
                      <a:srgbClr val="FFFFFF"/>
                    </a:solidFill>
                  </a:tcPr>
                </a:tc>
                <a:extLst>
                  <a:ext uri="{0D108BD9-81ED-4DB2-BD59-A6C34878D82A}">
                    <a16:rowId xmlns:a16="http://schemas.microsoft.com/office/drawing/2014/main" val="10001"/>
                  </a:ext>
                </a:extLst>
              </a:tr>
              <a:tr h="693420">
                <a:tc>
                  <a:txBody>
                    <a:bodyPr/>
                    <a:lstStyle/>
                    <a:p>
                      <a:pPr algn="l">
                        <a:defRPr sz="800" b="1">
                          <a:solidFill>
                            <a:srgbClr val="000000"/>
                          </a:solidFill>
                          <a:latin typeface="Arial"/>
                        </a:defRPr>
                      </a:pPr>
                      <a:r>
                        <a:t>C — Comms</a:t>
                      </a:r>
                    </a:p>
                  </a:txBody>
                  <a:tcPr>
                    <a:solidFill>
                      <a:srgbClr val="E2EFDA"/>
                    </a:solidFill>
                  </a:tcPr>
                </a:tc>
                <a:tc>
                  <a:txBody>
                    <a:bodyPr/>
                    <a:lstStyle/>
                    <a:p>
                      <a:pPr algn="l">
                        <a:defRPr sz="760" b="0">
                          <a:solidFill>
                            <a:srgbClr val="000000"/>
                          </a:solidFill>
                          <a:latin typeface="Arial"/>
                        </a:defRPr>
                      </a:pPr>
                      <a:r>
                        <a:t>SatNOGS OPS-SAT telemetry</a:t>
                      </a:r>
                    </a:p>
                    <a:p>
                      <a:pPr algn="l">
                        <a:defRPr sz="760" b="0">
                          <a:solidFill>
                            <a:srgbClr val="000000"/>
                          </a:solidFill>
                          <a:latin typeface="Arial"/>
                        </a:defRPr>
                      </a:pPr>
                      <a:r>
                        <a:t>OPS-SAT / NORAD 44878</a:t>
                      </a:r>
                    </a:p>
                  </a:txBody>
                  <a:tcPr>
                    <a:solidFill>
                      <a:srgbClr val="F8F8F8"/>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8F8F8"/>
                    </a:solidFill>
                  </a:tcPr>
                </a:tc>
                <a:tc>
                  <a:txBody>
                    <a:bodyPr/>
                    <a:lstStyle/>
                    <a:p>
                      <a:pPr algn="l">
                        <a:defRPr sz="800" b="0">
                          <a:solidFill>
                            <a:srgbClr val="000000"/>
                          </a:solidFill>
                          <a:latin typeface="Arial"/>
                        </a:defRPr>
                      </a:pPr>
                      <a:r>
                        <a:t>Communications leg; reception / decoded telemetry and accepted link associations.</a:t>
                      </a:r>
                    </a:p>
                  </a:txBody>
                  <a:tcPr>
                    <a:solidFill>
                      <a:srgbClr val="F8F8F8"/>
                    </a:solidFill>
                  </a:tcPr>
                </a:tc>
                <a:tc>
                  <a:txBody>
                    <a:bodyPr/>
                    <a:lstStyle/>
                    <a:p>
                      <a:pPr algn="l">
                        <a:defRPr sz="800" b="0">
                          <a:solidFill>
                            <a:srgbClr val="000000"/>
                          </a:solidFill>
                          <a:latin typeface="Arial"/>
                        </a:defRPr>
                      </a:pPr>
                      <a:r>
                        <a:t>Same spacecraft; not treated as full network-performance truth.</a:t>
                      </a:r>
                    </a:p>
                  </a:txBody>
                  <a:tcPr>
                    <a:solidFill>
                      <a:srgbClr val="F8F8F8"/>
                    </a:solidFill>
                  </a:tcPr>
                </a:tc>
                <a:extLst>
                  <a:ext uri="{0D108BD9-81ED-4DB2-BD59-A6C34878D82A}">
                    <a16:rowId xmlns:a16="http://schemas.microsoft.com/office/drawing/2014/main" val="10002"/>
                  </a:ext>
                </a:extLst>
              </a:tr>
              <a:tr h="693420">
                <a:tc>
                  <a:txBody>
                    <a:bodyPr/>
                    <a:lstStyle/>
                    <a:p>
                      <a:pPr algn="l">
                        <a:defRPr sz="800" b="1">
                          <a:solidFill>
                            <a:srgbClr val="000000"/>
                          </a:solidFill>
                          <a:latin typeface="Arial"/>
                        </a:defRPr>
                      </a:pPr>
                      <a:r>
                        <a:t>E — Environmental</a:t>
                      </a:r>
                    </a:p>
                  </a:txBody>
                  <a:tcPr>
                    <a:solidFill>
                      <a:srgbClr val="EDE1F6"/>
                    </a:solidFill>
                  </a:tcPr>
                </a:tc>
                <a:tc>
                  <a:txBody>
                    <a:bodyPr/>
                    <a:lstStyle/>
                    <a:p>
                      <a:pPr algn="l">
                        <a:defRPr sz="760" b="0">
                          <a:solidFill>
                            <a:srgbClr val="000000"/>
                          </a:solidFill>
                          <a:latin typeface="Arial"/>
                        </a:defRPr>
                      </a:pPr>
                      <a:r>
                        <a:t>NASA OMNI 1-minute</a:t>
                      </a:r>
                    </a:p>
                    <a:p>
                      <a:pPr algn="l">
                        <a:defRPr sz="760" b="0">
                          <a:solidFill>
                            <a:srgbClr val="000000"/>
                          </a:solidFill>
                          <a:latin typeface="Arial"/>
                        </a:defRPr>
                      </a:pPr>
                      <a:r>
                        <a:t>High-res space environment</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Context window</a:t>
                      </a:r>
                    </a:p>
                  </a:txBody>
                  <a:tcPr>
                    <a:solidFill>
                      <a:srgbClr val="FFFFFF"/>
                    </a:solidFill>
                  </a:tcPr>
                </a:tc>
                <a:tc>
                  <a:txBody>
                    <a:bodyPr/>
                    <a:lstStyle/>
                    <a:p>
                      <a:pPr algn="l">
                        <a:defRPr sz="800" b="0">
                          <a:solidFill>
                            <a:srgbClr val="000000"/>
                          </a:solidFill>
                          <a:latin typeface="Arial"/>
                        </a:defRPr>
                      </a:pPr>
                      <a:r>
                        <a:t>Environmental context for the same UTC interval.</a:t>
                      </a:r>
                    </a:p>
                  </a:txBody>
                  <a:tcPr>
                    <a:solidFill>
                      <a:srgbClr val="FFFFFF"/>
                    </a:solidFill>
                  </a:tcPr>
                </a:tc>
                <a:tc>
                  <a:txBody>
                    <a:bodyPr/>
                    <a:lstStyle/>
                    <a:p>
                      <a:pPr algn="l">
                        <a:defRPr sz="800" b="0">
                          <a:solidFill>
                            <a:srgbClr val="000000"/>
                          </a:solidFill>
                          <a:latin typeface="Arial"/>
                        </a:defRPr>
                      </a:pPr>
                      <a:r>
                        <a:t>Not OPS-SAT telemetry; association/context, not automatic causation.</a:t>
                      </a:r>
                    </a:p>
                  </a:txBody>
                  <a:tcPr>
                    <a:solidFill>
                      <a:srgbClr val="FFFFFF"/>
                    </a:solidFill>
                  </a:tcPr>
                </a:tc>
                <a:extLst>
                  <a:ext uri="{0D108BD9-81ED-4DB2-BD59-A6C34878D82A}">
                    <a16:rowId xmlns:a16="http://schemas.microsoft.com/office/drawing/2014/main" val="10003"/>
                  </a:ext>
                </a:extLst>
              </a:tr>
              <a:tr h="693420">
                <a:tc>
                  <a:txBody>
                    <a:bodyPr/>
                    <a:lstStyle/>
                    <a:p>
                      <a:pPr algn="l">
                        <a:defRPr sz="800" b="1">
                          <a:solidFill>
                            <a:srgbClr val="000000"/>
                          </a:solidFill>
                          <a:latin typeface="Arial"/>
                        </a:defRPr>
                      </a:pPr>
                      <a:r>
                        <a:t>Support — ENV</a:t>
                      </a:r>
                    </a:p>
                  </a:txBody>
                  <a:tcPr>
                    <a:solidFill>
                      <a:srgbClr val="F2F2F2"/>
                    </a:solidFill>
                  </a:tcPr>
                </a:tc>
                <a:tc>
                  <a:txBody>
                    <a:bodyPr/>
                    <a:lstStyle/>
                    <a:p>
                      <a:pPr algn="l">
                        <a:defRPr sz="760" b="0">
                          <a:solidFill>
                            <a:srgbClr val="000000"/>
                          </a:solidFill>
                          <a:latin typeface="Arial"/>
                        </a:defRPr>
                      </a:pPr>
                      <a:r>
                        <a:t>Antarctica / CINC ionosonde</a:t>
                      </a:r>
                    </a:p>
                    <a:p>
                      <a:pPr algn="l">
                        <a:defRPr sz="760" b="0">
                          <a:solidFill>
                            <a:srgbClr val="000000"/>
                          </a:solidFill>
                          <a:latin typeface="Arial"/>
                        </a:defRPr>
                      </a:pPr>
                      <a:r>
                        <a:t>foreign environmental context</a:t>
                      </a:r>
                    </a:p>
                  </a:txBody>
                  <a:tcPr>
                    <a:solidFill>
                      <a:srgbClr val="F8F8F8"/>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8F8F8"/>
                    </a:solidFill>
                  </a:tcPr>
                </a:tc>
                <a:tc>
                  <a:txBody>
                    <a:bodyPr/>
                    <a:lstStyle/>
                    <a:p>
                      <a:pPr algn="l">
                        <a:defRPr sz="800" b="0">
                          <a:solidFill>
                            <a:srgbClr val="000000"/>
                          </a:solidFill>
                          <a:latin typeface="Arial"/>
                        </a:defRPr>
                      </a:pPr>
                      <a:r>
                        <a:t>Adds environmental/ionospheric precedent and citation support.</a:t>
                      </a:r>
                    </a:p>
                  </a:txBody>
                  <a:tcPr>
                    <a:solidFill>
                      <a:srgbClr val="F8F8F8"/>
                    </a:solidFill>
                  </a:tcPr>
                </a:tc>
                <a:tc>
                  <a:txBody>
                    <a:bodyPr/>
                    <a:lstStyle/>
                    <a:p>
                      <a:pPr algn="l">
                        <a:defRPr sz="800" b="0">
                          <a:solidFill>
                            <a:srgbClr val="000000"/>
                          </a:solidFill>
                          <a:latin typeface="Arial"/>
                        </a:defRPr>
                      </a:pPr>
                      <a:r>
                        <a:t>Not part of current simultaneous OPS-SAT cohort.</a:t>
                      </a:r>
                    </a:p>
                  </a:txBody>
                  <a:tcPr>
                    <a:solidFill>
                      <a:srgbClr val="F8F8F8"/>
                    </a:solidFill>
                  </a:tcPr>
                </a:tc>
                <a:extLst>
                  <a:ext uri="{0D108BD9-81ED-4DB2-BD59-A6C34878D82A}">
                    <a16:rowId xmlns:a16="http://schemas.microsoft.com/office/drawing/2014/main" val="10004"/>
                  </a:ext>
                </a:extLst>
              </a:tr>
              <a:tr h="693420">
                <a:tc>
                  <a:txBody>
                    <a:bodyPr/>
                    <a:lstStyle/>
                    <a:p>
                      <a:pPr algn="l">
                        <a:defRPr sz="800" b="1">
                          <a:solidFill>
                            <a:srgbClr val="000000"/>
                          </a:solidFill>
                          <a:latin typeface="Arial"/>
                        </a:defRPr>
                      </a:pPr>
                      <a:r>
                        <a:t>Support — COMM</a:t>
                      </a:r>
                    </a:p>
                  </a:txBody>
                  <a:tcPr>
                    <a:solidFill>
                      <a:srgbClr val="F2F2F2"/>
                    </a:solidFill>
                  </a:tcPr>
                </a:tc>
                <a:tc>
                  <a:txBody>
                    <a:bodyPr/>
                    <a:lstStyle/>
                    <a:p>
                      <a:pPr algn="l">
                        <a:defRPr sz="760" b="0">
                          <a:solidFill>
                            <a:srgbClr val="000000"/>
                          </a:solidFill>
                          <a:latin typeface="Arial"/>
                        </a:defRPr>
                      </a:pPr>
                      <a:r>
                        <a:t>CAIDA / external network-measurement candidate</a:t>
                      </a:r>
                    </a:p>
                  </a:txBody>
                  <a:tcPr>
                    <a:solidFill>
                      <a:srgbClr val="FFFFFF"/>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FFFFF"/>
                    </a:solidFill>
                  </a:tcPr>
                </a:tc>
                <a:tc>
                  <a:txBody>
                    <a:bodyPr/>
                    <a:lstStyle/>
                    <a:p>
                      <a:pPr algn="l">
                        <a:defRPr sz="800" b="0">
                          <a:solidFill>
                            <a:srgbClr val="000000"/>
                          </a:solidFill>
                          <a:latin typeface="Arial"/>
                        </a:defRPr>
                      </a:pPr>
                      <a:r>
                        <a:t>Supports comms-measurement framing and degradation literature.</a:t>
                      </a:r>
                    </a:p>
                  </a:txBody>
                  <a:tcPr>
                    <a:solidFill>
                      <a:srgbClr val="FFFFFF"/>
                    </a:solidFill>
                  </a:tcPr>
                </a:tc>
                <a:tc>
                  <a:txBody>
                    <a:bodyPr/>
                    <a:lstStyle/>
                    <a:p>
                      <a:pPr algn="l">
                        <a:defRPr sz="800" b="0">
                          <a:solidFill>
                            <a:srgbClr val="000000"/>
                          </a:solidFill>
                          <a:latin typeface="Arial"/>
                        </a:defRPr>
                      </a:pPr>
                      <a:r>
                        <a:t>Keep separate from ASOT unless time-overlap is later verified.</a:t>
                      </a:r>
                    </a:p>
                  </a:txBody>
                  <a:tcPr>
                    <a:solidFill>
                      <a:srgbClr val="FFFFFF"/>
                    </a:solidFill>
                  </a:tcPr>
                </a:tc>
                <a:extLst>
                  <a:ext uri="{0D108BD9-81ED-4DB2-BD59-A6C34878D82A}">
                    <a16:rowId xmlns:a16="http://schemas.microsoft.com/office/drawing/2014/main" val="10005"/>
                  </a:ext>
                </a:extLst>
              </a:tr>
            </a:tbl>
          </a:graphicData>
        </a:graphic>
      </p:graphicFrame>
      <p:sp>
        <p:nvSpPr>
          <p:cNvPr id="206" name="TextBox 205"/>
          <p:cNvSpPr txBox="1"/>
          <p:nvPr/>
        </p:nvSpPr>
        <p:spPr>
          <a:xfrm>
            <a:off x="624840" y="5029200"/>
            <a:ext cx="9694257" cy="319831"/>
          </a:xfrm>
          <a:prstGeom prst="rect">
            <a:avLst/>
          </a:prstGeom>
          <a:noFill/>
        </p:spPr>
        <p:txBody>
          <a:bodyPr wrap="none" lIns="27432" tIns="18288" rIns="27432" bIns="18288">
            <a:spAutoFit/>
          </a:bodyPr>
          <a:lstStyle/>
          <a:p>
            <a:pPr>
              <a:defRPr sz="919" b="1">
                <a:solidFill>
                  <a:srgbClr val="780000"/>
                </a:solidFill>
                <a:latin typeface="Arial"/>
              </a:defRPr>
            </a:pPr>
            <a:r>
              <a:rPr dirty="0">
                <a:highlight>
                  <a:srgbClr val="FFFF00"/>
                </a:highlight>
              </a:rPr>
              <a:t>ASOT = first three simultaneous sources only. Supporting sources strengthen Chapter 2 and scenario logic, but they do not replace the synchronized OPS-SAT ACE cohort.</a:t>
            </a:r>
            <a:endParaRPr lang="en-US" dirty="0">
              <a:highlight>
                <a:srgbClr val="FFFF00"/>
              </a:highlight>
            </a:endParaRPr>
          </a:p>
          <a:p>
            <a:pPr>
              <a:defRPr sz="919" b="1">
                <a:solidFill>
                  <a:srgbClr val="780000"/>
                </a:solidFill>
                <a:latin typeface="Arial"/>
              </a:defRPr>
            </a:pPr>
            <a:r>
              <a:rPr lang="en-US" dirty="0">
                <a:highlight>
                  <a:srgbClr val="FFFF00"/>
                </a:highlight>
              </a:rPr>
              <a:t>The supporting sources established and support the Env/Comm buckets.</a:t>
            </a:r>
            <a:endParaRPr dirty="0">
              <a:highlight>
                <a:srgbClr val="FFFF00"/>
              </a:highlight>
            </a:endParaRPr>
          </a:p>
        </p:txBody>
      </p:sp>
      <p:sp>
        <p:nvSpPr>
          <p:cNvPr id="207" name="TextBox 20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16 of 29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Summary of Methodology</a:t>
            </a:r>
            <a:endParaRPr/>
          </a:p>
        </p:txBody>
      </p:sp>
      <p:sp>
        <p:nvSpPr>
          <p:cNvPr id="214" name="Google Shape;214;p34"/>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dirty="0">
                <a:solidFill>
                  <a:srgbClr val="000000"/>
                </a:solidFill>
                <a:latin typeface="Times New Roman"/>
                <a:ea typeface="Times New Roman"/>
                <a:cs typeface="Times New Roman"/>
                <a:sym typeface="Times New Roman"/>
              </a:rPr>
              <a:t>DES — WORKING SELECTION </a:t>
            </a:r>
            <a:endParaRPr dirty="0"/>
          </a:p>
        </p:txBody>
      </p:sp>
      <p:graphicFrame>
        <p:nvGraphicFramePr>
          <p:cNvPr id="215" name="Google Shape;215;p34"/>
          <p:cNvGraphicFramePr/>
          <p:nvPr>
            <p:extLst>
              <p:ext uri="{D42A27DB-BD31-4B8C-83A1-F6EECF244321}">
                <p14:modId xmlns:p14="http://schemas.microsoft.com/office/powerpoint/2010/main" val="2227060357"/>
              </p:ext>
            </p:extLst>
          </p:nvPr>
        </p:nvGraphicFramePr>
        <p:xfrm>
          <a:off x="585216" y="1463040"/>
          <a:ext cx="10991075" cy="3639325"/>
        </p:xfrm>
        <a:graphic>
          <a:graphicData uri="http://schemas.openxmlformats.org/drawingml/2006/table">
            <a:tbl>
              <a:tblPr firstRow="1" bandRow="1">
                <a:noFill/>
                <a:tableStyleId>{3C1EB017-BC45-4DEE-9ABB-B4D90C79D28D}</a:tableStyleId>
              </a:tblPr>
              <a:tblGrid>
                <a:gridCol w="2011675">
                  <a:extLst>
                    <a:ext uri="{9D8B030D-6E8A-4147-A177-3AD203B41FA5}">
                      <a16:colId xmlns:a16="http://schemas.microsoft.com/office/drawing/2014/main" val="20000"/>
                    </a:ext>
                  </a:extLst>
                </a:gridCol>
                <a:gridCol w="8979400">
                  <a:extLst>
                    <a:ext uri="{9D8B030D-6E8A-4147-A177-3AD203B41FA5}">
                      <a16:colId xmlns:a16="http://schemas.microsoft.com/office/drawing/2014/main" val="20001"/>
                    </a:ext>
                  </a:extLst>
                </a:gridCol>
              </a:tblGrid>
              <a:tr h="3200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Element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Working design / source-derived content</a:t>
                      </a:r>
                      <a:endParaRPr/>
                    </a:p>
                  </a:txBody>
                  <a:tcPr marL="68575" marR="68575" marT="36575" marB="22850" anchor="ctr">
                    <a:solidFill>
                      <a:srgbClr val="E7EEF3"/>
                    </a:solidFill>
                  </a:tcPr>
                </a:tc>
                <a:extLst>
                  <a:ext uri="{0D108BD9-81ED-4DB2-BD59-A6C34878D82A}">
                    <a16:rowId xmlns:a16="http://schemas.microsoft.com/office/drawing/2014/main" val="10000"/>
                  </a:ext>
                </a:extLst>
              </a:tr>
              <a:tr h="6309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Method</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Follow individual observations, disruptions, routing, processing, responses and recovery in event order.</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Compare ground-centric and orbital-edge paths under matched degradation.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7132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Inputs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Disruption type/start/duration; communication lag; ground-station availability; visibility window; bandwidth capacity; data volume; packet loss; edge processing time; resource availability.</a:t>
                      </a:r>
                      <a:endParaRPr dirty="0"/>
                    </a:p>
                  </a:txBody>
                  <a:tcPr marL="68575" marR="68575" marT="36575" marB="22850" anchor="ctr">
                    <a:solidFill>
                      <a:srgbClr val="F6F8FA"/>
                    </a:solidFill>
                  </a:tcPr>
                </a:tc>
                <a:extLst>
                  <a:ext uri="{0D108BD9-81ED-4DB2-BD59-A6C34878D82A}">
                    <a16:rowId xmlns:a16="http://schemas.microsoft.com/office/drawing/2014/main" val="10002"/>
                  </a:ext>
                </a:extLst>
              </a:tr>
              <a:tr h="65837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200" b="1" dirty="0">
                          <a:solidFill>
                            <a:srgbClr val="000000"/>
                          </a:solidFill>
                          <a:latin typeface="Times New Roman"/>
                          <a:ea typeface="Times New Roman"/>
                          <a:cs typeface="Times New Roman"/>
                          <a:sym typeface="Times New Roman"/>
                        </a:rPr>
                        <a:t>Outputs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Uptime/service availability; downtime/recovery; response latency; packet loss; queueing delay.</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Recovery and dropped messages remain supporting observations. Definitions and thresholds still need to be fixed.</a:t>
                      </a:r>
                      <a:endParaRPr/>
                    </a:p>
                  </a:txBody>
                  <a:tcPr marL="68575" marR="68575" marT="36575" marB="22850" anchor="ctr">
                    <a:solidFill>
                      <a:srgbClr val="FFFFFF"/>
                    </a:solidFill>
                  </a:tcPr>
                </a:tc>
                <a:extLst>
                  <a:ext uri="{0D108BD9-81ED-4DB2-BD59-A6C34878D82A}">
                    <a16:rowId xmlns:a16="http://schemas.microsoft.com/office/drawing/2014/main" val="10003"/>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Analysis</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1">
                          <a:solidFill>
                            <a:srgbClr val="000000"/>
                          </a:solidFill>
                          <a:latin typeface="Times New Roman"/>
                          <a:ea typeface="Times New Roman"/>
                          <a:cs typeface="Times New Roman"/>
                          <a:sym typeface="Times New Roman"/>
                        </a:rPr>
                        <a:t>Public benchmarks and theoretical delay calculations; matched repeated runs; latency-distribution comparison; sensitivity analysis. </a:t>
                      </a:r>
                      <a:endParaRPr sz="1400" b="1">
                        <a:solidFill>
                          <a:srgbClr val="000000"/>
                        </a:solidFill>
                        <a:latin typeface="Times New Roman"/>
                        <a:ea typeface="Times New Roman"/>
                        <a:cs typeface="Times New Roman"/>
                        <a:sym typeface="Times New Roman"/>
                      </a:endParaRPr>
                    </a:p>
                  </a:txBody>
                  <a:tcPr marL="68575" marR="68575" marT="36575" marB="22850" anchor="ctr">
                    <a:solidFill>
                      <a:srgbClr val="F6F8FA"/>
                    </a:solidFill>
                  </a:tcPr>
                </a:tc>
                <a:extLst>
                  <a:ext uri="{0D108BD9-81ED-4DB2-BD59-A6C34878D82A}">
                    <a16:rowId xmlns:a16="http://schemas.microsoft.com/office/drawing/2014/main" val="10004"/>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Implementation / boundary</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MATLAB/</a:t>
                      </a:r>
                      <a:r>
                        <a:rPr lang="en-US" sz="1400" b="0" dirty="0" err="1">
                          <a:solidFill>
                            <a:srgbClr val="000000"/>
                          </a:solidFill>
                          <a:latin typeface="Times New Roman"/>
                          <a:ea typeface="Times New Roman"/>
                          <a:cs typeface="Times New Roman"/>
                          <a:sym typeface="Times New Roman"/>
                        </a:rPr>
                        <a:t>SimEvents</a:t>
                      </a:r>
                      <a:r>
                        <a:rPr lang="en-US" sz="1400" b="0" dirty="0">
                          <a:solidFill>
                            <a:srgbClr val="000000"/>
                          </a:solidFill>
                          <a:latin typeface="Times New Roman"/>
                          <a:ea typeface="Times New Roman"/>
                          <a:cs typeface="Times New Roman"/>
                          <a:sym typeface="Times New Roman"/>
                        </a:rPr>
                        <a:t> primary; Python only optional for data ingestion/preprocessing; reproducible scenario tables with fixed random seeds.</a:t>
                      </a:r>
                      <a:endParaRPr sz="3200" b="1" dirty="0">
                        <a:solidFill>
                          <a:srgbClr val="000000"/>
                        </a:solidFill>
                        <a:latin typeface="Times New Roman"/>
                        <a:ea typeface="Times New Roman"/>
                        <a:cs typeface="Times New Roman"/>
                        <a:sym typeface="Times New Roman"/>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216" name="TextBox 21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17 of 29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4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 name="TextBox 2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18 of 29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FED811-37BE-4285-E8F2-1BCF58F92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BF20CD7-1A1F-F02C-89D8-4817159B0921}"/>
              </a:ext>
            </a:extLst>
          </p:cNvPr>
          <p:cNvSpPr txBox="1"/>
          <p:nvPr/>
        </p:nvSpPr>
        <p:spPr>
          <a:xfrm>
            <a:off x="274320" y="95700"/>
            <a:ext cx="11612880" cy="461665"/>
          </a:xfrm>
          <a:prstGeom prst="rect">
            <a:avLst/>
          </a:prstGeom>
          <a:noFill/>
        </p:spPr>
        <p:txBody>
          <a:bodyPr wrap="square" rtlCol="0">
            <a:spAutoFit/>
          </a:bodyPr>
          <a:lstStyle/>
          <a:p>
            <a:pPr>
              <a:spcAft>
                <a:spcPts val="300"/>
              </a:spcAft>
            </a:pPr>
            <a:r>
              <a:rPr sz="2100" b="1">
                <a:solidFill>
                  <a:srgbClr val="263746"/>
                </a:solidFill>
                <a:latin typeface="Calibri"/>
              </a:rPr>
              <a:t>Ground and Bounded Orbital Edge: Conceptual Architecture</a:t>
            </a:r>
          </a:p>
        </p:txBody>
      </p:sp>
      <p:sp>
        <p:nvSpPr>
          <p:cNvPr id="8" name="TextBox 7">
            <a:extLst>
              <a:ext uri="{FF2B5EF4-FFF2-40B4-BE49-F238E27FC236}">
                <a16:creationId xmlns:a16="http://schemas.microsoft.com/office/drawing/2014/main" id="{BEBF326E-6C51-BC15-8AC5-36F23F8F1E4A}"/>
              </a:ext>
            </a:extLst>
          </p:cNvPr>
          <p:cNvSpPr txBox="1"/>
          <p:nvPr/>
        </p:nvSpPr>
        <p:spPr>
          <a:xfrm>
            <a:off x="3566160" y="5715000"/>
            <a:ext cx="5029200" cy="1051560"/>
          </a:xfrm>
          <a:prstGeom prst="rect">
            <a:avLst/>
          </a:prstGeom>
          <a:noFill/>
        </p:spPr>
        <p:txBody>
          <a:bodyPr wrap="square">
            <a:spAutoFit/>
          </a:bodyPr>
          <a:lstStyle/>
          <a:p>
            <a:pPr>
              <a:spcAft>
                <a:spcPts val="300"/>
              </a:spcAft>
            </a:pPr>
            <a:r>
              <a:rPr sz="1200">
                <a:solidFill>
                  <a:srgbClr val="263746"/>
                </a:solidFill>
                <a:latin typeface="Calibri"/>
              </a:rPr>
              <a:t>BOUNDED EDGE PATH</a:t>
            </a:r>
            <a:endParaRPr lang="en-US" sz="1200" b="1" dirty="0"/>
          </a:p>
          <a:p>
            <a:pPr>
              <a:spcAft>
                <a:spcPts val="300"/>
              </a:spcAft>
            </a:pPr>
            <a:r>
              <a:rPr sz="1200">
                <a:solidFill>
                  <a:srgbClr val="263746"/>
                </a:solidFill>
                <a:latin typeface="Calibri"/>
              </a:rPr>
              <a:t>Onboard processing precedes reduced-volume transmission. Compute cost and communications savings are tested under matched conditions.</a:t>
            </a:r>
          </a:p>
        </p:txBody>
      </p:sp>
      <p:sp>
        <p:nvSpPr>
          <p:cNvPr id="9" name="TextBox 8">
            <a:extLst>
              <a:ext uri="{FF2B5EF4-FFF2-40B4-BE49-F238E27FC236}">
                <a16:creationId xmlns:a16="http://schemas.microsoft.com/office/drawing/2014/main" id="{4E9576E9-339A-0129-16D4-A6B57C52DA8B}"/>
              </a:ext>
            </a:extLst>
          </p:cNvPr>
          <p:cNvSpPr txBox="1"/>
          <p:nvPr/>
        </p:nvSpPr>
        <p:spPr>
          <a:xfrm>
            <a:off x="1371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GROUND PATH</a:t>
            </a:r>
            <a:endParaRPr lang="en-US" sz="1050" b="1" dirty="0"/>
          </a:p>
          <a:p>
            <a:pPr>
              <a:spcAft>
                <a:spcPts val="300"/>
              </a:spcAft>
            </a:pPr>
            <a:r>
              <a:rPr sz="1200">
                <a:solidFill>
                  <a:srgbClr val="263746"/>
                </a:solidFill>
                <a:latin typeface="Calibri"/>
              </a:rPr>
              <a:t>Full observation downlink, followed by ground processing. Link and compute queues contribute to delivery time.</a:t>
            </a:r>
          </a:p>
        </p:txBody>
      </p:sp>
      <p:sp>
        <p:nvSpPr>
          <p:cNvPr id="10" name="TextBox 9">
            <a:extLst>
              <a:ext uri="{FF2B5EF4-FFF2-40B4-BE49-F238E27FC236}">
                <a16:creationId xmlns:a16="http://schemas.microsoft.com/office/drawing/2014/main" id="{77829F88-3951-5DF7-0466-D78AB4648B47}"/>
              </a:ext>
            </a:extLst>
          </p:cNvPr>
          <p:cNvSpPr txBox="1"/>
          <p:nvPr/>
        </p:nvSpPr>
        <p:spPr>
          <a:xfrm>
            <a:off x="88239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MEASURED IN THE MODEL</a:t>
            </a:r>
            <a:endParaRPr lang="en-US" sz="1050" b="1" dirty="0"/>
          </a:p>
          <a:p>
            <a:pPr>
              <a:spcAft>
                <a:spcPts val="300"/>
              </a:spcAft>
            </a:pPr>
            <a:r>
              <a:rPr sz="1200">
                <a:solidFill>
                  <a:srgbClr val="263746"/>
                </a:solidFill>
                <a:latin typeface="Calibri"/>
              </a:rPr>
              <a:t>Information-delivery latency and queue behavior. Operator and clinical outcomes are subsequent activities.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079EA75-2097-AA90-2107-DAA7D3FB789E}"/>
                  </a:ext>
                </a:extLst>
              </p14:cNvPr>
              <p14:cNvContentPartPr/>
              <p14:nvPr/>
            </p14:nvContentPartPr>
            <p14:xfrm>
              <a:off x="4297560" y="1924400"/>
              <a:ext cx="829080" cy="110160"/>
            </p14:xfrm>
          </p:contentPart>
        </mc:Choice>
        <mc:Fallback xmlns="">
          <p:pic>
            <p:nvPicPr>
              <p:cNvPr id="3" name="Ink 2">
                <a:extLst>
                  <a:ext uri="{FF2B5EF4-FFF2-40B4-BE49-F238E27FC236}">
                    <a16:creationId xmlns:a16="http://schemas.microsoft.com/office/drawing/2014/main" id="{B079EA75-2097-AA90-2107-DAA7D3FB789E}"/>
                  </a:ext>
                </a:extLst>
              </p:cNvPr>
              <p:cNvPicPr/>
              <p:nvPr/>
            </p:nvPicPr>
            <p:blipFill>
              <a:blip r:embed="rId4"/>
              <a:stretch>
                <a:fillRect/>
              </a:stretch>
            </p:blipFill>
            <p:spPr>
              <a:xfrm>
                <a:off x="4291440" y="1918280"/>
                <a:ext cx="8413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8B8CF3D-B210-2170-10D8-A4BB63C08BEA}"/>
                  </a:ext>
                </a:extLst>
              </p14:cNvPr>
              <p14:cNvContentPartPr/>
              <p14:nvPr/>
            </p14:nvContentPartPr>
            <p14:xfrm>
              <a:off x="7111680" y="1889480"/>
              <a:ext cx="712080" cy="241200"/>
            </p14:xfrm>
          </p:contentPart>
        </mc:Choice>
        <mc:Fallback xmlns="">
          <p:pic>
            <p:nvPicPr>
              <p:cNvPr id="4" name="Ink 3">
                <a:extLst>
                  <a:ext uri="{FF2B5EF4-FFF2-40B4-BE49-F238E27FC236}">
                    <a16:creationId xmlns:a16="http://schemas.microsoft.com/office/drawing/2014/main" id="{C8B8CF3D-B210-2170-10D8-A4BB63C08BEA}"/>
                  </a:ext>
                </a:extLst>
              </p:cNvPr>
              <p:cNvPicPr/>
              <p:nvPr/>
            </p:nvPicPr>
            <p:blipFill>
              <a:blip r:embed="rId6"/>
              <a:stretch>
                <a:fillRect/>
              </a:stretch>
            </p:blipFill>
            <p:spPr>
              <a:xfrm>
                <a:off x="7105560" y="1883360"/>
                <a:ext cx="724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58DA9C0-8C3E-3B0F-3EC7-58764831A41D}"/>
                  </a:ext>
                </a:extLst>
              </p14:cNvPr>
              <p14:cNvContentPartPr/>
              <p14:nvPr/>
            </p14:nvContentPartPr>
            <p14:xfrm>
              <a:off x="2752440" y="2651600"/>
              <a:ext cx="7021800" cy="1001160"/>
            </p14:xfrm>
          </p:contentPart>
        </mc:Choice>
        <mc:Fallback xmlns="">
          <p:pic>
            <p:nvPicPr>
              <p:cNvPr id="7" name="Ink 6">
                <a:extLst>
                  <a:ext uri="{FF2B5EF4-FFF2-40B4-BE49-F238E27FC236}">
                    <a16:creationId xmlns:a16="http://schemas.microsoft.com/office/drawing/2014/main" id="{F58DA9C0-8C3E-3B0F-3EC7-58764831A41D}"/>
                  </a:ext>
                </a:extLst>
              </p:cNvPr>
              <p:cNvPicPr/>
              <p:nvPr/>
            </p:nvPicPr>
            <p:blipFill>
              <a:blip r:embed="rId8"/>
              <a:stretch>
                <a:fillRect/>
              </a:stretch>
            </p:blipFill>
            <p:spPr>
              <a:xfrm>
                <a:off x="2746320" y="2645480"/>
                <a:ext cx="703404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5495D2-39D0-6728-FDFB-3B34DEFF800F}"/>
                  </a:ext>
                </a:extLst>
              </p14:cNvPr>
              <p14:cNvContentPartPr/>
              <p14:nvPr/>
            </p14:nvContentPartPr>
            <p14:xfrm>
              <a:off x="9743280" y="3108800"/>
              <a:ext cx="702720" cy="678600"/>
            </p14:xfrm>
          </p:contentPart>
        </mc:Choice>
        <mc:Fallback xmlns="">
          <p:pic>
            <p:nvPicPr>
              <p:cNvPr id="11" name="Ink 10">
                <a:extLst>
                  <a:ext uri="{FF2B5EF4-FFF2-40B4-BE49-F238E27FC236}">
                    <a16:creationId xmlns:a16="http://schemas.microsoft.com/office/drawing/2014/main" id="{305495D2-39D0-6728-FDFB-3B34DEFF800F}"/>
                  </a:ext>
                </a:extLst>
              </p:cNvPr>
              <p:cNvPicPr/>
              <p:nvPr/>
            </p:nvPicPr>
            <p:blipFill>
              <a:blip r:embed="rId10"/>
              <a:stretch>
                <a:fillRect/>
              </a:stretch>
            </p:blipFill>
            <p:spPr>
              <a:xfrm>
                <a:off x="9737160" y="3102680"/>
                <a:ext cx="71496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5B08344-5B1E-F5F4-ABF1-604A80E015B4}"/>
                  </a:ext>
                </a:extLst>
              </p14:cNvPr>
              <p14:cNvContentPartPr/>
              <p14:nvPr/>
            </p14:nvContentPartPr>
            <p14:xfrm>
              <a:off x="1626360" y="3240920"/>
              <a:ext cx="914040" cy="889200"/>
            </p14:xfrm>
          </p:contentPart>
        </mc:Choice>
        <mc:Fallback xmlns="">
          <p:pic>
            <p:nvPicPr>
              <p:cNvPr id="12" name="Ink 11">
                <a:extLst>
                  <a:ext uri="{FF2B5EF4-FFF2-40B4-BE49-F238E27FC236}">
                    <a16:creationId xmlns:a16="http://schemas.microsoft.com/office/drawing/2014/main" id="{35B08344-5B1E-F5F4-ABF1-604A80E015B4}"/>
                  </a:ext>
                </a:extLst>
              </p:cNvPr>
              <p:cNvPicPr/>
              <p:nvPr/>
            </p:nvPicPr>
            <p:blipFill>
              <a:blip r:embed="rId12"/>
              <a:stretch>
                <a:fillRect/>
              </a:stretch>
            </p:blipFill>
            <p:spPr>
              <a:xfrm>
                <a:off x="1620240" y="3234800"/>
                <a:ext cx="926280" cy="901440"/>
              </a:xfrm>
              <a:prstGeom prst="rect">
                <a:avLst/>
              </a:prstGeom>
            </p:spPr>
          </p:pic>
        </mc:Fallback>
      </mc:AlternateContent>
      <p:grpSp>
        <p:nvGrpSpPr>
          <p:cNvPr id="21" name="Group 20">
            <a:extLst>
              <a:ext uri="{FF2B5EF4-FFF2-40B4-BE49-F238E27FC236}">
                <a16:creationId xmlns:a16="http://schemas.microsoft.com/office/drawing/2014/main" id="{5D3E8331-F31D-9D61-3E8E-317921FC335C}"/>
              </a:ext>
            </a:extLst>
          </p:cNvPr>
          <p:cNvGrpSpPr/>
          <p:nvPr/>
        </p:nvGrpSpPr>
        <p:grpSpPr>
          <a:xfrm>
            <a:off x="0" y="1269920"/>
            <a:ext cx="2005560" cy="2372760"/>
            <a:chOff x="-157440" y="1269920"/>
            <a:chExt cx="2005560" cy="2372760"/>
          </a:xfrm>
        </p:grpSpPr>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D8AC622-8D5B-0FAF-14F7-9FE9C74A0FC0}"/>
                    </a:ext>
                  </a:extLst>
                </p14:cNvPr>
                <p14:cNvContentPartPr/>
                <p14:nvPr/>
              </p14:nvContentPartPr>
              <p14:xfrm>
                <a:off x="639960" y="2204480"/>
                <a:ext cx="225720" cy="221400"/>
              </p14:xfrm>
            </p:contentPart>
          </mc:Choice>
          <mc:Fallback xmlns="">
            <p:pic>
              <p:nvPicPr>
                <p:cNvPr id="13" name="Ink 12">
                  <a:extLst>
                    <a:ext uri="{FF2B5EF4-FFF2-40B4-BE49-F238E27FC236}">
                      <a16:creationId xmlns:a16="http://schemas.microsoft.com/office/drawing/2014/main" id="{7D8AC622-8D5B-0FAF-14F7-9FE9C74A0FC0}"/>
                    </a:ext>
                  </a:extLst>
                </p:cNvPr>
                <p:cNvPicPr/>
                <p:nvPr/>
              </p:nvPicPr>
              <p:blipFill>
                <a:blip r:embed="rId14"/>
                <a:stretch>
                  <a:fillRect/>
                </a:stretch>
              </p:blipFill>
              <p:spPr>
                <a:xfrm>
                  <a:off x="633840" y="2198360"/>
                  <a:ext cx="237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B17D7FC9-2C1F-4EDD-5073-841FFEC70AAE}"/>
                    </a:ext>
                  </a:extLst>
                </p14:cNvPr>
                <p14:cNvContentPartPr/>
                <p14:nvPr/>
              </p14:nvContentPartPr>
              <p14:xfrm>
                <a:off x="660120" y="2407880"/>
                <a:ext cx="288360" cy="503640"/>
              </p14:xfrm>
            </p:contentPart>
          </mc:Choice>
          <mc:Fallback xmlns="">
            <p:pic>
              <p:nvPicPr>
                <p:cNvPr id="14" name="Ink 13">
                  <a:extLst>
                    <a:ext uri="{FF2B5EF4-FFF2-40B4-BE49-F238E27FC236}">
                      <a16:creationId xmlns:a16="http://schemas.microsoft.com/office/drawing/2014/main" id="{B17D7FC9-2C1F-4EDD-5073-841FFEC70AAE}"/>
                    </a:ext>
                  </a:extLst>
                </p:cNvPr>
                <p:cNvPicPr/>
                <p:nvPr/>
              </p:nvPicPr>
              <p:blipFill>
                <a:blip r:embed="rId16"/>
                <a:stretch>
                  <a:fillRect/>
                </a:stretch>
              </p:blipFill>
              <p:spPr>
                <a:xfrm>
                  <a:off x="654000" y="2401760"/>
                  <a:ext cx="3006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395F374-4E85-CF78-6E0A-A0FC2959B76C}"/>
                    </a:ext>
                  </a:extLst>
                </p14:cNvPr>
                <p14:cNvContentPartPr/>
                <p14:nvPr/>
              </p14:nvContentPartPr>
              <p14:xfrm>
                <a:off x="1280040" y="2793800"/>
                <a:ext cx="568080" cy="544680"/>
              </p14:xfrm>
            </p:contentPart>
          </mc:Choice>
          <mc:Fallback xmlns="">
            <p:pic>
              <p:nvPicPr>
                <p:cNvPr id="16" name="Ink 15">
                  <a:extLst>
                    <a:ext uri="{FF2B5EF4-FFF2-40B4-BE49-F238E27FC236}">
                      <a16:creationId xmlns:a16="http://schemas.microsoft.com/office/drawing/2014/main" id="{3395F374-4E85-CF78-6E0A-A0FC2959B76C}"/>
                    </a:ext>
                  </a:extLst>
                </p:cNvPr>
                <p:cNvPicPr/>
                <p:nvPr/>
              </p:nvPicPr>
              <p:blipFill>
                <a:blip r:embed="rId18"/>
                <a:stretch>
                  <a:fillRect/>
                </a:stretch>
              </p:blipFill>
              <p:spPr>
                <a:xfrm>
                  <a:off x="1273920" y="2787680"/>
                  <a:ext cx="5803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984FD97-76E9-0C94-1AF6-F5C99BC477D0}"/>
                    </a:ext>
                  </a:extLst>
                </p14:cNvPr>
                <p14:cNvContentPartPr/>
                <p14:nvPr/>
              </p14:nvContentPartPr>
              <p14:xfrm>
                <a:off x="1462920" y="3383120"/>
                <a:ext cx="349200" cy="259560"/>
              </p14:xfrm>
            </p:contentPart>
          </mc:Choice>
          <mc:Fallback xmlns="">
            <p:pic>
              <p:nvPicPr>
                <p:cNvPr id="17" name="Ink 16">
                  <a:extLst>
                    <a:ext uri="{FF2B5EF4-FFF2-40B4-BE49-F238E27FC236}">
                      <a16:creationId xmlns:a16="http://schemas.microsoft.com/office/drawing/2014/main" id="{E984FD97-76E9-0C94-1AF6-F5C99BC477D0}"/>
                    </a:ext>
                  </a:extLst>
                </p:cNvPr>
                <p:cNvPicPr/>
                <p:nvPr/>
              </p:nvPicPr>
              <p:blipFill>
                <a:blip r:embed="rId20"/>
                <a:stretch>
                  <a:fillRect/>
                </a:stretch>
              </p:blipFill>
              <p:spPr>
                <a:xfrm>
                  <a:off x="1456800" y="3377000"/>
                  <a:ext cx="3614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C229FC81-0955-D2AE-FA52-3824E7C8C0E3}"/>
                    </a:ext>
                  </a:extLst>
                </p14:cNvPr>
                <p14:cNvContentPartPr/>
                <p14:nvPr/>
              </p14:nvContentPartPr>
              <p14:xfrm>
                <a:off x="-157440" y="1298000"/>
                <a:ext cx="995760" cy="873000"/>
              </p14:xfrm>
            </p:contentPart>
          </mc:Choice>
          <mc:Fallback xmlns="">
            <p:pic>
              <p:nvPicPr>
                <p:cNvPr id="19" name="Ink 18">
                  <a:extLst>
                    <a:ext uri="{FF2B5EF4-FFF2-40B4-BE49-F238E27FC236}">
                      <a16:creationId xmlns:a16="http://schemas.microsoft.com/office/drawing/2014/main" id="{C229FC81-0955-D2AE-FA52-3824E7C8C0E3}"/>
                    </a:ext>
                  </a:extLst>
                </p:cNvPr>
                <p:cNvPicPr/>
                <p:nvPr/>
              </p:nvPicPr>
              <p:blipFill>
                <a:blip r:embed="rId22"/>
                <a:stretch>
                  <a:fillRect/>
                </a:stretch>
              </p:blipFill>
              <p:spPr>
                <a:xfrm>
                  <a:off x="-163560" y="1291880"/>
                  <a:ext cx="100800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C5CF8A83-9669-C964-4F4E-0FD602B8F9B6}"/>
                    </a:ext>
                  </a:extLst>
                </p14:cNvPr>
                <p14:cNvContentPartPr/>
                <p14:nvPr/>
              </p14:nvContentPartPr>
              <p14:xfrm>
                <a:off x="377520" y="1269920"/>
                <a:ext cx="222120" cy="783360"/>
              </p14:xfrm>
            </p:contentPart>
          </mc:Choice>
          <mc:Fallback xmlns="">
            <p:pic>
              <p:nvPicPr>
                <p:cNvPr id="20" name="Ink 19">
                  <a:extLst>
                    <a:ext uri="{FF2B5EF4-FFF2-40B4-BE49-F238E27FC236}">
                      <a16:creationId xmlns:a16="http://schemas.microsoft.com/office/drawing/2014/main" id="{C5CF8A83-9669-C964-4F4E-0FD602B8F9B6}"/>
                    </a:ext>
                  </a:extLst>
                </p:cNvPr>
                <p:cNvPicPr/>
                <p:nvPr/>
              </p:nvPicPr>
              <p:blipFill>
                <a:blip r:embed="rId24"/>
                <a:stretch>
                  <a:fillRect/>
                </a:stretch>
              </p:blipFill>
              <p:spPr>
                <a:xfrm>
                  <a:off x="371400" y="1263800"/>
                  <a:ext cx="234360" cy="795600"/>
                </a:xfrm>
                <a:prstGeom prst="rect">
                  <a:avLst/>
                </a:prstGeom>
              </p:spPr>
            </p:pic>
          </mc:Fallback>
        </mc:AlternateContent>
      </p:grpSp>
      <p:grpSp>
        <p:nvGrpSpPr>
          <p:cNvPr id="26" name="Group 25">
            <a:extLst>
              <a:ext uri="{FF2B5EF4-FFF2-40B4-BE49-F238E27FC236}">
                <a16:creationId xmlns:a16="http://schemas.microsoft.com/office/drawing/2014/main" id="{3B1CC626-FCF4-DE2C-793B-C9DD08D3C822}"/>
              </a:ext>
            </a:extLst>
          </p:cNvPr>
          <p:cNvGrpSpPr/>
          <p:nvPr/>
        </p:nvGrpSpPr>
        <p:grpSpPr>
          <a:xfrm>
            <a:off x="10411080" y="3668240"/>
            <a:ext cx="1663560" cy="1711800"/>
            <a:chOff x="10411080" y="3668240"/>
            <a:chExt cx="1663560" cy="1711800"/>
          </a:xfrm>
        </p:grpSpPr>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EBAD8D1A-3395-F02B-91BD-01E6E84C9C69}"/>
                    </a:ext>
                  </a:extLst>
                </p14:cNvPr>
                <p14:cNvContentPartPr/>
                <p14:nvPr/>
              </p14:nvContentPartPr>
              <p14:xfrm>
                <a:off x="10932000" y="3860480"/>
                <a:ext cx="360" cy="241200"/>
              </p14:xfrm>
            </p:contentPart>
          </mc:Choice>
          <mc:Fallback xmlns="">
            <p:pic>
              <p:nvPicPr>
                <p:cNvPr id="22" name="Ink 21">
                  <a:extLst>
                    <a:ext uri="{FF2B5EF4-FFF2-40B4-BE49-F238E27FC236}">
                      <a16:creationId xmlns:a16="http://schemas.microsoft.com/office/drawing/2014/main" id="{EBAD8D1A-3395-F02B-91BD-01E6E84C9C69}"/>
                    </a:ext>
                  </a:extLst>
                </p:cNvPr>
                <p:cNvPicPr/>
                <p:nvPr/>
              </p:nvPicPr>
              <p:blipFill>
                <a:blip r:embed="rId26"/>
                <a:stretch>
                  <a:fillRect/>
                </a:stretch>
              </p:blipFill>
              <p:spPr>
                <a:xfrm>
                  <a:off x="10925880" y="3854360"/>
                  <a:ext cx="12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527DB4FA-210F-EB45-2BBF-B22F00BBF718}"/>
                    </a:ext>
                  </a:extLst>
                </p14:cNvPr>
                <p14:cNvContentPartPr/>
                <p14:nvPr/>
              </p14:nvContentPartPr>
              <p14:xfrm>
                <a:off x="10728960" y="3974240"/>
                <a:ext cx="419040" cy="39600"/>
              </p14:xfrm>
            </p:contentPart>
          </mc:Choice>
          <mc:Fallback xmlns="">
            <p:pic>
              <p:nvPicPr>
                <p:cNvPr id="23" name="Ink 22">
                  <a:extLst>
                    <a:ext uri="{FF2B5EF4-FFF2-40B4-BE49-F238E27FC236}">
                      <a16:creationId xmlns:a16="http://schemas.microsoft.com/office/drawing/2014/main" id="{527DB4FA-210F-EB45-2BBF-B22F00BBF718}"/>
                    </a:ext>
                  </a:extLst>
                </p:cNvPr>
                <p:cNvPicPr/>
                <p:nvPr/>
              </p:nvPicPr>
              <p:blipFill>
                <a:blip r:embed="rId28"/>
                <a:stretch>
                  <a:fillRect/>
                </a:stretch>
              </p:blipFill>
              <p:spPr>
                <a:xfrm>
                  <a:off x="10722840" y="3968120"/>
                  <a:ext cx="431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92500C28-2378-DBE3-A505-B5D690F53934}"/>
                    </a:ext>
                  </a:extLst>
                </p14:cNvPr>
                <p14:cNvContentPartPr/>
                <p14:nvPr/>
              </p14:nvContentPartPr>
              <p14:xfrm>
                <a:off x="10411080" y="3668240"/>
                <a:ext cx="1663560" cy="1711800"/>
              </p14:xfrm>
            </p:contentPart>
          </mc:Choice>
          <mc:Fallback xmlns="">
            <p:pic>
              <p:nvPicPr>
                <p:cNvPr id="25" name="Ink 24">
                  <a:extLst>
                    <a:ext uri="{FF2B5EF4-FFF2-40B4-BE49-F238E27FC236}">
                      <a16:creationId xmlns:a16="http://schemas.microsoft.com/office/drawing/2014/main" id="{92500C28-2378-DBE3-A505-B5D690F53934}"/>
                    </a:ext>
                  </a:extLst>
                </p:cNvPr>
                <p:cNvPicPr/>
                <p:nvPr/>
              </p:nvPicPr>
              <p:blipFill>
                <a:blip r:embed="rId30"/>
                <a:stretch>
                  <a:fillRect/>
                </a:stretch>
              </p:blipFill>
              <p:spPr>
                <a:xfrm>
                  <a:off x="10404960" y="3662120"/>
                  <a:ext cx="1675800" cy="1724040"/>
                </a:xfrm>
                <a:prstGeom prst="rect">
                  <a:avLst/>
                </a:prstGeom>
              </p:spPr>
            </p:pic>
          </mc:Fallback>
        </mc:AlternateContent>
      </p:grpSp>
      <p:sp>
        <p:nvSpPr>
          <p:cNvPr id="27" name="TextBox 2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19 of 29</a:t>
            </a:r>
          </a:p>
        </p:txBody>
      </p:sp>
    </p:spTree>
    <p:extLst>
      <p:ext uri="{BB962C8B-B14F-4D97-AF65-F5344CB8AC3E}">
        <p14:creationId xmlns:p14="http://schemas.microsoft.com/office/powerpoint/2010/main" val="85369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411480"/>
          </a:xfrm>
          <a:prstGeom prst="rect">
            <a:avLst/>
          </a:prstGeom>
          <a:noFill/>
        </p:spPr>
        <p:txBody>
          <a:bodyPr wrap="none" lIns="27432" tIns="18288" rIns="27432" bIns="18288">
            <a:spAutoFit/>
          </a:bodyPr>
          <a:lstStyle/>
          <a:p>
            <a:pPr>
              <a:defRPr sz="2200" b="1">
                <a:solidFill>
                  <a:srgbClr val="2C3137"/>
                </a:solidFill>
                <a:latin typeface="Arial"/>
              </a:defRPr>
            </a:pPr>
            <a:r>
              <a:t>Workbook Rosetta — Tab Colors, Cohorts, and Data Flow</a:t>
            </a:r>
          </a:p>
        </p:txBody>
      </p:sp>
      <p:sp>
        <p:nvSpPr>
          <p:cNvPr id="3" name="TextBox 2"/>
          <p:cNvSpPr txBox="1"/>
          <p:nvPr/>
        </p:nvSpPr>
        <p:spPr>
          <a:xfrm>
            <a:off x="548640" y="713232"/>
            <a:ext cx="10698480" cy="411480"/>
          </a:xfrm>
          <a:prstGeom prst="rect">
            <a:avLst/>
          </a:prstGeom>
          <a:noFill/>
        </p:spPr>
        <p:txBody>
          <a:bodyPr wrap="none" lIns="27432" tIns="18288" rIns="27432" bIns="18288">
            <a:spAutoFit/>
          </a:bodyPr>
          <a:lstStyle/>
          <a:p>
            <a:pPr>
              <a:defRPr sz="1050" b="0">
                <a:solidFill>
                  <a:srgbClr val="3C3C3C"/>
                </a:solidFill>
                <a:latin typeface="Arial"/>
              </a:defRPr>
            </a:pPr>
            <a:r>
              <a:t>How to read the ASOT workbook: raw A/C/E inputs are normalized, joined, converted into arrivals, run through matched Ground and Edge paths, then summarized for dashboard and MATLAB handoff.</a:t>
            </a:r>
          </a:p>
        </p:txBody>
      </p:sp>
      <p:graphicFrame>
        <p:nvGraphicFramePr>
          <p:cNvPr id="4" name="Table 3"/>
          <p:cNvGraphicFramePr>
            <a:graphicFrameLocks noGrp="1"/>
          </p:cNvGraphicFramePr>
          <p:nvPr/>
        </p:nvGraphicFramePr>
        <p:xfrm>
          <a:off x="502920" y="1143000"/>
          <a:ext cx="10972794" cy="868680"/>
        </p:xfrm>
        <a:graphic>
          <a:graphicData uri="http://schemas.openxmlformats.org/drawingml/2006/table">
            <a:tbl>
              <a:tblPr firstRow="1" bandRow="1">
                <a:tableStyleId>{5C22544A-7EE6-4342-B048-85BDC9FD1C3A}</a:tableStyleId>
              </a:tblPr>
              <a:tblGrid>
                <a:gridCol w="1567542">
                  <a:extLst>
                    <a:ext uri="{9D8B030D-6E8A-4147-A177-3AD203B41FA5}">
                      <a16:colId xmlns:a16="http://schemas.microsoft.com/office/drawing/2014/main" val="20000"/>
                    </a:ext>
                  </a:extLst>
                </a:gridCol>
                <a:gridCol w="1567542">
                  <a:extLst>
                    <a:ext uri="{9D8B030D-6E8A-4147-A177-3AD203B41FA5}">
                      <a16:colId xmlns:a16="http://schemas.microsoft.com/office/drawing/2014/main" val="20001"/>
                    </a:ext>
                  </a:extLst>
                </a:gridCol>
                <a:gridCol w="1567542">
                  <a:extLst>
                    <a:ext uri="{9D8B030D-6E8A-4147-A177-3AD203B41FA5}">
                      <a16:colId xmlns:a16="http://schemas.microsoft.com/office/drawing/2014/main" val="20002"/>
                    </a:ext>
                  </a:extLst>
                </a:gridCol>
                <a:gridCol w="1567542">
                  <a:extLst>
                    <a:ext uri="{9D8B030D-6E8A-4147-A177-3AD203B41FA5}">
                      <a16:colId xmlns:a16="http://schemas.microsoft.com/office/drawing/2014/main" val="20003"/>
                    </a:ext>
                  </a:extLst>
                </a:gridCol>
                <a:gridCol w="1567542">
                  <a:extLst>
                    <a:ext uri="{9D8B030D-6E8A-4147-A177-3AD203B41FA5}">
                      <a16:colId xmlns:a16="http://schemas.microsoft.com/office/drawing/2014/main" val="20004"/>
                    </a:ext>
                  </a:extLst>
                </a:gridCol>
                <a:gridCol w="1567542">
                  <a:extLst>
                    <a:ext uri="{9D8B030D-6E8A-4147-A177-3AD203B41FA5}">
                      <a16:colId xmlns:a16="http://schemas.microsoft.com/office/drawing/2014/main" val="20005"/>
                    </a:ext>
                  </a:extLst>
                </a:gridCol>
                <a:gridCol w="1567542">
                  <a:extLst>
                    <a:ext uri="{9D8B030D-6E8A-4147-A177-3AD203B41FA5}">
                      <a16:colId xmlns:a16="http://schemas.microsoft.com/office/drawing/2014/main" val="20006"/>
                    </a:ext>
                  </a:extLst>
                </a:gridCol>
              </a:tblGrid>
              <a:tr h="434340">
                <a:tc>
                  <a:txBody>
                    <a:bodyPr/>
                    <a:lstStyle/>
                    <a:p>
                      <a:pPr algn="ctr">
                        <a:defRPr sz="800" b="1">
                          <a:solidFill>
                            <a:srgbClr val="000000"/>
                          </a:solidFill>
                          <a:latin typeface="Arial"/>
                        </a:defRPr>
                      </a:pPr>
                      <a:r>
                        <a:t>Raw A/C/E</a:t>
                      </a:r>
                    </a:p>
                  </a:txBody>
                  <a:tcPr>
                    <a:solidFill>
                      <a:srgbClr val="D9E1F2"/>
                    </a:solidFill>
                  </a:tcPr>
                </a:tc>
                <a:tc>
                  <a:txBody>
                    <a:bodyPr/>
                    <a:lstStyle/>
                    <a:p>
                      <a:pPr algn="ctr">
                        <a:defRPr sz="800" b="1">
                          <a:solidFill>
                            <a:srgbClr val="000000"/>
                          </a:solidFill>
                          <a:latin typeface="Arial"/>
                        </a:defRPr>
                      </a:pPr>
                      <a:r>
                        <a:t>Normalize</a:t>
                      </a:r>
                    </a:p>
                  </a:txBody>
                  <a:tcPr>
                    <a:solidFill>
                      <a:srgbClr val="EADDF7"/>
                    </a:solidFill>
                  </a:tcPr>
                </a:tc>
                <a:tc>
                  <a:txBody>
                    <a:bodyPr/>
                    <a:lstStyle/>
                    <a:p>
                      <a:pPr algn="ctr">
                        <a:defRPr sz="800" b="1">
                          <a:solidFill>
                            <a:srgbClr val="000000"/>
                          </a:solidFill>
                          <a:latin typeface="Arial"/>
                        </a:defRPr>
                      </a:pPr>
                      <a:r>
                        <a:t>Join / Audit</a:t>
                      </a:r>
                    </a:p>
                  </a:txBody>
                  <a:tcPr>
                    <a:solidFill>
                      <a:srgbClr val="EADDF7"/>
                    </a:solidFill>
                  </a:tcPr>
                </a:tc>
                <a:tc>
                  <a:txBody>
                    <a:bodyPr/>
                    <a:lstStyle/>
                    <a:p>
                      <a:pPr algn="ctr">
                        <a:defRPr sz="800" b="1">
                          <a:solidFill>
                            <a:srgbClr val="000000"/>
                          </a:solidFill>
                          <a:latin typeface="Arial"/>
                        </a:defRPr>
                      </a:pPr>
                      <a:r>
                        <a:t>Arrivals</a:t>
                      </a:r>
                    </a:p>
                  </a:txBody>
                  <a:tcPr>
                    <a:solidFill>
                      <a:srgbClr val="DAF2DA"/>
                    </a:solidFill>
                  </a:tcPr>
                </a:tc>
                <a:tc>
                  <a:txBody>
                    <a:bodyPr/>
                    <a:lstStyle/>
                    <a:p>
                      <a:pPr algn="ctr">
                        <a:defRPr sz="800" b="1">
                          <a:solidFill>
                            <a:srgbClr val="000000"/>
                          </a:solidFill>
                          <a:latin typeface="Arial"/>
                        </a:defRPr>
                      </a:pPr>
                      <a:r>
                        <a:t>Ground + Edge</a:t>
                      </a:r>
                    </a:p>
                  </a:txBody>
                  <a:tcPr>
                    <a:solidFill>
                      <a:srgbClr val="DAF2DA"/>
                    </a:solidFill>
                  </a:tcPr>
                </a:tc>
                <a:tc>
                  <a:txBody>
                    <a:bodyPr/>
                    <a:lstStyle/>
                    <a:p>
                      <a:pPr algn="ctr">
                        <a:defRPr sz="800" b="1">
                          <a:solidFill>
                            <a:srgbClr val="000000"/>
                          </a:solidFill>
                          <a:latin typeface="Arial"/>
                        </a:defRPr>
                      </a:pPr>
                      <a:r>
                        <a:t>Compare / Stats</a:t>
                      </a:r>
                    </a:p>
                  </a:txBody>
                  <a:tcPr>
                    <a:solidFill>
                      <a:srgbClr val="F4E2CC"/>
                    </a:solidFill>
                  </a:tcPr>
                </a:tc>
                <a:tc>
                  <a:txBody>
                    <a:bodyPr/>
                    <a:lstStyle/>
                    <a:p>
                      <a:pPr algn="ctr">
                        <a:defRPr sz="800" b="1">
                          <a:solidFill>
                            <a:srgbClr val="000000"/>
                          </a:solidFill>
                          <a:latin typeface="Arial"/>
                        </a:defRPr>
                      </a:pPr>
                      <a:r>
                        <a:t>Dashboard + MATLAB</a:t>
                      </a:r>
                    </a:p>
                  </a:txBody>
                  <a:tcPr>
                    <a:solidFill>
                      <a:srgbClr val="D9E1F2"/>
                    </a:solidFill>
                  </a:tcPr>
                </a:tc>
                <a:extLst>
                  <a:ext uri="{0D108BD9-81ED-4DB2-BD59-A6C34878D82A}">
                    <a16:rowId xmlns:a16="http://schemas.microsoft.com/office/drawing/2014/main" val="10000"/>
                  </a:ext>
                </a:extLst>
              </a:tr>
              <a:tr h="434340">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OUTPUT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502920" y="2240280"/>
          <a:ext cx="11064240" cy="324612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05765">
                <a:tc>
                  <a:txBody>
                    <a:bodyPr/>
                    <a:lstStyle/>
                    <a:p>
                      <a:pPr algn="ctr">
                        <a:defRPr sz="819" b="1">
                          <a:solidFill>
                            <a:srgbClr val="FFFFFF"/>
                          </a:solidFill>
                          <a:latin typeface="Arial"/>
                        </a:defRPr>
                      </a:pPr>
                      <a:r>
                        <a:t>Color</a:t>
                      </a:r>
                    </a:p>
                  </a:txBody>
                  <a:tcPr>
                    <a:solidFill>
                      <a:srgbClr val="1F4E79"/>
                    </a:solidFill>
                  </a:tcPr>
                </a:tc>
                <a:tc>
                  <a:txBody>
                    <a:bodyPr/>
                    <a:lstStyle/>
                    <a:p>
                      <a:pPr algn="ctr">
                        <a:defRPr sz="819" b="1">
                          <a:solidFill>
                            <a:srgbClr val="FFFFFF"/>
                          </a:solidFill>
                          <a:latin typeface="Arial"/>
                        </a:defRPr>
                      </a:pPr>
                      <a:r>
                        <a:t>Family</a:t>
                      </a:r>
                    </a:p>
                  </a:txBody>
                  <a:tcPr>
                    <a:solidFill>
                      <a:srgbClr val="1F4E79"/>
                    </a:solidFill>
                  </a:tcPr>
                </a:tc>
                <a:tc>
                  <a:txBody>
                    <a:bodyPr/>
                    <a:lstStyle/>
                    <a:p>
                      <a:pPr algn="ctr">
                        <a:defRPr sz="819" b="1">
                          <a:solidFill>
                            <a:srgbClr val="FFFFFF"/>
                          </a:solidFill>
                          <a:latin typeface="Arial"/>
                        </a:defRPr>
                      </a:pPr>
                      <a:r>
                        <a:t>Representative tabs</a:t>
                      </a:r>
                    </a:p>
                  </a:txBody>
                  <a:tcPr>
                    <a:solidFill>
                      <a:srgbClr val="1F4E79"/>
                    </a:solidFill>
                  </a:tcPr>
                </a:tc>
                <a:tc>
                  <a:txBody>
                    <a:bodyPr/>
                    <a:lstStyle/>
                    <a:p>
                      <a:pPr algn="ctr">
                        <a:defRPr sz="819" b="1">
                          <a:solidFill>
                            <a:srgbClr val="FFFFFF"/>
                          </a:solidFill>
                          <a:latin typeface="Arial"/>
                        </a:defRPr>
                      </a:pPr>
                      <a:r>
                        <a:t>What happens there</a:t>
                      </a:r>
                    </a:p>
                  </a:txBody>
                  <a:tcPr>
                    <a:solidFill>
                      <a:srgbClr val="1F4E79"/>
                    </a:solidFill>
                  </a:tcPr>
                </a:tc>
                <a:tc>
                  <a:txBody>
                    <a:bodyPr/>
                    <a:lstStyle/>
                    <a:p>
                      <a:pPr algn="ctr">
                        <a:defRPr sz="819" b="1">
                          <a:solidFill>
                            <a:srgbClr val="FFFFFF"/>
                          </a:solidFill>
                          <a:latin typeface="Arial"/>
                        </a:defRPr>
                      </a:pPr>
                      <a:r>
                        <a:t>Reviewer cue</a:t>
                      </a:r>
                    </a:p>
                  </a:txBody>
                  <a:tcPr>
                    <a:solidFill>
                      <a:srgbClr val="1F4E79"/>
                    </a:solidFill>
                  </a:tcPr>
                </a:tc>
                <a:extLst>
                  <a:ext uri="{0D108BD9-81ED-4DB2-BD59-A6C34878D82A}">
                    <a16:rowId xmlns:a16="http://schemas.microsoft.com/office/drawing/2014/main" val="10000"/>
                  </a:ext>
                </a:extLst>
              </a:tr>
              <a:tr h="405765">
                <a:tc>
                  <a:txBody>
                    <a:bodyPr/>
                    <a:lstStyle/>
                    <a:p>
                      <a:pPr algn="ctr">
                        <a:defRPr sz="770" b="1">
                          <a:solidFill>
                            <a:srgbClr val="000000"/>
                          </a:solidFill>
                          <a:latin typeface="Arial"/>
                        </a:defRPr>
                      </a:pPr>
                      <a:r>
                        <a:t>Blue</a:t>
                      </a:r>
                    </a:p>
                  </a:txBody>
                  <a:tcPr>
                    <a:solidFill>
                      <a:srgbClr val="D9E1F2"/>
                    </a:solidFill>
                  </a:tcPr>
                </a:tc>
                <a:tc>
                  <a:txBody>
                    <a:bodyPr/>
                    <a:lstStyle/>
                    <a:p>
                      <a:pPr algn="l">
                        <a:defRPr sz="770" b="1">
                          <a:solidFill>
                            <a:srgbClr val="000000"/>
                          </a:solidFill>
                          <a:latin typeface="Arial"/>
                        </a:defRPr>
                      </a:pPr>
                      <a:r>
                        <a:t>Executive control</a:t>
                      </a:r>
                    </a:p>
                  </a:txBody>
                  <a:tcPr>
                    <a:solidFill>
                      <a:srgbClr val="FFFFFF"/>
                    </a:solidFill>
                  </a:tcPr>
                </a:tc>
                <a:tc>
                  <a:txBody>
                    <a:bodyPr/>
                    <a:lstStyle/>
                    <a:p>
                      <a:pPr algn="l">
                        <a:defRPr sz="730" b="0">
                          <a:solidFill>
                            <a:srgbClr val="000000"/>
                          </a:solidFill>
                          <a:latin typeface="Arial"/>
                        </a:defRPr>
                      </a:pPr>
                      <a:r>
                        <a:t>DASHBOARD, INTRO, Settings, Protocol, Provenance</a:t>
                      </a:r>
                    </a:p>
                  </a:txBody>
                  <a:tcPr>
                    <a:solidFill>
                      <a:srgbClr val="FFFFFF"/>
                    </a:solidFill>
                  </a:tcPr>
                </a:tc>
                <a:tc>
                  <a:txBody>
                    <a:bodyPr/>
                    <a:lstStyle/>
                    <a:p>
                      <a:pPr algn="l">
                        <a:defRPr sz="730" b="0">
                          <a:solidFill>
                            <a:srgbClr val="000000"/>
                          </a:solidFill>
                          <a:latin typeface="Arial"/>
                        </a:defRPr>
                      </a:pPr>
                      <a:r>
                        <a:t>Defines purpose, schema, control dials, and provenance.</a:t>
                      </a:r>
                    </a:p>
                  </a:txBody>
                  <a:tcPr>
                    <a:solidFill>
                      <a:srgbClr val="FFFFFF"/>
                    </a:solidFill>
                  </a:tcPr>
                </a:tc>
                <a:tc>
                  <a:txBody>
                    <a:bodyPr/>
                    <a:lstStyle/>
                    <a:p>
                      <a:pPr algn="l">
                        <a:defRPr sz="730" b="0">
                          <a:solidFill>
                            <a:srgbClr val="000000"/>
                          </a:solidFill>
                          <a:latin typeface="Arial"/>
                        </a:defRPr>
                      </a:pPr>
                      <a:r>
                        <a:t>Start here. Explains what the workbook is and what is adjustable.</a:t>
                      </a:r>
                    </a:p>
                  </a:txBody>
                  <a:tcPr>
                    <a:solidFill>
                      <a:srgbClr val="FFFFFF"/>
                    </a:solidFill>
                  </a:tcPr>
                </a:tc>
                <a:extLst>
                  <a:ext uri="{0D108BD9-81ED-4DB2-BD59-A6C34878D82A}">
                    <a16:rowId xmlns:a16="http://schemas.microsoft.com/office/drawing/2014/main" val="10001"/>
                  </a:ext>
                </a:extLst>
              </a:tr>
              <a:tr h="405765">
                <a:tc>
                  <a:txBody>
                    <a:bodyPr/>
                    <a:lstStyle/>
                    <a:p>
                      <a:pPr algn="ctr">
                        <a:defRPr sz="770" b="1">
                          <a:solidFill>
                            <a:srgbClr val="000000"/>
                          </a:solidFill>
                          <a:latin typeface="Arial"/>
                        </a:defRPr>
                      </a:pPr>
                      <a:r>
                        <a:t>Green</a:t>
                      </a:r>
                    </a:p>
                  </a:txBody>
                  <a:tcPr>
                    <a:solidFill>
                      <a:srgbClr val="DAF2DA"/>
                    </a:solidFill>
                  </a:tcPr>
                </a:tc>
                <a:tc>
                  <a:txBody>
                    <a:bodyPr/>
                    <a:lstStyle/>
                    <a:p>
                      <a:pPr algn="l">
                        <a:defRPr sz="770" b="1">
                          <a:solidFill>
                            <a:srgbClr val="000000"/>
                          </a:solidFill>
                          <a:latin typeface="Arial"/>
                        </a:defRPr>
                      </a:pPr>
                      <a:r>
                        <a:t>Core cohort / DES engine</a:t>
                      </a:r>
                    </a:p>
                  </a:txBody>
                  <a:tcPr>
                    <a:solidFill>
                      <a:srgbClr val="F8F8F8"/>
                    </a:solidFill>
                  </a:tcPr>
                </a:tc>
                <a:tc>
                  <a:txBody>
                    <a:bodyPr/>
                    <a:lstStyle/>
                    <a:p>
                      <a:pPr algn="l">
                        <a:defRPr sz="730" b="0">
                          <a:solidFill>
                            <a:srgbClr val="000000"/>
                          </a:solidFill>
                          <a:latin typeface="Arial"/>
                        </a:defRPr>
                      </a:pPr>
                      <a:r>
                        <a:t>Arrivals, RGS_Ground_Run, Edge_Run, Comparison</a:t>
                      </a:r>
                    </a:p>
                  </a:txBody>
                  <a:tcPr>
                    <a:solidFill>
                      <a:srgbClr val="F8F8F8"/>
                    </a:solidFill>
                  </a:tcPr>
                </a:tc>
                <a:tc>
                  <a:txBody>
                    <a:bodyPr/>
                    <a:lstStyle/>
                    <a:p>
                      <a:pPr algn="l">
                        <a:defRPr sz="730" b="0">
                          <a:solidFill>
                            <a:srgbClr val="000000"/>
                          </a:solidFill>
                          <a:latin typeface="Arial"/>
                        </a:defRPr>
                      </a:pPr>
                      <a:r>
                        <a:t>Same arrivals are processed through Ground and Edge paths; Comparison calculates latency delta.</a:t>
                      </a:r>
                    </a:p>
                  </a:txBody>
                  <a:tcPr>
                    <a:solidFill>
                      <a:srgbClr val="F8F8F8"/>
                    </a:solidFill>
                  </a:tcPr>
                </a:tc>
                <a:tc>
                  <a:txBody>
                    <a:bodyPr/>
                    <a:lstStyle/>
                    <a:p>
                      <a:pPr algn="l">
                        <a:defRPr sz="730" b="0">
                          <a:solidFill>
                            <a:srgbClr val="000000"/>
                          </a:solidFill>
                          <a:latin typeface="Arial"/>
                        </a:defRPr>
                      </a:pPr>
                      <a:r>
                        <a:t>This is the mathematical heart. Do not reorder.</a:t>
                      </a:r>
                    </a:p>
                  </a:txBody>
                  <a:tcPr>
                    <a:solidFill>
                      <a:srgbClr val="F8F8F8"/>
                    </a:solidFill>
                  </a:tcPr>
                </a:tc>
                <a:extLst>
                  <a:ext uri="{0D108BD9-81ED-4DB2-BD59-A6C34878D82A}">
                    <a16:rowId xmlns:a16="http://schemas.microsoft.com/office/drawing/2014/main" val="10002"/>
                  </a:ext>
                </a:extLst>
              </a:tr>
              <a:tr h="405765">
                <a:tc>
                  <a:txBody>
                    <a:bodyPr/>
                    <a:lstStyle/>
                    <a:p>
                      <a:pPr algn="ctr">
                        <a:defRPr sz="770" b="1">
                          <a:solidFill>
                            <a:srgbClr val="000000"/>
                          </a:solidFill>
                          <a:latin typeface="Arial"/>
                        </a:defRPr>
                      </a:pPr>
                      <a:r>
                        <a:t>Brown</a:t>
                      </a:r>
                    </a:p>
                  </a:txBody>
                  <a:tcPr>
                    <a:solidFill>
                      <a:srgbClr val="F4E2CC"/>
                    </a:solidFill>
                  </a:tcPr>
                </a:tc>
                <a:tc>
                  <a:txBody>
                    <a:bodyPr/>
                    <a:lstStyle/>
                    <a:p>
                      <a:pPr algn="l">
                        <a:defRPr sz="770" b="1">
                          <a:solidFill>
                            <a:srgbClr val="000000"/>
                          </a:solidFill>
                          <a:latin typeface="Arial"/>
                        </a:defRPr>
                      </a:pPr>
                      <a:r>
                        <a:t>Analysis and statistics</a:t>
                      </a:r>
                    </a:p>
                  </a:txBody>
                  <a:tcPr>
                    <a:solidFill>
                      <a:srgbClr val="FFFFFF"/>
                    </a:solidFill>
                  </a:tcPr>
                </a:tc>
                <a:tc>
                  <a:txBody>
                    <a:bodyPr/>
                    <a:lstStyle/>
                    <a:p>
                      <a:pPr algn="l">
                        <a:defRPr sz="730" b="0">
                          <a:solidFill>
                            <a:srgbClr val="000000"/>
                          </a:solidFill>
                          <a:latin typeface="Arial"/>
                        </a:defRPr>
                      </a:pPr>
                      <a:r>
                        <a:t>Replications, Sensitivity, Scenario_Snapshots, Latency_Bins, A/C/E snapshots</a:t>
                      </a:r>
                    </a:p>
                  </a:txBody>
                  <a:tcPr>
                    <a:solidFill>
                      <a:srgbClr val="FFFFFF"/>
                    </a:solidFill>
                  </a:tcPr>
                </a:tc>
                <a:tc>
                  <a:txBody>
                    <a:bodyPr/>
                    <a:lstStyle/>
                    <a:p>
                      <a:pPr algn="l">
                        <a:defRPr sz="730" b="0">
                          <a:solidFill>
                            <a:srgbClr val="000000"/>
                          </a:solidFill>
                          <a:latin typeface="Arial"/>
                        </a:defRPr>
                      </a:pPr>
                      <a:r>
                        <a:t>Aggregates runs, shows sensitivity, creates dashboard/histogram support.</a:t>
                      </a:r>
                    </a:p>
                  </a:txBody>
                  <a:tcPr>
                    <a:solidFill>
                      <a:srgbClr val="FFFFFF"/>
                    </a:solidFill>
                  </a:tcPr>
                </a:tc>
                <a:tc>
                  <a:txBody>
                    <a:bodyPr/>
                    <a:lstStyle/>
                    <a:p>
                      <a:pPr algn="l">
                        <a:defRPr sz="730" b="0">
                          <a:solidFill>
                            <a:srgbClr val="000000"/>
                          </a:solidFill>
                          <a:latin typeface="Arial"/>
                        </a:defRPr>
                      </a:pPr>
                      <a:r>
                        <a:t>This is where results become reviewer-readable.</a:t>
                      </a:r>
                    </a:p>
                  </a:txBody>
                  <a:tcPr>
                    <a:solidFill>
                      <a:srgbClr val="FFFFFF"/>
                    </a:solidFill>
                  </a:tcPr>
                </a:tc>
                <a:extLst>
                  <a:ext uri="{0D108BD9-81ED-4DB2-BD59-A6C34878D82A}">
                    <a16:rowId xmlns:a16="http://schemas.microsoft.com/office/drawing/2014/main" val="10003"/>
                  </a:ext>
                </a:extLst>
              </a:tr>
              <a:tr h="405765">
                <a:tc>
                  <a:txBody>
                    <a:bodyPr/>
                    <a:lstStyle/>
                    <a:p>
                      <a:pPr algn="ctr">
                        <a:defRPr sz="770" b="1">
                          <a:solidFill>
                            <a:srgbClr val="000000"/>
                          </a:solidFill>
                          <a:latin typeface="Arial"/>
                        </a:defRPr>
                      </a:pPr>
                      <a:r>
                        <a:t>Yellow</a:t>
                      </a:r>
                    </a:p>
                  </a:txBody>
                  <a:tcPr>
                    <a:solidFill>
                      <a:srgbClr val="FFF2CC"/>
                    </a:solidFill>
                  </a:tcPr>
                </a:tc>
                <a:tc>
                  <a:txBody>
                    <a:bodyPr/>
                    <a:lstStyle/>
                    <a:p>
                      <a:pPr algn="l">
                        <a:defRPr sz="770" b="1">
                          <a:solidFill>
                            <a:srgbClr val="000000"/>
                          </a:solidFill>
                          <a:latin typeface="Arial"/>
                        </a:defRPr>
                      </a:pPr>
                      <a:r>
                        <a:t>Verification and audit</a:t>
                      </a:r>
                    </a:p>
                  </a:txBody>
                  <a:tcPr>
                    <a:solidFill>
                      <a:srgbClr val="F8F8F8"/>
                    </a:solidFill>
                  </a:tcPr>
                </a:tc>
                <a:tc>
                  <a:txBody>
                    <a:bodyPr/>
                    <a:lstStyle/>
                    <a:p>
                      <a:pPr algn="l">
                        <a:defRPr sz="730" b="0">
                          <a:solidFill>
                            <a:srgbClr val="000000"/>
                          </a:solidFill>
                          <a:latin typeface="Arial"/>
                        </a:defRPr>
                      </a:pPr>
                      <a:r>
                        <a:t>Hand_Check, _Build_Check, Validation</a:t>
                      </a:r>
                    </a:p>
                  </a:txBody>
                  <a:tcPr>
                    <a:solidFill>
                      <a:srgbClr val="F8F8F8"/>
                    </a:solidFill>
                  </a:tcPr>
                </a:tc>
                <a:tc>
                  <a:txBody>
                    <a:bodyPr/>
                    <a:lstStyle/>
                    <a:p>
                      <a:pPr algn="l">
                        <a:defRPr sz="730" b="0">
                          <a:solidFill>
                            <a:srgbClr val="000000"/>
                          </a:solidFill>
                          <a:latin typeface="Arial"/>
                        </a:defRPr>
                      </a:pPr>
                      <a:r>
                        <a:t>Checks formulas, first records, validation rules, and calculation integrity.</a:t>
                      </a:r>
                    </a:p>
                  </a:txBody>
                  <a:tcPr>
                    <a:solidFill>
                      <a:srgbClr val="F8F8F8"/>
                    </a:solidFill>
                  </a:tcPr>
                </a:tc>
                <a:tc>
                  <a:txBody>
                    <a:bodyPr/>
                    <a:lstStyle/>
                    <a:p>
                      <a:pPr algn="l">
                        <a:defRPr sz="730" b="0">
                          <a:solidFill>
                            <a:srgbClr val="000000"/>
                          </a:solidFill>
                          <a:latin typeface="Arial"/>
                        </a:defRPr>
                      </a:pPr>
                      <a:r>
                        <a:t>Evidence that the workbook was checked.</a:t>
                      </a:r>
                    </a:p>
                  </a:txBody>
                  <a:tcPr>
                    <a:solidFill>
                      <a:srgbClr val="F8F8F8"/>
                    </a:solidFill>
                  </a:tcPr>
                </a:tc>
                <a:extLst>
                  <a:ext uri="{0D108BD9-81ED-4DB2-BD59-A6C34878D82A}">
                    <a16:rowId xmlns:a16="http://schemas.microsoft.com/office/drawing/2014/main" val="10004"/>
                  </a:ext>
                </a:extLst>
              </a:tr>
              <a:tr h="405765">
                <a:tc>
                  <a:txBody>
                    <a:bodyPr/>
                    <a:lstStyle/>
                    <a:p>
                      <a:pPr algn="ctr">
                        <a:defRPr sz="770" b="1">
                          <a:solidFill>
                            <a:srgbClr val="000000"/>
                          </a:solidFill>
                          <a:latin typeface="Arial"/>
                        </a:defRPr>
                      </a:pPr>
                      <a:r>
                        <a:t>Purple</a:t>
                      </a:r>
                    </a:p>
                  </a:txBody>
                  <a:tcPr>
                    <a:solidFill>
                      <a:srgbClr val="EADDF7"/>
                    </a:solidFill>
                  </a:tcPr>
                </a:tc>
                <a:tc>
                  <a:txBody>
                    <a:bodyPr/>
                    <a:lstStyle/>
                    <a:p>
                      <a:pPr algn="l">
                        <a:defRPr sz="770" b="1">
                          <a:solidFill>
                            <a:srgbClr val="000000"/>
                          </a:solidFill>
                          <a:latin typeface="Arial"/>
                        </a:defRPr>
                      </a:pPr>
                      <a:r>
                        <a:t>Integration blenders</a:t>
                      </a:r>
                    </a:p>
                  </a:txBody>
                  <a:tcPr>
                    <a:solidFill>
                      <a:srgbClr val="FFFFFF"/>
                    </a:solidFill>
                  </a:tcPr>
                </a:tc>
                <a:tc>
                  <a:txBody>
                    <a:bodyPr/>
                    <a:lstStyle/>
                    <a:p>
                      <a:pPr algn="l">
                        <a:defRPr sz="730" b="0">
                          <a:solidFill>
                            <a:srgbClr val="000000"/>
                          </a:solidFill>
                          <a:latin typeface="Arial"/>
                        </a:defRPr>
                      </a:pPr>
                      <a:r>
                        <a:t>Simul_Enviro_OMNI_Normalized, Integration_Join_Audit, Integration_Common_Timeline</a:t>
                      </a:r>
                    </a:p>
                  </a:txBody>
                  <a:tcPr>
                    <a:solidFill>
                      <a:srgbClr val="FFFFFF"/>
                    </a:solidFill>
                  </a:tcPr>
                </a:tc>
                <a:tc>
                  <a:txBody>
                    <a:bodyPr/>
                    <a:lstStyle/>
                    <a:p>
                      <a:pPr algn="l">
                        <a:defRPr sz="730" b="0">
                          <a:solidFill>
                            <a:srgbClr val="000000"/>
                          </a:solidFill>
                          <a:latin typeface="Arial"/>
                        </a:defRPr>
                      </a:pPr>
                      <a:r>
                        <a:t>Normalizes and time-aligns AI/ML, COMM, and ENV into the common ACE timeline.</a:t>
                      </a:r>
                    </a:p>
                  </a:txBody>
                  <a:tcPr>
                    <a:solidFill>
                      <a:srgbClr val="FFFFFF"/>
                    </a:solidFill>
                  </a:tcPr>
                </a:tc>
                <a:tc>
                  <a:txBody>
                    <a:bodyPr/>
                    <a:lstStyle/>
                    <a:p>
                      <a:pPr algn="l">
                        <a:defRPr sz="730" b="0">
                          <a:solidFill>
                            <a:srgbClr val="000000"/>
                          </a:solidFill>
                          <a:latin typeface="Arial"/>
                        </a:defRPr>
                      </a:pPr>
                      <a:r>
                        <a:t>Shows how raw data became model input.</a:t>
                      </a:r>
                    </a:p>
                  </a:txBody>
                  <a:tcPr>
                    <a:solidFill>
                      <a:srgbClr val="FFFFFF"/>
                    </a:solidFill>
                  </a:tcPr>
                </a:tc>
                <a:extLst>
                  <a:ext uri="{0D108BD9-81ED-4DB2-BD59-A6C34878D82A}">
                    <a16:rowId xmlns:a16="http://schemas.microsoft.com/office/drawing/2014/main" val="10005"/>
                  </a:ext>
                </a:extLst>
              </a:tr>
              <a:tr h="405765">
                <a:tc>
                  <a:txBody>
                    <a:bodyPr/>
                    <a:lstStyle/>
                    <a:p>
                      <a:pPr algn="ctr">
                        <a:defRPr sz="770" b="1">
                          <a:solidFill>
                            <a:srgbClr val="000000"/>
                          </a:solidFill>
                          <a:latin typeface="Arial"/>
                        </a:defRPr>
                      </a:pPr>
                      <a:r>
                        <a:t>Orange</a:t>
                      </a:r>
                    </a:p>
                  </a:txBody>
                  <a:tcPr>
                    <a:solidFill>
                      <a:srgbClr val="FCE4D6"/>
                    </a:solidFill>
                  </a:tcPr>
                </a:tc>
                <a:tc>
                  <a:txBody>
                    <a:bodyPr/>
                    <a:lstStyle/>
                    <a:p>
                      <a:pPr algn="l">
                        <a:defRPr sz="770" b="1">
                          <a:solidFill>
                            <a:srgbClr val="000000"/>
                          </a:solidFill>
                          <a:latin typeface="Arial"/>
                        </a:defRPr>
                      </a:pPr>
                      <a:r>
                        <a:t>COMM decoders</a:t>
                      </a:r>
                    </a:p>
                  </a:txBody>
                  <a:tcPr>
                    <a:solidFill>
                      <a:srgbClr val="F8F8F8"/>
                    </a:solidFill>
                  </a:tcPr>
                </a:tc>
                <a:tc>
                  <a:txBody>
                    <a:bodyPr/>
                    <a:lstStyle/>
                    <a:p>
                      <a:pPr algn="l">
                        <a:defRPr sz="730" b="0">
                          <a:solidFill>
                            <a:srgbClr val="000000"/>
                          </a:solidFill>
                          <a:latin typeface="Arial"/>
                        </a:defRPr>
                      </a:pPr>
                      <a:r>
                        <a:t>COMM_Decoded, COMM_Beacons, COMM_Counter_Deltas, COMM_Rejected, Field Map, Decode QC</a:t>
                      </a:r>
                    </a:p>
                  </a:txBody>
                  <a:tcPr>
                    <a:solidFill>
                      <a:srgbClr val="F8F8F8"/>
                    </a:solidFill>
                  </a:tcPr>
                </a:tc>
                <a:tc>
                  <a:txBody>
                    <a:bodyPr/>
                    <a:lstStyle/>
                    <a:p>
                      <a:pPr algn="l">
                        <a:defRPr sz="730" b="0">
                          <a:solidFill>
                            <a:srgbClr val="000000"/>
                          </a:solidFill>
                          <a:latin typeface="Arial"/>
                        </a:defRPr>
                      </a:pPr>
                      <a:r>
                        <a:t>Decodes SatNOGS telemetry and records accepted/rejected communication fields.</a:t>
                      </a:r>
                    </a:p>
                  </a:txBody>
                  <a:tcPr>
                    <a:solidFill>
                      <a:srgbClr val="F8F8F8"/>
                    </a:solidFill>
                  </a:tcPr>
                </a:tc>
                <a:tc>
                  <a:txBody>
                    <a:bodyPr/>
                    <a:lstStyle/>
                    <a:p>
                      <a:pPr algn="l">
                        <a:defRPr sz="730" b="0">
                          <a:solidFill>
                            <a:srgbClr val="000000"/>
                          </a:solidFill>
                          <a:latin typeface="Arial"/>
                        </a:defRPr>
                      </a:pPr>
                      <a:r>
                        <a:t>Supports the C leg and QC traceability.</a:t>
                      </a:r>
                    </a:p>
                  </a:txBody>
                  <a:tcPr>
                    <a:solidFill>
                      <a:srgbClr val="F8F8F8"/>
                    </a:solidFill>
                  </a:tcPr>
                </a:tc>
                <a:extLst>
                  <a:ext uri="{0D108BD9-81ED-4DB2-BD59-A6C34878D82A}">
                    <a16:rowId xmlns:a16="http://schemas.microsoft.com/office/drawing/2014/main" val="10006"/>
                  </a:ext>
                </a:extLst>
              </a:tr>
              <a:tr h="405765">
                <a:tc>
                  <a:txBody>
                    <a:bodyPr/>
                    <a:lstStyle/>
                    <a:p>
                      <a:pPr algn="ctr">
                        <a:defRPr sz="770" b="1">
                          <a:solidFill>
                            <a:srgbClr val="000000"/>
                          </a:solidFill>
                          <a:latin typeface="Arial"/>
                        </a:defRPr>
                      </a:pPr>
                      <a:r>
                        <a:t>Grey</a:t>
                      </a:r>
                    </a:p>
                  </a:txBody>
                  <a:tcPr>
                    <a:solidFill>
                      <a:srgbClr val="E6E6E6"/>
                    </a:solidFill>
                  </a:tcPr>
                </a:tc>
                <a:tc>
                  <a:txBody>
                    <a:bodyPr/>
                    <a:lstStyle/>
                    <a:p>
                      <a:pPr algn="l">
                        <a:defRPr sz="770" b="1">
                          <a:solidFill>
                            <a:srgbClr val="000000"/>
                          </a:solidFill>
                          <a:latin typeface="Arial"/>
                        </a:defRPr>
                      </a:pPr>
                      <a:r>
                        <a:t>Raw / utility / history</a:t>
                      </a:r>
                    </a:p>
                  </a:txBody>
                  <a:tcPr>
                    <a:solidFill>
                      <a:srgbClr val="FFFFFF"/>
                    </a:solidFill>
                  </a:tcPr>
                </a:tc>
                <a:tc>
                  <a:txBody>
                    <a:bodyPr/>
                    <a:lstStyle/>
                    <a:p>
                      <a:pPr algn="l">
                        <a:defRPr sz="730" b="0">
                          <a:solidFill>
                            <a:srgbClr val="000000"/>
                          </a:solidFill>
                          <a:latin typeface="Arial"/>
                        </a:defRPr>
                      </a:pPr>
                      <a:r>
                        <a:t>Raw Simultaneity sheets, MATLAB_Map, MATLAB_Handoff, Change_Log, v9 Readme, ACE legacy input</a:t>
                      </a:r>
                    </a:p>
                  </a:txBody>
                  <a:tcPr>
                    <a:solidFill>
                      <a:srgbClr val="FFFFFF"/>
                    </a:solidFill>
                  </a:tcPr>
                </a:tc>
                <a:tc>
                  <a:txBody>
                    <a:bodyPr/>
                    <a:lstStyle/>
                    <a:p>
                      <a:pPr algn="l">
                        <a:defRPr sz="730" b="0">
                          <a:solidFill>
                            <a:srgbClr val="000000"/>
                          </a:solidFill>
                          <a:latin typeface="Arial"/>
                        </a:defRPr>
                      </a:pPr>
                      <a:r>
                        <a:t>Stores raw data, handoff tables, history, and MATLAB support.</a:t>
                      </a:r>
                    </a:p>
                  </a:txBody>
                  <a:tcPr>
                    <a:solidFill>
                      <a:srgbClr val="FFFFFF"/>
                    </a:solidFill>
                  </a:tcPr>
                </a:tc>
                <a:tc>
                  <a:txBody>
                    <a:bodyPr/>
                    <a:lstStyle/>
                    <a:p>
                      <a:pPr algn="l">
                        <a:defRPr sz="730" b="0">
                          <a:solidFill>
                            <a:srgbClr val="000000"/>
                          </a:solidFill>
                          <a:latin typeface="Arial"/>
                        </a:defRPr>
                      </a:pPr>
                      <a:r>
                        <a:t>Reference and configuration control layer.</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94360" y="5596128"/>
            <a:ext cx="10698480" cy="320040"/>
          </a:xfrm>
          <a:prstGeom prst="rect">
            <a:avLst/>
          </a:prstGeom>
          <a:noFill/>
        </p:spPr>
        <p:txBody>
          <a:bodyPr wrap="none" lIns="27432" tIns="18288" rIns="27432" bIns="18288">
            <a:spAutoFit/>
          </a:bodyPr>
          <a:lstStyle/>
          <a:p>
            <a:pPr>
              <a:defRPr sz="880" b="1">
                <a:solidFill>
                  <a:srgbClr val="780000"/>
                </a:solidFill>
                <a:latin typeface="Arial"/>
              </a:defRPr>
            </a:pPr>
            <a:r>
              <a:t>Immutable sequence rule: names may be interpreted dynamically, but the 1–38 tab order is treated as ASOT configuration control; do not drag/reorder tabs.</a:t>
            </a:r>
          </a:p>
        </p:txBody>
      </p:sp>
      <p:sp>
        <p:nvSpPr>
          <p:cNvPr id="7" name="TextBox 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20 of 29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8"/>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Praxis Schedule and Gantt Overview</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Planning horizon retained from the full deck; detailed future dates remain subject to advisor review.</a:t>
            </a:r>
          </a:p>
        </p:txBody>
      </p:sp>
      <p:cxnSp>
        <p:nvCxnSpPr>
          <p:cNvPr id="5" name="Connector 4"/>
          <p:cNvCxnSpPr/>
          <p:nvPr/>
        </p:nvCxnSpPr>
        <p:spPr>
          <a:xfrm>
            <a:off x="352044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Sep 26</a:t>
            </a:r>
          </a:p>
        </p:txBody>
      </p:sp>
      <p:cxnSp>
        <p:nvCxnSpPr>
          <p:cNvPr id="7" name="Connector 6"/>
          <p:cNvCxnSpPr/>
          <p:nvPr/>
        </p:nvCxnSpPr>
        <p:spPr>
          <a:xfrm>
            <a:off x="431069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99065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Oct</a:t>
            </a:r>
          </a:p>
        </p:txBody>
      </p:sp>
      <p:cxnSp>
        <p:nvCxnSpPr>
          <p:cNvPr id="9" name="Connector 8"/>
          <p:cNvCxnSpPr/>
          <p:nvPr/>
        </p:nvCxnSpPr>
        <p:spPr>
          <a:xfrm>
            <a:off x="512730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0726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Nov</a:t>
            </a:r>
          </a:p>
        </p:txBody>
      </p:sp>
      <p:cxnSp>
        <p:nvCxnSpPr>
          <p:cNvPr id="11" name="Connector 10"/>
          <p:cNvCxnSpPr/>
          <p:nvPr/>
        </p:nvCxnSpPr>
        <p:spPr>
          <a:xfrm>
            <a:off x="591756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975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Dec</a:t>
            </a:r>
          </a:p>
        </p:txBody>
      </p:sp>
      <p:cxnSp>
        <p:nvCxnSpPr>
          <p:cNvPr id="13" name="Connector 12"/>
          <p:cNvCxnSpPr/>
          <p:nvPr/>
        </p:nvCxnSpPr>
        <p:spPr>
          <a:xfrm>
            <a:off x="673416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1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Jan 27</a:t>
            </a:r>
          </a:p>
        </p:txBody>
      </p:sp>
      <p:cxnSp>
        <p:nvCxnSpPr>
          <p:cNvPr id="15" name="Connector 14"/>
          <p:cNvCxnSpPr/>
          <p:nvPr/>
        </p:nvCxnSpPr>
        <p:spPr>
          <a:xfrm>
            <a:off x="7550763"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30723"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Feb</a:t>
            </a:r>
          </a:p>
        </p:txBody>
      </p:sp>
      <p:cxnSp>
        <p:nvCxnSpPr>
          <p:cNvPr id="17" name="Connector 16"/>
          <p:cNvCxnSpPr/>
          <p:nvPr/>
        </p:nvCxnSpPr>
        <p:spPr>
          <a:xfrm>
            <a:off x="828833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6829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Mar</a:t>
            </a:r>
          </a:p>
        </p:txBody>
      </p:sp>
      <p:cxnSp>
        <p:nvCxnSpPr>
          <p:cNvPr id="19" name="Connector 18"/>
          <p:cNvCxnSpPr/>
          <p:nvPr/>
        </p:nvCxnSpPr>
        <p:spPr>
          <a:xfrm>
            <a:off x="910494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8490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Apr</a:t>
            </a:r>
          </a:p>
        </p:txBody>
      </p:sp>
      <p:cxnSp>
        <p:nvCxnSpPr>
          <p:cNvPr id="21" name="Connector 20"/>
          <p:cNvCxnSpPr/>
          <p:nvPr/>
        </p:nvCxnSpPr>
        <p:spPr>
          <a:xfrm>
            <a:off x="989520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5751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May</a:t>
            </a:r>
          </a:p>
        </p:txBody>
      </p:sp>
      <p:cxnSp>
        <p:nvCxnSpPr>
          <p:cNvPr id="23" name="Connector 22"/>
          <p:cNvCxnSpPr/>
          <p:nvPr/>
        </p:nvCxnSpPr>
        <p:spPr>
          <a:xfrm>
            <a:off x="1071180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39176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Jun</a:t>
            </a:r>
          </a:p>
        </p:txBody>
      </p:sp>
      <p:sp>
        <p:nvSpPr>
          <p:cNvPr id="25" name="TextBox 2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Research archive / public sources</a:t>
            </a:r>
          </a:p>
        </p:txBody>
      </p:sp>
      <p:sp>
        <p:nvSpPr>
          <p:cNvPr id="26" name="Rectangle 25"/>
          <p:cNvSpPr/>
          <p:nvPr/>
        </p:nvSpPr>
        <p:spPr>
          <a:xfrm>
            <a:off x="3520440" y="1984248"/>
            <a:ext cx="3187380"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28600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FFFFFF"/>
                </a:solidFill>
                <a:latin typeface="Calibri"/>
              </a:rPr>
              <a:t>Chapter 2 final revisions</a:t>
            </a:r>
          </a:p>
        </p:txBody>
      </p:sp>
      <p:sp>
        <p:nvSpPr>
          <p:cNvPr id="28" name="Rectangle 27"/>
          <p:cNvSpPr/>
          <p:nvPr/>
        </p:nvSpPr>
        <p:spPr>
          <a:xfrm>
            <a:off x="4758513" y="2377440"/>
            <a:ext cx="711233"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2920" y="26791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Excel v9 / simultaneous ACE</a:t>
            </a:r>
          </a:p>
        </p:txBody>
      </p:sp>
      <p:sp>
        <p:nvSpPr>
          <p:cNvPr id="30" name="Rectangle 29"/>
          <p:cNvSpPr/>
          <p:nvPr/>
        </p:nvSpPr>
        <p:spPr>
          <a:xfrm>
            <a:off x="3994595" y="2770632"/>
            <a:ext cx="1896623"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07238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conceptual planning</a:t>
            </a:r>
          </a:p>
        </p:txBody>
      </p:sp>
      <p:sp>
        <p:nvSpPr>
          <p:cNvPr id="32" name="Rectangle 31"/>
          <p:cNvSpPr/>
          <p:nvPr/>
        </p:nvSpPr>
        <p:spPr>
          <a:xfrm>
            <a:off x="5074617" y="3163824"/>
            <a:ext cx="395129"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4655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MATLAB / SimEvents development</a:t>
            </a:r>
          </a:p>
        </p:txBody>
      </p:sp>
      <p:sp>
        <p:nvSpPr>
          <p:cNvPr id="34" name="Rectangle 33"/>
          <p:cNvSpPr/>
          <p:nvPr/>
        </p:nvSpPr>
        <p:spPr>
          <a:xfrm>
            <a:off x="5074617" y="3557016"/>
            <a:ext cx="202833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85876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methodology draft</a:t>
            </a:r>
          </a:p>
        </p:txBody>
      </p:sp>
      <p:sp>
        <p:nvSpPr>
          <p:cNvPr id="36" name="Rectangle 35"/>
          <p:cNvSpPr/>
          <p:nvPr/>
        </p:nvSpPr>
        <p:spPr>
          <a:xfrm>
            <a:off x="5127301" y="3950208"/>
            <a:ext cx="279225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251959"/>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Experiments / sensitivity / V&amp;V</a:t>
            </a:r>
          </a:p>
        </p:txBody>
      </p:sp>
      <p:sp>
        <p:nvSpPr>
          <p:cNvPr id="38" name="Rectangle 37"/>
          <p:cNvSpPr/>
          <p:nvPr/>
        </p:nvSpPr>
        <p:spPr>
          <a:xfrm>
            <a:off x="7550763" y="4343400"/>
            <a:ext cx="1922965"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645151"/>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Chapters 1, 4 and 5</a:t>
            </a:r>
          </a:p>
        </p:txBody>
      </p:sp>
      <p:sp>
        <p:nvSpPr>
          <p:cNvPr id="40" name="Rectangle 39"/>
          <p:cNvSpPr/>
          <p:nvPr/>
        </p:nvSpPr>
        <p:spPr>
          <a:xfrm>
            <a:off x="8657127" y="4736592"/>
            <a:ext cx="202833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0383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Committee / defense planning</a:t>
            </a:r>
          </a:p>
        </p:txBody>
      </p:sp>
      <p:sp>
        <p:nvSpPr>
          <p:cNvPr id="42" name="Rectangle 41"/>
          <p:cNvSpPr/>
          <p:nvPr/>
        </p:nvSpPr>
        <p:spPr>
          <a:xfrm>
            <a:off x="10711802" y="5129784"/>
            <a:ext cx="763917"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5074617" y="1627632"/>
            <a:ext cx="0" cy="3931920"/>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337257" y="1078992"/>
            <a:ext cx="16916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45" name="Connector 44"/>
          <p:cNvCxnSpPr/>
          <p:nvPr/>
        </p:nvCxnSpPr>
        <p:spPr>
          <a:xfrm>
            <a:off x="5469747" y="1627632"/>
            <a:ext cx="0" cy="3931920"/>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30368" y="1316736"/>
            <a:ext cx="22402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19" b="1">
                <a:solidFill>
                  <a:srgbClr val="C00000"/>
                </a:solidFill>
                <a:latin typeface="Calibri"/>
              </a:rPr>
              <a:t>14 NOV · FINAL REVISIONS</a:t>
            </a:r>
          </a:p>
        </p:txBody>
      </p:sp>
      <p:sp>
        <p:nvSpPr>
          <p:cNvPr id="47" name="TextBox 4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 October 30 briefing.  Red suspense = November 14: Dr. Hao comments incorporated + final revisions.</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21 of 29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4"/>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Near-Term Execution Plan: October 30–November 14</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Planned work: close Chapter 2 against Dr. Hao’s guidance, preserve evidence, then prepare Session 6.</a:t>
            </a:r>
          </a:p>
        </p:txBody>
      </p:sp>
      <p:cxnSp>
        <p:nvCxnSpPr>
          <p:cNvPr id="5" name="Connector 4"/>
          <p:cNvCxnSpPr/>
          <p:nvPr/>
        </p:nvCxnSpPr>
        <p:spPr>
          <a:xfrm>
            <a:off x="352044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30 Oct</a:t>
            </a:r>
          </a:p>
        </p:txBody>
      </p:sp>
      <p:cxnSp>
        <p:nvCxnSpPr>
          <p:cNvPr id="7" name="Connector 6"/>
          <p:cNvCxnSpPr/>
          <p:nvPr/>
        </p:nvCxnSpPr>
        <p:spPr>
          <a:xfrm>
            <a:off x="5111496"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2 Nov</a:t>
            </a:r>
          </a:p>
        </p:txBody>
      </p:sp>
      <p:cxnSp>
        <p:nvCxnSpPr>
          <p:cNvPr id="9" name="Connector 8"/>
          <p:cNvCxnSpPr/>
          <p:nvPr/>
        </p:nvCxnSpPr>
        <p:spPr>
          <a:xfrm>
            <a:off x="7232904"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6 Nov</a:t>
            </a:r>
          </a:p>
        </p:txBody>
      </p:sp>
      <p:cxnSp>
        <p:nvCxnSpPr>
          <p:cNvPr id="11" name="Connector 10"/>
          <p:cNvCxnSpPr/>
          <p:nvPr/>
        </p:nvCxnSpPr>
        <p:spPr>
          <a:xfrm>
            <a:off x="9354312"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10 Nov</a:t>
            </a:r>
          </a:p>
        </p:txBody>
      </p:sp>
      <p:cxnSp>
        <p:nvCxnSpPr>
          <p:cNvPr id="13" name="Connector 12"/>
          <p:cNvCxnSpPr/>
          <p:nvPr/>
        </p:nvCxnSpPr>
        <p:spPr>
          <a:xfrm>
            <a:off x="1147572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14 Nov</a:t>
            </a:r>
          </a:p>
        </p:txBody>
      </p:sp>
      <p:sp>
        <p:nvSpPr>
          <p:cNvPr id="15" name="TextBox 1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5 feedback disposition</a:t>
            </a:r>
          </a:p>
        </p:txBody>
      </p:sp>
      <p:sp>
        <p:nvSpPr>
          <p:cNvPr id="16" name="Rectangle 15"/>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Capture decisions and open actions</a:t>
            </a:r>
          </a:p>
        </p:txBody>
      </p:sp>
      <p:sp>
        <p:nvSpPr>
          <p:cNvPr id="18" name="TextBox 17"/>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10" b="0">
                <a:solidFill>
                  <a:srgbClr val="FFFFFF"/>
                </a:solidFill>
                <a:latin typeface="Calibri"/>
              </a:rPr>
              <a:t>Dr. Hao comments + final Chapter 2 revisions</a:t>
            </a:r>
          </a:p>
        </p:txBody>
      </p:sp>
      <p:sp>
        <p:nvSpPr>
          <p:cNvPr id="19" name="Rectangle 18"/>
          <p:cNvSpPr/>
          <p:nvPr/>
        </p:nvSpPr>
        <p:spPr>
          <a:xfrm>
            <a:off x="3520440" y="2542032"/>
            <a:ext cx="795528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PRIMARY SUSPENSE · 14 Nov</a:t>
            </a:r>
          </a:p>
        </p:txBody>
      </p:sp>
      <p:sp>
        <p:nvSpPr>
          <p:cNvPr id="21" name="TextBox 20"/>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380" b="0">
                <a:solidFill>
                  <a:srgbClr val="FFFFFF"/>
                </a:solidFill>
                <a:latin typeface="Calibri"/>
              </a:rPr>
              <a:t>Concision / reference / figure / format check</a:t>
            </a:r>
          </a:p>
        </p:txBody>
      </p:sp>
      <p:sp>
        <p:nvSpPr>
          <p:cNvPr id="22" name="Rectangle 21"/>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Final claim-to-source check</a:t>
            </a:r>
          </a:p>
        </p:txBody>
      </p:sp>
      <p:sp>
        <p:nvSpPr>
          <p:cNvPr id="24" name="TextBox 23"/>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Owner model reproduction</a:t>
            </a:r>
          </a:p>
        </p:txBody>
      </p:sp>
      <p:sp>
        <p:nvSpPr>
          <p:cNvPr id="25" name="Rectangle 24"/>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Recorded baseline → local PASS evidence</a:t>
            </a:r>
          </a:p>
        </p:txBody>
      </p:sp>
      <p:sp>
        <p:nvSpPr>
          <p:cNvPr id="27" name="TextBox 26"/>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V&amp;V and sensitivity design</a:t>
            </a:r>
          </a:p>
        </p:txBody>
      </p:sp>
      <p:sp>
        <p:nvSpPr>
          <p:cNvPr id="28" name="Rectangle 27"/>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Benchmark before scaling</a:t>
            </a:r>
          </a:p>
        </p:txBody>
      </p:sp>
      <p:sp>
        <p:nvSpPr>
          <p:cNvPr id="30" name="TextBox 29"/>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6 package</a:t>
            </a:r>
          </a:p>
        </p:txBody>
      </p:sp>
      <p:sp>
        <p:nvSpPr>
          <p:cNvPr id="31" name="Rectangle 30"/>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950" b="1">
                <a:solidFill>
                  <a:srgbClr val="BD8E36"/>
                </a:solidFill>
                <a:latin typeface="Calibri"/>
              </a:rPr>
              <a:t>Final revisions + model evidence</a:t>
            </a:r>
          </a:p>
        </p:txBody>
      </p:sp>
      <p:cxnSp>
        <p:nvCxnSpPr>
          <p:cNvPr id="33" name="Connector 32"/>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98648"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5" name="Connector 34"/>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7" name="TextBox 3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 October 30 briefing.  Red suspense = November 14: Dr. Hao comments incorporated + final revisions.</a:t>
            </a:r>
          </a:p>
        </p:txBody>
      </p:sp>
      <p:sp>
        <p:nvSpPr>
          <p:cNvPr id="38" name="TextBox 3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22 of 29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3">
            <a:alphaModFix/>
          </a:blip>
          <a:srcRect/>
          <a:stretch/>
        </p:blipFill>
        <p:spPr>
          <a:xfrm>
            <a:off x="0" y="0"/>
            <a:ext cx="12192000" cy="3223882"/>
          </a:xfrm>
          <a:prstGeom prst="rect">
            <a:avLst/>
          </a:prstGeom>
          <a:noFill/>
          <a:ln>
            <a:noFill/>
          </a:ln>
        </p:spPr>
      </p:pic>
      <p:pic>
        <p:nvPicPr>
          <p:cNvPr id="222" name="Google Shape;222;p35"/>
          <p:cNvPicPr preferRelativeResize="0"/>
          <p:nvPr/>
        </p:nvPicPr>
        <p:blipFill rotWithShape="1">
          <a:blip r:embed="rId4">
            <a:alphaModFix/>
          </a:blip>
          <a:srcRect/>
          <a:stretch/>
        </p:blipFill>
        <p:spPr>
          <a:xfrm>
            <a:off x="3570051" y="2354272"/>
            <a:ext cx="8621949" cy="3129790"/>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4064972"/>
            <a:ext cx="7247777" cy="2630962"/>
          </a:xfrm>
          <a:prstGeom prst="rect">
            <a:avLst/>
          </a:prstGeom>
          <a:noFill/>
          <a:ln>
            <a:noFill/>
          </a:ln>
        </p:spPr>
      </p:pic>
      <p:sp>
        <p:nvSpPr>
          <p:cNvPr id="224" name="TextBox 223"/>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25" name="TextBox 22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23 of 29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3">
            <a:alphaModFix/>
          </a:blip>
          <a:srcRect/>
          <a:stretch/>
        </p:blipFill>
        <p:spPr>
          <a:xfrm>
            <a:off x="0" y="0"/>
            <a:ext cx="12191999" cy="4425728"/>
          </a:xfrm>
          <a:prstGeom prst="rect">
            <a:avLst/>
          </a:prstGeom>
          <a:noFill/>
          <a:ln>
            <a:noFill/>
          </a:ln>
        </p:spPr>
      </p:pic>
      <p:sp>
        <p:nvSpPr>
          <p:cNvPr id="230" name="TextBox 229"/>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31" name="TextBox 230"/>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24 of 29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4"/>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46593">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6058">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26058">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49265">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Advanced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SIREN autonomous OODA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AI/ML edge decision-cycle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Closest fit to autonomous onboard decision support and OODA compression.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4"/>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Force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STARHELM secure Rust runtime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software/runtime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onboard autonomous software execution.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Zenith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Cislunar CR3BP normal forms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Autonomy / onboard reasoning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Useful autonomy mathematics, but less direct to latency/edge-processing experiments.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6"/>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EraDrive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Era-AI NLP foundation model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operator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human-machine teaming and AI-assisted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7"/>
                  </a:ext>
                </a:extLst>
              </a:tr>
              <a:tr h="326897">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O-Astra ISR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LOGAN pre-approved guard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ISR / bounded action 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fit to bounded autonomous sensing-to-action concepts.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8"/>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 Orbit Aerospace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INTELLACT zero-hallucination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Explainable / reliable onboard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model-credibility and autonomous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9"/>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 Technologies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SeekrFlow multi-agent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multi-agent coordination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autonomous agents and workload triage.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0"/>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Manifest exact CPU-only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Compute-constrained edge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bounded onboard compute and SWaP constraints.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1"/>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Synthetic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SUBSPACE on-orbit reconfigurable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On-orbit adaptive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edge-ML and adaptive onboard processing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2"/>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Ephemeris Net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SEP optical Layer 3 routing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Optical networking / routing / DDIL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link to crosslinks, routing, downlink bypass, and communications latency.</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Picogrid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MARSO/Legion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moving and managing data across distributed space nodes.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4"/>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R-DEX Systems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HSA sub-100ps time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Precision timing / network synchronization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Timing is foundational to distributed sensing, networking, and latency measurement.</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Starcloud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H100/Blackwell orbit datacenters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edge/cloud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Near-direct solution-space match for orbital cloud and high-performance edge compute.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6"/>
                  </a:ext>
                </a:extLst>
              </a:tr>
            </a:tbl>
          </a:graphicData>
        </a:graphic>
      </p:graphicFrame>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25 of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1"/>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29260">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11154">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11154">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19793">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Neuron Dynamics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Compute-in-Memory SSM substrates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compute architecture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constrained onboard processing performance and power.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7"/>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Sophia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800 TOPS modular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High-TOPS modular onboard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hardware precedent for bounded onboard AI/ML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8"/>
                  </a:ext>
                </a:extLst>
              </a:tr>
              <a:tr h="288246">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Hardware Layer</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err="1"/>
                        <a:t>SWaP</a:t>
                      </a:r>
                      <a:r>
                        <a:rPr lang="en-US" sz="850" u="none" dirty="0"/>
                        <a:t>-C </a:t>
                      </a:r>
                      <a:r>
                        <a:rPr lang="en-US" sz="850" u="none" dirty="0" err="1"/>
                        <a:t>High-TOPS</a:t>
                      </a:r>
                      <a:r>
                        <a:rPr lang="en-US" sz="850" u="none" dirty="0"/>
                        <a:t> Silicon</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Web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SpaceCortex GPU-in-FPGA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Radiation/space compute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implementation relevance for onboard compute architecture.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9"/>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Aethero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Radiation-resilient GPUs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Space-qualified GPU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edge-processing feasibility and resilience.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0"/>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Array Labs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GaN active radar flat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data-generation source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high-data-rate sensing source feeding the edge-processing problem.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1"/>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Mithril Tech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Electrostatically-actuated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Sensor/payload architecture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Supports perception-layer architecture but is less direct to modeling latency or AI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2"/>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Solutions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Passive RF signature fingerprinting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RF characterization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SDA sensing and onboard exploitation opportunities.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ThinkOrbital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ThinkX space-to-space X-ray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Novel sensing / high-data payload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sensor source; useful mainly as a workload/data-volume driver.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4"/>
                  </a:ext>
                </a:extLst>
              </a:tr>
              <a:tr h="4370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OWL Integrations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Commodity SDR passive-RF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RF sensing / networking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distributed perception, edge processing, and communications-constrained operations.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5"/>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Multi-Modal Sensor Payloads</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Raptor Dynamix</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ARGUS electro-optical &amp; plasma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 plasma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perception input, but not itself the core edge-processing mechanism.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6"/>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High-Maneuver Spacecraft</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Operations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Astraeus LH2/LOX bus + active RBC cooling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thermal / maneuver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Enabling spacecraft layer, but outside the likely core quantitative scope of the Praxis.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7"/>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Fortastra Corp</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Watchdog maneuvering platform (800+ 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maneuver / defensive response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Relevant if the Praxis extends from decision support into bounded action or maneuver response.</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8"/>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 Kinetic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Whirlwind propellantless payload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Important architecture enabler but relatively distant from edge compute, latency, and AI/ML focus.</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9"/>
                  </a:ext>
                </a:extLst>
              </a:tr>
            </a:tbl>
          </a:graphicData>
        </a:graphic>
      </p:graphicFrame>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26 of 29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41" name="Google Shape;241;p38"/>
          <p:cNvGraphicFramePr/>
          <p:nvPr>
            <p:extLst>
              <p:ext uri="{D42A27DB-BD31-4B8C-83A1-F6EECF244321}">
                <p14:modId xmlns:p14="http://schemas.microsoft.com/office/powerpoint/2010/main" val="2298685827"/>
              </p:ext>
            </p:extLst>
          </p:nvPr>
        </p:nvGraphicFramePr>
        <p:xfrm>
          <a:off x="274320" y="365760"/>
          <a:ext cx="11631162" cy="4277363"/>
        </p:xfrm>
        <a:graphic>
          <a:graphicData uri="http://schemas.openxmlformats.org/drawingml/2006/table">
            <a:tbl>
              <a:tblPr>
                <a:noFill/>
                <a:tableStyleId>{3C1EB017-BC45-4DEE-9ABB-B4D90C79D28D}</a:tableStyleId>
              </a:tblPr>
              <a:tblGrid>
                <a:gridCol w="251495">
                  <a:extLst>
                    <a:ext uri="{9D8B030D-6E8A-4147-A177-3AD203B41FA5}">
                      <a16:colId xmlns:a16="http://schemas.microsoft.com/office/drawing/2014/main" val="20000"/>
                    </a:ext>
                  </a:extLst>
                </a:gridCol>
                <a:gridCol w="565845">
                  <a:extLst>
                    <a:ext uri="{9D8B030D-6E8A-4147-A177-3AD203B41FA5}">
                      <a16:colId xmlns:a16="http://schemas.microsoft.com/office/drawing/2014/main" val="20001"/>
                    </a:ext>
                  </a:extLst>
                </a:gridCol>
                <a:gridCol w="565845">
                  <a:extLst>
                    <a:ext uri="{9D8B030D-6E8A-4147-A177-3AD203B41FA5}">
                      <a16:colId xmlns:a16="http://schemas.microsoft.com/office/drawing/2014/main" val="20002"/>
                    </a:ext>
                  </a:extLst>
                </a:gridCol>
                <a:gridCol w="1068809">
                  <a:extLst>
                    <a:ext uri="{9D8B030D-6E8A-4147-A177-3AD203B41FA5}">
                      <a16:colId xmlns:a16="http://schemas.microsoft.com/office/drawing/2014/main" val="20003"/>
                    </a:ext>
                  </a:extLst>
                </a:gridCol>
                <a:gridCol w="943074">
                  <a:extLst>
                    <a:ext uri="{9D8B030D-6E8A-4147-A177-3AD203B41FA5}">
                      <a16:colId xmlns:a16="http://schemas.microsoft.com/office/drawing/2014/main" val="20004"/>
                    </a:ext>
                  </a:extLst>
                </a:gridCol>
                <a:gridCol w="1068809">
                  <a:extLst>
                    <a:ext uri="{9D8B030D-6E8A-4147-A177-3AD203B41FA5}">
                      <a16:colId xmlns:a16="http://schemas.microsoft.com/office/drawing/2014/main" val="20005"/>
                    </a:ext>
                  </a:extLst>
                </a:gridCol>
                <a:gridCol w="1508892">
                  <a:extLst>
                    <a:ext uri="{9D8B030D-6E8A-4147-A177-3AD203B41FA5}">
                      <a16:colId xmlns:a16="http://schemas.microsoft.com/office/drawing/2014/main" val="20006"/>
                    </a:ext>
                  </a:extLst>
                </a:gridCol>
                <a:gridCol w="880194">
                  <a:extLst>
                    <a:ext uri="{9D8B030D-6E8A-4147-A177-3AD203B41FA5}">
                      <a16:colId xmlns:a16="http://schemas.microsoft.com/office/drawing/2014/main" val="20007"/>
                    </a:ext>
                  </a:extLst>
                </a:gridCol>
                <a:gridCol w="1068809">
                  <a:extLst>
                    <a:ext uri="{9D8B030D-6E8A-4147-A177-3AD203B41FA5}">
                      <a16:colId xmlns:a16="http://schemas.microsoft.com/office/drawing/2014/main" val="20008"/>
                    </a:ext>
                  </a:extLst>
                </a:gridCol>
                <a:gridCol w="1194544">
                  <a:extLst>
                    <a:ext uri="{9D8B030D-6E8A-4147-A177-3AD203B41FA5}">
                      <a16:colId xmlns:a16="http://schemas.microsoft.com/office/drawing/2014/main" val="20009"/>
                    </a:ext>
                  </a:extLst>
                </a:gridCol>
                <a:gridCol w="502964">
                  <a:extLst>
                    <a:ext uri="{9D8B030D-6E8A-4147-A177-3AD203B41FA5}">
                      <a16:colId xmlns:a16="http://schemas.microsoft.com/office/drawing/2014/main" val="20010"/>
                    </a:ext>
                  </a:extLst>
                </a:gridCol>
                <a:gridCol w="408669">
                  <a:extLst>
                    <a:ext uri="{9D8B030D-6E8A-4147-A177-3AD203B41FA5}">
                      <a16:colId xmlns:a16="http://schemas.microsoft.com/office/drawing/2014/main" val="20011"/>
                    </a:ext>
                  </a:extLst>
                </a:gridCol>
                <a:gridCol w="408669">
                  <a:extLst>
                    <a:ext uri="{9D8B030D-6E8A-4147-A177-3AD203B41FA5}">
                      <a16:colId xmlns:a16="http://schemas.microsoft.com/office/drawing/2014/main" val="20012"/>
                    </a:ext>
                  </a:extLst>
                </a:gridCol>
                <a:gridCol w="1194544">
                  <a:extLst>
                    <a:ext uri="{9D8B030D-6E8A-4147-A177-3AD203B41FA5}">
                      <a16:colId xmlns:a16="http://schemas.microsoft.com/office/drawing/2014/main" val="20013"/>
                    </a:ext>
                  </a:extLst>
                </a:gridCol>
              </a:tblGrid>
              <a:tr h="134283">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dirty="0">
                          <a:solidFill>
                            <a:srgbClr val="000000"/>
                          </a:solidFill>
                          <a:latin typeface="Arial"/>
                          <a:ea typeface="Arial"/>
                          <a:cs typeface="Arial"/>
                          <a:sym typeface="Arial"/>
                        </a:rPr>
                        <a:t>International Research Data Requests — Priority &amp; Mailing Register</a:t>
                      </a:r>
                      <a:endParaRPr sz="1100" b="1" i="0" u="none" dirty="0">
                        <a:solidFill>
                          <a:srgbClr val="FFFFFF"/>
                        </a:solidFill>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0"/>
                  </a:ext>
                </a:extLst>
              </a:tr>
              <a:tr h="103754">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Purpose: obtain public, scientifically defensible data that parameterize degraded, disrupted, intermittent, or resource-constrained conditions relevant to the Praxis.</a:t>
                      </a:r>
                      <a:endParaRPr sz="1000" b="0" i="1"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1"/>
                  </a:ext>
                </a:extLst>
              </a:tr>
              <a:tr h="94592">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Primary outreach wave = priorities 1–6.  Main bucket = strongest reason to contact; secondary buckets show additional value.</a:t>
                      </a:r>
                      <a:endParaRPr sz="1000" b="0" i="0"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2"/>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dirty="0">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03"/>
                  </a:ext>
                </a:extLst>
              </a:tr>
              <a:tr h="155614">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Priority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Country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Entity / Program</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Main Data Bucket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Secondary Buckets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Mailing Address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POC / Office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Email</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Website / Intake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Status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Date Sent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Response Date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Notes</a:t>
                      </a:r>
                      <a:endParaRPr sz="1000" b="1" i="0" u="none">
                        <a:solidFill>
                          <a:srgbClr val="FFFFFF"/>
                        </a:solidFill>
                        <a:latin typeface="Carlito"/>
                        <a:ea typeface="Carlito"/>
                        <a:cs typeface="Carlito"/>
                        <a:sym typeface="Carlito"/>
                      </a:endParaRPr>
                    </a:p>
                  </a:txBody>
                  <a:tcPr marL="22860" marR="22860" marT="10972" marB="10972" anchor="ctr"/>
                </a:tc>
                <a:extLst>
                  <a:ext uri="{0D108BD9-81ED-4DB2-BD59-A6C34878D82A}">
                    <a16:rowId xmlns:a16="http://schemas.microsoft.com/office/drawing/2014/main" val="10004"/>
                  </a:ext>
                </a:extLst>
              </a:tr>
              <a:tr h="353158">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NICT — 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 data; workload-event volume</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and Space Weather, Space Environment Laboratory, Applied Electromagnetic Research Center, NICT, 4-2-1 Nukui-Kitamachi, Koganei, Tokyo 184-8795, 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iono@ml.nict.go.jp</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https://wdc.nict.go.jp/wdc-top/contact.html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clarification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NICT requested specific ionosonde/TEC parameters; Japanese follow-up sent. Files pending.</a:t>
                      </a:r>
                      <a:endParaRPr sz="1000" b="1"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Victoria — LENS / Starlink@PanLab</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response/recovery timing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Department of Computer Science, University of Victoria, Engineering &amp; Computer Science Building, Room 504, PO Box 1700 STN CSC, Victoria, BC V8W 2Y2, 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Jinwei Zhao; Prof. Jianping Pan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clarkzjw@uvic.ca; pan@uvic.ca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https://onlineacademiccommunity.uvic.ca/starlink/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awaiting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Prof. Pan asked for clarification; LENS latency/loss/uptime variables requested. Files pending.</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6"/>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 /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WetLinks — Osnabrück University / University of Twente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 environmental correlation</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Distributed Systems Group, Institute of Computer Science, Osnabrück University, Friedrich-Janssen-Str. 1, 49076 Osnabrück,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Dominic Laniewski; Prof. Nils Aschenbruck; Prof. Roland van Rijswijk-Deij</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laniewski@uni-osnabrueck.de; aschenbruck@uni-osnabrueck.de; r.m.vanrijswijk@utwente.nl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https://arxiv.org/abs/2402.16448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25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WetLinks public repository + dataset/paper links received; screen files/fields next.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7"/>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NCC — RIPE Atlas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outage/recovery; event-volume inputs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Network Coordination Centre, P.O. Box 10096, 1001 EB Amsterdam,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Atlas Team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Potential independent/original active measurement campaign.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8"/>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New Zealand</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Otago — Solar Tsunamis / MANA Network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Department of Physics, University of Otago, PO Box 56, Dunedin 9054,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Dr Johnny Malone-Leigh; Prof. Craig Rodger; Lisa Evans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john.m.leigh@otago.ac.nz; craig.rodger@otago.ac.nz; lisa.evans@otago.ac.nz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https://solartsunamis.otago.ac.nz/mana/mana-data/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Formal scientific data access; Southern Hemisphere geomagnetic disturbance timelines.</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9"/>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6</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Earth Sciences New Zealand — Geomagnetism Project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Persistent SDA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DDIL environmental proxy; bounded-response trigger 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Avalon Campus, 1 Fairway Drive, Avalon 5011, PO Box 30-368, Lower Hutt 5040,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Dr Tanja 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https://www.gns.cri.nz/about-us/staff-search/tanja-petersen/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INTERMAGNET / Scott Base context; independent validation. General phone: +64 4 570 1444.</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0"/>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 Bureau of Meteorology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Bureau of Meteorology, Lot Fourteen, Adelaide, SA 5000, 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Forecaster</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ASWFC@bom.gov.au; space@bom.gov.au</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https://www.sws.bom.gov.au/Contact_Us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links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ASWFC supplied HF/ionosphere/K-index links + citation guidance; no direct network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1"/>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 Space Weather Operations Centre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Persistent SDA; bounded-response triggers; workload-event volume</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FitzRoy Road, Exeter, Devon EX1 3PB, 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Mark Gibbs /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enquiries@metoffice.gov.uk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https://weather.metoffice.gov.uk/learn-about/space-weather/met-office-role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Independent operational flare/radio-blackout/geomagnetic interpretation.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2"/>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9</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South Africa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 Space Weather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DDIL / Communications Degradation</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Space Science, PO Box 32, Hermanus 7200, Western Cape, SOUTH AFRICA. Physical site: Hospital Street, Hermanus 7200.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Centre / SANSA Space 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spaceweather@sansa.org.za; spacesci-info@sansa.org.za</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https://www.sansa.org.za/products-and-services/space-science/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environmental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SANSA provided Hermanus geomagnetic-data route/citation; no direct latency/loss/availability.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3"/>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 Space Weather Service Network / Coordination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autonomous-response trigger data;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Coordination Centre, Space Pole, Avenue Circulaire–Ringlaan 3, 1180 Uccle–Ukkel, 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SWE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helpdesk.swe@esa.int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https://swe.ssa.esa.int/contact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European product-selection, archive, API and V&amp;V support.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4"/>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11</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 User Service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Ground-Station Availability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atmospheric/ground-site proxy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Eumetsat-Allee 1, D-64295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User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ops@eumetsat.int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https://www.eumetsat.int/contact-eumetsat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Meteorology/precipitation/cloud inputs for notional ground-station 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Cross-Cutting Referral Source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All five families by referral only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Ministry of Business, Innovation and Employment, PO Box 1473, Wellington 6140,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nzspaceagency@mbie.govt.nz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https://www.mbie.govt.nz/science-and-technology/space/connect-with-nzsa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Referral/ecosystem source, not primary scientific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6"/>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Space Debris Office — DISCOS / SDUP</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 Response / Maneuver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ESOC/ESA, Robert-Bosch-Str. 5, 64293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 SDUP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space.debris.support@esa.int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https://sdup.esoc.esa.int/contact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Public conjunction/object metadata and event-trigger context.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7"/>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18"/>
                  </a:ext>
                </a:extLst>
              </a:tr>
              <a:tr h="91350">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0" dirty="0">
                          <a:solidFill>
                            <a:srgbClr val="000000"/>
                          </a:solidFill>
                          <a:latin typeface="Arial"/>
                          <a:ea typeface="Arial"/>
                          <a:cs typeface="Arial"/>
                          <a:sym typeface="Arial"/>
                        </a:rPr>
                        <a:t>Request framing: seek public, scientifically defensible observations that reproduce system symptoms of degraded/disrupted operations: latency, outages, observation gaps, disturbance onset/recovery, alert volume and quality/confidence. Do not use classified, restricted data, proprietary or operational data.</a:t>
                      </a:r>
                      <a:endParaRPr sz="2000" dirty="0"/>
                    </a:p>
                  </a:txBody>
                  <a:tcPr marL="22860" marR="22860" marT="10972" marB="10972" anchor="ctr"/>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19"/>
                  </a:ext>
                </a:extLst>
              </a:tr>
            </a:tbl>
          </a:graphicData>
        </a:graphic>
      </p:graphicFrame>
      <p:sp>
        <p:nvSpPr>
          <p:cNvPr id="242" name="TextBox 241"/>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43" name="TextBox 242"/>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27 of 29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10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2868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Metric</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Priority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Core 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Planned wave</a:t>
                      </a:r>
                      <a:endParaRPr sz="1100" b="1" i="0" u="none">
                        <a:solidFill>
                          <a:srgbClr val="FFFFFF"/>
                        </a:solidFill>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3"/>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Total Targets</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World Data Center for Ionosphere &amp; Space Weather</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Space weather / ionosphere / solar-flare effects</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1" i="0" u="none">
                        <a:solidFill>
                          <a:srgbClr val="1F2937"/>
                        </a:solidFill>
                        <a:latin typeface="Carlito"/>
                        <a:ea typeface="Carlito"/>
                        <a:cs typeface="Carlito"/>
                        <a:sym typeface="Carlito"/>
                      </a:endParaRPr>
                    </a:p>
                  </a:txBody>
                  <a:tcPr marL="3275" marR="3275" marT="10972" marB="10972"/>
                </a:tc>
                <a:extLst>
                  <a:ext uri="{0D108BD9-81ED-4DB2-BD59-A6C34878D82A}">
                    <a16:rowId xmlns:a16="http://schemas.microsoft.com/office/drawing/2014/main" val="10004"/>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 — Primary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2</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Starlink@PanLab / LENS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LEO latency / one-way delay / network performance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5"/>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 — Secondary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 / 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WetLinks — Osnabrück University / University of Twente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Starlink RTT / packet loss / throughput / traceroute / weather</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6"/>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 — Supporting</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RIPE NCC — RIPE Atlas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Independent active Internet measurements / ping / traceroute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7"/>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5</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Otago — Solar Tsunamis / MANA Network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observations / Southern Hemisphere environmental stress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8"/>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Earth Sciences New Zealand — Geomagnetism Project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observatory / INTERMAGNET / Scott Base context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9"/>
                  </a:ext>
                </a:extLst>
              </a:tr>
              <a:tr h="145300">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Color</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Meaning</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0"/>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Primary outreach — material value to model/data/V&amp;V</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1"/>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Secondary wave — cross-validation / operational interpretation</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2"/>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Supporting — contextual, referral, or lower marginal value</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3"/>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4"/>
                  </a:ext>
                </a:extLst>
              </a:tr>
            </a:tbl>
          </a:graphicData>
        </a:graphic>
      </p:graphicFrame>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28 of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01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16287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Top table: priority planning. Below: actual six-country postal outreach of August 17. Shared WetLinks coverage is not counted as a separate Dutch reply.</a:t>
                      </a:r>
                      <a:endParaRPr sz="1050" b="0" i="0" u="none">
                        <a:solidFill>
                          <a:srgbClr val="1F2937"/>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5"/>
                  </a:ext>
                </a:extLst>
              </a:tr>
              <a:tr h="163000">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FIRST-WAVE RESPONSE STATUS — SEPTEMBER 16, 2026</a:t>
                      </a:r>
                      <a:endParaRPr sz="1200" b="1" i="0" u="none">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6"/>
                  </a:ext>
                </a:extLst>
              </a:tr>
              <a:tr h="162875">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Packets mailed</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6</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Direct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5</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Auto-reply only</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0</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Archive-link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3</a:t>
                      </a:r>
                      <a:endParaRPr sz="1050" b="1" i="0" u="none">
                        <a:solidFill>
                          <a:srgbClr val="17365D"/>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7"/>
                  </a:ext>
                </a:extLst>
              </a:tr>
              <a:tr h="1453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 / Contact</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Response date</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Next action</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Data 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Evidence / limits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 </a:t>
                      </a:r>
                      <a:endParaRPr sz="1100" b="1" i="0" u="none">
                        <a:solidFill>
                          <a:srgbClr val="FFFFFF"/>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8"/>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Osnabrück University - Prof. Dr. Nils Aschenbruck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Aug 25,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Inspect/select public files; see shared WetLinks coverage below.</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GitHub + dataset/paper DOI. Data/code supplied as-is.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19"/>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Prof. Jianping 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12,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LENS file/field guidance after field-specific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Latency/loss/throughput/outage/recovery requested; public variables not confirmed.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0"/>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WDC</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guidance after Japanese follow-up requesting foF2/TEC and network-data referral.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NICT asked for product specifics; follow-up supplied with sample period and citation request.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1"/>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Twente - shared WetLinks 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Standing by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No separate follow-up unless a Twente-specific issue arises.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Shared WetLinks links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Covered by the German reply, per existing register; not an independent Dutch response.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2"/>
                  </a:ext>
                </a:extLst>
              </a:tr>
              <a:tr h="569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South Africa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SANSA - Dr Mpho Tshisaphungo</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ENVIRONMENTAL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Use Hermanus geomagnetic data if needed; no direct satellite-link metrics.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Public geomagnetic 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SANSA confirmed public research use/citation; no latency, packet-loss or availability data.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3"/>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Australia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ASWFC / Bureau - Cassie Marshall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 / ARCHIVES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13,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Inspect archive/API fields and usage terms; clarify regional K-index only if needed.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Eight links; citation guidance received. X-ray flux must not be attributed to Bureau.</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dirty="0">
                          <a:solidFill>
                            <a:srgbClr val="000000"/>
                          </a:solidFill>
                          <a:latin typeface="Arial"/>
                          <a:ea typeface="Arial"/>
                          <a:cs typeface="Arial"/>
                          <a:sym typeface="Arial"/>
                        </a:rPr>
                        <a:t> </a:t>
                      </a:r>
                      <a:endParaRPr sz="1100" b="0" i="0" u="none" dirty="0">
                        <a:latin typeface="Carlito"/>
                        <a:ea typeface="Carlito"/>
                        <a:cs typeface="Carlito"/>
                        <a:sym typeface="Carlito"/>
                      </a:endParaRPr>
                    </a:p>
                  </a:txBody>
                  <a:tcPr marL="3275" marR="3275" marT="10972" marB="10972"/>
                </a:tc>
                <a:extLst>
                  <a:ext uri="{0D108BD9-81ED-4DB2-BD59-A6C34878D82A}">
                    <a16:rowId xmlns:a16="http://schemas.microsoft.com/office/drawing/2014/main" val="10024"/>
                  </a:ext>
                </a:extLst>
              </a:tr>
            </a:tbl>
          </a:graphicData>
        </a:graphic>
      </p:graphicFrame>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29 of 29</a:t>
            </a:r>
          </a:p>
        </p:txBody>
      </p:sp>
    </p:spTree>
  </p:cSld>
  <p:clrMapOvr>
    <a:masterClrMapping/>
  </p:clrMapOvr>
</p:sld>
</file>

<file path=ppt/theme/carlo_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adc8ff-f4a3-4a14-9c0d-84b4985de0d2}" enabled="1" method="Privilege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265</TotalTime>
  <Words>13107</Words>
  <Application>Microsoft Office PowerPoint</Application>
  <PresentationFormat>Widescreen</PresentationFormat>
  <Paragraphs>1398</Paragraphs>
  <Slides>23</Slides>
  <Notes>21</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Custom Design</vt:lpstr>
      <vt:lpstr>1_Custom Design</vt:lpstr>
      <vt:lpstr>Modeling Orbital Edge Processing in a Contested Environment</vt:lpstr>
      <vt:lpstr>Response to Advisor Feedback from previous meeting(s)</vt:lpstr>
      <vt:lpstr>Progress Since Last Meeting</vt:lpstr>
      <vt:lpstr>Issues Encountered and Setbacks</vt:lpstr>
      <vt:lpstr>Tasks for the Next Two Weeks</vt:lpstr>
      <vt:lpstr>PowerPoint Presentation</vt:lpstr>
      <vt:lpstr>PowerPoint Presentation</vt:lpstr>
      <vt:lpstr>Problem and Thesis Statements</vt:lpstr>
      <vt:lpstr>Research Objectives and Questions</vt:lpstr>
      <vt:lpstr>Research Hypotheses — Proposed Refinement</vt:lpstr>
      <vt:lpstr>5 Foundational References</vt:lpstr>
      <vt:lpstr>PowerPoint Presentation</vt:lpstr>
      <vt:lpstr>Summary of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GWU Dr Hao - Session 5 - Oct 30, 2026</dc:title>
  <dc:creator>Carlo Antonio Nino</dc:creator>
  <cp:lastModifiedBy>Carlo Antonio Nino</cp:lastModifiedBy>
  <cp:revision>11</cp:revision>
  <dcterms:modified xsi:type="dcterms:W3CDTF">2026-10-01T21:09:02Z</dcterms:modified>
</cp:coreProperties>
</file>