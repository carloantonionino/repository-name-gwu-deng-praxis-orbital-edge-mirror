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Masters/carlo_slideMaster1.xml" ContentType="application/vnd.openxmlformats-officedocument.presentationml.slideMaster+xml"/>
  <Override PartName="/ppt/theme/carlo_theme1.xml" ContentType="application/vnd.openxmlformats-officedocument.theme+xml"/>
  <Override PartName="/ppt/slideLayouts/carlo_slideLayout1.xml" ContentType="application/vnd.openxmlformats-officedocument.presentationml.slideLayout+xml"/>
  <Override PartName="/ppt/slideLayouts/carlo_slideLayout2.xml" ContentType="application/vnd.openxmlformats-officedocument.presentationml.slideLayout+xml"/>
  <Override PartName="/ppt/slideLayouts/carlo_slideLayout3.xml" ContentType="application/vnd.openxmlformats-officedocument.presentationml.slideLayout+xml"/>
  <Override PartName="/ppt/slideLayouts/carlo_slideLayout4.xml" ContentType="application/vnd.openxmlformats-officedocument.presentationml.slideLayout+xml"/>
  <Override PartName="/ppt/slideLayouts/carlo_slideLayout5.xml" ContentType="application/vnd.openxmlformats-officedocument.presentationml.slideLayout+xml"/>
  <Override PartName="/ppt/slideLayouts/carlo_slideLayout6.xml" ContentType="application/vnd.openxmlformats-officedocument.presentationml.slideLayout+xml"/>
  <Override PartName="/ppt/slideLayouts/carlo_slideLayout7.xml" ContentType="application/vnd.openxmlformats-officedocument.presentationml.slideLayout+xml"/>
  <Override PartName="/ppt/slideLayouts/carlo_slideLayout8.xml" ContentType="application/vnd.openxmlformats-officedocument.presentationml.slideLayout+xml"/>
  <Override PartName="/ppt/slideLayouts/carlo_slideLayout9.xml" ContentType="application/vnd.openxmlformats-officedocument.presentationml.slideLayout+xml"/>
  <Override PartName="/ppt/slideLayouts/carlo_slideLayout10.xml" ContentType="application/vnd.openxmlformats-officedocument.presentationml.slideLayout+xml"/>
  <Override PartName="/ppt/slideLayouts/carlo_slideLayout11.xml" ContentType="application/vnd.openxmlformats-officedocument.presentationml.slideLayou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 id="2147483668" r:id="rId2"/>
    <p:sldMasterId id="2147483669" r:id="rIdCarloMaster40"/>
  </p:sldMasterIdLst>
  <p:notesMasterIdLst>
    <p:notesMasterId r:id="rId26"/>
  </p:notesMasterIdLst>
  <p:sldIdLst>
    <p:sldId id="256" r:id="rId3"/>
    <p:sldId id="257" r:id="rId4"/>
    <p:sldId id="258" r:id="rId5"/>
    <p:sldId id="259" r:id="rId6"/>
    <p:sldId id="260" r:id="rId7"/>
    <p:sldId id="261" r:id="rId8"/>
    <p:sldId id="279" r:id="rId35"/>
    <p:sldId id="280" r:id="rId36"/>
    <p:sldId id="281" r:id="rId37"/>
    <p:sldId id="282" r:id="rId38"/>
    <p:sldId id="262" r:id="rId9"/>
    <p:sldId id="263" r:id="rId10"/>
    <p:sldId id="264" r:id="rId11"/>
    <p:sldId id="265" r:id="rId12"/>
    <p:sldId id="266" r:id="rId13"/>
    <p:sldId id="267" r:id="rId14"/>
    <p:sldId id="268" r:id="rId15"/>
    <p:sldId id="274" r:id="rId16"/>
    <p:sldId id="278" r:id="rId17"/>
    <p:sldId id="277" r:id="rId18"/>
    <p:sldId id="275" r:id="rId19"/>
    <p:sldId id="276" r:id="rId20"/>
    <p:sldId id="269" r:id="rId21"/>
    <p:sldId id="270" r:id="rId22"/>
    <p:sldId id="271" r:id="rId23"/>
    <p:sldId id="283" r:id="rId39"/>
    <p:sldId id="272" r:id="rId24"/>
    <p:sldId id="273" r:id="rId25"/>
    <p:sldId id="284" r:id="rId40"/>
  </p:sldIdLst>
  <p:sldSz cx="12192000" cy="6858000"/>
  <p:notesSz cx="6858000" cy="9144000"/>
  <p:embeddedFontLst>
    <p:embeddedFont>
      <p:font typeface="Carlito"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1EB017-BC45-4DEE-9ABB-B4D90C79D28D}">
  <a:tblStyle styleId="{3C1EB017-BC45-4DEE-9ABB-B4D90C79D2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57" autoAdjust="0"/>
  </p:normalViewPr>
  <p:slideViewPr>
    <p:cSldViewPr snapToGrid="0">
      <p:cViewPr varScale="1">
        <p:scale>
          <a:sx n="90" d="100"/>
          <a:sy n="90" d="100"/>
        </p:scale>
        <p:origin x="8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7.xml"/><Relationship Id="rId25" Type="http://schemas.openxmlformats.org/officeDocument/2006/relationships/slide" Target="slides/slide28.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7.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26.xml"/><Relationship Id="rId40" Type="http://schemas.openxmlformats.org/officeDocument/2006/relationships/slide" Target="slides/slide29.xml"/><Relationship Id="rIdCarloMaster40" Type="http://schemas.openxmlformats.org/officeDocument/2006/relationships/slideMaster" Target="slideMasters/carlo_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Narrative pages</c:v>
                </c:pt>
              </c:strCache>
            </c:strRef>
          </c:tx>
          <c:dPt>
            <c:idx val="0"/>
            <c:spPr>
              <a:solidFill>
                <a:srgbClr val="286B98"/>
              </a:solidFill>
              <a:ln>
                <a:noFill/>
              </a:ln>
            </c:spPr>
          </c:dPt>
          <c:dPt>
            <c:idx val="1"/>
            <c:spPr>
              <a:solidFill>
                <a:srgbClr val="167E86"/>
              </a:solidFill>
              <a:ln>
                <a:noFill/>
              </a:ln>
            </c:spPr>
          </c:dPt>
          <c:dPt>
            <c:idx val="2"/>
            <c:spPr>
              <a:solidFill>
                <a:srgbClr val="BD8E36"/>
              </a:solidFill>
              <a:ln>
                <a:noFill/>
              </a:ln>
            </c:spPr>
          </c:dPt>
          <c:cat>
            <c:strRef>
              <c:f>Sheet1!$A$2:$A$4</c:f>
              <c:strCache>
                <c:ptCount val="3"/>
                <c:pt idx="0">
                  <c:v>Meeting 4 · v8</c:v>
                </c:pt>
                <c:pt idx="1">
                  <c:v>v9 · Oct 24</c:v>
                </c:pt>
                <c:pt idx="2">
                  <c:v>v11 · Oct 28</c:v>
                </c:pt>
              </c:strCache>
            </c:strRef>
          </c:cat>
          <c:val>
            <c:numRef>
              <c:f>Sheet1!$B$2:$B$4</c:f>
              <c:numCache>
                <c:formatCode>General</c:formatCode>
                <c:ptCount val="3"/>
                <c:pt idx="0">
                  <c:v>17</c:v>
                </c:pt>
                <c:pt idx="1">
                  <c:v>32</c:v>
                </c:pt>
                <c:pt idx="2">
                  <c:v>51</c:v>
                </c:pt>
              </c:numCache>
            </c:numRef>
          </c:val>
        </c:ser>
        <c:dLbls>
          <c:txPr>
            <a:bodyPr/>
            <a:lstStyle/>
            <a:p>
              <a:pPr>
                <a:defRPr sz="20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60.0"/>
          <c:min val="0.0"/>
        </c:scaling>
        <c:delete val="0"/>
        <c:axPos val="l"/>
        <c:majorGridlines/>
        <c:majorTickMark val="out"/>
        <c:minorTickMark val="none"/>
        <c:tickLblPos val="nextTo"/>
        <c:txPr>
          <a:bodyPr/>
          <a:lstStyle/>
          <a:p>
            <a:pPr>
              <a:defRPr sz="1300"/>
            </a:pPr>
          </a:p>
        </c:txPr>
        <c:crossAx val="-2068027336"/>
        <c:crosses val="autoZero"/>
        <c:majorUnit val="10.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Mean latency (s)</c:v>
                </c:pt>
              </c:strCache>
            </c:strRef>
          </c:tx>
          <c:dPt>
            <c:idx val="0"/>
            <c:spPr>
              <a:solidFill>
                <a:srgbClr val="286B98"/>
              </a:solidFill>
            </c:spPr>
          </c:dPt>
          <c:dPt>
            <c:idx val="1"/>
            <c:spPr>
              <a:solidFill>
                <a:srgbClr val="71559F"/>
              </a:solidFill>
            </c:spPr>
          </c:dPt>
          <c:cat>
            <c:strRef>
              <c:f>Sheet1!$A$2:$A$3</c:f>
              <c:strCache>
                <c:ptCount val="2"/>
                <c:pt idx="0">
                  <c:v>Ground</c:v>
                </c:pt>
                <c:pt idx="1">
                  <c:v>Bounded Edge</c:v>
                </c:pt>
              </c:strCache>
            </c:strRef>
          </c:cat>
          <c:val>
            <c:numRef>
              <c:f>Sheet1!$B$2:$B$3</c:f>
              <c:numCache>
                <c:formatCode>General</c:formatCode>
                <c:ptCount val="2"/>
                <c:pt idx="0">
                  <c:v>1067.6434</c:v>
                </c:pt>
                <c:pt idx="1">
                  <c:v>198.228</c:v>
                </c:pt>
              </c:numCache>
            </c:numRef>
          </c:val>
        </c:ser>
        <c:dLbls>
          <c:numFmt formatCode="0.0" sourceLinked="0"/>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200.0"/>
          <c:min val="0.0"/>
        </c:scaling>
        <c:delete val="0"/>
        <c:axPos val="b"/>
        <c:majorGridlines/>
        <c:majorTickMark val="out"/>
        <c:minorTickMark val="none"/>
        <c:tickLblPos val="nextTo"/>
        <c:txPr>
          <a:bodyPr/>
          <a:lstStyle/>
          <a:p>
            <a:pPr>
              <a:defRPr sz="1200"/>
            </a:pPr>
          </a:p>
        </c:txPr>
        <c:crossAx val="-2068027336"/>
        <c:crosses val="autoZero"/>
        <c:majorUnit val="300.0"/>
      </c:valAx>
    </c:plotArea>
    <c:dispBlanksAs val="gap"/>
  </c:chart>
  <c:txPr>
    <a:bodyPr/>
    <a:lstStyle/>
    <a:p>
      <a:pPr>
        <a:defRPr sz="1800"/>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4.277"/>
    </inkml:context>
    <inkml:brush xml:id="br0">
      <inkml:brushProperty name="width" value="0.035" units="cm"/>
      <inkml:brushProperty name="height" value="0.035" units="cm"/>
      <inkml:brushProperty name="color" value="#E71224"/>
    </inkml:brush>
  </inkml:definitions>
  <inkml:trace contextRef="#ctx0" brushRef="#br0">0 186 24575,'13'12'0,"1"-1"0,-1 0 0,2-1 0,-1-1 0,2 0 0,-1-1 0,1 0 0,0-1 0,0-1 0,1-1 0,0 0 0,27 3 0,14-1 0,1-4 0,83-4 0,-60-1 0,416-16 0,-339 4 0,175-39 0,-107-12 0,-97 25 0,192-55-1365,-257 79-5461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5.327"/>
    </inkml:context>
    <inkml:brush xml:id="br0">
      <inkml:brushProperty name="width" value="0.035" units="cm"/>
      <inkml:brushProperty name="height" value="0.035" units="cm"/>
      <inkml:brushProperty name="color" value="#E71224"/>
    </inkml:brush>
  </inkml:definitions>
  <inkml:trace contextRef="#ctx0" brushRef="#br0">1 1 24575,'7'4'0,"-1"1"0,1-1 0,1 0 0,-1-1 0,0 0 0,1 0 0,0-1 0,0 0 0,0 0 0,12 1 0,14 4 0,322 70 0,-192-44 0,148 58 0,-118-29 0,-84-27 48,145 67 0,93 69-910,-285-139 263,-16-8-6227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7.302"/>
    </inkml:context>
    <inkml:brush xml:id="br0">
      <inkml:brushProperty name="width" value="0.035" units="cm"/>
      <inkml:brushProperty name="height" value="0.035" units="cm"/>
      <inkml:brushProperty name="color" value="#E71224"/>
    </inkml:brush>
  </inkml:definitions>
  <inkml:trace contextRef="#ctx0" brushRef="#br0">19504 0 24575,'-3'25'0,"0"0"0,-2-1 0,-1 0 0,-1 0 0,-1 0 0,-1-1 0,-18 31 0,9-12 0,-19 41 0,-4-2 0,-3-2 0,-3-1 0,-58 70 0,73-108 0,-1-2 0,-3-2 0,-1 0 0,-1-3 0,-2-1 0,-1-2 0,-1-2 0,-84 41 0,49-37 0,-1-3 0,-106 23 0,-172 20 0,303-62 0,-221 39 0,-643 131 0,698-129 0,-802 151 0,95-118-218,-7-36-112,503-28 274,156 1 56,3 12 0,0 12 0,3 12 0,3 12 0,3 11 0,-253 115 0,240-91 0,212-85 0,-2-3 0,-94 12 0,-325 1 448,241-19-292,101-2-79,-1406 54-1079,370-59 496,-1086 28-855,1044 29 772,1067-54 757,-1-7 1,1-6-1,-215-37 1,-840-261 1541,1110 271-1228,-155-76-1,-74-73-447,191 108-34,-45-28 0,155 86 0,1-1 0,0-2 0,1 0 0,-30-35 0,40 38 0,1-1 0,0-1 0,2 0 0,0 0 0,-13-36 0,-27-108 0,23 67 0,-89-268 0,116 361 0,-3-9 0,1 1 0,0-1 0,1 0 0,-2-18 0,4 27 0,1-1 0,-1 0 0,0 1 0,1-1 0,0 1 0,0-1 0,0 1 0,0-1 0,1 1 0,-1 0 0,1-1 0,0 1 0,0 0 0,0 0 0,0 0 0,0 0 0,1 1 0,0-1 0,2-2 0,14-9 0,1 1 0,0 0 0,1 1 0,0 1 0,1 2 0,38-13 0,145-29 0,292-35 0,-30 6 0,-435 74-455,-1-1 0,39-14 0,-46 9-6371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3.351"/>
    </inkml:context>
    <inkml:brush xml:id="br0">
      <inkml:brushProperty name="width" value="0.035" units="cm"/>
      <inkml:brushProperty name="height" value="0.035" units="cm"/>
      <inkml:brushProperty name="color" value="#E71224"/>
    </inkml:brush>
  </inkml:definitions>
  <inkml:trace contextRef="#ctx0" brushRef="#br0">0 0 24575,'7'2'0,"0"-1"0,0 1 0,0 0 0,-1 1 0,1 0 0,-1 0 0,1 0 0,9 7 0,5 2 0,44 25 0,-1 3 0,93 76 0,106 116 0,-132-113 0,-17-19 0,306 298 0,-401-374 0,24 37 0,-34-46 0,1 0 0,0-1 0,1 0 0,0-1 0,1 0 0,1-1 0,17 14 0,23 7 0,1-3 0,110 46 0,-157-73 0,-1 0 0,0 1 0,0 0 0,0 0 0,0 0 0,0 1 0,-1 0 0,0 0 0,0 1 0,-1-1 0,1 1 0,-1 0 0,4 8 0,5 10 0,-2 1 0,10 30 0,-8-21 0,53 190-1365,-61-205-5461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5.521"/>
    </inkml:context>
    <inkml:brush xml:id="br0">
      <inkml:brushProperty name="width" value="0.035" units="cm"/>
      <inkml:brushProperty name="height" value="0.035" units="cm"/>
      <inkml:brushProperty name="color" value="#E71224"/>
    </inkml:brush>
  </inkml:definitions>
  <inkml:trace contextRef="#ctx0" brushRef="#br0">2538 0 24575,'-3'26'0,"-1"0"0,-2 0 0,0 0 0,-2-1 0,-1 0 0,-15 31 0,1-3 0,-2-1 0,-1-1 0,-4-1 0,-1-2 0,-2-1 0,-3-2 0,-68 69 0,-66 47 0,-173 150 0,283-264 0,-2-3 0,-1-2 0,-2-3 0,-80 34 0,79-45 0,15-8 0,1 2 0,1 2 0,1 2 0,-88 65 0,84-44 0,2 1 0,-47 60 0,-78 119 0,12-15 0,139-184 0,-2 0 0,0-2 0,-2-1 0,-1-1 0,-56 35 0,65-44-84,-13 6 282,32-20-268,-1-1-1,1 1 1,-1-1-1,0 1 1,1-1 0,-1 0-1,1 0 1,-1 1-1,1-1 1,-1 0-1,0-1 1,1 1-1,-1 0 1,1 0 0,-1-1-1,0 1 1,1 0-1,-1-1 1,1 0-1,-3-1 1,-15-12-6756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8.811"/>
    </inkml:context>
    <inkml:brush xml:id="br0">
      <inkml:brushProperty name="width" value="0.035" units="cm"/>
      <inkml:brushProperty name="height" value="0.035" units="cm"/>
      <inkml:brushProperty name="color" value="#E71224"/>
    </inkml:brush>
  </inkml:definitions>
  <inkml:trace contextRef="#ctx0" brushRef="#br0">0 1 24575,'5'4'0,"11"22"0,22 20 0,19 22 0,24 18 0,17 4 0,-3-3 0,-13-12 0,-16-14 0,-14-18 0,-16-15-8191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9.813"/>
    </inkml:context>
    <inkml:brush xml:id="br0">
      <inkml:brushProperty name="width" value="0.035" units="cm"/>
      <inkml:brushProperty name="height" value="0.035" units="cm"/>
      <inkml:brushProperty name="color" value="#E71224"/>
    </inkml:brush>
  </inkml:definitions>
  <inkml:trace contextRef="#ctx0" brushRef="#br0">1 0 24575,'2'22'0,"1"0"0,1 0 0,0 0 0,2-1 0,1 0 0,1 0 0,12 25 0,-5-10 0,59 137 0,7-4 0,8-3 0,7-4 0,194 250 0,-280-400 0,-4-3 0,1-1 0,-1-1 0,1 1 0,1-1 0,-1 0 0,1-1 0,14 9 0,-22-14 2,0-1-1,1 0 0,-1 1 1,1-1-1,-1 0 0,0 1 0,1-1 1,-1 0-1,1 0 0,-1 1 1,1-1-1,-1 0 0,1 0 1,-1 0-1,1 0 0,-1 0 1,1 0-1,-1 0 0,1 0 1,-1 0-1,1 0 0,-1 0 1,1 0-1,-1 0 0,1 0 0,-1 0 1,1-1-1,-1 1 0,1 0 1,-1 0-1,0 0 0,1-1 1,-1 1-1,1 0 0,-1-1 1,0 1-1,1 0 0,-1-1 1,0 1-1,1 0 0,-1-1 1,0 1-1,1-1 0,-1 1 0,0-1 1,0 1-1,0-1 0,1 1 1,-1-1-1,0 1 0,0-1 1,0 1-1,0-1 0,0 1 1,0-1-1,0 0 0,-5-30-1259,5 30 1076,-8-26-6644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0.777"/>
    </inkml:context>
    <inkml:brush xml:id="br0">
      <inkml:brushProperty name="width" value="0.035" units="cm"/>
      <inkml:brushProperty name="height" value="0.035" units="cm"/>
      <inkml:brushProperty name="color" value="#E71224"/>
    </inkml:brush>
  </inkml:definitions>
  <inkml:trace contextRef="#ctx0" brushRef="#br0">0 1 24575,'23'20'0,"0"0"0,40 25 0,14 10 0,502 476 0,-418-374 0,-98-97 0,486 508 0,-515-522 0,-29-36 0,-22-26 0,-2-4-341,1 0 0,1-2-1,-20-32 1,24 32-6485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1.543"/>
    </inkml:context>
    <inkml:brush xml:id="br0">
      <inkml:brushProperty name="width" value="0.035" units="cm"/>
      <inkml:brushProperty name="height" value="0.035" units="cm"/>
      <inkml:brushProperty name="color" value="#E71224"/>
    </inkml:brush>
  </inkml:definitions>
  <inkml:trace contextRef="#ctx0" brushRef="#br0">0 0 24575,'173'149'0,"-29"-29"0,-31-22 0,3-5 0,205 125 0,-305-208 0,-11-6 0,1 0 0,1 0 0,-1-1 0,0 1 0,1-1 0,0-1 0,-1 1 0,1-1 0,13 2 0,-20-4 0,1 0 0,-1 0 0,1-1 0,-1 1 0,1 0 0,-1 0 0,0-1 0,1 1 0,-1 0 0,1 0 0,-1-1 0,1 1 0,-1 0 0,0-1 0,1 1 0,-1 0 0,0-1 0,1 1 0,-1-1 0,0 1 0,0-1 0,1 1 0,-1-1 0,0 1 0,0-1 0,0 1 0,0-1 0,0 1 0,0-1 0,0 1 0,0-1 0,0 1 0,0-1 0,0 1 0,0-1 0,0 1 0,0-1 0,0 1 0,0-1 0,0 1 0,-1-1 0,1 1 0,-1-1 0,-9-25 0,10 24 0,-24-43-1365,-3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3.873"/>
    </inkml:context>
    <inkml:brush xml:id="br0">
      <inkml:brushProperty name="width" value="0.035" units="cm"/>
      <inkml:brushProperty name="height" value="0.035" units="cm"/>
      <inkml:brushProperty name="color" value="#E71224"/>
    </inkml:brush>
  </inkml:definitions>
  <inkml:trace contextRef="#ctx0" brushRef="#br0">974 346 24575,'-2'23'0,"-2"0"0,0 0 0,-1-1 0,-1 1 0,-17 41 0,1-4 0,3 6 0,3 1 0,2 1 0,4 0 0,2 0 0,3 1 0,9 124 0,0-154 0,2 0 0,2-1 0,1 0 0,2-1 0,2 0 0,32 65 0,-19-54 0,3-1 0,1-2 0,2-1 0,51 54 0,-12-28 0,3-3 0,3-4 0,2-2 0,171 96 0,14-22 0,-225-119 0,-1-2 0,2-2 0,0-1 0,0-2 0,45 4 0,-71-12 0,1 0 0,-1-1 0,0-1 0,0-1 0,1 0 0,-1 0 0,0-2 0,-1 1 0,1-2 0,-1 0 0,0 0 0,0-2 0,0 1 0,-1-2 0,0 1 0,0-2 0,-1 0 0,0 0 0,-1-1 0,11-12 0,1-5 0,-2-1 0,-1 0 0,-1-2 0,-1 0 0,-1-1 0,-2-1 0,12-43 0,-1-7 0,-3-2 0,-4 0 0,-4-1 0,-4-1 0,-3 0 0,-4 0 0,-4 0 0,-4 0 0,-3 0 0,-4 0 0,-4 2 0,-4 0 0,-3 0 0,-4 2 0,-3 2 0,-4 0 0,-3 2 0,-4 2 0,-3 2 0,-84-109 0,108 158 0,-1 0 0,-1 1 0,-1 2 0,-32-25 0,48 42 0,1 0 0,-1 0 0,0 1 0,0 0 0,-1 1 0,1 0 0,-1 0 0,1 0 0,-1 1 0,0 0 0,0 1 0,0 0 0,0 0 0,0 0 0,0 1 0,-1 0 0,1 1 0,0 0 0,0 0 0,0 1 0,0 0 0,-10 4 0,-2 4 0,0 0 0,1 1 0,1 1 0,0 1 0,-17 15 0,-81 84 0,62-57 0,-18 15 0,-2-4 0,-3-3 0,-3-3 0,-2-4 0,-104 53 0,-28-15 0,-359 106 0,495-175-682,-118 20-1,117-36-6143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4.576"/>
    </inkml:context>
    <inkml:brush xml:id="br0">
      <inkml:brushProperty name="width" value="0.035" units="cm"/>
      <inkml:brushProperty name="height" value="0.035" units="cm"/>
      <inkml:brushProperty name="color" value="#E71224"/>
    </inkml:brush>
  </inkml:definitions>
  <inkml:trace contextRef="#ctx0" brushRef="#br0">616 0 24575,'-4'117'0,"-5"0"0,-34 157 0,19-144 0,-75 361 0,64-349 0,-77 196 0,-8-58 120,87-214-615,-3 0 0,-47 65 0,66-108-6331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3.445"/>
    </inkml:context>
    <inkml:brush xml:id="br0">
      <inkml:brushProperty name="width" value="0.035" units="cm"/>
      <inkml:brushProperty name="height" value="0.035" units="cm"/>
      <inkml:brushProperty name="color" value="#E71224"/>
    </inkml:brush>
  </inkml:definitions>
  <inkml:trace contextRef="#ctx0" brushRef="#br0">0 1 24575,'0'5'0,"0"11"0,0 7 0,0 6 0,0 6 0,0 12 0,0 13 0,0 10 0,0 12 0,0 3 0,0-5 0,0-10 0,0-22 0,0-29 0,0-28 0,0-26 0,0-12 0,0 2-8191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4.336"/>
    </inkml:context>
    <inkml:brush xml:id="br0">
      <inkml:brushProperty name="width" value="0.035" units="cm"/>
      <inkml:brushProperty name="height" value="0.035" units="cm"/>
      <inkml:brushProperty name="color" value="#E71224"/>
    </inkml:brush>
  </inkml:definitions>
  <inkml:trace contextRef="#ctx0" brushRef="#br0">0 24 24575,'565'47'0,"-361"-22"0,-177-21 0,19 1 0,76 0 0,-109-5 0,-1-1 0,1-1 0,0 0 0,-1 0 0,1-1 0,-1-1 0,0 0 0,0-1 0,-1 0 0,19-12 0,-26 14-124,0 1 0,-1-1 0,1 0 0,-1-1 0,0 1 0,0-1-1,0 1 1,0-1 0,-1 0 0,3-6 0,4-11-6702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6.415"/>
    </inkml:context>
    <inkml:brush xml:id="br0">
      <inkml:brushProperty name="width" value="0.035" units="cm"/>
      <inkml:brushProperty name="height" value="0.035" units="cm"/>
      <inkml:brushProperty name="color" value="#E71224"/>
    </inkml:brush>
  </inkml:definitions>
  <inkml:trace contextRef="#ctx0" brushRef="#br0">262 337 24575,'-2'73'0,"-4"-1"0,-2 0 0,-24 94 0,-80 205 0,86-285-67,4 1 1,3 1-1,5 1 0,3 0 0,5 1 0,3 0 0,13 135 1,11-53-113,7-2 1,97 323 0,-75-334 132,6-3-1,7-2 1,90 157-1,-110-240 16,2-2-1,4-2 0,61 66 0,-68-89 20,2-2 1,3-1-1,0-3 1,100 61-1,-64-56 14,1-3 1,2-4-1,1-4 1,2-4-1,121 23 1,472 45-148,-589-86 75,1378 191-919,-1331-180 976,-66-9-2,0 0 104,125 5 1,-191-16-29,0-1 0,1-1 0,-1 0 0,0 0 0,0 0 0,0-1 0,0 0 0,0-1 0,8-3 0,-11 3-45,-1 0 1,0 0 0,0 0 0,0-1 0,0 1 0,-1-1 0,1 0 0,-1 0-1,0 0 1,0-1 0,0 1 0,-1-1 0,1 1 0,-1-1 0,2-8 0,2-8 26,0 1 1,-2-1-1,-1 0 1,0 0-1,-2-39 1,-15-120 0,-68-264-27,-30-1 13,22 95-18,-77-450 10,32-3-79,98 572 0,-41-199-242,51 309 218,-64-173 1,76 255 63,-1 2 1,-29-50-1,36 73 45,0 0 0,-1 1-1,-1 0 1,0 1 0,-1 0 0,0 1-1,0 0 1,-25-15 0,13 12 117,0 2 0,-1 0 0,-1 2 0,0 1 0,0 1 0,-44-8 0,-169-9-183,214 24 60,-81-5-22,0 4 0,0 5 0,-203 33 0,252-25 0,1 3 0,1 2 0,1 3 0,0 2 0,1 2 0,1 3 0,2 2 0,-91 67 0,83-46-5,3 2 0,2 2-1,-85 113 1,-107 201 150,147-214 220,80-124-338,-2-1 0,-1 0-1,-40 39 1,52-58-28,-1-1 0,0 0 1,-1 0-1,0-1 0,0-1 1,0 0-1,-1 0 0,0-1 1,0-1-1,0 0 1,-1-1-1,-20 3 0,-72 3-54,-29 3 209,117-9-363,1 1 0,0 0 0,1 1 0,-1 0-1,1 1 1,-15 9 0,6 0-6617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Session 5: October 30, 2026, 4:00 PM Pacific. Current full GWU deck derived from v14 Carlo Methodology; his methodology slide is retained unchanged. Controlled manuscript: v11 - Oct 28 cn.docx, Google Drive 12ZWPsFc2J9PaHwML62_epcqR9W4eAnLz. Current normalized Chapter 2 narrative is 51 pages versus the previously recorded v9 count of 32: a 19-page difference. Counts exclude front matter and bibliography. The 47-to-51 correction is layout reflow after consistent double spacing, not further writing. The 20-source expansion set is integrated; 15 newly unique entries plus 5 already in v9 yield 91 unique references overall. The three cases are School Wildfire Situational Awareness, Flood Information for Hospital Access, and Municipal Reservoir and Bloom Monitoring. No MATLAB execution or advisor submission is performed by this deck update.</a:t>
            </a:r>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Exact red advisor quotations and their dates are retained from the prior v14 deck. Wording in quotation marks remains unchanged. Responses now identify current manuscript v11, 51 Chapter 2 narrative pages versus 32 in v9 (+19), three civilian use cases, and the November 14 final-revision suspense. The +19 reflects expansion and normalized double spacing, excluding front matter and References. Working-draft additions are ready for advisor review; advisor acceptance is not asserted. The requested expansion amount is summarized from Carlo's instruction, rather than added as a new verbatim advisor quotation.</a:t>
            </a:r>
          </a:p>
        </p:txBody>
      </p:sp>
      <p:sp>
        <p:nvSpPr>
          <p:cNvPr id="93" name="Google Shape;9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Narrative-page accounting: v8 Meeting 4 = 17 pages; v9 October 24 = 32 pages; normalized v11 October 28 = 51 pages. The headline comparison requested by Carlo is 32 to 51, a difference of 19 narrative pages (approximately 18–20). v11 renders as 76 pages: 10 front matter + 51 Chapter 2 narrative + 15 References. The prior mixed-spacing version rendered as 47 narrative pages; normalization accounts for four pages of reflow. Reference reconciliation: v9 contained 76 unique entries; the 20-source expansion package includes 15 new unique entries and five reused sources, giving 91 unique entries. Bold use-case labels highlight the school, medical and municipal additions. Method-precedent table preserved.</a:t>
            </a:r>
          </a:p>
        </p:txBody>
      </p:sp>
      <p:sp>
        <p:nvSpPr>
          <p:cNvPr id="106" name="Google Shape;106;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No new MATLAB run is claimed by this deck update. All original chapter prose is retained in the highlighted working copy. Section 2.3 contains future workflows; the implemented DES endpoint is information delivery. Front-matter placeholders remain a final packaging task.</a:t>
            </a:r>
          </a:p>
        </p:txBody>
      </p:sp>
      <p:sp>
        <p:nvSpPr>
          <p:cNvPr id="119" name="Google Shape;119;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Upcoming activities are planned, not completed. Current briefing marker = October 30; next review gate = November 14. Chapter 2 modification/reduction/editing remains the priority.</a:t>
            </a:r>
          </a:p>
        </p:txBody>
      </p:sp>
      <p:sp>
        <p:nvSpPr>
          <p:cNvPr id="130" name="Google Shape;13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141" name="Google Shape;14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47" name="Google Shape;147;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p>
            <a:r>
              <a:t>can an orbital edge-processing layer provide useful information to the operator faster?</a:t>
            </a:r>
            <a:br/>
          </a:p>
          <a:p>
            <a:r>
              <a:t>The model focuses on bounded functions such as filtering, prioritizing, routing, allocating resources, and presenting recommendations. </a:t>
            </a:r>
            <a:br/>
          </a:p>
          <a:p>
            <a:r>
              <a:t>The goal is to measure whether this architecture reduces latency, preserves communications availability, and reduces operator workload using only public, public, non-restricted data.”</a:t>
            </a:r>
          </a:p>
          <a:p/>
          <a:p/>
          <a:p>
            <a:r>
              <a:t>FINAL SUBMISSION, SLIDE 5</a:t>
            </a:r>
          </a:p>
          <a:p>
            <a:r>
              <a:t>(A) Deliverable | (B) Format | (C) WC</a:t>
            </a:r>
          </a:p>
          <a:p>
            <a:r>
              <a:t>Issue | Human-in-the-loop satellite control introduces significant latency, which limits timely responses to threats in contested space environments. | 16</a:t>
            </a:r>
          </a:p>
          <a:p>
            <a:r>
              <a:t>Reference | United States Space Force. (2020). Spacepower: Doctrine for Space Forces (CSO-P). https://www.spaceforce.mil/Portals/2/Space%20Capstone%20Publication_10%20Aug%202020.pdf | NA</a:t>
            </a:r>
          </a:p>
          <a:p>
            <a:r>
              <a:t>”so what” | During communication denials, reliance on centralized networks slows the OODA loop, preventing timely target prioritization and jeopardizing mission survival. | 19</a:t>
            </a:r>
          </a:p>
          <a:p>
            <a:r>
              <a:t>Reference | United States Space Force. (2025). Space Warfighting: A Framework for Planners. United States Space Force | NA</a:t>
            </a:r>
          </a:p>
          <a:p>
            <a:r>
              <a:t>Problem statement | The multi-node communication architecture of traditional satellite control creates severe decision latency and operator cognitive burden, slowing the OODA loop and jeopardizing mission survival during communication denials. | 27</a:t>
            </a:r>
          </a:p>
          <a:p>
            <a:r>
              <a:t>Industry | Aerospace and Defense / United States Space Force | NA</a:t>
            </a:r>
          </a:p>
          <a:p>
            <a:r>
              <a:t>PS elaboration 1 | Round-trip data routing from operators to satellites, ground stations, and centralized continental networks creates unsustainable bottlenecks for tactical operations. | 19</a:t>
            </a:r>
          </a:p>
          <a:p>
            <a:r>
              <a:t>PS elaboration 2 | Satellites require edge computing for limited autonomous target acquisition to maintain operational capability when disconnected from the primary network. | 19</a:t>
            </a:r>
          </a:p>
          <a:p>
            <a:r>
              <a:t>Problem Statement</a:t>
            </a:r>
          </a:p>
          <a:p>
            <a:r>
              <a:t>SPEAKER NOTES</a:t>
            </a:r>
          </a:p>
          <a:p/>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p/>
          <a:p>
            <a:r>
              <a:t>The quoted July problem statement retains original terminology. It is not represented as the current civil framing; that refinement is explicitly stated on the slide.</a:t>
            </a:r>
          </a:p>
          <a:p>
            <a:r>
              <a:t>Session 5 update: current chapter v11; source measurements, synthetic inputs and simulation outputs remain separately qualified. Baseline regression is documented; owner reproduction and extended sensitivity remain next steps.</a:t>
            </a:r>
          </a:p>
        </p:txBody>
      </p:sp>
      <p:sp>
        <p:nvSpPr>
          <p:cNvPr id="153" name="Google Shape;153;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Session 5 update: current chapter v11; source measurements, synthetic inputs and simulation outputs remain separately qualified. Baseline regression is documented; owner reproduction and extended sensitivity remain next steps.</a:t>
            </a:r>
          </a:p>
        </p:txBody>
      </p:sp>
      <p:sp>
        <p:nvSpPr>
          <p:cNvPr id="165" name="Google Shape;165;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Hypothesis wording follows the supplied Session 5 deck. Architecture rows are alternatives, not conclusions about hypothesis rejection. Data path matches SIMEVENTS_README.txt and the implemented Ground/Edge topology. No fictional simulation statistics are used.</a:t>
            </a:r>
          </a:p>
        </p:txBody>
      </p:sp>
      <p:sp>
        <p:nvSpPr>
          <p:cNvPr id="180" name="Google Shape;180;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FINAL SUBMISSION, SLIDE 9</a:t>
            </a:r>
            <a:endParaRPr dirty="0"/>
          </a:p>
          <a:p>
            <a:pPr marL="0" lvl="0" indent="0" algn="l" rtl="0">
              <a:spcBef>
                <a:spcPts val="0"/>
              </a:spcBef>
              <a:spcAft>
                <a:spcPts val="0"/>
              </a:spcAft>
              <a:buNone/>
            </a:pPr>
            <a:r>
              <a:rPr lang="en-US" sz="1200" dirty="0"/>
              <a:t>Reference | Osoba, O. A., </a:t>
            </a:r>
            <a:r>
              <a:rPr lang="en-US" sz="1200" dirty="0" err="1"/>
              <a:t>Nacouzi</a:t>
            </a:r>
            <a:r>
              <a:rPr lang="en-US" sz="1200" dirty="0"/>
              <a:t>, G., Hagen, J., Tran, J., Zhang, L. A., Herron, M., Lynch, C., Eisman, M., &amp; Barton, C. (2023). The resilience assessment framework: Assessing commercial contributions to U.S. Space Force mission resilience (RR-A980-1). RAND Corporation. https://doi.org/10.7249/RRA980-1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https://www.rand.org/content/dam/rand/pubs/research_reports/RRA900/RRA980-1/RAND_RRA980-1.pdf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RAND develops a framework for assessing how architecture changes affect space mission resilience. The framework combines physics-based modeling and statistical systems analysis. | 22</a:t>
            </a:r>
            <a:endParaRPr dirty="0"/>
          </a:p>
          <a:p>
            <a:pPr marL="0" lvl="0" indent="0" algn="l" rtl="0">
              <a:spcBef>
                <a:spcPts val="0"/>
              </a:spcBef>
              <a:spcAft>
                <a:spcPts val="0"/>
              </a:spcAft>
              <a:buNone/>
            </a:pPr>
            <a:r>
              <a:rPr lang="en-US" sz="1200" dirty="0"/>
              <a:t>Methodology | Physics-based modeling and statistical systems analysis. | NA</a:t>
            </a:r>
            <a:endParaRPr dirty="0"/>
          </a:p>
          <a:p>
            <a:pPr marL="0" lvl="0" indent="0" algn="l" rtl="0">
              <a:spcBef>
                <a:spcPts val="0"/>
              </a:spcBef>
              <a:spcAft>
                <a:spcPts val="0"/>
              </a:spcAft>
              <a:buNone/>
            </a:pPr>
            <a:r>
              <a:rPr lang="en-US" sz="1200" dirty="0"/>
              <a:t>Evaluation | The source is reliable because RAND developed it for USSF mission-resilience assessment.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evaluates resilience broadly, not orbital edge processing specifically.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architecture-resilience evaluation and degraded-mission performance comparison for my simulation framework.</a:t>
            </a:r>
            <a:endParaRPr dirty="0"/>
          </a:p>
          <a:p>
            <a:pPr marL="0" lvl="0" indent="0" algn="l" rtl="0">
              <a:spcBef>
                <a:spcPts val="0"/>
              </a:spcBef>
              <a:spcAft>
                <a:spcPts val="0"/>
              </a:spcAft>
              <a:buNone/>
            </a:pPr>
            <a:br>
              <a:rPr lang="en-US" sz="1200" dirty="0"/>
            </a:br>
            <a:r>
              <a:rPr lang="en-US" sz="1200" dirty="0"/>
              <a:t>It helps connect public modeling assumptions to mission-resilience measures without requiring classified data.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RAND Corp</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10</a:t>
            </a:r>
            <a:endParaRPr dirty="0"/>
          </a:p>
          <a:p>
            <a:pPr marL="0" lvl="0" indent="0" algn="l" rtl="0">
              <a:spcBef>
                <a:spcPts val="0"/>
              </a:spcBef>
              <a:spcAft>
                <a:spcPts val="0"/>
              </a:spcAft>
              <a:buNone/>
            </a:pPr>
            <a:r>
              <a:rPr lang="en-US" sz="1200" dirty="0"/>
              <a:t>Reference | National Aeronautics and Space Administration. (2013). Space Communications and Navigation (</a:t>
            </a:r>
            <a:r>
              <a:rPr lang="en-US" sz="1200" dirty="0" err="1"/>
              <a:t>SCaN</a:t>
            </a:r>
            <a:r>
              <a:rPr lang="en-US" sz="1200" dirty="0"/>
              <a:t>) Network Architecture Definition Document (ADD)</a:t>
            </a:r>
            <a:endParaRPr dirty="0"/>
          </a:p>
          <a:p>
            <a:pPr marL="0" lvl="0" indent="0" algn="l" rtl="0">
              <a:spcBef>
                <a:spcPts val="0"/>
              </a:spcBef>
              <a:spcAft>
                <a:spcPts val="0"/>
              </a:spcAft>
              <a:buNone/>
            </a:pPr>
            <a:r>
              <a:rPr lang="en-US" sz="1200" dirty="0"/>
              <a:t>Executive Summary, Volume 1, Revision 4. NASA. (https://www.nasa.gov/wp-content/uploads/2023/09/scan-add-vol1rev4.pdf)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NASA describes communications architecture assets, options, and network evolution.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document links architecture decisions to future mission communications requirements. | 19</a:t>
            </a:r>
            <a:endParaRPr dirty="0"/>
          </a:p>
          <a:p>
            <a:pPr marL="0" lvl="0" indent="0" algn="l" rtl="0">
              <a:spcBef>
                <a:spcPts val="0"/>
              </a:spcBef>
              <a:spcAft>
                <a:spcPts val="0"/>
              </a:spcAft>
              <a:buNone/>
            </a:pPr>
            <a:r>
              <a:rPr lang="en-US" sz="1200" dirty="0"/>
              <a:t>Methodology | Architecture definition. | NA</a:t>
            </a:r>
            <a:endParaRPr dirty="0"/>
          </a:p>
          <a:p>
            <a:pPr marL="0" lvl="0" indent="0" algn="l" rtl="0">
              <a:spcBef>
                <a:spcPts val="0"/>
              </a:spcBef>
              <a:spcAft>
                <a:spcPts val="0"/>
              </a:spcAft>
              <a:buNone/>
            </a:pPr>
            <a:r>
              <a:rPr lang="en-US" sz="1200" dirty="0"/>
              <a:t>Evaluation | The advantage is that it is civil-space focused, not DoD-specific.</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reliable because it is a NASA architecture document. | 21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the ground-station and relay-network portion of my model.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justify modeling communications paths as architecture trade variables. | 22</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NASA </a:t>
            </a:r>
            <a:r>
              <a:rPr lang="en-US" sz="1200" dirty="0" err="1"/>
              <a:t>SCaN</a:t>
            </a:r>
            <a:r>
              <a:rPr lang="en-US" sz="1200" dirty="0"/>
              <a:t> Architecture (Space Communications and Navigation Network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11</a:t>
            </a:r>
            <a:endParaRPr dirty="0"/>
          </a:p>
          <a:p>
            <a:pPr marL="0" lvl="0" indent="0" algn="l" rtl="0">
              <a:spcBef>
                <a:spcPts val="0"/>
              </a:spcBef>
              <a:spcAft>
                <a:spcPts val="0"/>
              </a:spcAft>
              <a:buNone/>
            </a:pPr>
            <a:r>
              <a:rPr lang="en-US" sz="1200" dirty="0"/>
              <a:t>Reference | </a:t>
            </a:r>
            <a:r>
              <a:rPr lang="en-US" sz="1200" dirty="0" err="1"/>
              <a:t>Kodheli</a:t>
            </a:r>
            <a:r>
              <a:rPr lang="en-US" sz="1200" dirty="0"/>
              <a:t>, O., Lagunas, E., Maturo, N., et al. (2021). Satellite communications in the new space era: A survey and future challenges. IEEE Communications Surveys &amp; Tutorials, 23, 70–109.</a:t>
            </a:r>
            <a:endParaRPr dirty="0"/>
          </a:p>
          <a:p>
            <a:pPr marL="0" lvl="0" indent="0" algn="l" rtl="0">
              <a:spcBef>
                <a:spcPts val="0"/>
              </a:spcBef>
              <a:spcAft>
                <a:spcPts val="0"/>
              </a:spcAft>
              <a:buNone/>
            </a:pPr>
            <a:r>
              <a:rPr lang="en-US" sz="1200" dirty="0"/>
              <a:t>https://ieeexplore.ieee.org/document/9210567</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The article surveys modern satellite communications and future research challenges.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identifies onboard processing and space-based data processing as innovation drivers but provides quality standard baselines to measure from. | 21</a:t>
            </a:r>
            <a:endParaRPr dirty="0"/>
          </a:p>
          <a:p>
            <a:pPr marL="0" lvl="0" indent="0" algn="l" rtl="0">
              <a:spcBef>
                <a:spcPts val="0"/>
              </a:spcBef>
              <a:spcAft>
                <a:spcPts val="0"/>
              </a:spcAft>
              <a:buNone/>
            </a:pPr>
            <a:r>
              <a:rPr lang="en-US" sz="1200" dirty="0"/>
              <a:t>Methodology | Literature Survey | NA</a:t>
            </a:r>
            <a:endParaRPr dirty="0"/>
          </a:p>
          <a:p>
            <a:pPr marL="0" lvl="0" indent="0" algn="l" rtl="0">
              <a:spcBef>
                <a:spcPts val="0"/>
              </a:spcBef>
              <a:spcAft>
                <a:spcPts val="0"/>
              </a:spcAft>
              <a:buNone/>
            </a:pPr>
            <a:r>
              <a:rPr lang="en-US" sz="1200" dirty="0"/>
              <a:t>Evaluation | The source is reliable because it is a highly cited IEEE survey.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covers many topics beyond my specific model.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onboard processing as a legitimate satellite communications research area.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connect my edge-processing layer to current satellite network research.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IEEE Communications Surveys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12</a:t>
            </a:r>
            <a:endParaRPr dirty="0"/>
          </a:p>
          <a:p>
            <a:pPr marL="0" lvl="0" indent="0" algn="l" rtl="0">
              <a:spcBef>
                <a:spcPts val="0"/>
              </a:spcBef>
              <a:spcAft>
                <a:spcPts val="0"/>
              </a:spcAft>
              <a:buNone/>
            </a:pPr>
            <a:r>
              <a:rPr lang="en-US" sz="1200" dirty="0"/>
              <a:t>Reference | </a:t>
            </a:r>
            <a:r>
              <a:rPr lang="en-US" sz="1200" dirty="0" err="1"/>
              <a:t>CelesTrak</a:t>
            </a:r>
            <a:r>
              <a:rPr lang="en-US" sz="1200" dirty="0"/>
              <a:t>. (n.d.). NORAD GP element sets: Current data.</a:t>
            </a:r>
            <a:endParaRPr dirty="0"/>
          </a:p>
          <a:p>
            <a:pPr marL="0" lvl="0" indent="0" algn="l" rtl="0">
              <a:spcBef>
                <a:spcPts val="0"/>
              </a:spcBef>
              <a:spcAft>
                <a:spcPts val="0"/>
              </a:spcAft>
              <a:buNone/>
            </a:pPr>
            <a:r>
              <a:rPr lang="en-US" sz="1200" dirty="0"/>
              <a:t>https://celestrak.org/NORAD/elements/?</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a:t>
            </a:r>
            <a:r>
              <a:rPr lang="en-US" sz="1200" dirty="0" err="1"/>
              <a:t>CelesTrak</a:t>
            </a:r>
            <a:r>
              <a:rPr lang="en-US" sz="1200" dirty="0"/>
              <a:t> provides public General Perturbations data for orbital modeling.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data supports repeatable satellite visibility and access assumptions. | 18</a:t>
            </a:r>
            <a:endParaRPr dirty="0"/>
          </a:p>
          <a:p>
            <a:pPr marL="0" lvl="0" indent="0" algn="l" rtl="0">
              <a:spcBef>
                <a:spcPts val="0"/>
              </a:spcBef>
              <a:spcAft>
                <a:spcPts val="0"/>
              </a:spcAft>
              <a:buNone/>
            </a:pPr>
            <a:r>
              <a:rPr lang="en-US" sz="1200" dirty="0"/>
              <a:t>Methodology | Public orbital data publication. | NA</a:t>
            </a:r>
            <a:endParaRPr dirty="0"/>
          </a:p>
          <a:p>
            <a:pPr marL="0" lvl="0" indent="0" algn="l" rtl="0">
              <a:spcBef>
                <a:spcPts val="0"/>
              </a:spcBef>
              <a:spcAft>
                <a:spcPts val="0"/>
              </a:spcAft>
              <a:buNone/>
            </a:pPr>
            <a:r>
              <a:rPr lang="en-US" sz="1200" dirty="0"/>
              <a:t>Evaluation | The limitation is that public GP data supports notional analysis, not operational precision.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useful because it provides open orbital data. | 23</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orbital context for my MATLAB simulation.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keep the research unclassified, repeatable, and auditable. | 19</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err="1"/>
              <a:t>CelesTrak</a:t>
            </a:r>
            <a:r>
              <a:rPr lang="en-US" sz="1200" dirty="0"/>
              <a:t> Public Orbital Data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13</a:t>
            </a:r>
            <a:endParaRPr dirty="0"/>
          </a:p>
          <a:p>
            <a:pPr marL="0" lvl="0" indent="0" algn="l" rtl="0">
              <a:spcBef>
                <a:spcPts val="0"/>
              </a:spcBef>
              <a:spcAft>
                <a:spcPts val="0"/>
              </a:spcAft>
              <a:buNone/>
            </a:pPr>
            <a:r>
              <a:rPr lang="en-US" sz="1200" dirty="0"/>
              <a:t>Reference | National Oceanic and Atmospheric Administration, Space Weather Prediction Center. (n.d.). Planetary K-index.</a:t>
            </a:r>
            <a:endParaRPr dirty="0"/>
          </a:p>
          <a:p>
            <a:pPr marL="0" lvl="0" indent="0" algn="l" rtl="0">
              <a:spcBef>
                <a:spcPts val="0"/>
              </a:spcBef>
              <a:spcAft>
                <a:spcPts val="0"/>
              </a:spcAft>
              <a:buNone/>
            </a:pPr>
            <a:r>
              <a:rPr lang="en-US" sz="1200" dirty="0"/>
              <a:t>https://www.spaceweather.gov/products/planetary-k-index?</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NOAA provides public space-weather products used to characterize geomagnetic disturbances.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err="1"/>
              <a:t>Kp</a:t>
            </a:r>
            <a:r>
              <a:rPr lang="en-US" sz="1200" dirty="0"/>
              <a:t> helps represent environmental conditions that can affect space and communications systems. | 22</a:t>
            </a:r>
            <a:endParaRPr dirty="0"/>
          </a:p>
          <a:p>
            <a:pPr marL="0" lvl="0" indent="0" algn="l" rtl="0">
              <a:spcBef>
                <a:spcPts val="0"/>
              </a:spcBef>
              <a:spcAft>
                <a:spcPts val="0"/>
              </a:spcAft>
              <a:buNone/>
            </a:pPr>
            <a:r>
              <a:rPr lang="en-US" sz="1200" dirty="0"/>
              <a:t>Methodology | Operational environmental observation. | NA</a:t>
            </a:r>
            <a:endParaRPr dirty="0"/>
          </a:p>
          <a:p>
            <a:pPr marL="0" lvl="0" indent="0" algn="l" rtl="0">
              <a:spcBef>
                <a:spcPts val="0"/>
              </a:spcBef>
              <a:spcAft>
                <a:spcPts val="0"/>
              </a:spcAft>
              <a:buNone/>
            </a:pPr>
            <a:r>
              <a:rPr lang="en-US" sz="1200" dirty="0"/>
              <a:t>Evaluation | The source is reliable because it is an official NOAA operational product.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a:t>
            </a:r>
            <a:r>
              <a:rPr lang="en-US" sz="1200" dirty="0" err="1"/>
              <a:t>Kp</a:t>
            </a:r>
            <a:r>
              <a:rPr lang="en-US" sz="1200" dirty="0"/>
              <a:t> is an environmental proxy, not a direct latency measure. | 25</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environmental inputs for simulated degradation scenarios.</a:t>
            </a:r>
            <a:endParaRPr dirty="0"/>
          </a:p>
          <a:p>
            <a:pPr marL="0" lvl="0" indent="0" algn="l" rtl="0">
              <a:spcBef>
                <a:spcPts val="0"/>
              </a:spcBef>
              <a:spcAft>
                <a:spcPts val="0"/>
              </a:spcAft>
              <a:buNone/>
            </a:pPr>
            <a:br>
              <a:rPr lang="en-US" sz="1200" dirty="0"/>
            </a:br>
            <a:r>
              <a:rPr lang="en-US" sz="1200" dirty="0"/>
              <a:t>It supports unclassified modeling of space-weather effects without using sensitive disruption assumptions.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proxy is that </a:t>
            </a:r>
            <a:r>
              <a:rPr lang="en-US" sz="1200" dirty="0" err="1"/>
              <a:t>Kp</a:t>
            </a:r>
            <a:r>
              <a:rPr lang="en-US" sz="1200" dirty="0"/>
              <a:t> is an environmental proxy, not a direct man-made measure. | 22</a:t>
            </a:r>
            <a:endParaRPr dirty="0"/>
          </a:p>
          <a:p>
            <a:pPr marL="0" lvl="0" indent="0" algn="l" rtl="0">
              <a:spcBef>
                <a:spcPts val="0"/>
              </a:spcBef>
              <a:spcAft>
                <a:spcPts val="0"/>
              </a:spcAft>
              <a:buNone/>
            </a:pPr>
            <a:r>
              <a:rPr lang="en-US" sz="1200" dirty="0"/>
              <a:t>Annotated Bibliography </a:t>
            </a:r>
            <a:endParaRPr dirty="0"/>
          </a:p>
          <a:p>
            <a:pPr marL="0" lvl="0" indent="0" algn="l" rtl="0">
              <a:spcBef>
                <a:spcPts val="0"/>
              </a:spcBef>
              <a:spcAft>
                <a:spcPts val="0"/>
              </a:spcAft>
              <a:buNone/>
            </a:pPr>
            <a:r>
              <a:rPr lang="en-US" sz="1200" dirty="0"/>
              <a:t> NOAA Space Weather / </a:t>
            </a:r>
            <a:r>
              <a:rPr lang="en-US" sz="1200" dirty="0" err="1"/>
              <a:t>Kp</a:t>
            </a:r>
            <a:r>
              <a:rPr lang="en-US" sz="1200" dirty="0"/>
              <a:t> Index</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URLs and author strings are preserved from the final submission. The five entries are a separate snapshot, not added to the 31-work GWU register count.</a:t>
            </a:r>
            <a:endParaRPr dirty="0"/>
          </a:p>
        </p:txBody>
      </p:sp>
      <p:sp>
        <p:nvSpPr>
          <p:cNvPr id="193" name="Google Shape;193;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International_Research_Data_POC_Register_2026-09-13_v05_Battle_Rhythm.xlsx, POC Register, Research Fit, Source Status and Australia Sources. The snapshot reports prior correspondence, not newly verified public web content.</a:t>
            </a:r>
          </a:p>
          <a:p>
            <a:r>
              <a:t>Germany: https://github.com/sys-uos ; latest dataset referral https://doi.org/10.26249/FK2/YXPS4G ; associated paper referral https://doi.org/10.1145/3789240.3827586 . Distinguish WetLinks from related/newer datasets when selecting actual files; as-is, no extended support.</a:t>
            </a:r>
          </a:p>
          <a:p>
            <a:r>
              <a:t>Canada: https://onlineacademiccommunity.uvic.ca/starlink/ ; specific files/fields pending.</a:t>
            </a:r>
          </a:p>
          <a:p>
            <a:r>
              <a:t>Australia: Cassie Marshall email of 13 Sep 2026; ASWFC@bom.gov.au. Eight links: https://rudimirz.com/flares/ ; https://listserver.ips.gov.au/pipermail/ips-swf-alert/ ; https://www.sws.bom.gov.au/World_Data_Centre/1/3 ; https://listserver.ips.gov.au/pipermail/ips-mag-alert/ ; https://sws-data.sws.bom.gov.au/ ; https://kp.gfz.de/en/ ; https://listserver.ips.gov.au/pipermail/ips-dsgr/ ; https://www.sws.bom.gov.au/Products_and_Services/4/1 . Bureau material: cite ASWFC/Bureau. X-ray flux: cite original source, not Bureau.</a:t>
            </a:r>
          </a:p>
          <a:p>
            <a:r>
              <a:t>SANSA: targeted RFI sent to mtshisaphungo@sansa.org.za cc spaceweather@sansa.org.za at 15:30 Pacific, 13 Sep 2026.</a:t>
            </a:r>
          </a:p>
          <a:p>
            <a:r>
              <a:t>Japan: iono@ml.nict.go.jp .</a:t>
            </a:r>
          </a:p>
          <a:p/>
          <a:p>
            <a:r>
              <a:t>FINAL SUBMISSION, SLIDE 16</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2 | Space Weather | NOAA SWPC Planetary K-Index | Kp values represent geomagnetic/solar storm severity for degraded communications scenarios. | CSV/HTML | Per 30 day window sample period | 240 intervals | Y</a:t>
            </a:r>
          </a:p>
          <a:p/>
          <a:p>
            <a:r>
              <a:t>3 | Ground Weather | NOAA Local Climate Data | Hourly weather observations support ground-station availability assumptions near a notional antenna for example. | CSV | Per 30 day window sample period | 720 hourly records | Y</a:t>
            </a:r>
          </a:p>
          <a:p/>
          <a:p>
            <a:r>
              <a:t>4 | C2 Architecture Baseline  | NASA SCaN Network Architecture Definition Document, Vol 1, Rev 4 | Architecture descriptions support baseline ground-station and relay network path assumptions. | CSV/PDF | 2013 publication | 1 doc | Y</a:t>
            </a:r>
          </a:p>
          <a:p/>
          <a:p>
            <a:r>
              <a:t>5 | Resilience Metrics | RAND Resilience Assessment Framework | Resilience framework supporting degraded mission performance comparison. | CSV/PDF | 2023 publication</a:t>
            </a:r>
          </a:p>
          <a:p>
            <a:r>
              <a:t> | 1 doc | Y</a:t>
            </a:r>
          </a:p>
          <a:p/>
          <a:p>
            <a:r>
              <a:t>6 | Scenario Vectors | Author created MATLAB scenario table | Simulation vectors control outage duration, bandwidth reduction, processing time, and threshold limits. | CSV/MAT | Simulation period | 10,000 runs | Y</a:t>
            </a:r>
          </a:p>
          <a:p/>
          <a:p>
            <a:r>
              <a:t>Data Sources List</a:t>
            </a:r>
          </a:p>
          <a:p>
            <a:r>
              <a:t>SPEAKER NOTES</a:t>
            </a:r>
          </a:p>
          <a:p>
            <a:r>
              <a:t>Shown up-front, the model does not use classified data, restricted data, or internal program data. </a:t>
            </a:r>
          </a:p>
          <a:p/>
          <a:p>
            <a:r>
              <a:t>The sources either provide public inputs for the simulation or support the assumptions behind the model. </a:t>
            </a:r>
          </a:p>
          <a:p/>
          <a:p>
            <a:r>
              <a:t>The key point is traceability: every input has a sourced and I updated the earlier slides with the hyperlinks per Instructor feedback.</a:t>
            </a:r>
          </a:p>
          <a:p/>
          <a:p>
            <a:r>
              <a:t>FINAL SUBMISSION, SLIDE 17</a:t>
            </a:r>
          </a:p>
          <a:p>
            <a:r>
              <a:t>Use public orbital elements to calculate satellite visibility, access windows, and route availability.</a:t>
            </a:r>
          </a:p>
          <a:p>
            <a:r>
              <a:t>Data Treatment:</a:t>
            </a:r>
          </a:p>
          <a:p>
            <a:r>
              <a:t>Select a limited satellite subset aligned to the notional scenario.</a:t>
            </a:r>
          </a:p>
          <a:p>
            <a:r>
              <a:t>Convert all timestamps to UTC for simulation data normalization across the fields.</a:t>
            </a:r>
          </a:p>
          <a:p>
            <a:r>
              <a:t>Filter records with missing or stale orbital elements.</a:t>
            </a:r>
          </a:p>
          <a:p/>
          <a:p/>
          <a:p/>
          <a:p/>
          <a:p/>
          <a:p>
            <a:r>
              <a:t>CelesTrak Example</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Object_Name | NORAD_CAT_ID | EPOCH | INCLINATION | MEAN_MOTION</a:t>
            </a:r>
          </a:p>
          <a:p>
            <a:r>
              <a:t>Sat1 | 001 | UTC Timestamp | degrees | rev/day</a:t>
            </a:r>
          </a:p>
          <a:p>
            <a:r>
              <a:t>Sat2 | 002 | UTC Timestamp | degrees | rev/day</a:t>
            </a:r>
          </a:p>
          <a:p>
            <a:r>
              <a:t>Sat3 | 003 | UTC Timestamp | degrees | rev/day</a:t>
            </a:r>
          </a:p>
          <a:p>
            <a:r>
              <a:t>Sample Data:</a:t>
            </a:r>
          </a:p>
          <a:p>
            <a:r>
              <a:t>SPEAKER NOTES</a:t>
            </a:r>
          </a:p>
          <a:p>
            <a:r>
              <a:t>CelesTrak provides public satellite orbital data. I use it to estimate satellite visibility, access windows, and route availability.</a:t>
            </a:r>
          </a:p>
          <a:p/>
          <a:p>
            <a:r>
              <a:t>FINAL SUBMISSION, SLIDE 18</a:t>
            </a:r>
          </a:p>
          <a:p>
            <a:r>
              <a:t>Use Kp values to represent space weather degradation severity during simulated communications scenarios.</a:t>
            </a:r>
          </a:p>
          <a:p>
            <a:r>
              <a:t>Data Treatment:</a:t>
            </a:r>
          </a:p>
          <a:p>
            <a:r>
              <a:t>Convert Kp  readings into normal, degraded, and severe categories</a:t>
            </a:r>
          </a:p>
          <a:p>
            <a:r>
              <a:t>Align three hour Kp intervals to the simulation clock</a:t>
            </a:r>
          </a:p>
          <a:p>
            <a:r>
              <a:t>Flag missing intervals rather than assuming valid conditions</a:t>
            </a:r>
          </a:p>
          <a:p/>
          <a:p/>
          <a:p/>
          <a:p/>
          <a:p>
            <a:r>
              <a:t>NOAA Space Weather Prediction Center (SWPC) Kp Example</a:t>
            </a:r>
          </a:p>
          <a:p>
            <a:r>
              <a:t>ID | Name | Source | Brief Description | Format | Time Span | Num. of records | Access </a:t>
            </a:r>
          </a:p>
          <a:p>
            <a:r>
              <a:t>(Y/N)</a:t>
            </a:r>
          </a:p>
          <a:p>
            <a:r>
              <a:t>2 | Space Weather | NOAA SWPC Planetary K-Index | Kp values represent geomagnetic/solar storm severity for degraded communications scenarios. | CSV/HTML | Per 30 day window sample period | 240 intervals | Y</a:t>
            </a:r>
          </a:p>
          <a:p>
            <a:r>
              <a:t>UTC_Time | KP_INDEX | DEGRADATION_LEVEL</a:t>
            </a:r>
          </a:p>
          <a:p>
            <a:r>
              <a:t>7/1/2026 0:00 | 2 | Normal</a:t>
            </a:r>
          </a:p>
          <a:p>
            <a:r>
              <a:t>7/1/2026 3:00 | 5 | Degraded</a:t>
            </a:r>
          </a:p>
          <a:p>
            <a:r>
              <a:t>7/1/2026 6:00 | 7 | Severe</a:t>
            </a:r>
          </a:p>
          <a:p>
            <a:r>
              <a:t>Sample Data:</a:t>
            </a:r>
          </a:p>
          <a:p>
            <a:r>
              <a:t>SPEAKER NOTES</a:t>
            </a:r>
          </a:p>
          <a:p>
            <a:r>
              <a:t>The NOAA Space Weather Prediction Center provides Kp and related space-weather information. I use this to represent environmental conditions that may degrade communications.</a:t>
            </a:r>
          </a:p>
          <a:p/>
          <a:p>
            <a:r>
              <a:t>FINAL SUBMISSION, SLIDE 19</a:t>
            </a:r>
          </a:p>
          <a:p>
            <a:r>
              <a:t>Use of weather observations to estimate ground station availability representing a notional remote antenna, the Remote Ground Station (RGS).</a:t>
            </a:r>
          </a:p>
          <a:p>
            <a:r>
              <a:t>Data treatment:</a:t>
            </a:r>
          </a:p>
          <a:p>
            <a:r>
              <a:t>Select the nearest public weather station to the notional antenna</a:t>
            </a:r>
          </a:p>
          <a:p>
            <a:r>
              <a:t>Standardize solar, electro-magnetic/polar or gravimetric data </a:t>
            </a:r>
          </a:p>
          <a:p>
            <a:r>
              <a:t>Convert weather values into availability-impact scores.</a:t>
            </a:r>
          </a:p>
          <a:p/>
          <a:p/>
          <a:p/>
          <a:p>
            <a:r>
              <a:t>NOAA National Centers for Environmental Information Weather (NCEI) Example</a:t>
            </a:r>
          </a:p>
          <a:p>
            <a:r>
              <a:t>ID | Name | Source | Brief Description | Format | Time Span | Num. of records | Access </a:t>
            </a:r>
          </a:p>
          <a:p>
            <a:r>
              <a:t>(Y/N)</a:t>
            </a:r>
          </a:p>
          <a:p>
            <a:r>
              <a:t>3 | Ground Weather | NOAA Local Climate Data | Hourly weather observations support ground-station availability assumptions near a notional antenna for example. | CSV | Per 30 day window sample period | 720 hourly records | Y</a:t>
            </a:r>
          </a:p>
          <a:p>
            <a:r>
              <a:t>UTC_TIME | SOURCE | VARIABLE | VALUE | UNIT | DEGRADATION_LEVEL | AVAILABILITY_IMPACT</a:t>
            </a:r>
          </a:p>
          <a:p>
            <a:r>
              <a:t>2026_07_01 00:00 | NOAA NCEI LCD | Visibility | 8 | km | km | Normal</a:t>
            </a:r>
          </a:p>
          <a:p>
            <a:r>
              <a:t>2026_07_01 03:00 | NOAA SWPC Kp | Kp Index | 6 | index | index | Degraded</a:t>
            </a:r>
          </a:p>
          <a:p>
            <a:r>
              <a:t>2026_07_01 04:30 | NOAA GOES X-ray | Radio Blackout | R1 | category | category | Degraded</a:t>
            </a:r>
          </a:p>
          <a:p>
            <a:r>
              <a:t>2026_07_01 06:15 | USGS Earthquake API | Magnitude | 5.6 | Mw | Mw | Severe</a:t>
            </a:r>
          </a:p>
          <a:p>
            <a:r>
              <a:t>Sample Data:</a:t>
            </a:r>
          </a:p>
          <a:p>
            <a:r>
              <a:t>SPEAKER NOTES</a:t>
            </a:r>
          </a:p>
          <a:p>
            <a:r>
              <a:t>The NOAA National Centers for Environmental Information provides historical ground-weather observations near a notional remote ground station.</a:t>
            </a:r>
          </a:p>
          <a:p/>
          <a:p>
            <a:r>
              <a:t>FINAL SUBMISSION, SLIDE 20</a:t>
            </a:r>
          </a:p>
          <a:p>
            <a:r>
              <a:t>Use public architecture descriptions to define baseline ground station and relay network assumptions.</a:t>
            </a:r>
          </a:p>
          <a:p>
            <a:r>
              <a:t>Data treatment:</a:t>
            </a:r>
          </a:p>
          <a:p>
            <a:r>
              <a:t>Extract architecture elements relevant to the ground, relay and user segments for modeling</a:t>
            </a:r>
          </a:p>
          <a:p>
            <a:r>
              <a:t>Convert qualitative architecture descriptions into notional model states.</a:t>
            </a:r>
          </a:p>
          <a:p>
            <a:r>
              <a:t>Cite derived assumptions rather than treating them as measured data.</a:t>
            </a:r>
          </a:p>
          <a:p/>
          <a:p/>
          <a:p/>
          <a:p/>
          <a:p>
            <a:r>
              <a:t>NASA SCaN Example</a:t>
            </a:r>
          </a:p>
          <a:p>
            <a:r>
              <a:t>ID | Name | Source | Brief Description | Format | Time Span | Num. of records | Access </a:t>
            </a:r>
          </a:p>
          <a:p>
            <a:r>
              <a:t>(Y/N)</a:t>
            </a:r>
          </a:p>
          <a:p>
            <a:r>
              <a:t>4 | C2 Architecture Baseline  | NASA SCaN Network Architecture Definition Document, Vol 1, Rev 4 | Architecture descriptions support baseline ground-station and relay network path assumptions. | CSV/PDF | 2013 publication | 1 doc | Y</a:t>
            </a:r>
          </a:p>
          <a:p>
            <a:r>
              <a:t>ARCHITECTURE_ELEMENT | MODEL_VARIABLE | SIMULATION_ROLE</a:t>
            </a:r>
          </a:p>
          <a:p>
            <a:r>
              <a:t>Ground station | RGS Availability | Baseline path gate</a:t>
            </a:r>
          </a:p>
          <a:p>
            <a:r>
              <a:t>Relay network | Route availability | Alternate path support</a:t>
            </a:r>
          </a:p>
          <a:p>
            <a:r>
              <a:t>User segment | Operator receipt | Decision support endpoint</a:t>
            </a:r>
          </a:p>
          <a:p>
            <a:r>
              <a:t>Sample Data:</a:t>
            </a:r>
          </a:p>
          <a:p>
            <a:r>
              <a:t>SPEAKER NOTES</a:t>
            </a:r>
          </a:p>
          <a:p>
            <a:r>
              <a:t>The NASA SCaN architecture document is not a live dataset. It provides the public architecture baseline for ground stations, relay networks, and communications paths.</a:t>
            </a:r>
          </a:p>
          <a:p/>
          <a:p>
            <a:r>
              <a:t>FINAL SUBMISSION, SLIDE 21</a:t>
            </a:r>
          </a:p>
          <a:p>
            <a:r>
              <a:t>Use resilience concepts to define degraded mission performance measures and decision criteria.</a:t>
            </a:r>
          </a:p>
          <a:p>
            <a:r>
              <a:t>Data treatment:</a:t>
            </a:r>
          </a:p>
          <a:p>
            <a:r>
              <a:t>Retrieve resilience concepts and ideas relevant to latency, availability, and degradation</a:t>
            </a:r>
          </a:p>
          <a:p>
            <a:r>
              <a:t>Map the concepts and ideas to a measurable simulation output</a:t>
            </a:r>
          </a:p>
          <a:p>
            <a:r>
              <a:t>Use this for methodology support, not direct operational data</a:t>
            </a:r>
          </a:p>
          <a:p/>
          <a:p/>
          <a:p/>
          <a:p/>
          <a:p>
            <a:r>
              <a:t>RAND Example</a:t>
            </a:r>
          </a:p>
          <a:p>
            <a:r>
              <a:t>ID | Name | Source | Brief Description | Format | Time Span | Num. of records | Access </a:t>
            </a:r>
          </a:p>
          <a:p>
            <a:r>
              <a:t>(Y/N)</a:t>
            </a:r>
          </a:p>
          <a:p>
            <a:r>
              <a:t>5 | Resilience Metrics | RAND Resilience Assessment Framework | Resilience framework supporting degraded mission performance comparison. | CSV/PDF | 2023 publication | 1 doc | Y</a:t>
            </a:r>
          </a:p>
          <a:p>
            <a:r>
              <a:t>RESILIENCE_CONCEPT | MODEL_METRIC | DECISION_CRITERION</a:t>
            </a:r>
          </a:p>
          <a:p>
            <a:r>
              <a:t>Degradation | Path availability (%) | Maintains threshold</a:t>
            </a:r>
          </a:p>
          <a:p>
            <a:r>
              <a:t>Recovery | Recovery time (s) | Restores service</a:t>
            </a:r>
          </a:p>
          <a:p>
            <a:r>
              <a:t>Mission performance | Response latency (s) | Improves baseline</a:t>
            </a:r>
          </a:p>
          <a:p>
            <a:r>
              <a:t>Sample Data:</a:t>
            </a:r>
          </a:p>
          <a:p>
            <a:r>
              <a:t>SPEAKER NOTES</a:t>
            </a:r>
          </a:p>
          <a:p>
            <a:r>
              <a:t>The RAND Resilience Assessment Framework provides resilience concepts and performance measures that help define degradation, recovery, and mission-performance criteria.</a:t>
            </a:r>
          </a:p>
          <a:p/>
          <a:p>
            <a:r>
              <a:t>FINAL SUBMISSION, SLIDE 22</a:t>
            </a:r>
          </a:p>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p/>
          <a:p/>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r>
              <a:t>Session 5 update: current chapter v11; source measurements, synthetic inputs and simulation outputs remain separately qualified. Baseline regression is documented; owner reproduction and extended sensitivity remain next steps.</a:t>
            </a:r>
          </a:p>
        </p:txBody>
      </p:sp>
      <p:sp>
        <p:nvSpPr>
          <p:cNvPr id="201" name="Google Shape;201;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p>
            <a:r>
              <a:t>can an orbital edge-processing layer provide useful information to the operator faster?</a:t>
            </a:r>
            <a:br/>
          </a:p>
          <a:p>
            <a:r>
              <a:t>The model focuses on bounded functions such as filtering, prioritizing, routing, allocating resources, and presenting recommendations. </a:t>
            </a:r>
            <a:br/>
          </a:p>
          <a:p>
            <a:r>
              <a:t>The goal is to measure whether this architecture reduces latency, preserves communications availability, and reduces operator workload using only public, public, non-restricted data.”</a:t>
            </a:r>
          </a:p>
          <a:p/>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p/>
          <a:p>
            <a:r>
              <a:t>FINAL SUBMISSION, SLIDE 14</a:t>
            </a:r>
          </a:p>
          <a:p>
            <a:r>
              <a:t>Methodology 1</a:t>
            </a:r>
          </a:p>
          <a:p>
            <a:r>
              <a:t>A) Deliverable | B) Content | C) WC</a:t>
            </a:r>
          </a:p>
          <a:p>
            <a:r>
              <a:t>Methodology | Discrete-Event Simulation |       3</a:t>
            </a:r>
          </a:p>
          <a:p>
            <a:r>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p>
          <a:p>
            <a:r>
              <a:t>Outputs | Response latency, OODA Loop decision cycle times, path availability (%), dropped messages (count), recovery time, operator workflow reduction comparison (%), correct action selection (%). | NA</a:t>
            </a:r>
          </a:p>
          <a:p>
            <a:r>
              <a:t>SPEAKER NOTES</a:t>
            </a:r>
          </a:p>
          <a:p>
            <a:r>
              <a:t>Methodology 1 — Discrete-Event Simulation</a:t>
            </a:r>
          </a:p>
          <a:p>
            <a:r>
              <a:t>Method:</a:t>
            </a:r>
            <a:br/>
            <a:r>
              <a:t>“My first methodology is discrete-event simulation. It follows specific events in order—such as a request arriving, the ground-station path failing, the edge cloud processing the request, and a response reaching the operator.”</a:t>
            </a:r>
          </a:p>
          <a:p>
            <a:r>
              <a:t>Inputs:</a:t>
            </a:r>
            <a:br/>
            <a:r>
              <a:t>“The inputs include the disruption type, when it starts, how long it lasts, communication delay, processing time, and available resources.”</a:t>
            </a:r>
          </a:p>
          <a:p/>
          <a:p>
            <a:r>
              <a:t>Outputs:</a:t>
            </a:r>
            <a:br/>
            <a:r>
              <a:t>“The outputs include response latency, OODA-loop time, path availability, dropped messages, recovery time, workload reduction, and what % of the time the correct response was selected.”</a:t>
            </a:r>
          </a:p>
          <a:p/>
          <a:p>
            <a:r>
              <a:t>Purpose:</a:t>
            </a:r>
            <a:br/>
            <a:r>
              <a:t>“This method shows what happens during each individual disruption and compares the ground-centric path with the edge-enabled path.”</a:t>
            </a:r>
          </a:p>
          <a:p>
            <a:br/>
          </a:p>
          <a:p/>
          <a:p/>
          <a:p>
            <a:r>
              <a:t>FINAL SUBMISSION, SLIDE 15</a:t>
            </a:r>
          </a:p>
          <a:p>
            <a:r>
              <a:t>Methodology 2</a:t>
            </a:r>
          </a:p>
          <a:p>
            <a:r>
              <a:t>A) Deliverable | B) Content | C) WC</a:t>
            </a:r>
          </a:p>
          <a:p>
            <a:r>
              <a:t>Methodology | System Dynamic Simulation |        3</a:t>
            </a:r>
          </a:p>
          <a:p>
            <a:r>
              <a:t>Inputs | Time step(s), simulation duration (hr), path availability (%), bandwidth capacity (Mbps), data volume rate (MB/min), Kp index (0-9), weather severity index (0-1), queue depth (count), edge compute load (%) resource availability (%), AI confidence score (%) | NA</a:t>
            </a:r>
          </a:p>
          <a:p>
            <a:r>
              <a:t>Outputs | Average response latency, 95th percentile latency, OODA loop times, path availability (%), bandwidth demand (Mbps), queue growth rate (messages/min), operator workflow trends (count/hr), resource consumption (%), mission success probability (%). </a:t>
            </a:r>
          </a:p>
          <a:p/>
          <a:p>
            <a:r>
              <a:t>Dropped messages (count), recovery time, operator workflow reduction comparison, correct action selection (%).</a:t>
            </a:r>
          </a:p>
          <a:p>
            <a:r>
              <a:t> | NA</a:t>
            </a:r>
          </a:p>
          <a:p>
            <a:r>
              <a:t>SPEAKER NOTES</a:t>
            </a:r>
          </a:p>
          <a:p>
            <a:r>
              <a:t>Methodology 2 — System Dynamics Simulation</a:t>
            </a:r>
          </a:p>
          <a:p>
            <a:r>
              <a:t>Method:</a:t>
            </a:r>
            <a:br/>
            <a:r>
              <a:t>“My second methodology is system dynamics simulation. It looks at how the entire system behaves and changes over a longer period of time.”</a:t>
            </a:r>
          </a:p>
          <a:p/>
          <a:p>
            <a:r>
              <a:t>Inputs:</a:t>
            </a:r>
            <a:br/>
            <a:r>
              <a:t>“The inputs include simulation time, path availability, incoming data rate, space-weather severity, and available resources.”</a:t>
            </a:r>
          </a:p>
          <a:p/>
          <a:p>
            <a:r>
              <a:t>Outputs:</a:t>
            </a:r>
            <a:br/>
            <a:r>
              <a:t>“The outputs include average latency, 95th-percentile latency, OODA-loop trends, operator workload, resource use, and % mission-success over time.”</a:t>
            </a:r>
          </a:p>
          <a:p/>
          <a:p>
            <a:r>
              <a:t>Purpose:</a:t>
            </a:r>
            <a:br/>
            <a:r>
              <a:t>“This method shows whether the edge-enabled architecture remains effective as degraded conditions continue. </a:t>
            </a:r>
          </a:p>
          <a:p/>
          <a:p>
            <a:r>
              <a:t>What happens during on-going disruption and compares the ground-centric path with the edge-enabled path.”</a:t>
            </a:r>
          </a:p>
          <a:p/>
          <a:p>
            <a:br/>
          </a:p>
          <a:p>
            <a:r>
              <a:t>Transition:</a:t>
            </a:r>
            <a:br/>
            <a:r>
              <a:t>“Methodology 1 shows what happens event by event. Methodology 2 shows how performance changes over time.” </a:t>
            </a:r>
          </a:p>
          <a:p/>
          <a:p/>
          <a:p>
            <a:r>
              <a:t>FINAL SUBMISSION, SLIDE 22</a:t>
            </a:r>
          </a:p>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p/>
          <a:p/>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p>
            <a:r>
              <a:t>FINAL SUBMISSION, SLIDE 24</a:t>
            </a:r>
          </a:p>
          <a:p>
            <a:r>
              <a:t>Methodology 1 Map</a:t>
            </a:r>
          </a:p>
          <a:p>
            <a:r>
              <a:t>SPEAKER NOTES</a:t>
            </a:r>
          </a:p>
          <a:p>
            <a:r>
              <a:t>Methodology 1: discrete-event simulation. This method follows individual events in sequence—disruption, routing, edge processing, operator response, and recovery. It helps answer whether the model can credibly measure response latency and path availability during a specific disruption.”</a:t>
            </a:r>
          </a:p>
          <a:p/>
          <a:p>
            <a:r>
              <a:t>Summary combines clearly labeled current scope with inputs and planned analysis in the July source. Complete original DES inputs/outputs, including AI-confidence and operator/action metrics, are retained above as baseline notes; they are not silently asserted as current core measures. No sample figures in the final submission are claimed as downloaded measurements or executed simulation results.</a:t>
            </a:r>
          </a:p>
          <a:p>
            <a:r>
              <a:t>Session 5 update: current chapter v11; source measurements, synthetic inputs and simulation outputs remain separately qualified. Baseline regression is documented; owner reproduction and extended sensitivity remain next steps.</a:t>
            </a:r>
          </a:p>
        </p:txBody>
      </p:sp>
      <p:sp>
        <p:nvSpPr>
          <p:cNvPr id="211" name="Google Shape;211;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Backup figure from draft OV-1 v3, received 28 Sep 2026. The intersection is a shared timestamp window, not proof that environment caused communications behavior. Source labels and field qualification remain subject to review.</a:t>
            </a:r>
            <a:endParaRPr/>
          </a:p>
        </p:txBody>
      </p:sp>
      <p:sp>
        <p:nvSpPr>
          <p:cNvPr id="251" name="Google Shape;251;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antt_overview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antt_overview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257" name="Google Shape;257;gantt_overview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antt_near_term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antt_near_term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263" name="Google Shape;263;gantt_near_term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19" name="Google Shape;219;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27" name="Google Shape;227;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233" name="Google Shape;233;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39" name="Google Shape;239;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245" name="Google Shape;245;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Date-positioned native Gantt. Vertical markers fixed to 2026-10-30 and 2026-11-14 as requested. Planned task intervals are planning targets, not completion claims.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Concept illustration retained from the existing full deck. Text updated to preserve neutral architecture comparison and the declared information-delivery endpoint. The image is not a reconstruction of OPS-SAT historical geometry.</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p>
            <a:r>
              <a:t>Session 5 update: current chapter v11; source measurements, synthetic inputs and simulation outputs remain separately qualified. Baseline regression is documented; owner reproduction and extended sensitivity remain next steps.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Rendered-document accounting. Chapter 2 starts on physical page 11 in v11; References starts on physical page 62, giving 51 narrative pages. v9's recorded narrative length was 32 pages, so the version-to-version increase is 19 pages. The prior 47-page total used mixed line spacing. Correcting the same prose to double spacing yields 51; this four-page component is formatting reflow, not additional authored material. The requested 32-to-51 comparison excludes front matter and References. Current total: 76 = 10 front matter + 51 narrative + 15 References. Historical v8 value 17 retained. The chart's native data and embedded workbook are updated to 17, 32, 51. This slide summarizes the response to the expansion request; it does not invent a new verbatim instruction from the advisor.</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Cases follow Carlo's edited section 2.3 in the normalized v11 manuscript. School use case begins at printed p.22; hospital case p.23; municipal case p.25. Related oversight discussions begin at pp.34, 35 and 36 respectively; the bounded interpretation begins at p.38. The selected review passage is pp.22–38. Twenty supporting sources from the expansion are retained and highlighted in the consolidated bibliography. The chapter contains 91 unique reference entries after deduplication: 15 new unique sources beyond v9 plus five existing sources used in the expansion. The simulation endpoint remains information delivery; downstream outcomes require their own evaluation.</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 SIMEVENTS_README.txt, Google Drive file 1T3_AuhTFSIC5n8d17GtcVqevxs_HBnT7, modified 24 Oct 2026. 200 comparisons = 100 accepted observations in each architecture, not 200 Monte Carlo trials. Ground mean 1067.6434 s; Edge mean 198.2280 s; zero SimEvents-to-engine latency error; tolerance 1e-6; MATLAB engine approximately 9e-13 vs Excel. This update did not execute MATLAB. Next gate: Carlo's licensed environment, release/version/warnings/PASS log and actual elapsed time. The model uses paired traces and identical FIFO single-resource link rules.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4" name="Slide Number Placeholder 3"/>
          <p:cNvSpPr>
            <a:spLocks noGrp="1"/>
          </p:cNvSpPr>
          <p:nvPr>
            <p:ph type="sldNum" idx="12"/>
          </p:nvPr>
        </p:nvSpPr>
        <p:spPr/>
      </p:sp>
    </p:spTree>
  </p:cSld>
  <p:clrMapOvr>
    <a:masterClrMapping/>
  </p:clrMapOvr>
</p:notes>
</file>

<file path=ppt/slideLayouts/_rels/carlo_slideLayout1.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2.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3.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4.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5.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6.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7.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8.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9.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10.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carlo_slideLayout11.xml.rels><?xml version='1.0' encoding='UTF-8' standalone='yes'?>
<Relationships xmlns="http://schemas.openxmlformats.org/package/2006/relationships"><Relationship Id="rId1" Type="http://schemas.openxmlformats.org/officeDocument/2006/relationships/slideMaster" Target="../slideMasters/carlo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carlo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07FAD-62B1-592B-4ADF-E8B86B9607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19D965-6E09-2B0B-B02D-7FA2FA1EC4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E6762C-0A41-0D29-39E0-4AC39E2A9693}"/>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DA016832-695B-8C5D-FE38-97DE0DCB1C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3E3191-E4C5-1DA0-4F7A-3AE05AE3810C}"/>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3883823320"/>
      </p:ext>
    </p:extLst>
  </p:cSld>
  <p:clrMapOvr>
    <a:masterClrMapping/>
  </p:clrMapOvr>
</p:sldLayout>
</file>

<file path=ppt/slideLayouts/carlo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F3B4C-AD2F-F777-0C9A-9ACA9483AF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FED290-BA21-3E2A-6E81-A116F38D26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B9B409-ACFB-46A6-E662-10127932D236}"/>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CA0E426F-2921-2EF2-5112-9F6BCF662A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64CCE8-E339-72B6-03FD-A9C88702687D}"/>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4249427404"/>
      </p:ext>
    </p:extLst>
  </p:cSld>
  <p:clrMapOvr>
    <a:masterClrMapping/>
  </p:clrMapOvr>
</p:sldLayout>
</file>

<file path=ppt/slideLayouts/carlo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17D16-30B2-3ED4-0755-B1BA802648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CD6CB2-DE52-0114-C3F3-279016989E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33759-9D1C-A9A6-B1B3-D76E2F47F1B0}"/>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B1A023AE-442A-BD45-D74F-C9DA4C072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4B446C-8F2D-987F-B05F-225D1ED08F8F}"/>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2020915476"/>
      </p:ext>
    </p:extLst>
  </p:cSld>
  <p:clrMapOvr>
    <a:masterClrMapping/>
  </p:clrMapOvr>
</p:sldLayout>
</file>

<file path=ppt/slideLayouts/carlo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FD1E4-9A72-7DA1-AFB6-D256633C3E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5B0D12-6A69-CF19-AE4D-BE4823547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B315DF-F72F-AA30-EE86-A173110040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B72238-81D8-E816-15A7-3DC8886F792C}"/>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6" name="Footer Placeholder 5">
            <a:extLst>
              <a:ext uri="{FF2B5EF4-FFF2-40B4-BE49-F238E27FC236}">
                <a16:creationId xmlns:a16="http://schemas.microsoft.com/office/drawing/2014/main" id="{E16EC3EC-960E-D667-A32C-F52E9A00DB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9F0B1E-57B0-5171-037A-F6801797A327}"/>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3404688300"/>
      </p:ext>
    </p:extLst>
  </p:cSld>
  <p:clrMapOvr>
    <a:masterClrMapping/>
  </p:clrMapOvr>
</p:sldLayout>
</file>

<file path=ppt/slideLayouts/carlo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56BE9-0EF1-186F-EF34-0CDD1F2F6D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79657D-A778-8031-333B-EB4FA0B29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DAAD23-4932-4245-7CE5-E71FBC6E48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0227D8-A262-E7ED-A1C0-354C81954E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D0BBD9-3D47-CE8A-180F-2C8B8FB9AF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A0AF7-1849-06F1-EFEB-88CFFBD5FC61}"/>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8" name="Footer Placeholder 7">
            <a:extLst>
              <a:ext uri="{FF2B5EF4-FFF2-40B4-BE49-F238E27FC236}">
                <a16:creationId xmlns:a16="http://schemas.microsoft.com/office/drawing/2014/main" id="{3896E358-C99B-2EF2-18FF-024914BFA0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FAFE0B-9895-7FF7-DFF5-7F01EE0C500C}"/>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1847656297"/>
      </p:ext>
    </p:extLst>
  </p:cSld>
  <p:clrMapOvr>
    <a:masterClrMapping/>
  </p:clrMapOvr>
</p:sldLayout>
</file>

<file path=ppt/slideLayouts/carlo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79AED-73D4-A221-53E0-D0AC8682BA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65EFE6-CC05-76A1-5BC8-99558C2767F9}"/>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4" name="Footer Placeholder 3">
            <a:extLst>
              <a:ext uri="{FF2B5EF4-FFF2-40B4-BE49-F238E27FC236}">
                <a16:creationId xmlns:a16="http://schemas.microsoft.com/office/drawing/2014/main" id="{0787CB50-761D-2F10-4355-A24E3B7F9B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BA3808-780B-2E2A-2B8A-6F142993CC90}"/>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4198174886"/>
      </p:ext>
    </p:extLst>
  </p:cSld>
  <p:clrMapOvr>
    <a:masterClrMapping/>
  </p:clrMapOvr>
</p:sldLayout>
</file>

<file path=ppt/slideLayouts/carlo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4B1C8D-C4FE-07FB-CDBC-10A08769F3F6}"/>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3" name="Footer Placeholder 2">
            <a:extLst>
              <a:ext uri="{FF2B5EF4-FFF2-40B4-BE49-F238E27FC236}">
                <a16:creationId xmlns:a16="http://schemas.microsoft.com/office/drawing/2014/main" id="{872E07C4-8BD2-6F86-5373-420ACA1978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A9FBB8-5377-E250-FBC7-F743497B12A1}"/>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4114257582"/>
      </p:ext>
    </p:extLst>
  </p:cSld>
  <p:clrMapOvr>
    <a:masterClrMapping/>
  </p:clrMapOvr>
</p:sldLayout>
</file>

<file path=ppt/slideLayouts/carlo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4E915-84A6-E7F5-0999-EAF3A26CE1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FC2B81-5377-70DE-1075-A266E57938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9814C8-CD01-7379-2F8F-94574BB9A4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8FFB71-7179-2501-16AF-96A55C15648D}"/>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6" name="Footer Placeholder 5">
            <a:extLst>
              <a:ext uri="{FF2B5EF4-FFF2-40B4-BE49-F238E27FC236}">
                <a16:creationId xmlns:a16="http://schemas.microsoft.com/office/drawing/2014/main" id="{E1449C12-157B-7DA4-912F-6BA3DCA1DD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241B50-EDD1-382E-DDF4-D018A5184F9D}"/>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2400618799"/>
      </p:ext>
    </p:extLst>
  </p:cSld>
  <p:clrMapOvr>
    <a:masterClrMapping/>
  </p:clrMapOvr>
</p:sldLayout>
</file>

<file path=ppt/slideLayouts/carlo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D3A4D-562F-CD3D-3F43-D8F5CC7E4E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FF909C-4195-7573-AF43-1927EC59243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5D2B3B-C604-AD76-F3CF-E0DC38D5AD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D7DF0E-AFFF-92E4-AFB9-4CC5504779BB}"/>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6" name="Footer Placeholder 5">
            <a:extLst>
              <a:ext uri="{FF2B5EF4-FFF2-40B4-BE49-F238E27FC236}">
                <a16:creationId xmlns:a16="http://schemas.microsoft.com/office/drawing/2014/main" id="{58045B86-BDFE-0474-271D-6946D8CE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69EB9D-263A-750B-BC58-46A4DDC71B9B}"/>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3979330765"/>
      </p:ext>
    </p:extLst>
  </p:cSld>
  <p:clrMapOvr>
    <a:masterClrMapping/>
  </p:clrMapOvr>
</p:sldLayout>
</file>

<file path=ppt/slideLayouts/carlo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4B8D0-6B9C-EE96-86E1-B8D5521D0C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957E22-5651-A34F-B115-98770154FD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CB718-3D9C-369D-C005-CFFDFA8A705F}"/>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467CCE91-D24E-AA6A-524D-718988445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FD963-BD3D-80A8-A6BC-8F3C4EEC38FB}"/>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650690722"/>
      </p:ext>
    </p:extLst>
  </p:cSld>
  <p:clrMapOvr>
    <a:masterClrMapping/>
  </p:clrMapOvr>
</p:sldLayout>
</file>

<file path=ppt/slideLayouts/carlo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4AD1F2-4F91-B12C-D4E8-84BFF1D5C6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8BFD26-0659-23A2-C63E-6A439165F7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51F1BE-5AD0-CBCB-1455-BB3A2708D11A}"/>
              </a:ext>
            </a:extLst>
          </p:cNvPr>
          <p:cNvSpPr>
            <a:spLocks noGrp="1"/>
          </p:cNvSpPr>
          <p:nvPr>
            <p:ph type="dt" sz="half" idx="10"/>
          </p:nvPr>
        </p:nvSpPr>
        <p:spPr/>
        <p:txBody>
          <a:body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0276419F-0D10-2758-1172-0FC6325FDE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6C1FE8-4C7F-6C77-A3E9-AFC91DAAFEA9}"/>
              </a:ext>
            </a:extLst>
          </p:cNvPr>
          <p:cNvSpPr>
            <a:spLocks noGrp="1"/>
          </p:cNvSpPr>
          <p:nvPr>
            <p:ph type="sldNum" sz="quarter" idx="12"/>
          </p:nvPr>
        </p:nvSpPr>
        <p:spPr/>
        <p:txBody>
          <a:bodyPr/>
          <a:lstStyle/>
          <a:p>
            <a:fld id="{F2BF79A1-E98E-46EE-B8C7-AEBDEC73F579}" type="slidenum">
              <a:rPr lang="en-US" smtClean="0"/>
              <a:t>‹#›</a:t>
            </a:fld>
            <a:endParaRPr lang="en-US"/>
          </a:p>
        </p:txBody>
      </p:sp>
    </p:spTree>
    <p:extLst>
      <p:ext uri="{BB962C8B-B14F-4D97-AF65-F5344CB8AC3E}">
        <p14:creationId xmlns:p14="http://schemas.microsoft.com/office/powerpoint/2010/main" val="1580615386"/>
      </p:ext>
    </p:extLst>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 name="Google Shape;13;p2"/>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932331" y="1861441"/>
            <a:ext cx="10327340" cy="31702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 name="Google Shape;17;p3"/>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5"/>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5"/>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6"/>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8" name="Google Shape;28;p6"/>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9" name="Google Shape;29;p6"/>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1"/>
        <p:cNvGrpSpPr/>
        <p:nvPr/>
      </p:nvGrpSpPr>
      <p:grpSpPr>
        <a:xfrm>
          <a:off x="0" y="0"/>
          <a:ext cx="0" cy="0"/>
          <a:chOff x="0" y="0"/>
          <a:chExt cx="0" cy="0"/>
        </a:xfrm>
      </p:grpSpPr>
      <p:sp>
        <p:nvSpPr>
          <p:cNvPr id="32" name="Google Shape;32;p7"/>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33" name="Google Shape;33;p7"/>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34"/>
        <p:cNvGrpSpPr/>
        <p:nvPr/>
      </p:nvGrpSpPr>
      <p:grpSpPr>
        <a:xfrm>
          <a:off x="0" y="0"/>
          <a:ext cx="0" cy="0"/>
          <a:chOff x="0" y="0"/>
          <a:chExt cx="0" cy="0"/>
        </a:xfrm>
      </p:grpSpPr>
      <p:sp>
        <p:nvSpPr>
          <p:cNvPr id="35" name="Google Shape;35;p8"/>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36" name="Google Shape;36;p8"/>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37"/>
        <p:cNvGrpSpPr/>
        <p:nvPr/>
      </p:nvGrpSpPr>
      <p:grpSpPr>
        <a:xfrm>
          <a:off x="0" y="0"/>
          <a:ext cx="0" cy="0"/>
          <a:chOff x="0" y="0"/>
          <a:chExt cx="0" cy="0"/>
        </a:xfrm>
      </p:grpSpPr>
      <p:pic>
        <p:nvPicPr>
          <p:cNvPr id="38" name="Google Shape;38;p9"/>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39"/>
        <p:cNvGrpSpPr/>
        <p:nvPr/>
      </p:nvGrpSpPr>
      <p:grpSpPr>
        <a:xfrm>
          <a:off x="0" y="0"/>
          <a:ext cx="0" cy="0"/>
          <a:chOff x="0" y="0"/>
          <a:chExt cx="0" cy="0"/>
        </a:xfrm>
      </p:grpSpPr>
      <p:pic>
        <p:nvPicPr>
          <p:cNvPr id="40" name="Google Shape;40;p1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1" name="Google Shape;41;p10"/>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42" name="Google Shape;42;p10"/>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10"/>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F8A3-0BCE-EEF3-9702-1ED5AE8DA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76FB8A-906B-63A3-82E3-1824BA4928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5D2237-08D3-C1A5-8C80-8808E9D42894}"/>
              </a:ext>
            </a:extLst>
          </p:cNvPr>
          <p:cNvSpPr>
            <a:spLocks noGrp="1"/>
          </p:cNvSpPr>
          <p:nvPr>
            <p:ph type="dt" sz="half" idx="10"/>
          </p:nvPr>
        </p:nvSpPr>
        <p:spPr/>
        <p:txBody>
          <a:bodyPr/>
          <a:lstStyle/>
          <a:p>
            <a:fld id="{CA226CB3-9231-4EF9-8F54-04FEBCEF8C2F}" type="datetimeFigureOut">
              <a:rPr lang="en-US" smtClean="0"/>
              <a:t>10/1/2026</a:t>
            </a:fld>
            <a:endParaRPr lang="en-US"/>
          </a:p>
        </p:txBody>
      </p:sp>
      <p:sp>
        <p:nvSpPr>
          <p:cNvPr id="5" name="Footer Placeholder 4">
            <a:extLst>
              <a:ext uri="{FF2B5EF4-FFF2-40B4-BE49-F238E27FC236}">
                <a16:creationId xmlns:a16="http://schemas.microsoft.com/office/drawing/2014/main" id="{154EBECE-FBE5-0A22-3E6C-13E54B17E1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140B7-8D68-51F2-C041-2F0720DF5470}"/>
              </a:ext>
            </a:extLst>
          </p:cNvPr>
          <p:cNvSpPr>
            <a:spLocks noGrp="1"/>
          </p:cNvSpPr>
          <p:nvPr>
            <p:ph type="sldNum" sz="quarter" idx="12"/>
          </p:nvPr>
        </p:nvSpPr>
        <p:spPr/>
        <p:txBody>
          <a:bodyPr/>
          <a:lstStyle/>
          <a:p>
            <a:fld id="{B79208BB-2DFD-40AA-973E-A3388C5B0329}" type="slidenum">
              <a:rPr lang="en-US" smtClean="0"/>
              <a:t>‹#›</a:t>
            </a:fld>
            <a:endParaRPr lang="en-US"/>
          </a:p>
        </p:txBody>
      </p:sp>
    </p:spTree>
    <p:extLst>
      <p:ext uri="{BB962C8B-B14F-4D97-AF65-F5344CB8AC3E}">
        <p14:creationId xmlns:p14="http://schemas.microsoft.com/office/powerpoint/2010/main" val="2543269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7"/>
        <p:cNvGrpSpPr/>
        <p:nvPr/>
      </p:nvGrpSpPr>
      <p:grpSpPr>
        <a:xfrm>
          <a:off x="0" y="0"/>
          <a:ext cx="0" cy="0"/>
          <a:chOff x="0" y="0"/>
          <a:chExt cx="0" cy="0"/>
        </a:xfrm>
      </p:grpSpPr>
      <p:pic>
        <p:nvPicPr>
          <p:cNvPr id="48" name="Google Shape;48;p1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9" name="Google Shape;49;p13"/>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13"/>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1"/>
        <p:cNvGrpSpPr/>
        <p:nvPr/>
      </p:nvGrpSpPr>
      <p:grpSpPr>
        <a:xfrm>
          <a:off x="0" y="0"/>
          <a:ext cx="0" cy="0"/>
          <a:chOff x="0" y="0"/>
          <a:chExt cx="0" cy="0"/>
        </a:xfrm>
      </p:grpSpPr>
      <p:sp>
        <p:nvSpPr>
          <p:cNvPr id="52" name="Google Shape;52;p14"/>
          <p:cNvSpPr txBox="1">
            <a:spLocks noGrp="1"/>
          </p:cNvSpPr>
          <p:nvPr>
            <p:ph type="body" idx="1"/>
          </p:nvPr>
        </p:nvSpPr>
        <p:spPr>
          <a:xfrm>
            <a:off x="932331" y="1264359"/>
            <a:ext cx="10327340" cy="400755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4"/>
          <p:cNvSpPr txBox="1">
            <a:spLocks noGrp="1"/>
          </p:cNvSpPr>
          <p:nvPr>
            <p:ph type="title"/>
          </p:nvPr>
        </p:nvSpPr>
        <p:spPr>
          <a:xfrm>
            <a:off x="917987" y="366959"/>
            <a:ext cx="10341684" cy="73935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15"/>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57"/>
        <p:cNvGrpSpPr/>
        <p:nvPr/>
      </p:nvGrpSpPr>
      <p:grpSpPr>
        <a:xfrm>
          <a:off x="0" y="0"/>
          <a:ext cx="0" cy="0"/>
          <a:chOff x="0" y="0"/>
          <a:chExt cx="0" cy="0"/>
        </a:xfrm>
      </p:grpSpPr>
      <p:sp>
        <p:nvSpPr>
          <p:cNvPr id="58" name="Google Shape;58;p1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6"/>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0" name="Google Shape;60;p16"/>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7"/>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4" name="Google Shape;64;p17"/>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65" name="Google Shape;65;p17"/>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6" name="Google Shape;66;p17"/>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67"/>
        <p:cNvGrpSpPr/>
        <p:nvPr/>
      </p:nvGrpSpPr>
      <p:grpSpPr>
        <a:xfrm>
          <a:off x="0" y="0"/>
          <a:ext cx="0" cy="0"/>
          <a:chOff x="0" y="0"/>
          <a:chExt cx="0" cy="0"/>
        </a:xfrm>
      </p:grpSpPr>
      <p:sp>
        <p:nvSpPr>
          <p:cNvPr id="68" name="Google Shape;68;p18"/>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9" name="Google Shape;69;p18"/>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70"/>
        <p:cNvGrpSpPr/>
        <p:nvPr/>
      </p:nvGrpSpPr>
      <p:grpSpPr>
        <a:xfrm>
          <a:off x="0" y="0"/>
          <a:ext cx="0" cy="0"/>
          <a:chOff x="0" y="0"/>
          <a:chExt cx="0" cy="0"/>
        </a:xfrm>
      </p:grpSpPr>
      <p:sp>
        <p:nvSpPr>
          <p:cNvPr id="71" name="Google Shape;71;p19"/>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72" name="Google Shape;72;p19"/>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73"/>
        <p:cNvGrpSpPr/>
        <p:nvPr/>
      </p:nvGrpSpPr>
      <p:grpSpPr>
        <a:xfrm>
          <a:off x="0" y="0"/>
          <a:ext cx="0" cy="0"/>
          <a:chOff x="0" y="0"/>
          <a:chExt cx="0" cy="0"/>
        </a:xfrm>
      </p:grpSpPr>
      <p:pic>
        <p:nvPicPr>
          <p:cNvPr id="74" name="Google Shape;74;p20"/>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75"/>
        <p:cNvGrpSpPr/>
        <p:nvPr/>
      </p:nvGrpSpPr>
      <p:grpSpPr>
        <a:xfrm>
          <a:off x="0" y="0"/>
          <a:ext cx="0" cy="0"/>
          <a:chOff x="0" y="0"/>
          <a:chExt cx="0" cy="0"/>
        </a:xfrm>
      </p:grpSpPr>
      <p:pic>
        <p:nvPicPr>
          <p:cNvPr id="76" name="Google Shape;76;p2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7" name="Google Shape;77;p21"/>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78" name="Google Shape;78;p21"/>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9" name="Google Shape;79;p21"/>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Masters/_rels/carlo_slideMaster1.xml.rels><?xml version='1.0' encoding='UTF-8' standalone='yes'?>
<Relationships xmlns="http://schemas.openxmlformats.org/package/2006/relationships"><Relationship Id="rId8" Type="http://schemas.openxmlformats.org/officeDocument/2006/relationships/slideLayout" Target="../slideLayouts/carlo_slideLayout8.xml"/><Relationship Id="rId3" Type="http://schemas.openxmlformats.org/officeDocument/2006/relationships/slideLayout" Target="../slideLayouts/carlo_slideLayout3.xml"/><Relationship Id="rId7" Type="http://schemas.openxmlformats.org/officeDocument/2006/relationships/slideLayout" Target="../slideLayouts/carlo_slideLayout7.xml"/><Relationship Id="rId12" Type="http://schemas.openxmlformats.org/officeDocument/2006/relationships/theme" Target="../theme/carlo_theme1.xml"/><Relationship Id="rId2" Type="http://schemas.openxmlformats.org/officeDocument/2006/relationships/slideLayout" Target="../slideLayouts/carlo_slideLayout2.xml"/><Relationship Id="rId1" Type="http://schemas.openxmlformats.org/officeDocument/2006/relationships/slideLayout" Target="../slideLayouts/carlo_slideLayout1.xml"/><Relationship Id="rId6" Type="http://schemas.openxmlformats.org/officeDocument/2006/relationships/slideLayout" Target="../slideLayouts/carlo_slideLayout6.xml"/><Relationship Id="rId11" Type="http://schemas.openxmlformats.org/officeDocument/2006/relationships/slideLayout" Target="../slideLayouts/carlo_slideLayout11.xml"/><Relationship Id="rId5" Type="http://schemas.openxmlformats.org/officeDocument/2006/relationships/slideLayout" Target="../slideLayouts/carlo_slideLayout5.xml"/><Relationship Id="rId10" Type="http://schemas.openxmlformats.org/officeDocument/2006/relationships/slideLayout" Target="../slideLayouts/carlo_slideLayout10.xml"/><Relationship Id="rId4" Type="http://schemas.openxmlformats.org/officeDocument/2006/relationships/slideLayout" Target="../slideLayouts/carlo_slideLayout4.xml"/><Relationship Id="rId9" Type="http://schemas.openxmlformats.org/officeDocument/2006/relationships/slideLayout" Target="../slideLayouts/carlo_slideLayout9.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theme" Target="../theme/theme2.xml"/><Relationship Id="rId11" Type="http://schemas.openxmlformats.org/officeDocument/2006/relationships/image" Target="../media/image1.jpg"/></Relationships>
</file>

<file path=ppt/slideMasters/carlo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A4FD00-87CD-9236-8DA7-62C8D88D53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1C69A9-5AA8-00F3-B914-43DA714695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C0F831-23D7-7C48-02D8-84342BD44E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3E0CC7-F486-4567-A0CC-76F8D910702D}" type="datetimeFigureOut">
              <a:rPr lang="en-US" smtClean="0"/>
              <a:t>10/29/2026</a:t>
            </a:fld>
            <a:endParaRPr lang="en-US"/>
          </a:p>
        </p:txBody>
      </p:sp>
      <p:sp>
        <p:nvSpPr>
          <p:cNvPr id="5" name="Footer Placeholder 4">
            <a:extLst>
              <a:ext uri="{FF2B5EF4-FFF2-40B4-BE49-F238E27FC236}">
                <a16:creationId xmlns:a16="http://schemas.microsoft.com/office/drawing/2014/main" id="{4FE9AE64-2123-C520-CD5F-8A8D12E8AB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00CDBE-BDF8-802F-43C3-EB19E939D2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BF79A1-E98E-46EE-B8C7-AEBDEC73F579}" type="slidenum">
              <a:rPr lang="en-US" smtClean="0"/>
              <a:t>‹#›</a:t>
            </a:fld>
            <a:endParaRPr lang="en-US"/>
          </a:p>
        </p:txBody>
      </p:sp>
    </p:spTree>
    <p:extLst>
      <p:ext uri="{BB962C8B-B14F-4D97-AF65-F5344CB8AC3E}">
        <p14:creationId xmlns:p14="http://schemas.microsoft.com/office/powerpoint/2010/main" val="2540581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13">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p:cNvGrpSpPr/>
        <p:nvPr/>
      </p:nvGrpSpPr>
      <p:grpSpPr>
        <a:xfrm>
          <a:off x="0" y="0"/>
          <a:ext cx="0" cy="0"/>
          <a:chOff x="0" y="0"/>
          <a:chExt cx="0" cy="0"/>
        </a:xfrm>
      </p:grpSpPr>
      <p:pic>
        <p:nvPicPr>
          <p:cNvPr id="46" name="Google Shape;46;p12"/>
          <p:cNvPicPr preferRelativeResize="0"/>
          <p:nvPr/>
        </p:nvPicPr>
        <p:blipFill rotWithShape="1">
          <a:blip r:embed="rId11">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carlo_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jpg"/><Relationship Id="rId3" Type="http://schemas.openxmlformats.org/officeDocument/2006/relationships/customXml" Target="../ink/ink1.xml"/><Relationship Id="rId4" Type="http://schemas.openxmlformats.org/officeDocument/2006/relationships/image" Target="../media/image8.png"/><Relationship Id="rId5" Type="http://schemas.openxmlformats.org/officeDocument/2006/relationships/customXml" Target="../ink/ink2.xml"/><Relationship Id="rId6" Type="http://schemas.openxmlformats.org/officeDocument/2006/relationships/image" Target="../media/image9.png"/><Relationship Id="rId7" Type="http://schemas.openxmlformats.org/officeDocument/2006/relationships/customXml" Target="../ink/ink3.xml"/><Relationship Id="rId8" Type="http://schemas.openxmlformats.org/officeDocument/2006/relationships/image" Target="../media/image10.png"/><Relationship Id="rId9" Type="http://schemas.openxmlformats.org/officeDocument/2006/relationships/customXml" Target="../ink/ink4.xml"/><Relationship Id="rId10" Type="http://schemas.openxmlformats.org/officeDocument/2006/relationships/image" Target="../media/image11.png"/><Relationship Id="rId11" Type="http://schemas.openxmlformats.org/officeDocument/2006/relationships/customXml" Target="../ink/ink5.xml"/><Relationship Id="rId12" Type="http://schemas.openxmlformats.org/officeDocument/2006/relationships/image" Target="../media/image12.png"/><Relationship Id="rId13" Type="http://schemas.openxmlformats.org/officeDocument/2006/relationships/customXml" Target="../ink/ink6.xml"/><Relationship Id="rId14" Type="http://schemas.openxmlformats.org/officeDocument/2006/relationships/image" Target="../media/image13.png"/><Relationship Id="rId15" Type="http://schemas.openxmlformats.org/officeDocument/2006/relationships/customXml" Target="../ink/ink7.xml"/><Relationship Id="rId16" Type="http://schemas.openxmlformats.org/officeDocument/2006/relationships/image" Target="../media/image14.png"/><Relationship Id="rId17" Type="http://schemas.openxmlformats.org/officeDocument/2006/relationships/customXml" Target="../ink/ink8.xml"/><Relationship Id="rId18" Type="http://schemas.openxmlformats.org/officeDocument/2006/relationships/image" Target="../media/image15.png"/><Relationship Id="rId19" Type="http://schemas.openxmlformats.org/officeDocument/2006/relationships/customXml" Target="../ink/ink9.xml"/><Relationship Id="rId20" Type="http://schemas.openxmlformats.org/officeDocument/2006/relationships/image" Target="../media/image16.png"/><Relationship Id="rId21" Type="http://schemas.openxmlformats.org/officeDocument/2006/relationships/customXml" Target="../ink/ink10.xml"/><Relationship Id="rId22" Type="http://schemas.openxmlformats.org/officeDocument/2006/relationships/image" Target="../media/image17.png"/><Relationship Id="rId23" Type="http://schemas.openxmlformats.org/officeDocument/2006/relationships/customXml" Target="../ink/ink11.xml"/><Relationship Id="rId24" Type="http://schemas.openxmlformats.org/officeDocument/2006/relationships/image" Target="../media/image18.png"/><Relationship Id="rId25" Type="http://schemas.openxmlformats.org/officeDocument/2006/relationships/customXml" Target="../ink/ink12.xml"/><Relationship Id="rId26" Type="http://schemas.openxmlformats.org/officeDocument/2006/relationships/image" Target="../media/image19.png"/><Relationship Id="rId27" Type="http://schemas.openxmlformats.org/officeDocument/2006/relationships/customXml" Target="../ink/ink13.xml"/><Relationship Id="rId28" Type="http://schemas.openxmlformats.org/officeDocument/2006/relationships/image" Target="../media/image20.png"/><Relationship Id="rId29" Type="http://schemas.openxmlformats.org/officeDocument/2006/relationships/customXml" Target="../ink/ink14.xml"/><Relationship Id="rId30" Type="http://schemas.openxmlformats.org/officeDocument/2006/relationships/image" Target="../media/image21.png"/><Relationship Id="rId31"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2"/>
          <p:cNvSpPr txBox="1">
            <a:spLocks noGrp="1"/>
          </p:cNvSpPr>
          <p:nvPr>
            <p:ph type="ctrTitle"/>
          </p:nvPr>
        </p:nvSpPr>
        <p:spPr>
          <a:xfrm>
            <a:off x="447888" y="1611357"/>
            <a:ext cx="5320839" cy="60011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300"/>
              </a:spcAft>
              <a:buClr>
                <a:srgbClr val="FFFFFF"/>
              </a:buClr>
              <a:buSzPts val="2000"/>
              <a:buFont typeface="Arial"/>
              <a:buNone/>
            </a:pPr>
            <a:r>
              <a:rPr sz="1900" b="1">
                <a:solidFill>
                  <a:srgbClr val="FFFFFF"/>
                </a:solidFill>
                <a:latin typeface="Calibri"/>
              </a:rPr>
              <a:t>Modeling Orbital Edge Processing in Contested Environments</a:t>
            </a:r>
            <a:endParaRPr sz="2000" dirty="0">
              <a:latin typeface="Arial"/>
              <a:ea typeface="Arial"/>
              <a:cs typeface="Arial"/>
              <a:sym typeface="Arial"/>
            </a:endParaRPr>
          </a:p>
        </p:txBody>
      </p:sp>
      <p:sp>
        <p:nvSpPr>
          <p:cNvPr id="86" name="Google Shape;86;p22"/>
          <p:cNvSpPr txBox="1">
            <a:spLocks noGrp="1"/>
          </p:cNvSpPr>
          <p:nvPr>
            <p:ph type="subTitle" idx="1"/>
          </p:nvPr>
        </p:nvSpPr>
        <p:spPr>
          <a:xfrm>
            <a:off x="422294" y="2360317"/>
            <a:ext cx="4058106" cy="68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300"/>
              </a:spcAft>
              <a:buClr>
                <a:srgbClr val="ECE9C6"/>
              </a:buClr>
              <a:buSzPts val="1800"/>
              <a:buNone/>
            </a:pPr>
            <a:r>
              <a:rPr sz="1550" b="0">
                <a:solidFill>
                  <a:srgbClr val="FFFFFF"/>
                </a:solidFill>
                <a:latin typeface="Calibri"/>
              </a:rPr>
              <a:t>Carlo Antonio Nino
October 30, 2026 | 4:00 PM PT | Session 5</a:t>
            </a:r>
            <a:endParaRPr dirty="0"/>
          </a:p>
        </p:txBody>
      </p:sp>
      <p:sp>
        <p:nvSpPr>
          <p:cNvPr id="87" name="Google Shape;87;p22"/>
          <p:cNvSpPr/>
          <p:nvPr/>
        </p:nvSpPr>
        <p:spPr>
          <a:xfrm>
            <a:off x="2647718" y="4851"/>
            <a:ext cx="5886682" cy="120023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FFFFFF"/>
              </a:buClr>
              <a:buSzPts val="3200"/>
              <a:buFont typeface="Arial"/>
              <a:buNone/>
            </a:pPr>
            <a:r>
              <a:rPr lang="en-US" sz="3200" b="1" cap="none">
                <a:solidFill>
                  <a:srgbClr val="FFFFFF"/>
                </a:solidFill>
                <a:latin typeface="Arial"/>
                <a:ea typeface="Arial"/>
                <a:cs typeface="Arial"/>
                <a:sym typeface="Arial"/>
              </a:rPr>
              <a:t>Student Biweekly Progress Presentation to Advisor</a:t>
            </a:r>
            <a:endParaRPr/>
          </a:p>
        </p:txBody>
      </p:sp>
      <p:sp>
        <p:nvSpPr>
          <p:cNvPr id="89" name="Google Shape;89;p22"/>
          <p:cNvSpPr/>
          <p:nvPr/>
        </p:nvSpPr>
        <p:spPr>
          <a:xfrm>
            <a:off x="422294" y="3291840"/>
            <a:ext cx="4892040" cy="22402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300"/>
              </a:spcAft>
              <a:buClr>
                <a:srgbClr val="FFFFFF"/>
              </a:buClr>
              <a:buSzPts val="1150"/>
              <a:buFont typeface="Calibri"/>
              <a:buNone/>
            </a:pPr>
            <a:r>
              <a:rPr sz="1300">
                <a:solidFill>
                  <a:srgbClr val="FFFFFF"/>
                </a:solidFill>
                <a:latin typeface="Calibri"/>
              </a:rPr>
              <a:t>Chapter 2 v11 | working copy dated October 28</a:t>
            </a:r>
            <a:endParaRPr dirty="0"/>
          </a:p>
          <a:p>
            <a:pPr>
              <a:spcAft>
                <a:spcPts val="300"/>
              </a:spcAft>
            </a:pPr>
            <a:r>
              <a:rPr sz="1300" b="1">
                <a:solidFill>
                  <a:srgbClr val="FFFFFF"/>
                </a:solidFill>
                <a:latin typeface="Calibri"/>
              </a:rPr>
              <a:t>51 narrative pages</a:t>
            </a:r>
            <a:r>
              <a:rPr sz="1300">
                <a:solidFill>
                  <a:srgbClr val="FFFFFF"/>
                </a:solidFill>
                <a:latin typeface="Calibri"/>
              </a:rPr>
              <a:t>: </a:t>
            </a:r>
            <a:r>
              <a:rPr sz="1300" b="1">
                <a:solidFill>
                  <a:srgbClr val="FFFFFF"/>
                </a:solidFill>
                <a:latin typeface="Calibri"/>
              </a:rPr>
              <a:t>32 → 51 (+19 pages)</a:t>
            </a:r>
            <a:r>
              <a:rPr sz="1300">
                <a:solidFill>
                  <a:srgbClr val="FFFFFF"/>
                </a:solidFill>
                <a:latin typeface="Calibri"/>
              </a:rPr>
              <a:t> since v9.</a:t>
            </a:r>
          </a:p>
          <a:p>
            <a:pPr>
              <a:spcAft>
                <a:spcPts val="300"/>
              </a:spcAft>
            </a:pPr>
            <a:r>
              <a:rPr sz="1300" b="1">
                <a:solidFill>
                  <a:srgbClr val="FFFFFF"/>
                </a:solidFill>
                <a:latin typeface="Calibri"/>
              </a:rPr>
              <a:t>3 USE CASES: School | Medical | Municipal.</a:t>
            </a:r>
          </a:p>
          <a:p>
            <a:pPr>
              <a:spcAft>
                <a:spcPts val="300"/>
              </a:spcAft>
            </a:pPr>
            <a:r>
              <a:rPr sz="1300" b="1">
                <a:solidFill>
                  <a:srgbClr val="FFFFFF"/>
                </a:solidFill>
                <a:latin typeface="Calibri"/>
              </a:rPr>
              <a:t>20 expansion-support sources</a:t>
            </a:r>
            <a:r>
              <a:rPr sz="1300">
                <a:solidFill>
                  <a:srgbClr val="FFFFFF"/>
                </a:solidFill>
                <a:latin typeface="Calibri"/>
              </a:rPr>
              <a:t>; </a:t>
            </a:r>
            <a:r>
              <a:rPr sz="1300" b="1">
                <a:solidFill>
                  <a:srgbClr val="FFFFFF"/>
                </a:solidFill>
                <a:latin typeface="Calibri"/>
              </a:rPr>
              <a:t>91 unique references</a:t>
            </a:r>
            <a:r>
              <a:rPr sz="1300">
                <a:solidFill>
                  <a:srgbClr val="FFFFFF"/>
                </a:solidFill>
                <a:latin typeface="Calibri"/>
              </a:rPr>
              <a:t>.</a:t>
            </a:r>
          </a:p>
          <a:p>
            <a:pPr>
              <a:spcAft>
                <a:spcPts val="300"/>
              </a:spcAft>
            </a:pPr>
            <a:r>
              <a:rPr sz="1300">
                <a:solidFill>
                  <a:srgbClr val="FFFFFF"/>
                </a:solidFill>
                <a:latin typeface="Calibri"/>
              </a:rPr>
              <a:t>ACE regression PASS recorded; owner reproduction next.</a:t>
            </a:r>
          </a:p>
        </p:txBody>
      </p:sp>
      <p:sp>
        <p:nvSpPr>
          <p:cNvPr id="90" name="TextBox 89"/>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 of 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3"/>
          <p:cNvSpPr txBox="1">
            <a:spLocks noGrp="1"/>
          </p:cNvSpPr>
          <p:nvPr>
            <p:ph type="title"/>
          </p:nvPr>
        </p:nvSpPr>
        <p:spPr>
          <a:xfrm>
            <a:off x="483495" y="316733"/>
            <a:ext cx="11525951"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Response to Dr. Hao’s Chapter 2 Feedback</a:t>
            </a:r>
            <a:endParaRPr/>
          </a:p>
        </p:txBody>
      </p:sp>
      <p:sp>
        <p:nvSpPr>
          <p:cNvPr id="106" name="TextBox 105"/>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 of 29</a:t>
            </a:r>
          </a:p>
        </p:txBody>
      </p:sp>
      <p:sp>
        <p:nvSpPr>
          <p:cNvPr id="107" name="TextBox 106"/>
          <p:cNvSpPr txBox="1"/>
          <p:nvPr/>
        </p:nvSpPr>
        <p:spPr>
          <a:xfrm>
            <a:off x="594360" y="960120"/>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“Can we quantify any of this?” — 19 Oct 2026</a:t>
            </a:r>
          </a:p>
        </p:txBody>
      </p:sp>
      <p:sp>
        <p:nvSpPr>
          <p:cNvPr id="108" name="TextBox 107"/>
          <p:cNvSpPr txBox="1"/>
          <p:nvPr/>
        </p:nvSpPr>
        <p:spPr>
          <a:xfrm>
            <a:off x="612648" y="1225296"/>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v11 adds published inference-time, power/energy, memory and throughput measurements plus numerical contact-window examples in §2.3. — 29 Oct 2026</a:t>
            </a:r>
          </a:p>
        </p:txBody>
      </p:sp>
      <p:sp>
        <p:nvSpPr>
          <p:cNvPr id="109" name="TextBox 108"/>
          <p:cNvSpPr txBox="1"/>
          <p:nvPr/>
        </p:nvSpPr>
        <p:spPr>
          <a:xfrm>
            <a:off x="594360" y="2130552"/>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“Is loosing a human in-the-loop a challenge? Is there a fear of too much automation?” — 19 Oct 2026</a:t>
            </a:r>
          </a:p>
        </p:txBody>
      </p:sp>
      <p:sp>
        <p:nvSpPr>
          <p:cNvPr id="110" name="TextBox 109"/>
          <p:cNvSpPr txBox="1"/>
          <p:nvPr/>
        </p:nvSpPr>
        <p:spPr>
          <a:xfrm>
            <a:off x="612648" y="2395728"/>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v11 adds human authority, situation awareness, reliance/confidence and referral workload, with </a:t>
            </a:r>
            <a:r>
              <a:rPr sz="1000" b="1">
                <a:solidFill>
                  <a:srgbClr val="202020"/>
                </a:solidFill>
                <a:latin typeface="Times New Roman"/>
              </a:rPr>
              <a:t>3 CIVILIAN USE CASES: SCHOOL, MEDICAL and MUNICIPAL</a:t>
            </a:r>
            <a:r>
              <a:rPr sz="1000" b="0">
                <a:solidFill>
                  <a:srgbClr val="202020"/>
                </a:solidFill>
                <a:latin typeface="Times New Roman"/>
              </a:rPr>
              <a:t>, retaining human decisions. — 29 Oct 2026</a:t>
            </a:r>
          </a:p>
        </p:txBody>
      </p:sp>
      <p:sp>
        <p:nvSpPr>
          <p:cNvPr id="111" name="TextBox 110"/>
          <p:cNvSpPr txBox="1"/>
          <p:nvPr/>
        </p:nvSpPr>
        <p:spPr>
          <a:xfrm>
            <a:off x="594360" y="3300984"/>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“We’ll need to revisit this after you complete the paper (through chapter 5) with the results and discussion” — 19 Oct 2026</a:t>
            </a:r>
          </a:p>
        </p:txBody>
      </p:sp>
      <p:sp>
        <p:nvSpPr>
          <p:cNvPr id="112" name="TextBox 111"/>
          <p:cNvSpPr txBox="1"/>
          <p:nvPr/>
        </p:nvSpPr>
        <p:spPr>
          <a:xfrm>
            <a:off x="612648" y="3566160"/>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The abstract remains provisional and is deferred until the methods, results and discussion are complete. — 29 Oct 2026</a:t>
            </a:r>
          </a:p>
        </p:txBody>
      </p:sp>
      <p:sp>
        <p:nvSpPr>
          <p:cNvPr id="113" name="TextBox 112"/>
          <p:cNvSpPr txBox="1"/>
          <p:nvPr/>
        </p:nvSpPr>
        <p:spPr>
          <a:xfrm>
            <a:off x="594360" y="4471416"/>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“We’re on a good track to get the first draft out by early November.” / “we’ll want to edit for conciseness later on when we have more content.” — 19 Oct 2026</a:t>
            </a:r>
          </a:p>
        </p:txBody>
      </p:sp>
      <p:sp>
        <p:nvSpPr>
          <p:cNvPr id="114" name="TextBox 113"/>
          <p:cNvSpPr txBox="1"/>
          <p:nvPr/>
        </p:nvSpPr>
        <p:spPr>
          <a:xfrm>
            <a:off x="612648" y="4736592"/>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v11 contains </a:t>
            </a:r>
            <a:r>
              <a:rPr sz="1000" b="1">
                <a:solidFill>
                  <a:srgbClr val="202020"/>
                </a:solidFill>
                <a:latin typeface="Times New Roman"/>
              </a:rPr>
              <a:t>51 Chapter 2 narrative pages</a:t>
            </a:r>
            <a:r>
              <a:rPr sz="1000" b="0">
                <a:solidFill>
                  <a:srgbClr val="202020"/>
                </a:solidFill>
                <a:latin typeface="Times New Roman"/>
              </a:rPr>
              <a:t>: </a:t>
            </a:r>
            <a:r>
              <a:rPr sz="1000" b="1">
                <a:solidFill>
                  <a:srgbClr val="202020"/>
                </a:solidFill>
                <a:latin typeface="Times New Roman"/>
              </a:rPr>
              <a:t>32 → 51 (+19 pages)</a:t>
            </a:r>
            <a:r>
              <a:rPr sz="1000" b="0">
                <a:solidFill>
                  <a:srgbClr val="202020"/>
                </a:solidFill>
                <a:latin typeface="Times New Roman"/>
              </a:rPr>
              <a:t>, addressing the requested expansion. Next: Dr. Hao comments incorporated + final revisions by 14 Nov, including concision and source/figure checks. — 29 Oct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Chapter 2 Expansion Since v9</a:t>
            </a:r>
            <a:endParaRPr/>
          </a:p>
        </p:txBody>
      </p:sp>
      <p:sp>
        <p:nvSpPr>
          <p:cNvPr id="110" name="Rounded Rectangle 109"/>
          <p:cNvSpPr/>
          <p:nvPr/>
        </p:nvSpPr>
        <p:spPr>
          <a:xfrm>
            <a:off x="594360" y="1170432"/>
            <a:ext cx="2606040" cy="987552"/>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0408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51</a:t>
            </a:r>
          </a:p>
        </p:txBody>
      </p:sp>
      <p:sp>
        <p:nvSpPr>
          <p:cNvPr id="112" name="TextBox 111"/>
          <p:cNvSpPr txBox="1"/>
          <p:nvPr/>
        </p:nvSpPr>
        <p:spPr>
          <a:xfrm>
            <a:off x="70408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1">
                <a:solidFill>
                  <a:srgbClr val="263746"/>
                </a:solidFill>
                <a:latin typeface="Calibri"/>
              </a:rPr>
              <a:t>Chapter 2 narrative pages</a:t>
            </a:r>
          </a:p>
        </p:txBody>
      </p:sp>
      <p:sp>
        <p:nvSpPr>
          <p:cNvPr id="113" name="Rounded Rectangle 112"/>
          <p:cNvSpPr/>
          <p:nvPr/>
        </p:nvSpPr>
        <p:spPr>
          <a:xfrm>
            <a:off x="3383280" y="1170432"/>
            <a:ext cx="2606040" cy="987552"/>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49300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+19</a:t>
            </a:r>
          </a:p>
        </p:txBody>
      </p:sp>
      <p:sp>
        <p:nvSpPr>
          <p:cNvPr id="115" name="TextBox 114"/>
          <p:cNvSpPr txBox="1"/>
          <p:nvPr/>
        </p:nvSpPr>
        <p:spPr>
          <a:xfrm>
            <a:off x="349300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1">
                <a:solidFill>
                  <a:srgbClr val="263746"/>
                </a:solidFill>
                <a:latin typeface="Calibri"/>
              </a:rPr>
              <a:t>From 32-page v9 baseline</a:t>
            </a:r>
          </a:p>
        </p:txBody>
      </p:sp>
      <p:sp>
        <p:nvSpPr>
          <p:cNvPr id="116" name="Rounded Rectangle 115"/>
          <p:cNvSpPr/>
          <p:nvPr/>
        </p:nvSpPr>
        <p:spPr>
          <a:xfrm>
            <a:off x="6172200" y="1170432"/>
            <a:ext cx="2606040" cy="987552"/>
          </a:xfrm>
          <a:prstGeom prst="round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28192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3</a:t>
            </a:r>
          </a:p>
        </p:txBody>
      </p:sp>
      <p:sp>
        <p:nvSpPr>
          <p:cNvPr id="118" name="TextBox 117"/>
          <p:cNvSpPr txBox="1"/>
          <p:nvPr/>
        </p:nvSpPr>
        <p:spPr>
          <a:xfrm>
            <a:off x="628192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1">
                <a:solidFill>
                  <a:srgbClr val="263746"/>
                </a:solidFill>
                <a:latin typeface="Calibri"/>
              </a:rPr>
              <a:t>CIVILIAN USE CASES</a:t>
            </a:r>
          </a:p>
        </p:txBody>
      </p:sp>
      <p:sp>
        <p:nvSpPr>
          <p:cNvPr id="119" name="Rounded Rectangle 118"/>
          <p:cNvSpPr/>
          <p:nvPr/>
        </p:nvSpPr>
        <p:spPr>
          <a:xfrm>
            <a:off x="8961120" y="1170432"/>
            <a:ext cx="2606040" cy="987552"/>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07084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91</a:t>
            </a:r>
          </a:p>
        </p:txBody>
      </p:sp>
      <p:sp>
        <p:nvSpPr>
          <p:cNvPr id="121" name="TextBox 120"/>
          <p:cNvSpPr txBox="1"/>
          <p:nvPr/>
        </p:nvSpPr>
        <p:spPr>
          <a:xfrm>
            <a:off x="907084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1">
                <a:solidFill>
                  <a:srgbClr val="263746"/>
                </a:solidFill>
                <a:latin typeface="Calibri"/>
              </a:rPr>
              <a:t>Unique reference entries</a:t>
            </a:r>
          </a:p>
        </p:txBody>
      </p:sp>
      <p:sp>
        <p:nvSpPr>
          <p:cNvPr id="122" name="TextBox 121"/>
          <p:cNvSpPr txBox="1"/>
          <p:nvPr/>
        </p:nvSpPr>
        <p:spPr>
          <a:xfrm>
            <a:off x="594360" y="2331720"/>
            <a:ext cx="10972800" cy="59436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263746"/>
                </a:solidFill>
                <a:latin typeface="Calibri"/>
              </a:rPr>
              <a:t>3 USE CASES: School wildfire | Medical / hospital access | Municipal water monitoring.</a:t>
            </a:r>
          </a:p>
          <a:p>
            <a:pPr algn="l">
              <a:lnSpc>
                <a:spcPct val="105000"/>
              </a:lnSpc>
              <a:spcBef>
                <a:spcPts val="0"/>
              </a:spcBef>
              <a:spcAft>
                <a:spcPts val="200"/>
              </a:spcAft>
            </a:pPr>
            <a:r>
              <a:rPr sz="1600" b="1">
                <a:solidFill>
                  <a:srgbClr val="263746"/>
                </a:solidFill>
                <a:latin typeface="Calibri"/>
              </a:rPr>
              <a:t>20 expansion-support sources integrated; 91 unique references after consolidation.</a:t>
            </a:r>
          </a:p>
        </p:txBody>
      </p:sp>
      <p:sp>
        <p:nvSpPr>
          <p:cNvPr id="123" name="TextBox 122"/>
          <p:cNvSpPr txBox="1"/>
          <p:nvPr/>
        </p:nvSpPr>
        <p:spPr>
          <a:xfrm>
            <a:off x="594360" y="3035808"/>
            <a:ext cx="10972800" cy="25603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1">
                <a:solidFill>
                  <a:srgbClr val="576573"/>
                </a:solidFill>
                <a:latin typeface="Calibri"/>
              </a:rPr>
              <a:t>METHOD PRECEDENTS RETAINED IN THE LITERATURE REVIEW</a:t>
            </a:r>
          </a:p>
        </p:txBody>
      </p:sp>
      <p:graphicFrame>
        <p:nvGraphicFramePr>
          <p:cNvPr id="114" name="Google Shape;114;p24"/>
          <p:cNvGraphicFramePr/>
          <p:nvPr/>
        </p:nvGraphicFramePr>
        <p:xfrm>
          <a:off x="585216" y="3346704"/>
          <a:ext cx="10991100" cy="1901952"/>
        </p:xfrm>
        <a:graphic>
          <a:graphicData uri="http://schemas.openxmlformats.org/drawingml/2006/table">
            <a:tbl>
              <a:tblPr firstRow="1" bandRow="1">
                <a:noFill/>
                <a:tableStyleId>{3C1EB017-BC45-4DEE-9ABB-B4D90C79D28D}</a:tableStyleId>
              </a:tblPr>
              <a:tblGrid>
                <a:gridCol w="1828800">
                  <a:extLst>
                    <a:ext uri="{9D8B030D-6E8A-4147-A177-3AD203B41FA5}">
                      <a16:colId xmlns:a16="http://schemas.microsoft.com/office/drawing/2014/main" val="20000"/>
                    </a:ext>
                  </a:extLst>
                </a:gridCol>
                <a:gridCol w="4663450">
                  <a:extLst>
                    <a:ext uri="{9D8B030D-6E8A-4147-A177-3AD203B41FA5}">
                      <a16:colId xmlns:a16="http://schemas.microsoft.com/office/drawing/2014/main" val="20001"/>
                    </a:ext>
                  </a:extLst>
                </a:gridCol>
                <a:gridCol w="4498850">
                  <a:extLst>
                    <a:ext uri="{9D8B030D-6E8A-4147-A177-3AD203B41FA5}">
                      <a16:colId xmlns:a16="http://schemas.microsoft.com/office/drawing/2014/main" val="20002"/>
                    </a:ext>
                  </a:extLst>
                </a:gridCol>
              </a:tblGrid>
              <a:tr h="27432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Author / year</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Registered work — short title</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Method / relevance recorded</a:t>
                      </a:r>
                      <a:endParaRPr/>
                    </a:p>
                  </a:txBody>
                  <a:tcPr marL="68575" marR="68575" marT="36575" marB="22850" anchor="ctr">
                    <a:solidFill>
                      <a:srgbClr val="E7EEF3"/>
                    </a:solidFill>
                  </a:tcPr>
                </a:tc>
                <a:extLst>
                  <a:ext uri="{0D108BD9-81ED-4DB2-BD59-A6C34878D82A}">
                    <a16:rowId xmlns:a16="http://schemas.microsoft.com/office/drawing/2014/main" val="10000"/>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Browne (2024)</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EV charging: arrivals, utilization and wait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queueing and congestion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Littlefield (2017)</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Reliability of highly parallel systems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redundancy and reliability</a:t>
                      </a:r>
                      <a:endParaRPr/>
                    </a:p>
                  </a:txBody>
                  <a:tcPr marL="68575" marR="68575" marT="36575" marB="22850" anchor="ctr">
                    <a:solidFill>
                      <a:srgbClr val="F6F8FA"/>
                    </a:solidFill>
                  </a:tcPr>
                </a:tc>
                <a:extLst>
                  <a:ext uri="{0D108BD9-81ED-4DB2-BD59-A6C34878D82A}">
                    <a16:rowId xmlns:a16="http://schemas.microsoft.com/office/drawing/2014/main" val="10002"/>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Shanbhag (2021)</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Overcommitment on cloud-computing workloads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finite compute resources and overload</a:t>
                      </a:r>
                      <a:endParaRPr/>
                    </a:p>
                  </a:txBody>
                  <a:tcPr marL="68575" marR="68575" marT="36575" marB="22850" anchor="ctr">
                    <a:solidFill>
                      <a:srgbClr val="FFFFFF"/>
                    </a:solidFill>
                  </a:tcPr>
                </a:tc>
                <a:extLst>
                  <a:ext uri="{0D108BD9-81ED-4DB2-BD59-A6C34878D82A}">
                    <a16:rowId xmlns:a16="http://schemas.microsoft.com/office/drawing/2014/main" val="10003"/>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Newell (2023)</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Spare-part quantities and obsolescence cycles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repair and operational availability</a:t>
                      </a:r>
                      <a:endParaRPr/>
                    </a:p>
                  </a:txBody>
                  <a:tcPr marL="68575" marR="68575" marT="36575" marB="22850" anchor="ctr">
                    <a:solidFill>
                      <a:srgbClr val="F6F8FA"/>
                    </a:solidFill>
                  </a:tcPr>
                </a:tc>
                <a:extLst>
                  <a:ext uri="{0D108BD9-81ED-4DB2-BD59-A6C34878D82A}">
                    <a16:rowId xmlns:a16="http://schemas.microsoft.com/office/drawing/2014/main" val="10004"/>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Devineni (2023)</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IT service incident resolution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waiting and resolution time</a:t>
                      </a:r>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124" name="TextBox 12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3 of 29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Open Items and Submission Controls</a:t>
            </a:r>
            <a:endParaRPr/>
          </a:p>
        </p:txBody>
      </p:sp>
      <p:sp>
        <p:nvSpPr>
          <p:cNvPr id="123" name="Rectangle 122"/>
          <p:cNvSpPr/>
          <p:nvPr/>
        </p:nvSpPr>
        <p:spPr>
          <a:xfrm>
            <a:off x="566928" y="1188720"/>
            <a:ext cx="10991088" cy="905256"/>
          </a:xfrm>
          <a:prstGeom prst="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31520" y="126187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Chapter 2 editing</a:t>
            </a:r>
          </a:p>
        </p:txBody>
      </p:sp>
      <p:sp>
        <p:nvSpPr>
          <p:cNvPr id="125" name="TextBox 124"/>
          <p:cNvSpPr txBox="1"/>
          <p:nvPr/>
        </p:nvSpPr>
        <p:spPr>
          <a:xfrm>
            <a:off x="2971800" y="126187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Content is expanded. Next: shorten repetitive passages, resolve grammar and retain Carlo’s wording, technical boundaries and inline citations.</a:t>
            </a:r>
          </a:p>
        </p:txBody>
      </p:sp>
      <p:sp>
        <p:nvSpPr>
          <p:cNvPr id="126" name="Rectangle 125"/>
          <p:cNvSpPr/>
          <p:nvPr/>
        </p:nvSpPr>
        <p:spPr>
          <a:xfrm>
            <a:off x="566928" y="228600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31520" y="235915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Advisor disposition</a:t>
            </a:r>
          </a:p>
        </p:txBody>
      </p:sp>
      <p:sp>
        <p:nvSpPr>
          <p:cNvPr id="128" name="TextBox 127"/>
          <p:cNvSpPr txBox="1"/>
          <p:nvPr/>
        </p:nvSpPr>
        <p:spPr>
          <a:xfrm>
            <a:off x="2971800" y="235915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Quantification and oversight additions are ready for review. The abstract revision is deferred until Chapter 5; approval remains with Dr. Hao.</a:t>
            </a:r>
          </a:p>
        </p:txBody>
      </p:sp>
      <p:sp>
        <p:nvSpPr>
          <p:cNvPr id="129" name="Rectangle 128"/>
          <p:cNvSpPr/>
          <p:nvPr/>
        </p:nvSpPr>
        <p:spPr>
          <a:xfrm>
            <a:off x="566928" y="338328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31520" y="345643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Model evidence</a:t>
            </a:r>
          </a:p>
        </p:txBody>
      </p:sp>
      <p:sp>
        <p:nvSpPr>
          <p:cNvPr id="131" name="TextBox 130"/>
          <p:cNvSpPr txBox="1"/>
          <p:nvPr/>
        </p:nvSpPr>
        <p:spPr>
          <a:xfrm>
            <a:off x="2971800" y="345643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The saved regression reports PASS. Carlo’s licensed-environment reproduction, warnings and wall-clock log remain to be recorded.</a:t>
            </a:r>
          </a:p>
        </p:txBody>
      </p:sp>
      <p:sp>
        <p:nvSpPr>
          <p:cNvPr id="132" name="Rectangle 131"/>
          <p:cNvSpPr/>
          <p:nvPr/>
        </p:nvSpPr>
        <p:spPr>
          <a:xfrm>
            <a:off x="566928" y="448056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31520" y="455371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Geometry and provenance</a:t>
            </a:r>
          </a:p>
        </p:txBody>
      </p:sp>
      <p:sp>
        <p:nvSpPr>
          <p:cNvPr id="134" name="TextBox 133"/>
          <p:cNvSpPr txBox="1"/>
          <p:nvPr/>
        </p:nvSpPr>
        <p:spPr>
          <a:xfrm>
            <a:off x="2971800" y="455371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Historical OPS-SAT orbital inputs remain pending verification. The current 600 s up / 120 s down schedule remains a declared synthetic scenario.</a:t>
            </a:r>
          </a:p>
        </p:txBody>
      </p:sp>
      <p:sp>
        <p:nvSpPr>
          <p:cNvPr id="135" name="TextBox 134"/>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4 of 29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Next Steps: Chapter 2 First</a:t>
            </a:r>
            <a:endParaRPr/>
          </a:p>
        </p:txBody>
      </p:sp>
      <p:sp>
        <p:nvSpPr>
          <p:cNvPr id="134" name="Rectangle 133"/>
          <p:cNvSpPr/>
          <p:nvPr/>
        </p:nvSpPr>
        <p:spPr>
          <a:xfrm>
            <a:off x="566928" y="1143000"/>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94360" y="1170432"/>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01</a:t>
            </a:r>
          </a:p>
        </p:txBody>
      </p:sp>
      <p:sp>
        <p:nvSpPr>
          <p:cNvPr id="136" name="TextBox 135"/>
          <p:cNvSpPr txBox="1"/>
          <p:nvPr/>
        </p:nvSpPr>
        <p:spPr>
          <a:xfrm>
            <a:off x="1161288" y="1143000"/>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Reduce and edit Chapter 2</a:t>
            </a:r>
          </a:p>
        </p:txBody>
      </p:sp>
      <p:sp>
        <p:nvSpPr>
          <p:cNvPr id="137" name="TextBox 136"/>
          <p:cNvSpPr txBox="1"/>
          <p:nvPr/>
        </p:nvSpPr>
        <p:spPr>
          <a:xfrm>
            <a:off x="1161288" y="1463040"/>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Apply Hao’s guidance on concision; consolidate repetitive explanation while retaining the quantified examples and three civilian cases.</a:t>
            </a:r>
          </a:p>
        </p:txBody>
      </p:sp>
      <p:sp>
        <p:nvSpPr>
          <p:cNvPr id="138" name="Rectangle 137"/>
          <p:cNvSpPr/>
          <p:nvPr/>
        </p:nvSpPr>
        <p:spPr>
          <a:xfrm>
            <a:off x="566928" y="2029968"/>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94360" y="2057400"/>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02</a:t>
            </a:r>
          </a:p>
        </p:txBody>
      </p:sp>
      <p:sp>
        <p:nvSpPr>
          <p:cNvPr id="140" name="TextBox 139"/>
          <p:cNvSpPr txBox="1"/>
          <p:nvPr/>
        </p:nvSpPr>
        <p:spPr>
          <a:xfrm>
            <a:off x="1161288" y="2029968"/>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Prepare the advisor submission</a:t>
            </a:r>
          </a:p>
        </p:txBody>
      </p:sp>
      <p:sp>
        <p:nvSpPr>
          <p:cNvPr id="141" name="TextBox 140"/>
          <p:cNvSpPr txBox="1"/>
          <p:nvPr/>
        </p:nvSpPr>
        <p:spPr>
          <a:xfrm>
            <a:off x="1161288" y="2350008"/>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Review prose, citations, References, captions and front matter. Preserve the highlighted working copy as the change record.</a:t>
            </a:r>
          </a:p>
        </p:txBody>
      </p:sp>
      <p:sp>
        <p:nvSpPr>
          <p:cNvPr id="142" name="Rectangle 141"/>
          <p:cNvSpPr/>
          <p:nvPr/>
        </p:nvSpPr>
        <p:spPr>
          <a:xfrm>
            <a:off x="566928" y="2916936"/>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94360" y="2944368"/>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03</a:t>
            </a:r>
          </a:p>
        </p:txBody>
      </p:sp>
      <p:sp>
        <p:nvSpPr>
          <p:cNvPr id="144" name="TextBox 143"/>
          <p:cNvSpPr txBox="1"/>
          <p:nvPr/>
        </p:nvSpPr>
        <p:spPr>
          <a:xfrm>
            <a:off x="1161288" y="2916936"/>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Reproduce and document the model</a:t>
            </a:r>
          </a:p>
        </p:txBody>
      </p:sp>
      <p:sp>
        <p:nvSpPr>
          <p:cNvPr id="145" name="TextBox 144"/>
          <p:cNvSpPr txBox="1"/>
          <p:nvPr/>
        </p:nvSpPr>
        <p:spPr>
          <a:xfrm>
            <a:off x="1161288" y="3236976"/>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Run the bounded ACE case on Carlo’s licensed installation; capture release, PASS/FAIL, errors, warnings and elapsed time.</a:t>
            </a:r>
          </a:p>
        </p:txBody>
      </p:sp>
      <p:sp>
        <p:nvSpPr>
          <p:cNvPr id="146" name="Rectangle 145"/>
          <p:cNvSpPr/>
          <p:nvPr/>
        </p:nvSpPr>
        <p:spPr>
          <a:xfrm>
            <a:off x="566928" y="3803904"/>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94360" y="3831336"/>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04</a:t>
            </a:r>
          </a:p>
        </p:txBody>
      </p:sp>
      <p:sp>
        <p:nvSpPr>
          <p:cNvPr id="148" name="TextBox 147"/>
          <p:cNvSpPr txBox="1"/>
          <p:nvPr/>
        </p:nvSpPr>
        <p:spPr>
          <a:xfrm>
            <a:off x="1161288" y="3803904"/>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Plan bounded extensions</a:t>
            </a:r>
          </a:p>
        </p:txBody>
      </p:sp>
      <p:sp>
        <p:nvSpPr>
          <p:cNvPr id="149" name="TextBox 148"/>
          <p:cNvSpPr txBox="1"/>
          <p:nvPr/>
        </p:nvSpPr>
        <p:spPr>
          <a:xfrm>
            <a:off x="1161288" y="4123944"/>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Benchmark small replication batches; define sensitivity factors. Aerospace geometry / visualization remains a separately verified next capability.</a:t>
            </a:r>
          </a:p>
        </p:txBody>
      </p:sp>
      <p:sp>
        <p:nvSpPr>
          <p:cNvPr id="150" name="Rectangle 149"/>
          <p:cNvSpPr/>
          <p:nvPr/>
        </p:nvSpPr>
        <p:spPr>
          <a:xfrm>
            <a:off x="566928" y="4690872"/>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94360" y="4718304"/>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05</a:t>
            </a:r>
          </a:p>
        </p:txBody>
      </p:sp>
      <p:sp>
        <p:nvSpPr>
          <p:cNvPr id="152" name="TextBox 151"/>
          <p:cNvSpPr txBox="1"/>
          <p:nvPr/>
        </p:nvSpPr>
        <p:spPr>
          <a:xfrm>
            <a:off x="1161288" y="4690872"/>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Session 6 • November 14 suspense</a:t>
            </a:r>
          </a:p>
        </p:txBody>
      </p:sp>
      <p:sp>
        <p:nvSpPr>
          <p:cNvPr id="153" name="TextBox 152"/>
          <p:cNvSpPr txBox="1"/>
          <p:nvPr/>
        </p:nvSpPr>
        <p:spPr>
          <a:xfrm>
            <a:off x="1161288" y="5010912"/>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520" b="0">
                <a:solidFill>
                  <a:srgbClr val="202020"/>
                </a:solidFill>
                <a:latin typeface="Calibri"/>
              </a:rPr>
              <a:t>Due: Dr. Hao comments incorporated + final Chapter 2 revisions; assemble the evidence package and carry forward any remaining model actions.</a:t>
            </a:r>
          </a:p>
        </p:txBody>
      </p:sp>
      <p:sp>
        <p:nvSpPr>
          <p:cNvPr id="154" name="TextBox 15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5 of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Work Package: Meeting 4 to Session 6</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a:solidFill>
                  <a:srgbClr val="202020"/>
                </a:solidFill>
                <a:latin typeface="Calibri"/>
              </a:rPr>
              <a:t>Completed work is left of the green TODAY line; the red line is the next advisor suspense.</a:t>
            </a:r>
          </a:p>
        </p:txBody>
      </p:sp>
      <p:cxnSp>
        <p:nvCxnSpPr>
          <p:cNvPr id="4" name="Connector 3"/>
          <p:cNvCxnSpPr/>
          <p:nvPr/>
        </p:nvCxnSpPr>
        <p:spPr>
          <a:xfrm>
            <a:off x="352044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17 Oct</a:t>
            </a:r>
          </a:p>
        </p:txBody>
      </p:sp>
      <p:cxnSp>
        <p:nvCxnSpPr>
          <p:cNvPr id="6" name="Connector 5"/>
          <p:cNvCxnSpPr/>
          <p:nvPr/>
        </p:nvCxnSpPr>
        <p:spPr>
          <a:xfrm>
            <a:off x="550926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8922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24 Oct</a:t>
            </a:r>
          </a:p>
        </p:txBody>
      </p:sp>
      <p:cxnSp>
        <p:nvCxnSpPr>
          <p:cNvPr id="8" name="Connector 7"/>
          <p:cNvCxnSpPr/>
          <p:nvPr/>
        </p:nvCxnSpPr>
        <p:spPr>
          <a:xfrm>
            <a:off x="7213962"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9392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30 Oct</a:t>
            </a:r>
          </a:p>
        </p:txBody>
      </p:sp>
      <p:cxnSp>
        <p:nvCxnSpPr>
          <p:cNvPr id="10" name="Connector 9"/>
          <p:cNvCxnSpPr/>
          <p:nvPr/>
        </p:nvCxnSpPr>
        <p:spPr>
          <a:xfrm>
            <a:off x="948690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6686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7 Nov</a:t>
            </a:r>
          </a:p>
        </p:txBody>
      </p:sp>
      <p:cxnSp>
        <p:nvCxnSpPr>
          <p:cNvPr id="12" name="Connector 11"/>
          <p:cNvCxnSpPr/>
          <p:nvPr/>
        </p:nvCxnSpPr>
        <p:spPr>
          <a:xfrm>
            <a:off x="1147572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14 Nov</a:t>
            </a:r>
          </a:p>
        </p:txBody>
      </p:sp>
      <p:sp>
        <p:nvSpPr>
          <p:cNvPr id="14" name="TextBox 13"/>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202020"/>
                </a:solidFill>
                <a:latin typeface="Calibri"/>
              </a:rPr>
              <a:t>v9 literature expansion</a:t>
            </a:r>
          </a:p>
        </p:txBody>
      </p:sp>
      <p:sp>
        <p:nvSpPr>
          <p:cNvPr id="15" name="Rectangle 14"/>
          <p:cNvSpPr/>
          <p:nvPr/>
        </p:nvSpPr>
        <p:spPr>
          <a:xfrm>
            <a:off x="3520440" y="1984248"/>
            <a:ext cx="1988820"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286B98"/>
                </a:solidFill>
                <a:latin typeface="Calibri"/>
              </a:rPr>
              <a:t>DONE · 24 Oct</a:t>
            </a:r>
          </a:p>
        </p:txBody>
      </p:sp>
      <p:sp>
        <p:nvSpPr>
          <p:cNvPr id="17" name="TextBox 16"/>
          <p:cNvSpPr txBox="1"/>
          <p:nvPr/>
        </p:nvSpPr>
        <p:spPr>
          <a:xfrm>
            <a:off x="502920" y="256946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20">
                <a:solidFill>
                  <a:srgbClr val="202020"/>
                </a:solidFill>
                <a:latin typeface="Calibri"/>
              </a:rPr>
              <a:t>§2.3 quantification + oversight + reference merge</a:t>
            </a:r>
          </a:p>
        </p:txBody>
      </p:sp>
      <p:sp>
        <p:nvSpPr>
          <p:cNvPr id="18" name="Rectangle 17"/>
          <p:cNvSpPr/>
          <p:nvPr/>
        </p:nvSpPr>
        <p:spPr>
          <a:xfrm>
            <a:off x="5509260" y="2660903"/>
            <a:ext cx="1136468"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45836" y="2871215"/>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167E86"/>
                </a:solidFill>
                <a:latin typeface="Calibri"/>
              </a:rPr>
              <a:t>DONE · 28 Oct</a:t>
            </a:r>
          </a:p>
        </p:txBody>
      </p:sp>
      <p:sp>
        <p:nvSpPr>
          <p:cNvPr id="20" name="TextBox 19"/>
          <p:cNvSpPr txBox="1"/>
          <p:nvPr/>
        </p:nvSpPr>
        <p:spPr>
          <a:xfrm>
            <a:off x="502920" y="324612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50">
                <a:solidFill>
                  <a:srgbClr val="202020"/>
                </a:solidFill>
                <a:latin typeface="Calibri"/>
              </a:rPr>
              <a:t>Session 5 brief + MATLAB evidence</a:t>
            </a:r>
          </a:p>
        </p:txBody>
      </p:sp>
      <p:sp>
        <p:nvSpPr>
          <p:cNvPr id="21" name="Rectangle 20"/>
          <p:cNvSpPr/>
          <p:nvPr/>
        </p:nvSpPr>
        <p:spPr>
          <a:xfrm>
            <a:off x="6645728" y="3337560"/>
            <a:ext cx="568234"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82304" y="354787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DONE · 29 Oct</a:t>
            </a:r>
          </a:p>
        </p:txBody>
      </p:sp>
      <p:sp>
        <p:nvSpPr>
          <p:cNvPr id="23" name="TextBox 22"/>
          <p:cNvSpPr txBox="1"/>
          <p:nvPr/>
        </p:nvSpPr>
        <p:spPr>
          <a:xfrm>
            <a:off x="502920" y="39227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50">
                <a:solidFill>
                  <a:srgbClr val="202020"/>
                </a:solidFill>
                <a:latin typeface="Calibri"/>
              </a:rPr>
              <a:t>Dr. Hao comments + final revisions</a:t>
            </a:r>
          </a:p>
        </p:txBody>
      </p:sp>
      <p:sp>
        <p:nvSpPr>
          <p:cNvPr id="24" name="Rectangle 23"/>
          <p:cNvSpPr/>
          <p:nvPr/>
        </p:nvSpPr>
        <p:spPr>
          <a:xfrm>
            <a:off x="7213962" y="4014216"/>
            <a:ext cx="4261104"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50538" y="4224528"/>
            <a:ext cx="4261757"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71559F"/>
                </a:solidFill>
                <a:latin typeface="Calibri"/>
              </a:rPr>
              <a:t>PRIMARY SUSPENSE · 14 Nov</a:t>
            </a:r>
          </a:p>
        </p:txBody>
      </p:sp>
      <p:sp>
        <p:nvSpPr>
          <p:cNvPr id="26" name="TextBox 25"/>
          <p:cNvSpPr txBox="1"/>
          <p:nvPr/>
        </p:nvSpPr>
        <p:spPr>
          <a:xfrm>
            <a:off x="502920" y="459943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202020"/>
                </a:solidFill>
                <a:latin typeface="Calibri"/>
              </a:rPr>
              <a:t>Session 6 evidence package</a:t>
            </a:r>
          </a:p>
        </p:txBody>
      </p:sp>
      <p:sp>
        <p:nvSpPr>
          <p:cNvPr id="27" name="Rectangle 26"/>
          <p:cNvSpPr/>
          <p:nvPr/>
        </p:nvSpPr>
        <p:spPr>
          <a:xfrm>
            <a:off x="10907485" y="4690872"/>
            <a:ext cx="568234"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1240" y="4901184"/>
            <a:ext cx="155448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286B98"/>
                </a:solidFill>
                <a:latin typeface="Calibri"/>
              </a:rPr>
              <a:t>Briefing gate</a:t>
            </a:r>
          </a:p>
        </p:txBody>
      </p:sp>
      <p:cxnSp>
        <p:nvCxnSpPr>
          <p:cNvPr id="29" name="Connector 28"/>
          <p:cNvCxnSpPr/>
          <p:nvPr/>
        </p:nvCxnSpPr>
        <p:spPr>
          <a:xfrm>
            <a:off x="7213962" y="1627632"/>
            <a:ext cx="0" cy="3776472"/>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46520" y="1097280"/>
            <a:ext cx="15544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31" name="Connector 30"/>
          <p:cNvCxnSpPr/>
          <p:nvPr/>
        </p:nvCxnSpPr>
        <p:spPr>
          <a:xfrm>
            <a:off x="11475720" y="1627632"/>
            <a:ext cx="0" cy="3776472"/>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555480" y="1097280"/>
            <a:ext cx="21488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30" b="1">
                <a:solidFill>
                  <a:srgbClr val="C00000"/>
                </a:solidFill>
                <a:latin typeface="Calibri"/>
              </a:rPr>
              <a:t>14 NOV · FINAL REVISIONS</a:t>
            </a:r>
          </a:p>
        </p:txBody>
      </p:sp>
      <p:sp>
        <p:nvSpPr>
          <p:cNvPr id="33" name="TextBox 32"/>
          <p:cNvSpPr txBox="1"/>
          <p:nvPr/>
        </p:nvSpPr>
        <p:spPr>
          <a:xfrm>
            <a:off x="502920" y="523951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a:solidFill>
                  <a:srgbClr val="202020"/>
                </a:solidFill>
                <a:latin typeface="Calibri"/>
              </a:rPr>
              <a:t>Green = October 30 briefing.  Red suspense = November 14: Dr. Hao comments incorporated + final revisions.</a:t>
            </a:r>
          </a:p>
        </p:txBody>
      </p:sp>
      <p:sp>
        <p:nvSpPr>
          <p:cNvPr id="34" name="TextBox 3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6 of 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Next Work Period: October 30–November 14</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a:solidFill>
                  <a:srgbClr val="202020"/>
                </a:solidFill>
                <a:latin typeface="Calibri"/>
              </a:rPr>
              <a:t>Primary writing task: incorporate Session 5 guidance and close Chapter 2; model reproduction supports the evidence package.</a:t>
            </a:r>
          </a:p>
        </p:txBody>
      </p:sp>
      <p:cxnSp>
        <p:nvCxnSpPr>
          <p:cNvPr id="4" name="Connector 3"/>
          <p:cNvCxnSpPr/>
          <p:nvPr/>
        </p:nvCxnSpPr>
        <p:spPr>
          <a:xfrm>
            <a:off x="3520440"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30 Oct</a:t>
            </a:r>
          </a:p>
        </p:txBody>
      </p:sp>
      <p:cxnSp>
        <p:nvCxnSpPr>
          <p:cNvPr id="6" name="Connector 5"/>
          <p:cNvCxnSpPr/>
          <p:nvPr/>
        </p:nvCxnSpPr>
        <p:spPr>
          <a:xfrm>
            <a:off x="5111496"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91456"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2 Nov</a:t>
            </a:r>
          </a:p>
        </p:txBody>
      </p:sp>
      <p:cxnSp>
        <p:nvCxnSpPr>
          <p:cNvPr id="8" name="Connector 7"/>
          <p:cNvCxnSpPr/>
          <p:nvPr/>
        </p:nvCxnSpPr>
        <p:spPr>
          <a:xfrm>
            <a:off x="7232904"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912864"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6 Nov</a:t>
            </a:r>
          </a:p>
        </p:txBody>
      </p:sp>
      <p:cxnSp>
        <p:nvCxnSpPr>
          <p:cNvPr id="10" name="Connector 9"/>
          <p:cNvCxnSpPr/>
          <p:nvPr/>
        </p:nvCxnSpPr>
        <p:spPr>
          <a:xfrm>
            <a:off x="9354312"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03427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10 Nov</a:t>
            </a:r>
          </a:p>
        </p:txBody>
      </p:sp>
      <p:cxnSp>
        <p:nvCxnSpPr>
          <p:cNvPr id="12" name="Connector 11"/>
          <p:cNvCxnSpPr/>
          <p:nvPr/>
        </p:nvCxnSpPr>
        <p:spPr>
          <a:xfrm>
            <a:off x="11475720"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14 Nov</a:t>
            </a:r>
          </a:p>
        </p:txBody>
      </p:sp>
      <p:sp>
        <p:nvSpPr>
          <p:cNvPr id="14" name="TextBox 13"/>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Capture Session 5 guidance</a:t>
            </a:r>
          </a:p>
        </p:txBody>
      </p:sp>
      <p:sp>
        <p:nvSpPr>
          <p:cNvPr id="15" name="Rectangle 14"/>
          <p:cNvSpPr/>
          <p:nvPr/>
        </p:nvSpPr>
        <p:spPr>
          <a:xfrm>
            <a:off x="3520440" y="1984248"/>
            <a:ext cx="1591055"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Planned</a:t>
            </a:r>
          </a:p>
        </p:txBody>
      </p:sp>
      <p:sp>
        <p:nvSpPr>
          <p:cNvPr id="17" name="TextBox 16"/>
          <p:cNvSpPr txBox="1"/>
          <p:nvPr/>
        </p:nvSpPr>
        <p:spPr>
          <a:xfrm>
            <a:off x="502920" y="24505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30">
                <a:solidFill>
                  <a:srgbClr val="202020"/>
                </a:solidFill>
                <a:latin typeface="Calibri"/>
              </a:rPr>
              <a:t>Dr. Hao comments + final Chapter 2 revisions</a:t>
            </a:r>
          </a:p>
        </p:txBody>
      </p:sp>
      <p:sp>
        <p:nvSpPr>
          <p:cNvPr id="18" name="Rectangle 17"/>
          <p:cNvSpPr/>
          <p:nvPr/>
        </p:nvSpPr>
        <p:spPr>
          <a:xfrm>
            <a:off x="3520440" y="2542032"/>
            <a:ext cx="795528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7016" y="2752344"/>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PRIMARY SUSPENSE · 14 Nov</a:t>
            </a:r>
          </a:p>
        </p:txBody>
      </p:sp>
      <p:sp>
        <p:nvSpPr>
          <p:cNvPr id="20" name="TextBox 19"/>
          <p:cNvSpPr txBox="1"/>
          <p:nvPr/>
        </p:nvSpPr>
        <p:spPr>
          <a:xfrm>
            <a:off x="502920" y="30083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30">
                <a:solidFill>
                  <a:srgbClr val="202020"/>
                </a:solidFill>
                <a:latin typeface="Calibri"/>
              </a:rPr>
              <a:t>Concision, citations, figures and formatting</a:t>
            </a:r>
          </a:p>
        </p:txBody>
      </p:sp>
      <p:sp>
        <p:nvSpPr>
          <p:cNvPr id="21" name="Rectangle 20"/>
          <p:cNvSpPr/>
          <p:nvPr/>
        </p:nvSpPr>
        <p:spPr>
          <a:xfrm>
            <a:off x="6702552" y="3099816"/>
            <a:ext cx="3182112"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9128" y="3310128"/>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71559F"/>
                </a:solidFill>
                <a:latin typeface="Calibri"/>
              </a:rPr>
              <a:t>Controlled final revision</a:t>
            </a:r>
          </a:p>
        </p:txBody>
      </p:sp>
      <p:sp>
        <p:nvSpPr>
          <p:cNvPr id="23" name="TextBox 22"/>
          <p:cNvSpPr txBox="1"/>
          <p:nvPr/>
        </p:nvSpPr>
        <p:spPr>
          <a:xfrm>
            <a:off x="502920" y="356616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Owner MATLAB reproduction</a:t>
            </a:r>
          </a:p>
        </p:txBody>
      </p:sp>
      <p:sp>
        <p:nvSpPr>
          <p:cNvPr id="24" name="Rectangle 23"/>
          <p:cNvSpPr/>
          <p:nvPr/>
        </p:nvSpPr>
        <p:spPr>
          <a:xfrm>
            <a:off x="5111496" y="3657600"/>
            <a:ext cx="318211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48072" y="386791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PASS log + elapsed time</a:t>
            </a:r>
          </a:p>
        </p:txBody>
      </p:sp>
      <p:sp>
        <p:nvSpPr>
          <p:cNvPr id="26" name="TextBox 25"/>
          <p:cNvSpPr txBox="1"/>
          <p:nvPr/>
        </p:nvSpPr>
        <p:spPr>
          <a:xfrm>
            <a:off x="502920" y="41239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V&amp;V / sensitivity plan</a:t>
            </a:r>
          </a:p>
        </p:txBody>
      </p:sp>
      <p:sp>
        <p:nvSpPr>
          <p:cNvPr id="27" name="Rectangle 26"/>
          <p:cNvSpPr/>
          <p:nvPr/>
        </p:nvSpPr>
        <p:spPr>
          <a:xfrm>
            <a:off x="7232904" y="4215384"/>
            <a:ext cx="318211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4425696"/>
            <a:ext cx="4242816"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Bounded test design</a:t>
            </a:r>
          </a:p>
        </p:txBody>
      </p:sp>
      <p:sp>
        <p:nvSpPr>
          <p:cNvPr id="29" name="TextBox 28"/>
          <p:cNvSpPr txBox="1"/>
          <p:nvPr/>
        </p:nvSpPr>
        <p:spPr>
          <a:xfrm>
            <a:off x="502920" y="468172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202020"/>
                </a:solidFill>
                <a:latin typeface="Calibri"/>
              </a:rPr>
              <a:t>Session 6 review package</a:t>
            </a:r>
          </a:p>
        </p:txBody>
      </p:sp>
      <p:sp>
        <p:nvSpPr>
          <p:cNvPr id="30" name="Rectangle 29"/>
          <p:cNvSpPr/>
          <p:nvPr/>
        </p:nvSpPr>
        <p:spPr>
          <a:xfrm>
            <a:off x="9354312" y="4773168"/>
            <a:ext cx="2121408"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0888" y="4983480"/>
            <a:ext cx="2121408"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Final revisions + evidence</a:t>
            </a:r>
          </a:p>
        </p:txBody>
      </p:sp>
      <p:cxnSp>
        <p:nvCxnSpPr>
          <p:cNvPr id="32" name="Connector 31"/>
          <p:cNvCxnSpPr/>
          <p:nvPr/>
        </p:nvCxnSpPr>
        <p:spPr>
          <a:xfrm>
            <a:off x="3520440" y="1627632"/>
            <a:ext cx="0" cy="3739896"/>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88920" y="1097280"/>
            <a:ext cx="160020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34" name="Connector 33"/>
          <p:cNvCxnSpPr/>
          <p:nvPr/>
        </p:nvCxnSpPr>
        <p:spPr>
          <a:xfrm>
            <a:off x="11475720" y="1627632"/>
            <a:ext cx="0" cy="3739896"/>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555480" y="1097280"/>
            <a:ext cx="21488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30" b="1">
                <a:solidFill>
                  <a:srgbClr val="C00000"/>
                </a:solidFill>
                <a:latin typeface="Calibri"/>
              </a:rPr>
              <a:t>14 NOV · FINAL REVISIONS</a:t>
            </a:r>
          </a:p>
        </p:txBody>
      </p:sp>
      <p:sp>
        <p:nvSpPr>
          <p:cNvPr id="36" name="TextBox 35"/>
          <p:cNvSpPr txBox="1"/>
          <p:nvPr/>
        </p:nvSpPr>
        <p:spPr>
          <a:xfrm>
            <a:off x="502920" y="523951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a:solidFill>
                  <a:srgbClr val="202020"/>
                </a:solidFill>
                <a:latin typeface="Calibri"/>
              </a:rPr>
              <a:t>Green = October 30 briefing.  Red suspense = November 14: Dr. Hao comments incorporated + final revisions.</a:t>
            </a:r>
          </a:p>
        </p:txBody>
      </p:sp>
      <p:sp>
        <p:nvSpPr>
          <p:cNvPr id="37" name="TextBox 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7 of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Chapter 2 Narrative: 32 → 51 Pages (+19)</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Expansion response: </a:t>
            </a:r>
            <a:r>
              <a:rPr sz="1400" b="1">
                <a:solidFill>
                  <a:srgbClr val="576573"/>
                </a:solidFill>
                <a:latin typeface="Calibri"/>
              </a:rPr>
              <a:t>+19 pages beyond v9</a:t>
            </a:r>
            <a:r>
              <a:rPr sz="1400" b="0">
                <a:solidFill>
                  <a:srgbClr val="576573"/>
                </a:solidFill>
                <a:latin typeface="Calibri"/>
              </a:rPr>
              <a:t> (approximately 18–20).</a:t>
            </a:r>
          </a:p>
          <a:p>
            <a:pPr algn="l">
              <a:lnSpc>
                <a:spcPct val="105000"/>
              </a:lnSpc>
              <a:spcBef>
                <a:spcPts val="0"/>
              </a:spcBef>
              <a:spcAft>
                <a:spcPts val="200"/>
              </a:spcAft>
            </a:pPr>
            <a:r>
              <a:rPr sz="1400" b="0">
                <a:solidFill>
                  <a:srgbClr val="576573"/>
                </a:solidFill>
                <a:latin typeface="Calibri"/>
              </a:rPr>
              <a:t>Narrative only; final count includes added content and normalized double spacing.</a:t>
            </a:r>
          </a:p>
        </p:txBody>
      </p:sp>
      <p:graphicFrame>
        <p:nvGraphicFramePr>
          <p:cNvPr id="4" name="Chart 3"/>
          <p:cNvGraphicFramePr>
            <a:graphicFrameLocks noGrp="1"/>
          </p:cNvGraphicFramePr>
          <p:nvPr/>
        </p:nvGraphicFramePr>
        <p:xfrm>
          <a:off x="658368" y="1417320"/>
          <a:ext cx="6949440" cy="3986784"/>
        </p:xfrm>
        <a:graphic>
          <a:graphicData uri="http://schemas.openxmlformats.org/drawingml/2006/chart">
            <c:chart xmlns:c="http://schemas.openxmlformats.org/drawingml/2006/chart" r:id="rId2"/>
          </a:graphicData>
        </a:graphic>
      </p:graphicFrame>
      <p:sp>
        <p:nvSpPr>
          <p:cNvPr id="5" name="Rounded Rectangle 4"/>
          <p:cNvSpPr/>
          <p:nvPr/>
        </p:nvSpPr>
        <p:spPr>
          <a:xfrm>
            <a:off x="8001000" y="1508760"/>
            <a:ext cx="3474720" cy="1325880"/>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11312" y="1627632"/>
            <a:ext cx="3108960" cy="548640"/>
          </a:xfrm>
          <a:prstGeom prst="rect">
            <a:avLst/>
          </a:prstGeom>
          <a:noFill/>
        </p:spPr>
        <p:txBody>
          <a:bodyPr wrap="square" lIns="18288" rIns="18288" tIns="18288" bIns="18288">
            <a:spAutoFit/>
          </a:bodyPr>
          <a:lstStyle/>
          <a:p>
            <a:pPr algn="l">
              <a:lnSpc>
                <a:spcPct val="105000"/>
              </a:lnSpc>
              <a:spcBef>
                <a:spcPts val="0"/>
              </a:spcBef>
              <a:spcAft>
                <a:spcPts val="200"/>
              </a:spcAft>
            </a:pPr>
            <a:r>
              <a:rPr sz="3200" b="1">
                <a:solidFill>
                  <a:srgbClr val="29864D"/>
                </a:solidFill>
                <a:latin typeface="Calibri"/>
              </a:rPr>
              <a:t>51 pages</a:t>
            </a:r>
          </a:p>
        </p:txBody>
      </p:sp>
      <p:sp>
        <p:nvSpPr>
          <p:cNvPr id="7" name="TextBox 6"/>
          <p:cNvSpPr txBox="1"/>
          <p:nvPr/>
        </p:nvSpPr>
        <p:spPr>
          <a:xfrm>
            <a:off x="8211312" y="2258568"/>
            <a:ext cx="3063240" cy="33832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263746"/>
                </a:solidFill>
                <a:latin typeface="Calibri"/>
              </a:rPr>
              <a:t>Chapter 2 narrative only</a:t>
            </a:r>
          </a:p>
        </p:txBody>
      </p:sp>
      <p:sp>
        <p:nvSpPr>
          <p:cNvPr id="8" name="Rounded Rectangle 7"/>
          <p:cNvSpPr/>
          <p:nvPr/>
        </p:nvSpPr>
        <p:spPr>
          <a:xfrm>
            <a:off x="8001000" y="3090672"/>
            <a:ext cx="3474720" cy="1188720"/>
          </a:xfrm>
          <a:prstGeom prst="round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3227832"/>
            <a:ext cx="31089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2500" b="1">
                <a:solidFill>
                  <a:srgbClr val="002B49"/>
                </a:solidFill>
                <a:latin typeface="Calibri"/>
              </a:rPr>
              <a:t>+19 beyond v9</a:t>
            </a:r>
          </a:p>
        </p:txBody>
      </p:sp>
      <p:sp>
        <p:nvSpPr>
          <p:cNvPr id="10" name="TextBox 9"/>
          <p:cNvSpPr txBox="1"/>
          <p:nvPr/>
        </p:nvSpPr>
        <p:spPr>
          <a:xfrm>
            <a:off x="8211312" y="3739896"/>
            <a:ext cx="306324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263746"/>
                </a:solidFill>
                <a:latin typeface="Calibri"/>
              </a:rPr>
              <a:t>32 → 51 narrative pages</a:t>
            </a:r>
          </a:p>
        </p:txBody>
      </p:sp>
      <p:sp>
        <p:nvSpPr>
          <p:cNvPr id="11" name="TextBox 10"/>
          <p:cNvSpPr txBox="1"/>
          <p:nvPr/>
        </p:nvSpPr>
        <p:spPr>
          <a:xfrm>
            <a:off x="8092440" y="4617720"/>
            <a:ext cx="3383280" cy="82296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v11 total: 76 pages</a:t>
            </a:r>
          </a:p>
          <a:p>
            <a:pPr algn="l">
              <a:lnSpc>
                <a:spcPct val="105000"/>
              </a:lnSpc>
              <a:spcBef>
                <a:spcPts val="0"/>
              </a:spcBef>
              <a:spcAft>
                <a:spcPts val="200"/>
              </a:spcAft>
            </a:pPr>
            <a:r>
              <a:rPr sz="1600" b="0">
                <a:solidFill>
                  <a:srgbClr val="263746"/>
                </a:solidFill>
                <a:latin typeface="Calibri"/>
              </a:rPr>
              <a:t>10 front matter + </a:t>
            </a:r>
            <a:r>
              <a:rPr sz="1600" b="1">
                <a:solidFill>
                  <a:srgbClr val="263746"/>
                </a:solidFill>
                <a:latin typeface="Calibri"/>
              </a:rPr>
              <a:t>51 narrative</a:t>
            </a:r>
          </a:p>
          <a:p>
            <a:pPr algn="l">
              <a:lnSpc>
                <a:spcPct val="105000"/>
              </a:lnSpc>
              <a:spcBef>
                <a:spcPts val="0"/>
              </a:spcBef>
              <a:spcAft>
                <a:spcPts val="200"/>
              </a:spcAft>
            </a:pPr>
            <a:r>
              <a:rPr sz="1600" b="0">
                <a:solidFill>
                  <a:srgbClr val="263746"/>
                </a:solidFill>
                <a:latin typeface="Calibri"/>
              </a:rPr>
              <a:t>+ 15 References</a:t>
            </a:r>
          </a:p>
        </p:txBody>
      </p:sp>
      <p:sp>
        <p:nvSpPr>
          <p:cNvPr id="12" name="TextBox 1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8 of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3 CIVILIAN USE CASES — §2.3</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576573"/>
                </a:solidFill>
                <a:latin typeface="Calibri"/>
              </a:rPr>
              <a:t>20 expansion-support sources integrated; 91 unique references in Chapter 2.</a:t>
            </a:r>
          </a:p>
        </p:txBody>
      </p:sp>
      <p:sp>
        <p:nvSpPr>
          <p:cNvPr id="4" name="Rounded Rectangle 3"/>
          <p:cNvSpPr/>
          <p:nvPr/>
        </p:nvSpPr>
        <p:spPr>
          <a:xfrm>
            <a:off x="548640" y="1371600"/>
            <a:ext cx="3474720" cy="3904487"/>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USE CASE 1: SCHOOL</a:t>
            </a:r>
          </a:p>
        </p:txBody>
      </p:sp>
      <p:sp>
        <p:nvSpPr>
          <p:cNvPr id="6" name="TextBox 5"/>
          <p:cNvSpPr txBox="1"/>
          <p:nvPr/>
        </p:nvSpPr>
        <p:spPr>
          <a:xfrm>
            <a:off x="704088"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Wildfire situational awareness</a:t>
            </a:r>
          </a:p>
        </p:txBody>
      </p:sp>
      <p:sp>
        <p:nvSpPr>
          <p:cNvPr id="7" name="TextBox 6"/>
          <p:cNvSpPr txBox="1"/>
          <p:nvPr/>
        </p:nvSpPr>
        <p:spPr>
          <a:xfrm>
            <a:off x="704088"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Thermal-event location, timestamp and quality / image context support district review. Staff retain activity and emergency decisions.</a:t>
            </a:r>
          </a:p>
        </p:txBody>
      </p:sp>
      <p:sp>
        <p:nvSpPr>
          <p:cNvPr id="8" name="TextBox 7"/>
          <p:cNvSpPr txBox="1"/>
          <p:nvPr/>
        </p:nvSpPr>
        <p:spPr>
          <a:xfrm>
            <a:off x="704088"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22–23 and 34–35</a:t>
            </a:r>
          </a:p>
        </p:txBody>
      </p:sp>
      <p:sp>
        <p:nvSpPr>
          <p:cNvPr id="9" name="TextBox 8"/>
          <p:cNvSpPr txBox="1"/>
          <p:nvPr/>
        </p:nvSpPr>
        <p:spPr>
          <a:xfrm>
            <a:off x="704088"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Schroeder et al. (2014); EPA &amp; CDC (2014)</a:t>
            </a:r>
          </a:p>
        </p:txBody>
      </p:sp>
      <p:sp>
        <p:nvSpPr>
          <p:cNvPr id="10" name="Rounded Rectangle 9"/>
          <p:cNvSpPr/>
          <p:nvPr/>
        </p:nvSpPr>
        <p:spPr>
          <a:xfrm>
            <a:off x="4361688" y="1371600"/>
            <a:ext cx="3474720" cy="3904487"/>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USE CASE 2: MEDICAL</a:t>
            </a:r>
          </a:p>
        </p:txBody>
      </p:sp>
      <p:sp>
        <p:nvSpPr>
          <p:cNvPr id="12" name="TextBox 11"/>
          <p:cNvSpPr txBox="1"/>
          <p:nvPr/>
        </p:nvSpPr>
        <p:spPr>
          <a:xfrm>
            <a:off x="4517136"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Flood information for hospital access</a:t>
            </a:r>
          </a:p>
        </p:txBody>
      </p:sp>
      <p:sp>
        <p:nvSpPr>
          <p:cNvPr id="13" name="TextBox 12"/>
          <p:cNvSpPr txBox="1"/>
          <p:nvPr/>
        </p:nvSpPr>
        <p:spPr>
          <a:xfrm>
            <a:off x="4517136"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Flood / access information supports transport and healthcare coordination. On-the-ground staff retain route confirmation and clinical judgment.</a:t>
            </a:r>
          </a:p>
        </p:txBody>
      </p:sp>
      <p:sp>
        <p:nvSpPr>
          <p:cNvPr id="14" name="TextBox 13"/>
          <p:cNvSpPr txBox="1"/>
          <p:nvPr/>
        </p:nvSpPr>
        <p:spPr>
          <a:xfrm>
            <a:off x="4517136"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23–25 and 35–36</a:t>
            </a:r>
          </a:p>
        </p:txBody>
      </p:sp>
      <p:sp>
        <p:nvSpPr>
          <p:cNvPr id="15" name="TextBox 14"/>
          <p:cNvSpPr txBox="1"/>
          <p:nvPr/>
        </p:nvSpPr>
        <p:spPr>
          <a:xfrm>
            <a:off x="4517136"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Petricola et al. (2022); Twele et al. (2016)</a:t>
            </a:r>
          </a:p>
        </p:txBody>
      </p:sp>
      <p:sp>
        <p:nvSpPr>
          <p:cNvPr id="16" name="Rounded Rectangle 15"/>
          <p:cNvSpPr/>
          <p:nvPr/>
        </p:nvSpPr>
        <p:spPr>
          <a:xfrm>
            <a:off x="8174736" y="1371600"/>
            <a:ext cx="3474720" cy="3904487"/>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0183"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USE CASE 3: MUNICIPAL</a:t>
            </a:r>
          </a:p>
        </p:txBody>
      </p:sp>
      <p:sp>
        <p:nvSpPr>
          <p:cNvPr id="18" name="TextBox 17"/>
          <p:cNvSpPr txBox="1"/>
          <p:nvPr/>
        </p:nvSpPr>
        <p:spPr>
          <a:xfrm>
            <a:off x="8330183"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Reservoir and bloom monitoring</a:t>
            </a:r>
          </a:p>
        </p:txBody>
      </p:sp>
      <p:sp>
        <p:nvSpPr>
          <p:cNvPr id="19" name="TextBox 18"/>
          <p:cNvSpPr txBox="1"/>
          <p:nvPr/>
        </p:nvSpPr>
        <p:spPr>
          <a:xfrm>
            <a:off x="8330183"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Compact waterbody-screening reports guide sampling attention. Municipal personnel retain field verification and public-authority decisions.</a:t>
            </a:r>
          </a:p>
        </p:txBody>
      </p:sp>
      <p:sp>
        <p:nvSpPr>
          <p:cNvPr id="20" name="TextBox 19"/>
          <p:cNvSpPr txBox="1"/>
          <p:nvPr/>
        </p:nvSpPr>
        <p:spPr>
          <a:xfrm>
            <a:off x="8330183"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25–26 and 36–38</a:t>
            </a:r>
          </a:p>
        </p:txBody>
      </p:sp>
      <p:sp>
        <p:nvSpPr>
          <p:cNvPr id="21" name="TextBox 20"/>
          <p:cNvSpPr txBox="1"/>
          <p:nvPr/>
        </p:nvSpPr>
        <p:spPr>
          <a:xfrm>
            <a:off x="8330183"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Schaeffer et al. (2018); EPA (2026); California Water Board (n.d.)</a:t>
            </a:r>
          </a:p>
        </p:txBody>
      </p:sp>
      <p:sp>
        <p:nvSpPr>
          <p:cNvPr id="22" name="TextBox 2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9 of 29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17A4F0-E62A-5A61-6F09-D08F0F48884A}"/>
              </a:ext>
            </a:extLst>
          </p:cNvPr>
          <p:cNvSpPr txBox="1"/>
          <p:nvPr/>
        </p:nvSpPr>
        <p:spPr>
          <a:xfrm>
            <a:off x="3041072" y="172318"/>
            <a:ext cx="5590309" cy="369332"/>
          </a:xfrm>
          <a:prstGeom prst="rect">
            <a:avLst/>
          </a:prstGeom>
          <a:solidFill>
            <a:schemeClr val="accent3">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ACE MATLAB / </a:t>
            </a:r>
            <a:r>
              <a:rPr lang="en-US" b="1" dirty="0" err="1"/>
              <a:t>SimEvents</a:t>
            </a:r>
            <a:r>
              <a:rPr lang="en-US" b="1" dirty="0"/>
              <a:t> -  Session 5 - Methodology</a:t>
            </a:r>
          </a:p>
        </p:txBody>
      </p:sp>
      <p:sp>
        <p:nvSpPr>
          <p:cNvPr id="6" name="TextBox 5">
            <a:extLst>
              <a:ext uri="{FF2B5EF4-FFF2-40B4-BE49-F238E27FC236}">
                <a16:creationId xmlns:a16="http://schemas.microsoft.com/office/drawing/2014/main" id="{366B9CFE-129F-18C3-E065-977C2B9867C5}"/>
              </a:ext>
            </a:extLst>
          </p:cNvPr>
          <p:cNvSpPr txBox="1"/>
          <p:nvPr/>
        </p:nvSpPr>
        <p:spPr>
          <a:xfrm>
            <a:off x="262832" y="589146"/>
            <a:ext cx="8486313"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t>Purpose</a:t>
            </a:r>
            <a:r>
              <a:rPr lang="en-US" sz="1600" dirty="0"/>
              <a:t>: </a:t>
            </a:r>
            <a:r>
              <a:rPr lang="en-US" sz="1600" i="1" dirty="0"/>
              <a:t>replay</a:t>
            </a:r>
            <a:r>
              <a:rPr lang="en-US" sz="1600" dirty="0"/>
              <a:t> the </a:t>
            </a:r>
            <a:r>
              <a:rPr lang="en-US" sz="1600" i="1" dirty="0"/>
              <a:t>same</a:t>
            </a:r>
            <a:r>
              <a:rPr lang="en-US" sz="1600" dirty="0"/>
              <a:t> ACE observations through a </a:t>
            </a:r>
            <a:r>
              <a:rPr lang="en-US" sz="1600" dirty="0">
                <a:solidFill>
                  <a:srgbClr val="FF0000"/>
                </a:solidFill>
              </a:rPr>
              <a:t>ground-centric</a:t>
            </a:r>
            <a:r>
              <a:rPr lang="en-US" sz="1600" dirty="0"/>
              <a:t> </a:t>
            </a:r>
            <a:r>
              <a:rPr lang="en-US" sz="1600" dirty="0">
                <a:solidFill>
                  <a:srgbClr val="FF0000"/>
                </a:solidFill>
              </a:rPr>
              <a:t>path</a:t>
            </a:r>
            <a:r>
              <a:rPr lang="en-US" sz="1600" dirty="0"/>
              <a:t> and a </a:t>
            </a:r>
            <a:r>
              <a:rPr lang="en-US" sz="1600" dirty="0">
                <a:solidFill>
                  <a:schemeClr val="accent6"/>
                </a:solidFill>
              </a:rPr>
              <a:t>bounded orbital-edge path </a:t>
            </a:r>
            <a:r>
              <a:rPr lang="en-US" sz="1600" dirty="0"/>
              <a:t>under the same link rules, then check the </a:t>
            </a:r>
            <a:r>
              <a:rPr lang="en-US" sz="1600" dirty="0" err="1">
                <a:solidFill>
                  <a:schemeClr val="accent5"/>
                </a:solidFill>
              </a:rPr>
              <a:t>SimEvents</a:t>
            </a:r>
            <a:r>
              <a:rPr lang="en-US" sz="1600" dirty="0"/>
              <a:t> </a:t>
            </a:r>
            <a:r>
              <a:rPr lang="en-US" sz="1600" i="1" dirty="0"/>
              <a:t>output</a:t>
            </a:r>
          </a:p>
          <a:p>
            <a:r>
              <a:rPr lang="en-US" sz="1600" dirty="0"/>
              <a:t>against the stored Excel/MATLAB reference.</a:t>
            </a:r>
          </a:p>
        </p:txBody>
      </p:sp>
      <p:sp>
        <p:nvSpPr>
          <p:cNvPr id="8" name="TextBox 7">
            <a:extLst>
              <a:ext uri="{FF2B5EF4-FFF2-40B4-BE49-F238E27FC236}">
                <a16:creationId xmlns:a16="http://schemas.microsoft.com/office/drawing/2014/main" id="{D4414C2C-AB68-91A9-A2FE-7E8B920093A7}"/>
              </a:ext>
            </a:extLst>
          </p:cNvPr>
          <p:cNvSpPr txBox="1"/>
          <p:nvPr/>
        </p:nvSpPr>
        <p:spPr>
          <a:xfrm>
            <a:off x="199527" y="1755807"/>
            <a:ext cx="2385971" cy="646331"/>
          </a:xfrm>
          <a:prstGeom prst="rect">
            <a:avLst/>
          </a:prstGeom>
          <a:solidFill>
            <a:schemeClr val="accent1">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t>1 · SAME INPUT</a:t>
            </a:r>
          </a:p>
          <a:p>
            <a:r>
              <a:rPr lang="en-US" sz="1200" dirty="0"/>
              <a:t>100 accepted ACE observations</a:t>
            </a:r>
          </a:p>
          <a:p>
            <a:r>
              <a:rPr lang="en-US" sz="1200" dirty="0"/>
              <a:t>Same arrivals and link schedule</a:t>
            </a:r>
          </a:p>
        </p:txBody>
      </p:sp>
      <p:sp>
        <p:nvSpPr>
          <p:cNvPr id="10" name="TextBox 9">
            <a:extLst>
              <a:ext uri="{FF2B5EF4-FFF2-40B4-BE49-F238E27FC236}">
                <a16:creationId xmlns:a16="http://schemas.microsoft.com/office/drawing/2014/main" id="{6377984B-18EC-058B-8BCB-D6429D2B25D2}"/>
              </a:ext>
            </a:extLst>
          </p:cNvPr>
          <p:cNvSpPr txBox="1"/>
          <p:nvPr/>
        </p:nvSpPr>
        <p:spPr>
          <a:xfrm>
            <a:off x="2211425" y="2341912"/>
            <a:ext cx="2531918" cy="646331"/>
          </a:xfrm>
          <a:prstGeom prst="rect">
            <a:avLst/>
          </a:prstGeom>
          <a:solidFill>
            <a:schemeClr val="accent5">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t>2 · TWO PATHS</a:t>
            </a:r>
          </a:p>
          <a:p>
            <a:r>
              <a:rPr lang="en-US" sz="1200" dirty="0"/>
              <a:t>Ground: downlink → compute</a:t>
            </a:r>
          </a:p>
          <a:p>
            <a:r>
              <a:rPr lang="en-US" sz="1200" dirty="0"/>
              <a:t>Edge: compute → reduced downlink</a:t>
            </a:r>
          </a:p>
        </p:txBody>
      </p:sp>
      <p:sp>
        <p:nvSpPr>
          <p:cNvPr id="12" name="TextBox 11">
            <a:extLst>
              <a:ext uri="{FF2B5EF4-FFF2-40B4-BE49-F238E27FC236}">
                <a16:creationId xmlns:a16="http://schemas.microsoft.com/office/drawing/2014/main" id="{289F1704-7551-09A8-6CF8-C4D753940452}"/>
              </a:ext>
            </a:extLst>
          </p:cNvPr>
          <p:cNvSpPr txBox="1"/>
          <p:nvPr/>
        </p:nvSpPr>
        <p:spPr>
          <a:xfrm>
            <a:off x="4693628" y="2918811"/>
            <a:ext cx="2285195" cy="830997"/>
          </a:xfrm>
          <a:prstGeom prst="rect">
            <a:avLst/>
          </a:prstGeom>
          <a:solidFill>
            <a:schemeClr val="accent2">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t>3 · CONTACT WINDOWS</a:t>
            </a:r>
          </a:p>
          <a:p>
            <a:r>
              <a:rPr lang="en-US" sz="1200" dirty="0"/>
              <a:t>Single server</a:t>
            </a:r>
          </a:p>
          <a:p>
            <a:r>
              <a:rPr lang="en-US" sz="1200" dirty="0"/>
              <a:t>600 s up / 120 s down</a:t>
            </a:r>
          </a:p>
          <a:p>
            <a:r>
              <a:rPr lang="en-US" sz="1200" dirty="0"/>
              <a:t>Wait if transmission will not fit</a:t>
            </a:r>
          </a:p>
        </p:txBody>
      </p:sp>
      <p:sp>
        <p:nvSpPr>
          <p:cNvPr id="14" name="TextBox 13">
            <a:extLst>
              <a:ext uri="{FF2B5EF4-FFF2-40B4-BE49-F238E27FC236}">
                <a16:creationId xmlns:a16="http://schemas.microsoft.com/office/drawing/2014/main" id="{24D58F8C-E858-A76E-0E92-86D7B54C6288}"/>
              </a:ext>
            </a:extLst>
          </p:cNvPr>
          <p:cNvSpPr txBox="1"/>
          <p:nvPr/>
        </p:nvSpPr>
        <p:spPr>
          <a:xfrm>
            <a:off x="6903848" y="3429000"/>
            <a:ext cx="2285195" cy="646331"/>
          </a:xfrm>
          <a:prstGeom prst="rect">
            <a:avLst/>
          </a:prstGeom>
          <a:solidFill>
            <a:schemeClr val="accent3">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t>4 · REGRESSION CHECK</a:t>
            </a:r>
          </a:p>
          <a:p>
            <a:r>
              <a:rPr lang="en-US" sz="1200" dirty="0"/>
              <a:t>Compare every latency</a:t>
            </a:r>
          </a:p>
          <a:p>
            <a:r>
              <a:rPr lang="en-US" sz="1200" dirty="0"/>
              <a:t>PASS only if max error ≤ 1×10−6</a:t>
            </a:r>
          </a:p>
        </p:txBody>
      </p:sp>
      <p:sp>
        <p:nvSpPr>
          <p:cNvPr id="16" name="TextBox 15">
            <a:extLst>
              <a:ext uri="{FF2B5EF4-FFF2-40B4-BE49-F238E27FC236}">
                <a16:creationId xmlns:a16="http://schemas.microsoft.com/office/drawing/2014/main" id="{C391D7E7-046C-38BF-27C3-E59596E2A702}"/>
              </a:ext>
            </a:extLst>
          </p:cNvPr>
          <p:cNvSpPr txBox="1"/>
          <p:nvPr/>
        </p:nvSpPr>
        <p:spPr>
          <a:xfrm>
            <a:off x="97437" y="3177260"/>
            <a:ext cx="2385971" cy="1384995"/>
          </a:xfrm>
          <a:prstGeom prst="rect">
            <a:avLst/>
          </a:prstGeom>
          <a:solidFill>
            <a:schemeClr val="tx2">
              <a:lumMod val="25000"/>
              <a:lumOff val="75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dirty="0"/>
              <a:t>ONE COMMAND</a:t>
            </a:r>
          </a:p>
          <a:p>
            <a:endParaRPr lang="en-US" sz="1200" dirty="0"/>
          </a:p>
          <a:p>
            <a:r>
              <a:rPr lang="en-US" sz="1200" dirty="0" err="1"/>
              <a:t>run_simevents</a:t>
            </a:r>
            <a:endParaRPr lang="en-US" sz="1200" dirty="0"/>
          </a:p>
          <a:p>
            <a:r>
              <a:rPr lang="en-US" sz="1200" dirty="0"/>
              <a:t>- export ACE inputs</a:t>
            </a:r>
          </a:p>
          <a:p>
            <a:r>
              <a:rPr lang="en-US" sz="1200" dirty="0"/>
              <a:t>- build Ground / Edge model</a:t>
            </a:r>
          </a:p>
          <a:p>
            <a:r>
              <a:rPr lang="en-US" sz="1200" dirty="0"/>
              <a:t>- simulate both paths</a:t>
            </a:r>
          </a:p>
          <a:p>
            <a:r>
              <a:rPr lang="en-US" sz="1200" dirty="0"/>
              <a:t>- compare every result</a:t>
            </a:r>
          </a:p>
        </p:txBody>
      </p:sp>
      <p:sp>
        <p:nvSpPr>
          <p:cNvPr id="18" name="TextBox 17">
            <a:extLst>
              <a:ext uri="{FF2B5EF4-FFF2-40B4-BE49-F238E27FC236}">
                <a16:creationId xmlns:a16="http://schemas.microsoft.com/office/drawing/2014/main" id="{2528E1D2-7401-3BDB-1552-CC81AA3D7759}"/>
              </a:ext>
            </a:extLst>
          </p:cNvPr>
          <p:cNvSpPr txBox="1"/>
          <p:nvPr/>
        </p:nvSpPr>
        <p:spPr>
          <a:xfrm>
            <a:off x="9433344" y="541650"/>
            <a:ext cx="2385971" cy="1938992"/>
          </a:xfrm>
          <a:prstGeom prst="rect">
            <a:avLst/>
          </a:prstGeom>
          <a:solidFill>
            <a:schemeClr val="bg2">
              <a:lumMod val="75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STORED BASELINE RESULT</a:t>
            </a:r>
          </a:p>
          <a:p>
            <a:r>
              <a:rPr lang="en-US" sz="1200" dirty="0"/>
              <a:t>(Initial Seed Extracted from Data to test the DES Model, will scale to 10,000 runs)</a:t>
            </a:r>
          </a:p>
          <a:p>
            <a:endParaRPr lang="en-US" sz="1200" dirty="0"/>
          </a:p>
          <a:p>
            <a:r>
              <a:rPr lang="en-US" sz="1200" dirty="0"/>
              <a:t>PASS</a:t>
            </a:r>
          </a:p>
          <a:p>
            <a:r>
              <a:rPr lang="en-US" sz="1200" dirty="0"/>
              <a:t>200 entity-level comparisons</a:t>
            </a:r>
          </a:p>
          <a:p>
            <a:r>
              <a:rPr lang="en-US" sz="1200" dirty="0"/>
              <a:t>reported max latency error: 0</a:t>
            </a:r>
          </a:p>
          <a:p>
            <a:r>
              <a:rPr lang="en-US" sz="1200" dirty="0"/>
              <a:t>Ground mean: 1067.6434 s</a:t>
            </a:r>
          </a:p>
          <a:p>
            <a:r>
              <a:rPr lang="en-US" sz="1200" dirty="0"/>
              <a:t>Edge mean: </a:t>
            </a:r>
            <a:r>
              <a:rPr lang="en-US" sz="1200" dirty="0">
                <a:highlight>
                  <a:srgbClr val="FFFF00"/>
                </a:highlight>
              </a:rPr>
              <a:t>198.2280 s</a:t>
            </a:r>
          </a:p>
        </p:txBody>
      </p:sp>
      <p:sp>
        <p:nvSpPr>
          <p:cNvPr id="20" name="TextBox 19">
            <a:extLst>
              <a:ext uri="{FF2B5EF4-FFF2-40B4-BE49-F238E27FC236}">
                <a16:creationId xmlns:a16="http://schemas.microsoft.com/office/drawing/2014/main" id="{97D3ED21-0A74-76C5-3BF6-DA8ECE8CEC2E}"/>
              </a:ext>
            </a:extLst>
          </p:cNvPr>
          <p:cNvSpPr txBox="1"/>
          <p:nvPr/>
        </p:nvSpPr>
        <p:spPr>
          <a:xfrm>
            <a:off x="2211425" y="4472180"/>
            <a:ext cx="2385971" cy="1938992"/>
          </a:xfrm>
          <a:prstGeom prst="rect">
            <a:avLst/>
          </a:prstGeom>
          <a:solidFill>
            <a:schemeClr val="accent3">
              <a:lumMod val="20000"/>
              <a:lumOff val="80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WHAT </a:t>
            </a:r>
            <a:r>
              <a:rPr lang="en-US" sz="1200" b="1" dirty="0"/>
              <a:t>PASS</a:t>
            </a:r>
            <a:r>
              <a:rPr lang="en-US" sz="1200" dirty="0"/>
              <a:t> MEANS</a:t>
            </a:r>
          </a:p>
          <a:p>
            <a:endParaRPr lang="en-US" sz="1200" dirty="0"/>
          </a:p>
          <a:p>
            <a:r>
              <a:rPr lang="en-US" sz="1200" dirty="0"/>
              <a:t>Model consistency was demonstrated in the stored package.</a:t>
            </a:r>
          </a:p>
          <a:p>
            <a:r>
              <a:rPr lang="en-US" sz="1200" dirty="0"/>
              <a:t>It hasn’t established measured satellite performance yet.</a:t>
            </a:r>
          </a:p>
          <a:p>
            <a:r>
              <a:rPr lang="en-US" sz="1200" dirty="0"/>
              <a:t>It does not yet establish H1 as a research finding.</a:t>
            </a:r>
          </a:p>
          <a:p>
            <a:r>
              <a:rPr lang="en-US" sz="1200"/>
              <a:t>Reproduction is  </a:t>
            </a:r>
            <a:r>
              <a:rPr lang="en-US" sz="1200" dirty="0"/>
              <a:t>the next gate.</a:t>
            </a:r>
          </a:p>
        </p:txBody>
      </p:sp>
    </p:spTree>
    <p:extLst>
      <p:ext uri="{BB962C8B-B14F-4D97-AF65-F5344CB8AC3E}">
        <p14:creationId xmlns:p14="http://schemas.microsoft.com/office/powerpoint/2010/main" val="2660068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body" idx="1"/>
          </p:nvPr>
        </p:nvSpPr>
        <p:spPr>
          <a:xfrm>
            <a:off x="564204" y="2081719"/>
            <a:ext cx="10695467" cy="2949986"/>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6000"/>
              <a:buNone/>
            </a:pPr>
            <a:r>
              <a:rPr lang="en-US" sz="6000" b="1">
                <a:solidFill>
                  <a:schemeClr val="dk1"/>
                </a:solidFill>
              </a:rPr>
              <a:t>Appendix</a:t>
            </a:r>
            <a:endParaRPr sz="3600" b="1">
              <a:solidFill>
                <a:schemeClr val="dk1"/>
              </a:solidFill>
            </a:endParaRPr>
          </a:p>
        </p:txBody>
      </p:sp>
      <p:sp>
        <p:nvSpPr>
          <p:cNvPr id="150" name="TextBox 149"/>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11 of 29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Problem and Thesis Statements</a:t>
            </a:r>
            <a:endParaRPr/>
          </a:p>
        </p:txBody>
      </p:sp>
      <p:sp>
        <p:nvSpPr>
          <p:cNvPr id="156" name="Google Shape;156;p29"/>
          <p:cNvSpPr/>
          <p:nvPr/>
        </p:nvSpPr>
        <p:spPr>
          <a:xfrm>
            <a:off x="621792" y="1444752"/>
            <a:ext cx="10927080"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Problem statement</a:t>
            </a:r>
            <a:endParaRPr/>
          </a:p>
        </p:txBody>
      </p:sp>
      <p:sp>
        <p:nvSpPr>
          <p:cNvPr id="157" name="Google Shape;157;p29"/>
          <p:cNvSpPr/>
          <p:nvPr/>
        </p:nvSpPr>
        <p:spPr>
          <a:xfrm>
            <a:off x="621792" y="1728216"/>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Ground-dependent satellite data-processing architectures can create decision-support latency, bandwidth bottlenecks and operator workload when communications are degraded or intermittent.</a:t>
            </a:r>
            <a:endParaRPr/>
          </a:p>
        </p:txBody>
      </p:sp>
      <p:sp>
        <p:nvSpPr>
          <p:cNvPr id="158" name="Google Shape;158;p29"/>
          <p:cNvSpPr/>
          <p:nvPr/>
        </p:nvSpPr>
        <p:spPr>
          <a:xfrm>
            <a:off x="621792" y="2432304"/>
            <a:ext cx="10899648"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Thesis statement</a:t>
            </a:r>
            <a:endParaRPr/>
          </a:p>
        </p:txBody>
      </p:sp>
      <p:sp>
        <p:nvSpPr>
          <p:cNvPr id="159" name="Google Shape;159;p29"/>
          <p:cNvSpPr/>
          <p:nvPr/>
        </p:nvSpPr>
        <p:spPr>
          <a:xfrm>
            <a:off x="621792" y="2715768"/>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This Praxis will deliver a simulation-based systems engineering model comparing ground-centric processing with bounded orbital edge processing under degraded communications.</a:t>
            </a:r>
            <a:endParaRPr/>
          </a:p>
        </p:txBody>
      </p:sp>
      <p:graphicFrame>
        <p:nvGraphicFramePr>
          <p:cNvPr id="160" name="Google Shape;160;p29"/>
          <p:cNvGraphicFramePr/>
          <p:nvPr>
            <p:extLst>
              <p:ext uri="{D42A27DB-BD31-4B8C-83A1-F6EECF244321}">
                <p14:modId xmlns:p14="http://schemas.microsoft.com/office/powerpoint/2010/main" val="484890876"/>
              </p:ext>
            </p:extLst>
          </p:nvPr>
        </p:nvGraphicFramePr>
        <p:xfrm>
          <a:off x="621792" y="3410712"/>
          <a:ext cx="10917950" cy="1298450"/>
        </p:xfrm>
        <a:graphic>
          <a:graphicData uri="http://schemas.openxmlformats.org/drawingml/2006/table">
            <a:tbl>
              <a:tblPr firstRow="1" bandRow="1">
                <a:noFill/>
                <a:tableStyleId>{3C1EB017-BC45-4DEE-9ABB-B4D90C79D28D}</a:tableStyleId>
              </a:tblPr>
              <a:tblGrid>
                <a:gridCol w="1920250">
                  <a:extLst>
                    <a:ext uri="{9D8B030D-6E8A-4147-A177-3AD203B41FA5}">
                      <a16:colId xmlns:a16="http://schemas.microsoft.com/office/drawing/2014/main" val="20000"/>
                    </a:ext>
                  </a:extLst>
                </a:gridCol>
                <a:gridCol w="8997700">
                  <a:extLst>
                    <a:ext uri="{9D8B030D-6E8A-4147-A177-3AD203B41FA5}">
                      <a16:colId xmlns:a16="http://schemas.microsoft.com/office/drawing/2014/main" val="20001"/>
                    </a:ext>
                  </a:extLst>
                </a:gridCol>
              </a:tblGrid>
              <a:tr h="3017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Research product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Intended use / contribution</a:t>
                      </a:r>
                      <a:endParaRPr/>
                    </a:p>
                  </a:txBody>
                  <a:tcPr marL="68575" marR="68575" marT="36575" marB="22850" anchor="ctr">
                    <a:solidFill>
                      <a:srgbClr val="E7EEF3"/>
                    </a:solidFill>
                  </a:tcPr>
                </a:tc>
                <a:extLst>
                  <a:ext uri="{0D108BD9-81ED-4DB2-BD59-A6C34878D82A}">
                    <a16:rowId xmlns:a16="http://schemas.microsoft.com/office/drawing/2014/main" val="10000"/>
                  </a:ext>
                </a:extLst>
              </a:tr>
              <a:tr h="4937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0" u="none" strike="noStrike" cap="none">
                          <a:solidFill>
                            <a:srgbClr val="000000"/>
                          </a:solidFill>
                          <a:latin typeface="Times New Roman"/>
                          <a:ea typeface="Times New Roman"/>
                          <a:cs typeface="Times New Roman"/>
                          <a:sym typeface="Times New Roman"/>
                        </a:rPr>
                        <a:t>Simulation-Based Evaluation Framework</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u="sng" strike="noStrike" cap="none" dirty="0">
                          <a:solidFill>
                            <a:srgbClr val="000000"/>
                          </a:solidFill>
                          <a:latin typeface="Times New Roman"/>
                          <a:ea typeface="Times New Roman"/>
                          <a:cs typeface="Times New Roman"/>
                          <a:sym typeface="Times New Roman"/>
                        </a:rPr>
                        <a:t>Systems engineers will use the framework during early architecture trades </a:t>
                      </a:r>
                      <a:r>
                        <a:rPr lang="en-US" sz="1200" b="0" u="none" strike="noStrike" cap="none" dirty="0">
                          <a:solidFill>
                            <a:srgbClr val="000000"/>
                          </a:solidFill>
                          <a:latin typeface="Times New Roman"/>
                          <a:ea typeface="Times New Roman"/>
                          <a:cs typeface="Times New Roman"/>
                          <a:sym typeface="Times New Roman"/>
                        </a:rPr>
                        <a:t>for onboard processing under degraded communications.</a:t>
                      </a:r>
                      <a:endParaRPr sz="1600" dirty="0"/>
                    </a:p>
                  </a:txBody>
                  <a:tcPr marL="68575" marR="68575" marT="36575" marB="22850" anchor="ctr">
                    <a:solidFill>
                      <a:srgbClr val="FFFFFF"/>
                    </a:solidFill>
                  </a:tcPr>
                </a:tc>
                <a:extLst>
                  <a:ext uri="{0D108BD9-81ED-4DB2-BD59-A6C34878D82A}">
                    <a16:rowId xmlns:a16="http://schemas.microsoft.com/office/drawing/2014/main" val="10001"/>
                  </a:ext>
                </a:extLst>
              </a:tr>
              <a:tr h="50292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00" b="1" u="none" strike="noStrike" cap="none" dirty="0">
                          <a:solidFill>
                            <a:srgbClr val="000000"/>
                          </a:solidFill>
                          <a:latin typeface="Times New Roman"/>
                          <a:ea typeface="Times New Roman"/>
                          <a:cs typeface="Times New Roman"/>
                          <a:sym typeface="Times New Roman"/>
                        </a:rPr>
                        <a:t>MATLAB/</a:t>
                      </a:r>
                      <a:r>
                        <a:rPr lang="en-US" sz="1000" b="1" u="none" strike="noStrike" cap="none" dirty="0" err="1">
                          <a:solidFill>
                            <a:srgbClr val="000000"/>
                          </a:solidFill>
                          <a:latin typeface="Times New Roman"/>
                          <a:ea typeface="Times New Roman"/>
                          <a:cs typeface="Times New Roman"/>
                          <a:sym typeface="Times New Roman"/>
                        </a:rPr>
                        <a:t>SimEvents</a:t>
                      </a:r>
                      <a:r>
                        <a:rPr lang="en-US" sz="1000" b="1" u="none" strike="noStrike" cap="none" dirty="0">
                          <a:solidFill>
                            <a:srgbClr val="000000"/>
                          </a:solidFill>
                          <a:latin typeface="Times New Roman"/>
                          <a:ea typeface="Times New Roman"/>
                          <a:cs typeface="Times New Roman"/>
                          <a:sym typeface="Times New Roman"/>
                        </a:rPr>
                        <a:t> Model</a:t>
                      </a:r>
                      <a:endParaRPr sz="2000" dirty="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50" b="0" u="none" strike="noStrike" cap="none" dirty="0">
                          <a:solidFill>
                            <a:srgbClr val="000000"/>
                          </a:solidFill>
                          <a:latin typeface="Times New Roman"/>
                          <a:ea typeface="Times New Roman"/>
                          <a:cs typeface="Times New Roman"/>
                          <a:sym typeface="Times New Roman"/>
                        </a:rPr>
                        <a:t>This work contributes a public, repeatable method for evaluating orbital edge-processing performance without classified data, restricted data, or new algorithms.</a:t>
                      </a:r>
                      <a:endParaRPr sz="2400" dirty="0"/>
                    </a:p>
                  </a:txBody>
                  <a:tcPr marL="68575" marR="68575" marT="36575" marB="22850" anchor="ctr">
                    <a:solidFill>
                      <a:srgbClr val="F6F8FA"/>
                    </a:solidFill>
                  </a:tcPr>
                </a:tc>
                <a:extLst>
                  <a:ext uri="{0D108BD9-81ED-4DB2-BD59-A6C34878D82A}">
                    <a16:rowId xmlns:a16="http://schemas.microsoft.com/office/drawing/2014/main" val="10002"/>
                  </a:ext>
                </a:extLst>
              </a:tr>
            </a:tbl>
          </a:graphicData>
        </a:graphic>
      </p:graphicFrame>
      <p:sp>
        <p:nvSpPr>
          <p:cNvPr id="161" name="Google Shape;161;p29"/>
          <p:cNvSpPr/>
          <p:nvPr/>
        </p:nvSpPr>
        <p:spPr>
          <a:xfrm>
            <a:off x="621791" y="4919472"/>
            <a:ext cx="11284863"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Current working direction: civil ground-centric versus orbital-edge processing under matched degradation using DES, with core measures of uptime/service availability, downtime/recovery, latency, packet loss and queueing delay.</a:t>
            </a:r>
            <a:endParaRPr sz="1400" b="1">
              <a:solidFill>
                <a:srgbClr val="FFFF00"/>
              </a:solidFill>
              <a:latin typeface="Times New Roman"/>
              <a:ea typeface="Times New Roman"/>
              <a:cs typeface="Times New Roman"/>
              <a:sym typeface="Times New Roman"/>
            </a:endParaRPr>
          </a:p>
        </p:txBody>
      </p:sp>
      <p:sp>
        <p:nvSpPr>
          <p:cNvPr id="162" name="TextBox 16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12 of 29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Research Objectives and Questions</a:t>
            </a:r>
            <a:endParaRPr/>
          </a:p>
        </p:txBody>
      </p:sp>
      <p:sp>
        <p:nvSpPr>
          <p:cNvPr id="169" name="Google Shape;169;p30"/>
          <p:cNvSpPr/>
          <p:nvPr/>
        </p:nvSpPr>
        <p:spPr>
          <a:xfrm>
            <a:off x="621792" y="151790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RQ1</a:t>
            </a:r>
            <a:endParaRPr/>
          </a:p>
        </p:txBody>
      </p:sp>
      <p:sp>
        <p:nvSpPr>
          <p:cNvPr id="170" name="Google Shape;170;p30"/>
          <p:cNvSpPr/>
          <p:nvPr/>
        </p:nvSpPr>
        <p:spPr>
          <a:xfrm>
            <a:off x="1207008" y="1517904"/>
            <a:ext cx="10195560" cy="518988"/>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600"/>
              <a:buFont typeface="Times New Roman"/>
              <a:buNone/>
            </a:pPr>
            <a:r>
              <a:rPr lang="en-US" sz="1600" b="1">
                <a:solidFill>
                  <a:srgbClr val="FFFF00"/>
                </a:solidFill>
                <a:latin typeface="Times New Roman"/>
                <a:ea typeface="Times New Roman"/>
                <a:cs typeface="Times New Roman"/>
                <a:sym typeface="Times New Roman"/>
              </a:rPr>
              <a:t>Can a discrete-event systems engineering model represent satellite data-processing latency and service availability under degraded communications?</a:t>
            </a:r>
            <a:endParaRPr/>
          </a:p>
        </p:txBody>
      </p:sp>
      <p:sp>
        <p:nvSpPr>
          <p:cNvPr id="171" name="Google Shape;171;p30"/>
          <p:cNvSpPr/>
          <p:nvPr/>
        </p:nvSpPr>
        <p:spPr>
          <a:xfrm>
            <a:off x="621792" y="229514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RQ2</a:t>
            </a:r>
            <a:endParaRPr/>
          </a:p>
        </p:txBody>
      </p:sp>
      <p:sp>
        <p:nvSpPr>
          <p:cNvPr id="172" name="Google Shape;172;p30"/>
          <p:cNvSpPr/>
          <p:nvPr/>
        </p:nvSpPr>
        <p:spPr>
          <a:xfrm>
            <a:off x="1207008" y="229514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Does bounded orbital edge processing reduce end-to-end decision-support latency and preserve service compared with a ground-centric architecture under matched degradation?</a:t>
            </a:r>
            <a:endParaRPr/>
          </a:p>
        </p:txBody>
      </p:sp>
      <p:sp>
        <p:nvSpPr>
          <p:cNvPr id="173" name="Google Shape;173;p30"/>
          <p:cNvSpPr/>
          <p:nvPr/>
        </p:nvSpPr>
        <p:spPr>
          <a:xfrm>
            <a:off x="621792" y="307238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RQ3</a:t>
            </a:r>
            <a:endParaRPr/>
          </a:p>
        </p:txBody>
      </p:sp>
      <p:sp>
        <p:nvSpPr>
          <p:cNvPr id="174" name="Google Shape;174;p30"/>
          <p:cNvSpPr/>
          <p:nvPr/>
        </p:nvSpPr>
        <p:spPr>
          <a:xfrm>
            <a:off x="1207008" y="307238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Which parameters most affect performance: communications delay/loss, bandwidth, outage duration, processing time and alert/data priority?</a:t>
            </a:r>
            <a:endParaRPr/>
          </a:p>
        </p:txBody>
      </p:sp>
      <p:sp>
        <p:nvSpPr>
          <p:cNvPr id="175" name="Google Shape;175;p30"/>
          <p:cNvSpPr/>
          <p:nvPr/>
        </p:nvSpPr>
        <p:spPr>
          <a:xfrm>
            <a:off x="585216" y="3995928"/>
            <a:ext cx="10991088" cy="26045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1">
                <a:solidFill>
                  <a:srgbClr val="000000"/>
                </a:solidFill>
                <a:latin typeface="Times New Roman"/>
                <a:ea typeface="Times New Roman"/>
                <a:cs typeface="Times New Roman"/>
                <a:sym typeface="Times New Roman"/>
              </a:rPr>
              <a:t>PURPOSE — current scope</a:t>
            </a:r>
            <a:endParaRPr/>
          </a:p>
        </p:txBody>
      </p:sp>
      <p:sp>
        <p:nvSpPr>
          <p:cNvPr id="176" name="Google Shape;176;p30"/>
          <p:cNvSpPr/>
          <p:nvPr/>
        </p:nvSpPr>
        <p:spPr>
          <a:xfrm>
            <a:off x="621792" y="4379976"/>
            <a:ext cx="1092708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0">
                <a:solidFill>
                  <a:srgbClr val="FFFF00"/>
                </a:solidFill>
                <a:latin typeface="Times New Roman"/>
                <a:ea typeface="Times New Roman"/>
                <a:cs typeface="Times New Roman"/>
                <a:sym typeface="Times New Roman"/>
              </a:rPr>
              <a:t>Evaluate bounded orbital edge processing under degraded communications; compare ground-centric routing with an edge-enabled path; provide a repeatable public-data simulation framework for early architecture trades.</a:t>
            </a:r>
            <a:endParaRPr/>
          </a:p>
        </p:txBody>
      </p:sp>
      <p:sp>
        <p:nvSpPr>
          <p:cNvPr id="177" name="TextBox 17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13 of 29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H0 / H1: Matched Ground-versus-Edge Comparison</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Working hypotheses retained; processing order and transmission demand define the architecture trade.</a:t>
            </a:r>
          </a:p>
        </p:txBody>
      </p:sp>
      <p:sp>
        <p:nvSpPr>
          <p:cNvPr id="4" name="Rounded Rectangle 3"/>
          <p:cNvSpPr/>
          <p:nvPr/>
        </p:nvSpPr>
        <p:spPr>
          <a:xfrm>
            <a:off x="566928" y="1325880"/>
            <a:ext cx="5440680" cy="1371600"/>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417320"/>
            <a:ext cx="516636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H0 · Null hypothesis</a:t>
            </a:r>
          </a:p>
        </p:txBody>
      </p:sp>
      <p:sp>
        <p:nvSpPr>
          <p:cNvPr id="6" name="TextBox 5"/>
          <p:cNvSpPr txBox="1"/>
          <p:nvPr/>
        </p:nvSpPr>
        <p:spPr>
          <a:xfrm>
            <a:off x="704088" y="1773936"/>
            <a:ext cx="5166360" cy="832104"/>
          </a:xfrm>
          <a:prstGeom prst="rect">
            <a:avLst/>
          </a:prstGeom>
          <a:noFill/>
        </p:spPr>
        <p:txBody>
          <a:bodyPr wrap="square" lIns="18288" rIns="18288" tIns="18288" bIns="18288">
            <a:spAutoFit/>
          </a:bodyPr>
          <a:lstStyle/>
          <a:p>
            <a:pPr algn="l">
              <a:lnSpc>
                <a:spcPct val="105000"/>
              </a:lnSpc>
              <a:spcBef>
                <a:spcPts val="0"/>
              </a:spcBef>
              <a:spcAft>
                <a:spcPts val="200"/>
              </a:spcAft>
            </a:pPr>
            <a:r>
              <a:rPr sz="1450" b="0">
                <a:solidFill>
                  <a:srgbClr val="263746"/>
                </a:solidFill>
                <a:latin typeface="Calibri"/>
              </a:rPr>
              <a:t>Under matched degradation, the ground-centric and bounded orbital-edge architectures show no measurable difference in end-to-end latency or service availability.</a:t>
            </a:r>
          </a:p>
        </p:txBody>
      </p:sp>
      <p:sp>
        <p:nvSpPr>
          <p:cNvPr id="7" name="Rounded Rectangle 6"/>
          <p:cNvSpPr/>
          <p:nvPr/>
        </p:nvSpPr>
        <p:spPr>
          <a:xfrm>
            <a:off x="6181344" y="1325880"/>
            <a:ext cx="5440680" cy="1371600"/>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18504" y="1417320"/>
            <a:ext cx="516636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H1 · Alternative hypothesis</a:t>
            </a:r>
          </a:p>
        </p:txBody>
      </p:sp>
      <p:sp>
        <p:nvSpPr>
          <p:cNvPr id="9" name="TextBox 8"/>
          <p:cNvSpPr txBox="1"/>
          <p:nvPr/>
        </p:nvSpPr>
        <p:spPr>
          <a:xfrm>
            <a:off x="6318504" y="1773936"/>
            <a:ext cx="5166360" cy="832104"/>
          </a:xfrm>
          <a:prstGeom prst="rect">
            <a:avLst/>
          </a:prstGeom>
          <a:noFill/>
        </p:spPr>
        <p:txBody>
          <a:bodyPr wrap="square" lIns="18288" rIns="18288" tIns="18288" bIns="18288">
            <a:spAutoFit/>
          </a:bodyPr>
          <a:lstStyle/>
          <a:p>
            <a:pPr algn="l">
              <a:lnSpc>
                <a:spcPct val="105000"/>
              </a:lnSpc>
              <a:spcBef>
                <a:spcPts val="0"/>
              </a:spcBef>
              <a:spcAft>
                <a:spcPts val="200"/>
              </a:spcAft>
            </a:pPr>
            <a:r>
              <a:rPr sz="1450" b="0">
                <a:solidFill>
                  <a:srgbClr val="263746"/>
                </a:solidFill>
                <a:latin typeface="Calibri"/>
              </a:rPr>
              <a:t>Bounded orbital edge processing reduces end-to-end decision-support latency and improves service availability relative to ground processing under degraded communications.</a:t>
            </a:r>
          </a:p>
        </p:txBody>
      </p:sp>
      <p:sp>
        <p:nvSpPr>
          <p:cNvPr id="10" name="TextBox 9"/>
          <p:cNvSpPr txBox="1"/>
          <p:nvPr/>
        </p:nvSpPr>
        <p:spPr>
          <a:xfrm>
            <a:off x="621792" y="2816352"/>
            <a:ext cx="10972800" cy="256032"/>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576573"/>
                </a:solidFill>
                <a:latin typeface="Calibri"/>
              </a:rPr>
              <a:t>COMMON INPUTS: identical arrivals • paired processing draws • same communications schedule</a:t>
            </a:r>
          </a:p>
        </p:txBody>
      </p:sp>
      <p:sp>
        <p:nvSpPr>
          <p:cNvPr id="11" name="TextBox 10"/>
          <p:cNvSpPr txBox="1"/>
          <p:nvPr/>
        </p:nvSpPr>
        <p:spPr>
          <a:xfrm>
            <a:off x="603504" y="3429000"/>
            <a:ext cx="1115568" cy="39319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286B98"/>
                </a:solidFill>
                <a:latin typeface="Calibri"/>
              </a:rPr>
              <a:t>GROUND</a:t>
            </a:r>
          </a:p>
        </p:txBody>
      </p:sp>
      <p:sp>
        <p:nvSpPr>
          <p:cNvPr id="12" name="Rounded Rectangle 11"/>
          <p:cNvSpPr/>
          <p:nvPr/>
        </p:nvSpPr>
        <p:spPr>
          <a:xfrm>
            <a:off x="1810512"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65376"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Arrival</a:t>
            </a:r>
          </a:p>
        </p:txBody>
      </p:sp>
      <p:sp>
        <p:nvSpPr>
          <p:cNvPr id="14" name="TextBox 13"/>
          <p:cNvSpPr txBox="1"/>
          <p:nvPr/>
        </p:nvSpPr>
        <p:spPr>
          <a:xfrm>
            <a:off x="3172968"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15" name="Rounded Rectangle 14"/>
          <p:cNvSpPr/>
          <p:nvPr/>
        </p:nvSpPr>
        <p:spPr>
          <a:xfrm>
            <a:off x="3419856"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Link queue</a:t>
            </a:r>
          </a:p>
        </p:txBody>
      </p:sp>
      <p:sp>
        <p:nvSpPr>
          <p:cNvPr id="17" name="TextBox 16"/>
          <p:cNvSpPr txBox="1"/>
          <p:nvPr/>
        </p:nvSpPr>
        <p:spPr>
          <a:xfrm>
            <a:off x="4782312"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18" name="Rounded Rectangle 17"/>
          <p:cNvSpPr/>
          <p:nvPr/>
        </p:nvSpPr>
        <p:spPr>
          <a:xfrm>
            <a:off x="5029200"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4064"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Full downlink</a:t>
            </a:r>
          </a:p>
        </p:txBody>
      </p:sp>
      <p:sp>
        <p:nvSpPr>
          <p:cNvPr id="20" name="TextBox 19"/>
          <p:cNvSpPr txBox="1"/>
          <p:nvPr/>
        </p:nvSpPr>
        <p:spPr>
          <a:xfrm>
            <a:off x="6391656"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1" name="Rounded Rectangle 20"/>
          <p:cNvSpPr/>
          <p:nvPr/>
        </p:nvSpPr>
        <p:spPr>
          <a:xfrm>
            <a:off x="6638544"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3407"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Compute queue</a:t>
            </a:r>
          </a:p>
        </p:txBody>
      </p:sp>
      <p:sp>
        <p:nvSpPr>
          <p:cNvPr id="23" name="TextBox 22"/>
          <p:cNvSpPr txBox="1"/>
          <p:nvPr/>
        </p:nvSpPr>
        <p:spPr>
          <a:xfrm>
            <a:off x="8001000"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4" name="Rounded Rectangle 23"/>
          <p:cNvSpPr/>
          <p:nvPr/>
        </p:nvSpPr>
        <p:spPr>
          <a:xfrm>
            <a:off x="8247888"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2752"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Ground compute</a:t>
            </a:r>
          </a:p>
        </p:txBody>
      </p:sp>
      <p:sp>
        <p:nvSpPr>
          <p:cNvPr id="26" name="TextBox 25"/>
          <p:cNvSpPr txBox="1"/>
          <p:nvPr/>
        </p:nvSpPr>
        <p:spPr>
          <a:xfrm>
            <a:off x="9610344"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7" name="Rounded Rectangle 26"/>
          <p:cNvSpPr/>
          <p:nvPr/>
        </p:nvSpPr>
        <p:spPr>
          <a:xfrm>
            <a:off x="9857232"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12096"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Delivered output</a:t>
            </a:r>
          </a:p>
        </p:txBody>
      </p:sp>
      <p:sp>
        <p:nvSpPr>
          <p:cNvPr id="29" name="TextBox 28"/>
          <p:cNvSpPr txBox="1"/>
          <p:nvPr/>
        </p:nvSpPr>
        <p:spPr>
          <a:xfrm>
            <a:off x="603504" y="4471416"/>
            <a:ext cx="1115568" cy="39319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71559F"/>
                </a:solidFill>
                <a:latin typeface="Calibri"/>
              </a:rPr>
              <a:t>EDGE</a:t>
            </a:r>
          </a:p>
        </p:txBody>
      </p:sp>
      <p:sp>
        <p:nvSpPr>
          <p:cNvPr id="30" name="Rounded Rectangle 29"/>
          <p:cNvSpPr/>
          <p:nvPr/>
        </p:nvSpPr>
        <p:spPr>
          <a:xfrm>
            <a:off x="1810512"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65376"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Arrival</a:t>
            </a:r>
          </a:p>
        </p:txBody>
      </p:sp>
      <p:sp>
        <p:nvSpPr>
          <p:cNvPr id="32" name="TextBox 31"/>
          <p:cNvSpPr txBox="1"/>
          <p:nvPr/>
        </p:nvSpPr>
        <p:spPr>
          <a:xfrm>
            <a:off x="3172968"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3" name="Rounded Rectangle 32"/>
          <p:cNvSpPr/>
          <p:nvPr/>
        </p:nvSpPr>
        <p:spPr>
          <a:xfrm>
            <a:off x="3419856"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74720"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Compute queue</a:t>
            </a:r>
          </a:p>
        </p:txBody>
      </p:sp>
      <p:sp>
        <p:nvSpPr>
          <p:cNvPr id="35" name="TextBox 34"/>
          <p:cNvSpPr txBox="1"/>
          <p:nvPr/>
        </p:nvSpPr>
        <p:spPr>
          <a:xfrm>
            <a:off x="4782312"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6" name="Rounded Rectangle 35"/>
          <p:cNvSpPr/>
          <p:nvPr/>
        </p:nvSpPr>
        <p:spPr>
          <a:xfrm>
            <a:off x="5029200"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84064"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Onboard compute</a:t>
            </a:r>
          </a:p>
        </p:txBody>
      </p:sp>
      <p:sp>
        <p:nvSpPr>
          <p:cNvPr id="38" name="TextBox 37"/>
          <p:cNvSpPr txBox="1"/>
          <p:nvPr/>
        </p:nvSpPr>
        <p:spPr>
          <a:xfrm>
            <a:off x="6391656"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9" name="Rounded Rectangle 38"/>
          <p:cNvSpPr/>
          <p:nvPr/>
        </p:nvSpPr>
        <p:spPr>
          <a:xfrm>
            <a:off x="6638544"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93407"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Link queue</a:t>
            </a:r>
          </a:p>
        </p:txBody>
      </p:sp>
      <p:sp>
        <p:nvSpPr>
          <p:cNvPr id="41" name="TextBox 40"/>
          <p:cNvSpPr txBox="1"/>
          <p:nvPr/>
        </p:nvSpPr>
        <p:spPr>
          <a:xfrm>
            <a:off x="8001000"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42" name="Rounded Rectangle 41"/>
          <p:cNvSpPr/>
          <p:nvPr/>
        </p:nvSpPr>
        <p:spPr>
          <a:xfrm>
            <a:off x="8247888"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02752"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Reduced downlink</a:t>
            </a:r>
          </a:p>
        </p:txBody>
      </p:sp>
      <p:sp>
        <p:nvSpPr>
          <p:cNvPr id="44" name="TextBox 43"/>
          <p:cNvSpPr txBox="1"/>
          <p:nvPr/>
        </p:nvSpPr>
        <p:spPr>
          <a:xfrm>
            <a:off x="9610344"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45" name="Rounded Rectangle 44"/>
          <p:cNvSpPr/>
          <p:nvPr/>
        </p:nvSpPr>
        <p:spPr>
          <a:xfrm>
            <a:off x="9857232"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12096"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Delivered output</a:t>
            </a:r>
          </a:p>
        </p:txBody>
      </p:sp>
      <p:sp>
        <p:nvSpPr>
          <p:cNvPr id="47" name="TextBox 46"/>
          <p:cNvSpPr txBox="1"/>
          <p:nvPr/>
        </p:nvSpPr>
        <p:spPr>
          <a:xfrm>
            <a:off x="640080" y="5166360"/>
            <a:ext cx="10881360" cy="292608"/>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576573"/>
                </a:solidFill>
                <a:latin typeface="Calibri"/>
              </a:rPr>
              <a:t>Compare recorded latency, queue delay and defined service measures. Effect-size thresholds and final statistical tests remain for advisor review.</a:t>
            </a:r>
          </a:p>
        </p:txBody>
      </p:sp>
      <p:sp>
        <p:nvSpPr>
          <p:cNvPr id="48" name="TextBox 4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14 of 29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5 Foundational References</a:t>
            </a:r>
            <a:endParaRPr/>
          </a:p>
        </p:txBody>
      </p:sp>
      <p:sp>
        <p:nvSpPr>
          <p:cNvPr id="196" name="Google Shape;196;p32"/>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a:solidFill>
                  <a:srgbClr val="000000"/>
                </a:solidFill>
                <a:latin typeface="Times New Roman"/>
                <a:ea typeface="Times New Roman"/>
                <a:cs typeface="Times New Roman"/>
                <a:sym typeface="Times New Roman"/>
              </a:rPr>
              <a:t>EXTERNAL REFERENCE - slides 9–13</a:t>
            </a:r>
            <a:endParaRPr/>
          </a:p>
        </p:txBody>
      </p:sp>
      <p:graphicFrame>
        <p:nvGraphicFramePr>
          <p:cNvPr id="197" name="Google Shape;197;p32"/>
          <p:cNvGraphicFramePr/>
          <p:nvPr>
            <p:extLst>
              <p:ext uri="{D42A27DB-BD31-4B8C-83A1-F6EECF244321}">
                <p14:modId xmlns:p14="http://schemas.microsoft.com/office/powerpoint/2010/main" val="2014247529"/>
              </p:ext>
            </p:extLst>
          </p:nvPr>
        </p:nvGraphicFramePr>
        <p:xfrm>
          <a:off x="585216" y="1463040"/>
          <a:ext cx="10991100" cy="3438175"/>
        </p:xfrm>
        <a:graphic>
          <a:graphicData uri="http://schemas.openxmlformats.org/drawingml/2006/table">
            <a:tbl>
              <a:tblPr firstRow="1" bandRow="1">
                <a:noFill/>
                <a:tableStyleId>{3C1EB017-BC45-4DEE-9ABB-B4D90C79D28D}</a:tableStyleId>
              </a:tblPr>
              <a:tblGrid>
                <a:gridCol w="8229600">
                  <a:extLst>
                    <a:ext uri="{9D8B030D-6E8A-4147-A177-3AD203B41FA5}">
                      <a16:colId xmlns:a16="http://schemas.microsoft.com/office/drawing/2014/main" val="20000"/>
                    </a:ext>
                  </a:extLst>
                </a:gridCol>
                <a:gridCol w="2761500">
                  <a:extLst>
                    <a:ext uri="{9D8B030D-6E8A-4147-A177-3AD203B41FA5}">
                      <a16:colId xmlns:a16="http://schemas.microsoft.com/office/drawing/2014/main" val="20001"/>
                    </a:ext>
                  </a:extLst>
                </a:gridCol>
              </a:tblGrid>
              <a:tr h="320050">
                <a:tc>
                  <a:txBody>
                    <a:bodyPr/>
                    <a:lstStyle/>
                    <a:p>
                      <a:pPr marL="0" marR="0" lvl="0" indent="0" algn="l" rtl="0">
                        <a:spcBef>
                          <a:spcPts val="0"/>
                        </a:spcBef>
                        <a:spcAft>
                          <a:spcPts val="0"/>
                        </a:spcAft>
                        <a:buClr>
                          <a:srgbClr val="000000"/>
                        </a:buClr>
                        <a:buSzPts val="800"/>
                        <a:buFont typeface="Times New Roman"/>
                        <a:buNone/>
                      </a:pPr>
                      <a:r>
                        <a:rPr lang="en-US" sz="1200" b="1" u="none" strike="noStrike" cap="none">
                          <a:solidFill>
                            <a:srgbClr val="000000"/>
                          </a:solidFill>
                          <a:latin typeface="Times New Roman"/>
                          <a:ea typeface="Times New Roman"/>
                          <a:cs typeface="Times New Roman"/>
                          <a:sym typeface="Times New Roman"/>
                        </a:rPr>
                        <a:t>Foundational / Domestic Sources</a:t>
                      </a:r>
                      <a:endParaRPr sz="2800"/>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800"/>
                        <a:buFont typeface="Times New Roman"/>
                        <a:buNone/>
                      </a:pPr>
                      <a:r>
                        <a:rPr lang="en-US" sz="1200" b="1">
                          <a:solidFill>
                            <a:srgbClr val="000000"/>
                          </a:solidFill>
                          <a:latin typeface="Times New Roman"/>
                          <a:ea typeface="Times New Roman"/>
                          <a:cs typeface="Times New Roman"/>
                          <a:sym typeface="Times New Roman"/>
                        </a:rPr>
                        <a:t>Stated role in the Praxis</a:t>
                      </a:r>
                      <a:endParaRPr sz="2800"/>
                    </a:p>
                  </a:txBody>
                  <a:tcPr marL="68575" marR="68575" marT="36575" marB="22850" anchor="ctr">
                    <a:solidFill>
                      <a:srgbClr val="E7EEF3"/>
                    </a:solidFill>
                  </a:tcPr>
                </a:tc>
                <a:extLst>
                  <a:ext uri="{0D108BD9-81ED-4DB2-BD59-A6C34878D82A}">
                    <a16:rowId xmlns:a16="http://schemas.microsoft.com/office/drawing/2014/main" val="10000"/>
                  </a:ext>
                </a:extLst>
              </a:tr>
              <a:tr h="7772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Osoba, O. A., </a:t>
                      </a:r>
                      <a:r>
                        <a:rPr lang="en-US" sz="1100" b="0" dirty="0" err="1">
                          <a:solidFill>
                            <a:srgbClr val="000000"/>
                          </a:solidFill>
                          <a:latin typeface="Times New Roman"/>
                          <a:ea typeface="Times New Roman"/>
                          <a:cs typeface="Times New Roman"/>
                          <a:sym typeface="Times New Roman"/>
                        </a:rPr>
                        <a:t>Nacouzi</a:t>
                      </a:r>
                      <a:r>
                        <a:rPr lang="en-US" sz="1100" b="0" dirty="0">
                          <a:solidFill>
                            <a:srgbClr val="000000"/>
                          </a:solidFill>
                          <a:latin typeface="Times New Roman"/>
                          <a:ea typeface="Times New Roman"/>
                          <a:cs typeface="Times New Roman"/>
                          <a:sym typeface="Times New Roman"/>
                        </a:rPr>
                        <a:t>, G., Hagen, J., Tran, J., Zhang, L. A., Herron, M., Lynch, C., Eisman, M., &amp; Barton, C. (2023). The resilience assessment framework: Assessing commercial contributions to U.S. Space Force mission resilience (RR-A980-1). RAND Corporation. https://doi.org/10.7249/RRA980-1 https://www.rand.org/content/dam/rand/pubs/research_reports/RRA900/RRA980-1/RAND_RRA980-1.pdf</a:t>
                      </a:r>
                      <a:endParaRPr sz="2800" dirty="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Resilience assessment and degraded-performance comparison.</a:t>
                      </a:r>
                      <a:endParaRPr sz="2800"/>
                    </a:p>
                  </a:txBody>
                  <a:tcPr marL="68575" marR="68575" marT="36575" marB="22850" anchor="ctr">
                    <a:solidFill>
                      <a:srgbClr val="FFFFFF"/>
                    </a:solidFill>
                  </a:tcPr>
                </a:tc>
                <a:extLst>
                  <a:ext uri="{0D108BD9-81ED-4DB2-BD59-A6C34878D82A}">
                    <a16:rowId xmlns:a16="http://schemas.microsoft.com/office/drawing/2014/main" val="10001"/>
                  </a:ext>
                </a:extLst>
              </a:tr>
              <a:tr h="6858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National Aeronautics and Space Administration. (2013). Space Communications and Navigation (</a:t>
                      </a:r>
                      <a:r>
                        <a:rPr lang="en-US" sz="1100" b="0" dirty="0" err="1">
                          <a:solidFill>
                            <a:srgbClr val="000000"/>
                          </a:solidFill>
                          <a:latin typeface="Times New Roman"/>
                          <a:ea typeface="Times New Roman"/>
                          <a:cs typeface="Times New Roman"/>
                          <a:sym typeface="Times New Roman"/>
                        </a:rPr>
                        <a:t>SCaN</a:t>
                      </a:r>
                      <a:r>
                        <a:rPr lang="en-US" sz="1100" b="0" dirty="0">
                          <a:solidFill>
                            <a:srgbClr val="000000"/>
                          </a:solidFill>
                          <a:latin typeface="Times New Roman"/>
                          <a:ea typeface="Times New Roman"/>
                          <a:cs typeface="Times New Roman"/>
                          <a:sym typeface="Times New Roman"/>
                        </a:rPr>
                        <a:t>) Network Architecture Definition Document (ADD) Executive Summary, Volume 1, Revision 4. NASA. (https://www.nasa.gov/wp-content/uploads/2023/09/scan-add-vol1rev4.pdf)</a:t>
                      </a:r>
                      <a:endParaRPr sz="2800" dirty="0"/>
                    </a:p>
                  </a:txBody>
                  <a:tcPr marL="68575" marR="68575" marT="36575" marB="22850" anchor="ctr">
                    <a:solidFill>
                      <a:srgbClr val="F6F8FA"/>
                    </a:solidFill>
                  </a:tcPr>
                </a:tc>
                <a:tc>
                  <a:txBody>
                    <a:bodyPr/>
                    <a:lstStyle/>
                    <a:p>
                      <a:pPr marL="0" marR="0" lvl="0" indent="0" algn="l" rtl="0">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Ground-station and relay-network architecture; not live performance data.</a:t>
                      </a:r>
                      <a:endParaRPr sz="2800"/>
                    </a:p>
                  </a:txBody>
                  <a:tcPr marL="68575" marR="68575" marT="36575" marB="22850" anchor="ctr">
                    <a:solidFill>
                      <a:srgbClr val="F6F8FA"/>
                    </a:solidFill>
                  </a:tcPr>
                </a:tc>
                <a:extLst>
                  <a:ext uri="{0D108BD9-81ED-4DB2-BD59-A6C34878D82A}">
                    <a16:rowId xmlns:a16="http://schemas.microsoft.com/office/drawing/2014/main" val="10002"/>
                  </a:ext>
                </a:extLst>
              </a:tr>
              <a:tr h="585225">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Kodheli, O., Lagunas, E., Maturo, N., et al. (2021). Satellite communications in the new space era: A survey and future challenges. IEEE Communications Surveys &amp; Tutorials, 23, 70–109. https://ieeexplore.ieee.org/document/9210567</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Satellite communications survey and onboard-processing context.</a:t>
                      </a:r>
                      <a:endParaRPr sz="2800"/>
                    </a:p>
                  </a:txBody>
                  <a:tcPr marL="68575" marR="68575" marT="36575" marB="22850" anchor="ctr">
                    <a:solidFill>
                      <a:srgbClr val="FFFFFF"/>
                    </a:solidFill>
                  </a:tcPr>
                </a:tc>
                <a:extLst>
                  <a:ext uri="{0D108BD9-81ED-4DB2-BD59-A6C34878D82A}">
                    <a16:rowId xmlns:a16="http://schemas.microsoft.com/office/drawing/2014/main" val="10003"/>
                  </a:ext>
                </a:extLst>
              </a:tr>
              <a:tr h="4755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CelesTrak. (n.d.). NORAD GP element sets: Current data. https://celestrak.org/NORAD/elements/?</a:t>
                      </a:r>
                      <a:endParaRPr sz="280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Orbital elements for visibility/access assumptions.</a:t>
                      </a:r>
                      <a:endParaRPr sz="2800"/>
                    </a:p>
                  </a:txBody>
                  <a:tcPr marL="68575" marR="68575" marT="36575" marB="22850" anchor="ctr">
                    <a:solidFill>
                      <a:srgbClr val="F6F8FA"/>
                    </a:solidFill>
                  </a:tcPr>
                </a:tc>
                <a:extLst>
                  <a:ext uri="{0D108BD9-81ED-4DB2-BD59-A6C34878D82A}">
                    <a16:rowId xmlns:a16="http://schemas.microsoft.com/office/drawing/2014/main" val="10004"/>
                  </a:ext>
                </a:extLst>
              </a:tr>
              <a:tr h="5943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National Oceanic and Atmospheric Administration, Space Weather Prediction Center. (n.d.). Planetary K-index. https://www.spaceweather.gov/products/planetary-k-index?</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dirty="0">
                          <a:solidFill>
                            <a:srgbClr val="000000"/>
                          </a:solidFill>
                          <a:latin typeface="Times New Roman"/>
                          <a:ea typeface="Times New Roman"/>
                          <a:cs typeface="Times New Roman"/>
                          <a:sym typeface="Times New Roman"/>
                        </a:rPr>
                        <a:t>Environmental proxy for degradation scenarios; not direct latency.</a:t>
                      </a:r>
                      <a:endParaRPr sz="2800" dirty="0"/>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198" name="TextBox 19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15 of 29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TextBox 202"/>
          <p:cNvSpPr txBox="1"/>
          <p:nvPr/>
        </p:nvSpPr>
        <p:spPr>
          <a:xfrm>
            <a:off x="502920" y="246888"/>
            <a:ext cx="10607040" cy="411480"/>
          </a:xfrm>
          <a:prstGeom prst="rect">
            <a:avLst/>
          </a:prstGeom>
          <a:noFill/>
        </p:spPr>
        <p:txBody>
          <a:bodyPr wrap="none" lIns="27432" tIns="18288" rIns="27432" bIns="18288">
            <a:spAutoFit/>
          </a:bodyPr>
          <a:lstStyle/>
          <a:p>
            <a:pPr>
              <a:defRPr sz="2200" b="1">
                <a:solidFill>
                  <a:srgbClr val="2C3137"/>
                </a:solidFill>
                <a:latin typeface="Arial"/>
              </a:defRPr>
            </a:pPr>
            <a:r>
              <a:t>Data Sources — Current Simultaneity Stack and Supporting Candidates</a:t>
            </a:r>
          </a:p>
        </p:txBody>
      </p:sp>
      <p:sp>
        <p:nvSpPr>
          <p:cNvPr id="204" name="TextBox 203"/>
          <p:cNvSpPr txBox="1"/>
          <p:nvPr/>
        </p:nvSpPr>
        <p:spPr>
          <a:xfrm>
            <a:off x="530352" y="749808"/>
            <a:ext cx="10332720" cy="411480"/>
          </a:xfrm>
          <a:prstGeom prst="rect">
            <a:avLst/>
          </a:prstGeom>
          <a:noFill/>
        </p:spPr>
        <p:txBody>
          <a:bodyPr wrap="none" lIns="27432" tIns="18288" rIns="27432" bIns="18288">
            <a:spAutoFit/>
          </a:bodyPr>
          <a:lstStyle/>
          <a:p>
            <a:pPr>
              <a:defRPr sz="1050" b="0">
                <a:solidFill>
                  <a:srgbClr val="414141"/>
                </a:solidFill>
                <a:latin typeface="Arial"/>
              </a:defRPr>
            </a:pPr>
            <a:r>
              <a:t>ASOT event window: 28 Jan. 2022, 17:42–17:55 UTC. The first three sources are the simultaneous baseline; the last two remain supporting / foreign context candidates.</a:t>
            </a:r>
          </a:p>
        </p:txBody>
      </p:sp>
      <p:graphicFrame>
        <p:nvGraphicFramePr>
          <p:cNvPr id="205" name="Table 204"/>
          <p:cNvGraphicFramePr>
            <a:graphicFrameLocks noGrp="1"/>
          </p:cNvGraphicFramePr>
          <p:nvPr/>
        </p:nvGraphicFramePr>
        <p:xfrm>
          <a:off x="502920" y="1234440"/>
          <a:ext cx="11064240" cy="416052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788920">
                  <a:extLst>
                    <a:ext uri="{9D8B030D-6E8A-4147-A177-3AD203B41FA5}">
                      <a16:colId xmlns:a16="http://schemas.microsoft.com/office/drawing/2014/main" val="20004"/>
                    </a:ext>
                  </a:extLst>
                </a:gridCol>
              </a:tblGrid>
              <a:tr h="693420">
                <a:tc>
                  <a:txBody>
                    <a:bodyPr/>
                    <a:lstStyle/>
                    <a:p>
                      <a:pPr algn="ctr">
                        <a:defRPr sz="850" b="1">
                          <a:solidFill>
                            <a:srgbClr val="FFFFFF"/>
                          </a:solidFill>
                          <a:latin typeface="Arial"/>
                        </a:defRPr>
                      </a:pPr>
                      <a:r>
                        <a:t>ACE role</a:t>
                      </a:r>
                    </a:p>
                  </a:txBody>
                  <a:tcPr>
                    <a:solidFill>
                      <a:srgbClr val="1F4E79"/>
                    </a:solidFill>
                  </a:tcPr>
                </a:tc>
                <a:tc>
                  <a:txBody>
                    <a:bodyPr/>
                    <a:lstStyle/>
                    <a:p>
                      <a:pPr algn="ctr">
                        <a:defRPr sz="850" b="1">
                          <a:solidFill>
                            <a:srgbClr val="FFFFFF"/>
                          </a:solidFill>
                          <a:latin typeface="Arial"/>
                        </a:defRPr>
                      </a:pPr>
                      <a:r>
                        <a:t>Source / owner</a:t>
                      </a:r>
                    </a:p>
                  </a:txBody>
                  <a:tcPr>
                    <a:solidFill>
                      <a:srgbClr val="1F4E79"/>
                    </a:solidFill>
                  </a:tcPr>
                </a:tc>
                <a:tc>
                  <a:txBody>
                    <a:bodyPr/>
                    <a:lstStyle/>
                    <a:p>
                      <a:pPr algn="ctr">
                        <a:defRPr sz="850" b="1">
                          <a:solidFill>
                            <a:srgbClr val="FFFFFF"/>
                          </a:solidFill>
                          <a:latin typeface="Arial"/>
                        </a:defRPr>
                      </a:pPr>
                      <a:r>
                        <a:t>Status</a:t>
                      </a:r>
                    </a:p>
                  </a:txBody>
                  <a:tcPr>
                    <a:solidFill>
                      <a:srgbClr val="1F4E79"/>
                    </a:solidFill>
                  </a:tcPr>
                </a:tc>
                <a:tc>
                  <a:txBody>
                    <a:bodyPr/>
                    <a:lstStyle/>
                    <a:p>
                      <a:pPr algn="ctr">
                        <a:defRPr sz="850" b="1">
                          <a:solidFill>
                            <a:srgbClr val="FFFFFF"/>
                          </a:solidFill>
                          <a:latin typeface="Arial"/>
                        </a:defRPr>
                      </a:pPr>
                      <a:r>
                        <a:t>Use in workbook</a:t>
                      </a:r>
                    </a:p>
                  </a:txBody>
                  <a:tcPr>
                    <a:solidFill>
                      <a:srgbClr val="1F4E79"/>
                    </a:solidFill>
                  </a:tcPr>
                </a:tc>
                <a:tc>
                  <a:txBody>
                    <a:bodyPr/>
                    <a:lstStyle/>
                    <a:p>
                      <a:pPr algn="ctr">
                        <a:defRPr sz="850" b="1">
                          <a:solidFill>
                            <a:srgbClr val="FFFFFF"/>
                          </a:solidFill>
                          <a:latin typeface="Arial"/>
                        </a:defRPr>
                      </a:pPr>
                      <a:r>
                        <a:t>Boundary / note</a:t>
                      </a:r>
                    </a:p>
                  </a:txBody>
                  <a:tcPr>
                    <a:solidFill>
                      <a:srgbClr val="1F4E79"/>
                    </a:solidFill>
                  </a:tcPr>
                </a:tc>
                <a:extLst>
                  <a:ext uri="{0D108BD9-81ED-4DB2-BD59-A6C34878D82A}">
                    <a16:rowId xmlns:a16="http://schemas.microsoft.com/office/drawing/2014/main" val="10000"/>
                  </a:ext>
                </a:extLst>
              </a:tr>
              <a:tr h="693420">
                <a:tc>
                  <a:txBody>
                    <a:bodyPr/>
                    <a:lstStyle/>
                    <a:p>
                      <a:pPr algn="l">
                        <a:defRPr sz="800" b="1">
                          <a:solidFill>
                            <a:srgbClr val="000000"/>
                          </a:solidFill>
                          <a:latin typeface="Arial"/>
                        </a:defRPr>
                      </a:pPr>
                      <a:r>
                        <a:t>A — AI/ML</a:t>
                      </a:r>
                    </a:p>
                  </a:txBody>
                  <a:tcPr>
                    <a:solidFill>
                      <a:srgbClr val="CAE4F4"/>
                    </a:solidFill>
                  </a:tcPr>
                </a:tc>
                <a:tc>
                  <a:txBody>
                    <a:bodyPr/>
                    <a:lstStyle/>
                    <a:p>
                      <a:pPr algn="l">
                        <a:defRPr sz="760" b="0">
                          <a:solidFill>
                            <a:srgbClr val="000000"/>
                          </a:solidFill>
                          <a:latin typeface="Arial"/>
                        </a:defRPr>
                      </a:pPr>
                      <a:r>
                        <a:t>OPSSAT-AD v2</a:t>
                      </a:r>
                    </a:p>
                    <a:p>
                      <a:pPr algn="l">
                        <a:defRPr sz="760" b="0">
                          <a:solidFill>
                            <a:srgbClr val="000000"/>
                          </a:solidFill>
                          <a:latin typeface="Arial"/>
                        </a:defRPr>
                      </a:pPr>
                      <a:r>
                        <a:t>(dataset.csv + segments.csv)</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FFFFF"/>
                    </a:solidFill>
                  </a:tcPr>
                </a:tc>
                <a:tc>
                  <a:txBody>
                    <a:bodyPr/>
                    <a:lstStyle/>
                    <a:p>
                      <a:pPr algn="l">
                        <a:defRPr sz="800" b="0">
                          <a:solidFill>
                            <a:srgbClr val="000000"/>
                          </a:solidFill>
                          <a:latin typeface="Arial"/>
                        </a:defRPr>
                      </a:pPr>
                      <a:r>
                        <a:t>Telemetry / task leg; establishes observation and AI/ML workload timing.</a:t>
                      </a:r>
                    </a:p>
                  </a:txBody>
                  <a:tcPr>
                    <a:solidFill>
                      <a:srgbClr val="FFFFFF"/>
                    </a:solidFill>
                  </a:tcPr>
                </a:tc>
                <a:tc>
                  <a:txBody>
                    <a:bodyPr/>
                    <a:lstStyle/>
                    <a:p>
                      <a:pPr algn="l">
                        <a:defRPr sz="800" b="0">
                          <a:solidFill>
                            <a:srgbClr val="000000"/>
                          </a:solidFill>
                          <a:latin typeface="Arial"/>
                        </a:defRPr>
                      </a:pPr>
                      <a:r>
                        <a:t>Same OPS-SAT event window; bounded to accepted cohort.</a:t>
                      </a:r>
                    </a:p>
                  </a:txBody>
                  <a:tcPr>
                    <a:solidFill>
                      <a:srgbClr val="FFFFFF"/>
                    </a:solidFill>
                  </a:tcPr>
                </a:tc>
                <a:extLst>
                  <a:ext uri="{0D108BD9-81ED-4DB2-BD59-A6C34878D82A}">
                    <a16:rowId xmlns:a16="http://schemas.microsoft.com/office/drawing/2014/main" val="10001"/>
                  </a:ext>
                </a:extLst>
              </a:tr>
              <a:tr h="693420">
                <a:tc>
                  <a:txBody>
                    <a:bodyPr/>
                    <a:lstStyle/>
                    <a:p>
                      <a:pPr algn="l">
                        <a:defRPr sz="800" b="1">
                          <a:solidFill>
                            <a:srgbClr val="000000"/>
                          </a:solidFill>
                          <a:latin typeface="Arial"/>
                        </a:defRPr>
                      </a:pPr>
                      <a:r>
                        <a:t>C — Comms</a:t>
                      </a:r>
                    </a:p>
                  </a:txBody>
                  <a:tcPr>
                    <a:solidFill>
                      <a:srgbClr val="E2EFDA"/>
                    </a:solidFill>
                  </a:tcPr>
                </a:tc>
                <a:tc>
                  <a:txBody>
                    <a:bodyPr/>
                    <a:lstStyle/>
                    <a:p>
                      <a:pPr algn="l">
                        <a:defRPr sz="760" b="0">
                          <a:solidFill>
                            <a:srgbClr val="000000"/>
                          </a:solidFill>
                          <a:latin typeface="Arial"/>
                        </a:defRPr>
                      </a:pPr>
                      <a:r>
                        <a:t>SatNOGS OPS-SAT telemetry</a:t>
                      </a:r>
                    </a:p>
                    <a:p>
                      <a:pPr algn="l">
                        <a:defRPr sz="760" b="0">
                          <a:solidFill>
                            <a:srgbClr val="000000"/>
                          </a:solidFill>
                          <a:latin typeface="Arial"/>
                        </a:defRPr>
                      </a:pPr>
                      <a:r>
                        <a:t>OPS-SAT / NORAD 44878</a:t>
                      </a:r>
                    </a:p>
                  </a:txBody>
                  <a:tcPr>
                    <a:solidFill>
                      <a:srgbClr val="F8F8F8"/>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8F8F8"/>
                    </a:solidFill>
                  </a:tcPr>
                </a:tc>
                <a:tc>
                  <a:txBody>
                    <a:bodyPr/>
                    <a:lstStyle/>
                    <a:p>
                      <a:pPr algn="l">
                        <a:defRPr sz="800" b="0">
                          <a:solidFill>
                            <a:srgbClr val="000000"/>
                          </a:solidFill>
                          <a:latin typeface="Arial"/>
                        </a:defRPr>
                      </a:pPr>
                      <a:r>
                        <a:t>Communications leg; reception / decoded telemetry and accepted link associations.</a:t>
                      </a:r>
                    </a:p>
                  </a:txBody>
                  <a:tcPr>
                    <a:solidFill>
                      <a:srgbClr val="F8F8F8"/>
                    </a:solidFill>
                  </a:tcPr>
                </a:tc>
                <a:tc>
                  <a:txBody>
                    <a:bodyPr/>
                    <a:lstStyle/>
                    <a:p>
                      <a:pPr algn="l">
                        <a:defRPr sz="800" b="0">
                          <a:solidFill>
                            <a:srgbClr val="000000"/>
                          </a:solidFill>
                          <a:latin typeface="Arial"/>
                        </a:defRPr>
                      </a:pPr>
                      <a:r>
                        <a:t>Same spacecraft; not treated as full network-performance truth.</a:t>
                      </a:r>
                    </a:p>
                  </a:txBody>
                  <a:tcPr>
                    <a:solidFill>
                      <a:srgbClr val="F8F8F8"/>
                    </a:solidFill>
                  </a:tcPr>
                </a:tc>
                <a:extLst>
                  <a:ext uri="{0D108BD9-81ED-4DB2-BD59-A6C34878D82A}">
                    <a16:rowId xmlns:a16="http://schemas.microsoft.com/office/drawing/2014/main" val="10002"/>
                  </a:ext>
                </a:extLst>
              </a:tr>
              <a:tr h="693420">
                <a:tc>
                  <a:txBody>
                    <a:bodyPr/>
                    <a:lstStyle/>
                    <a:p>
                      <a:pPr algn="l">
                        <a:defRPr sz="800" b="1">
                          <a:solidFill>
                            <a:srgbClr val="000000"/>
                          </a:solidFill>
                          <a:latin typeface="Arial"/>
                        </a:defRPr>
                      </a:pPr>
                      <a:r>
                        <a:t>E — Environmental</a:t>
                      </a:r>
                    </a:p>
                  </a:txBody>
                  <a:tcPr>
                    <a:solidFill>
                      <a:srgbClr val="EDE1F6"/>
                    </a:solidFill>
                  </a:tcPr>
                </a:tc>
                <a:tc>
                  <a:txBody>
                    <a:bodyPr/>
                    <a:lstStyle/>
                    <a:p>
                      <a:pPr algn="l">
                        <a:defRPr sz="760" b="0">
                          <a:solidFill>
                            <a:srgbClr val="000000"/>
                          </a:solidFill>
                          <a:latin typeface="Arial"/>
                        </a:defRPr>
                      </a:pPr>
                      <a:r>
                        <a:t>NASA OMNI 1-minute</a:t>
                      </a:r>
                    </a:p>
                    <a:p>
                      <a:pPr algn="l">
                        <a:defRPr sz="760" b="0">
                          <a:solidFill>
                            <a:srgbClr val="000000"/>
                          </a:solidFill>
                          <a:latin typeface="Arial"/>
                        </a:defRPr>
                      </a:pPr>
                      <a:r>
                        <a:t>High-res space environment</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Context window</a:t>
                      </a:r>
                    </a:p>
                  </a:txBody>
                  <a:tcPr>
                    <a:solidFill>
                      <a:srgbClr val="FFFFFF"/>
                    </a:solidFill>
                  </a:tcPr>
                </a:tc>
                <a:tc>
                  <a:txBody>
                    <a:bodyPr/>
                    <a:lstStyle/>
                    <a:p>
                      <a:pPr algn="l">
                        <a:defRPr sz="800" b="0">
                          <a:solidFill>
                            <a:srgbClr val="000000"/>
                          </a:solidFill>
                          <a:latin typeface="Arial"/>
                        </a:defRPr>
                      </a:pPr>
                      <a:r>
                        <a:t>Environmental context for the same UTC interval.</a:t>
                      </a:r>
                    </a:p>
                  </a:txBody>
                  <a:tcPr>
                    <a:solidFill>
                      <a:srgbClr val="FFFFFF"/>
                    </a:solidFill>
                  </a:tcPr>
                </a:tc>
                <a:tc>
                  <a:txBody>
                    <a:bodyPr/>
                    <a:lstStyle/>
                    <a:p>
                      <a:pPr algn="l">
                        <a:defRPr sz="800" b="0">
                          <a:solidFill>
                            <a:srgbClr val="000000"/>
                          </a:solidFill>
                          <a:latin typeface="Arial"/>
                        </a:defRPr>
                      </a:pPr>
                      <a:r>
                        <a:t>Not OPS-SAT telemetry; association/context, not automatic causation.</a:t>
                      </a:r>
                    </a:p>
                  </a:txBody>
                  <a:tcPr>
                    <a:solidFill>
                      <a:srgbClr val="FFFFFF"/>
                    </a:solidFill>
                  </a:tcPr>
                </a:tc>
                <a:extLst>
                  <a:ext uri="{0D108BD9-81ED-4DB2-BD59-A6C34878D82A}">
                    <a16:rowId xmlns:a16="http://schemas.microsoft.com/office/drawing/2014/main" val="10003"/>
                  </a:ext>
                </a:extLst>
              </a:tr>
              <a:tr h="693420">
                <a:tc>
                  <a:txBody>
                    <a:bodyPr/>
                    <a:lstStyle/>
                    <a:p>
                      <a:pPr algn="l">
                        <a:defRPr sz="800" b="1">
                          <a:solidFill>
                            <a:srgbClr val="000000"/>
                          </a:solidFill>
                          <a:latin typeface="Arial"/>
                        </a:defRPr>
                      </a:pPr>
                      <a:r>
                        <a:t>Support — ENV</a:t>
                      </a:r>
                    </a:p>
                  </a:txBody>
                  <a:tcPr>
                    <a:solidFill>
                      <a:srgbClr val="F2F2F2"/>
                    </a:solidFill>
                  </a:tcPr>
                </a:tc>
                <a:tc>
                  <a:txBody>
                    <a:bodyPr/>
                    <a:lstStyle/>
                    <a:p>
                      <a:pPr algn="l">
                        <a:defRPr sz="760" b="0">
                          <a:solidFill>
                            <a:srgbClr val="000000"/>
                          </a:solidFill>
                          <a:latin typeface="Arial"/>
                        </a:defRPr>
                      </a:pPr>
                      <a:r>
                        <a:t>Antarctica / CINC ionosonde</a:t>
                      </a:r>
                    </a:p>
                    <a:p>
                      <a:pPr algn="l">
                        <a:defRPr sz="760" b="0">
                          <a:solidFill>
                            <a:srgbClr val="000000"/>
                          </a:solidFill>
                          <a:latin typeface="Arial"/>
                        </a:defRPr>
                      </a:pPr>
                      <a:r>
                        <a:t>foreign environmental context</a:t>
                      </a:r>
                    </a:p>
                  </a:txBody>
                  <a:tcPr>
                    <a:solidFill>
                      <a:srgbClr val="F8F8F8"/>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8F8F8"/>
                    </a:solidFill>
                  </a:tcPr>
                </a:tc>
                <a:tc>
                  <a:txBody>
                    <a:bodyPr/>
                    <a:lstStyle/>
                    <a:p>
                      <a:pPr algn="l">
                        <a:defRPr sz="800" b="0">
                          <a:solidFill>
                            <a:srgbClr val="000000"/>
                          </a:solidFill>
                          <a:latin typeface="Arial"/>
                        </a:defRPr>
                      </a:pPr>
                      <a:r>
                        <a:t>Adds environmental/ionospheric precedent and citation support.</a:t>
                      </a:r>
                    </a:p>
                  </a:txBody>
                  <a:tcPr>
                    <a:solidFill>
                      <a:srgbClr val="F8F8F8"/>
                    </a:solidFill>
                  </a:tcPr>
                </a:tc>
                <a:tc>
                  <a:txBody>
                    <a:bodyPr/>
                    <a:lstStyle/>
                    <a:p>
                      <a:pPr algn="l">
                        <a:defRPr sz="800" b="0">
                          <a:solidFill>
                            <a:srgbClr val="000000"/>
                          </a:solidFill>
                          <a:latin typeface="Arial"/>
                        </a:defRPr>
                      </a:pPr>
                      <a:r>
                        <a:t>Not part of current simultaneous OPS-SAT cohort.</a:t>
                      </a:r>
                    </a:p>
                  </a:txBody>
                  <a:tcPr>
                    <a:solidFill>
                      <a:srgbClr val="F8F8F8"/>
                    </a:solidFill>
                  </a:tcPr>
                </a:tc>
                <a:extLst>
                  <a:ext uri="{0D108BD9-81ED-4DB2-BD59-A6C34878D82A}">
                    <a16:rowId xmlns:a16="http://schemas.microsoft.com/office/drawing/2014/main" val="10004"/>
                  </a:ext>
                </a:extLst>
              </a:tr>
              <a:tr h="693420">
                <a:tc>
                  <a:txBody>
                    <a:bodyPr/>
                    <a:lstStyle/>
                    <a:p>
                      <a:pPr algn="l">
                        <a:defRPr sz="800" b="1">
                          <a:solidFill>
                            <a:srgbClr val="000000"/>
                          </a:solidFill>
                          <a:latin typeface="Arial"/>
                        </a:defRPr>
                      </a:pPr>
                      <a:r>
                        <a:t>Support — COMM</a:t>
                      </a:r>
                    </a:p>
                  </a:txBody>
                  <a:tcPr>
                    <a:solidFill>
                      <a:srgbClr val="F2F2F2"/>
                    </a:solidFill>
                  </a:tcPr>
                </a:tc>
                <a:tc>
                  <a:txBody>
                    <a:bodyPr/>
                    <a:lstStyle/>
                    <a:p>
                      <a:pPr algn="l">
                        <a:defRPr sz="760" b="0">
                          <a:solidFill>
                            <a:srgbClr val="000000"/>
                          </a:solidFill>
                          <a:latin typeface="Arial"/>
                        </a:defRPr>
                      </a:pPr>
                      <a:r>
                        <a:t>CAIDA / external network-measurement candidate</a:t>
                      </a:r>
                    </a:p>
                  </a:txBody>
                  <a:tcPr>
                    <a:solidFill>
                      <a:srgbClr val="FFFFFF"/>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FFFFF"/>
                    </a:solidFill>
                  </a:tcPr>
                </a:tc>
                <a:tc>
                  <a:txBody>
                    <a:bodyPr/>
                    <a:lstStyle/>
                    <a:p>
                      <a:pPr algn="l">
                        <a:defRPr sz="800" b="0">
                          <a:solidFill>
                            <a:srgbClr val="000000"/>
                          </a:solidFill>
                          <a:latin typeface="Arial"/>
                        </a:defRPr>
                      </a:pPr>
                      <a:r>
                        <a:t>Supports comms-measurement framing and degradation literature.</a:t>
                      </a:r>
                    </a:p>
                  </a:txBody>
                  <a:tcPr>
                    <a:solidFill>
                      <a:srgbClr val="FFFFFF"/>
                    </a:solidFill>
                  </a:tcPr>
                </a:tc>
                <a:tc>
                  <a:txBody>
                    <a:bodyPr/>
                    <a:lstStyle/>
                    <a:p>
                      <a:pPr algn="l">
                        <a:defRPr sz="800" b="0">
                          <a:solidFill>
                            <a:srgbClr val="000000"/>
                          </a:solidFill>
                          <a:latin typeface="Arial"/>
                        </a:defRPr>
                      </a:pPr>
                      <a:r>
                        <a:t>Keep separate from ASOT unless time-overlap is later verified.</a:t>
                      </a:r>
                    </a:p>
                  </a:txBody>
                  <a:tcPr>
                    <a:solidFill>
                      <a:srgbClr val="FFFFFF"/>
                    </a:solidFill>
                  </a:tcPr>
                </a:tc>
                <a:extLst>
                  <a:ext uri="{0D108BD9-81ED-4DB2-BD59-A6C34878D82A}">
                    <a16:rowId xmlns:a16="http://schemas.microsoft.com/office/drawing/2014/main" val="10005"/>
                  </a:ext>
                </a:extLst>
              </a:tr>
            </a:tbl>
          </a:graphicData>
        </a:graphic>
      </p:graphicFrame>
      <p:sp>
        <p:nvSpPr>
          <p:cNvPr id="206" name="TextBox 205"/>
          <p:cNvSpPr txBox="1"/>
          <p:nvPr/>
        </p:nvSpPr>
        <p:spPr>
          <a:xfrm>
            <a:off x="624840" y="5029200"/>
            <a:ext cx="9694257" cy="319831"/>
          </a:xfrm>
          <a:prstGeom prst="rect">
            <a:avLst/>
          </a:prstGeom>
          <a:noFill/>
        </p:spPr>
        <p:txBody>
          <a:bodyPr wrap="none" lIns="27432" tIns="18288" rIns="27432" bIns="18288">
            <a:spAutoFit/>
          </a:bodyPr>
          <a:lstStyle/>
          <a:p>
            <a:pPr>
              <a:defRPr sz="919" b="1">
                <a:solidFill>
                  <a:srgbClr val="780000"/>
                </a:solidFill>
                <a:latin typeface="Arial"/>
              </a:defRPr>
            </a:pPr>
            <a:r>
              <a:rPr dirty="0">
                <a:highlight>
                  <a:srgbClr val="FFFF00"/>
                </a:highlight>
              </a:rPr>
              <a:t>ASOT = first three simultaneous sources only. Supporting sources strengthen Chapter 2 and scenario logic, but they do not replace the synchronized OPS-SAT ACE cohort.</a:t>
            </a:r>
            <a:endParaRPr lang="en-US" dirty="0">
              <a:highlight>
                <a:srgbClr val="FFFF00"/>
              </a:highlight>
            </a:endParaRPr>
          </a:p>
          <a:p>
            <a:pPr>
              <a:defRPr sz="919" b="1">
                <a:solidFill>
                  <a:srgbClr val="780000"/>
                </a:solidFill>
                <a:latin typeface="Arial"/>
              </a:defRPr>
            </a:pPr>
            <a:r>
              <a:rPr lang="en-US" dirty="0">
                <a:highlight>
                  <a:srgbClr val="FFFF00"/>
                </a:highlight>
              </a:rPr>
              <a:t>The supporting sources established and support the Env/Comm buckets.</a:t>
            </a:r>
            <a:endParaRPr dirty="0">
              <a:highlight>
                <a:srgbClr val="FFFF00"/>
              </a:highlight>
            </a:endParaRPr>
          </a:p>
        </p:txBody>
      </p:sp>
      <p:sp>
        <p:nvSpPr>
          <p:cNvPr id="207" name="TextBox 20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16 of 29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Summary of Methodology</a:t>
            </a:r>
            <a:endParaRPr/>
          </a:p>
        </p:txBody>
      </p:sp>
      <p:sp>
        <p:nvSpPr>
          <p:cNvPr id="214" name="Google Shape;214;p34"/>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dirty="0">
                <a:solidFill>
                  <a:srgbClr val="000000"/>
                </a:solidFill>
                <a:latin typeface="Times New Roman"/>
                <a:ea typeface="Times New Roman"/>
                <a:cs typeface="Times New Roman"/>
                <a:sym typeface="Times New Roman"/>
              </a:rPr>
              <a:t>DES — WORKING SELECTION </a:t>
            </a:r>
            <a:endParaRPr dirty="0"/>
          </a:p>
        </p:txBody>
      </p:sp>
      <p:graphicFrame>
        <p:nvGraphicFramePr>
          <p:cNvPr id="215" name="Google Shape;215;p34"/>
          <p:cNvGraphicFramePr/>
          <p:nvPr>
            <p:extLst>
              <p:ext uri="{D42A27DB-BD31-4B8C-83A1-F6EECF244321}">
                <p14:modId xmlns:p14="http://schemas.microsoft.com/office/powerpoint/2010/main" val="2227060357"/>
              </p:ext>
            </p:extLst>
          </p:nvPr>
        </p:nvGraphicFramePr>
        <p:xfrm>
          <a:off x="585216" y="1463040"/>
          <a:ext cx="10991075" cy="3639325"/>
        </p:xfrm>
        <a:graphic>
          <a:graphicData uri="http://schemas.openxmlformats.org/drawingml/2006/table">
            <a:tbl>
              <a:tblPr firstRow="1" bandRow="1">
                <a:noFill/>
                <a:tableStyleId>{3C1EB017-BC45-4DEE-9ABB-B4D90C79D28D}</a:tableStyleId>
              </a:tblPr>
              <a:tblGrid>
                <a:gridCol w="2011675">
                  <a:extLst>
                    <a:ext uri="{9D8B030D-6E8A-4147-A177-3AD203B41FA5}">
                      <a16:colId xmlns:a16="http://schemas.microsoft.com/office/drawing/2014/main" val="20000"/>
                    </a:ext>
                  </a:extLst>
                </a:gridCol>
                <a:gridCol w="8979400">
                  <a:extLst>
                    <a:ext uri="{9D8B030D-6E8A-4147-A177-3AD203B41FA5}">
                      <a16:colId xmlns:a16="http://schemas.microsoft.com/office/drawing/2014/main" val="20001"/>
                    </a:ext>
                  </a:extLst>
                </a:gridCol>
              </a:tblGrid>
              <a:tr h="3200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Element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Working design / source-derived content</a:t>
                      </a:r>
                      <a:endParaRPr/>
                    </a:p>
                  </a:txBody>
                  <a:tcPr marL="68575" marR="68575" marT="36575" marB="22850" anchor="ctr">
                    <a:solidFill>
                      <a:srgbClr val="E7EEF3"/>
                    </a:solidFill>
                  </a:tcPr>
                </a:tc>
                <a:extLst>
                  <a:ext uri="{0D108BD9-81ED-4DB2-BD59-A6C34878D82A}">
                    <a16:rowId xmlns:a16="http://schemas.microsoft.com/office/drawing/2014/main" val="10000"/>
                  </a:ext>
                </a:extLst>
              </a:tr>
              <a:tr h="6309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Method</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Follow individual observations, disruptions, routing, processing, responses and recovery in event order.</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Compare ground-centric and orbital-edge paths under matched degradation.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7132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Inputs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Disruption type/start/duration; communication lag; ground-station availability; visibility window; bandwidth capacity; data volume; packet loss; edge processing time; resource availability.</a:t>
                      </a:r>
                      <a:endParaRPr dirty="0"/>
                    </a:p>
                  </a:txBody>
                  <a:tcPr marL="68575" marR="68575" marT="36575" marB="22850" anchor="ctr">
                    <a:solidFill>
                      <a:srgbClr val="F6F8FA"/>
                    </a:solidFill>
                  </a:tcPr>
                </a:tc>
                <a:extLst>
                  <a:ext uri="{0D108BD9-81ED-4DB2-BD59-A6C34878D82A}">
                    <a16:rowId xmlns:a16="http://schemas.microsoft.com/office/drawing/2014/main" val="10002"/>
                  </a:ext>
                </a:extLst>
              </a:tr>
              <a:tr h="65837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200" b="1" dirty="0">
                          <a:solidFill>
                            <a:srgbClr val="000000"/>
                          </a:solidFill>
                          <a:latin typeface="Times New Roman"/>
                          <a:ea typeface="Times New Roman"/>
                          <a:cs typeface="Times New Roman"/>
                          <a:sym typeface="Times New Roman"/>
                        </a:rPr>
                        <a:t>Outputs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Uptime/service availability; downtime/recovery; response latency; packet loss; queueing delay.</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Recovery and dropped messages remain supporting observations. Definitions and thresholds still need to be fixed.</a:t>
                      </a:r>
                      <a:endParaRPr/>
                    </a:p>
                  </a:txBody>
                  <a:tcPr marL="68575" marR="68575" marT="36575" marB="22850" anchor="ctr">
                    <a:solidFill>
                      <a:srgbClr val="FFFFFF"/>
                    </a:solidFill>
                  </a:tcPr>
                </a:tc>
                <a:extLst>
                  <a:ext uri="{0D108BD9-81ED-4DB2-BD59-A6C34878D82A}">
                    <a16:rowId xmlns:a16="http://schemas.microsoft.com/office/drawing/2014/main" val="10003"/>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Analysis</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1">
                          <a:solidFill>
                            <a:srgbClr val="000000"/>
                          </a:solidFill>
                          <a:latin typeface="Times New Roman"/>
                          <a:ea typeface="Times New Roman"/>
                          <a:cs typeface="Times New Roman"/>
                          <a:sym typeface="Times New Roman"/>
                        </a:rPr>
                        <a:t>Public benchmarks and theoretical delay calculations; matched repeated runs; latency-distribution comparison; sensitivity analysis. </a:t>
                      </a:r>
                      <a:endParaRPr sz="1400" b="1">
                        <a:solidFill>
                          <a:srgbClr val="000000"/>
                        </a:solidFill>
                        <a:latin typeface="Times New Roman"/>
                        <a:ea typeface="Times New Roman"/>
                        <a:cs typeface="Times New Roman"/>
                        <a:sym typeface="Times New Roman"/>
                      </a:endParaRPr>
                    </a:p>
                  </a:txBody>
                  <a:tcPr marL="68575" marR="68575" marT="36575" marB="22850" anchor="ctr">
                    <a:solidFill>
                      <a:srgbClr val="F6F8FA"/>
                    </a:solidFill>
                  </a:tcPr>
                </a:tc>
                <a:extLst>
                  <a:ext uri="{0D108BD9-81ED-4DB2-BD59-A6C34878D82A}">
                    <a16:rowId xmlns:a16="http://schemas.microsoft.com/office/drawing/2014/main" val="10004"/>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Implementation / boundary</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MATLAB/</a:t>
                      </a:r>
                      <a:r>
                        <a:rPr lang="en-US" sz="1400" b="0" dirty="0" err="1">
                          <a:solidFill>
                            <a:srgbClr val="000000"/>
                          </a:solidFill>
                          <a:latin typeface="Times New Roman"/>
                          <a:ea typeface="Times New Roman"/>
                          <a:cs typeface="Times New Roman"/>
                          <a:sym typeface="Times New Roman"/>
                        </a:rPr>
                        <a:t>SimEvents</a:t>
                      </a:r>
                      <a:r>
                        <a:rPr lang="en-US" sz="1400" b="0" dirty="0">
                          <a:solidFill>
                            <a:srgbClr val="000000"/>
                          </a:solidFill>
                          <a:latin typeface="Times New Roman"/>
                          <a:ea typeface="Times New Roman"/>
                          <a:cs typeface="Times New Roman"/>
                          <a:sym typeface="Times New Roman"/>
                        </a:rPr>
                        <a:t> primary; Python only optional for data ingestion/preprocessing; reproducible scenario tables with fixed random seeds.</a:t>
                      </a:r>
                      <a:endParaRPr sz="3200" b="1" dirty="0">
                        <a:solidFill>
                          <a:srgbClr val="000000"/>
                        </a:solidFill>
                        <a:latin typeface="Times New Roman"/>
                        <a:ea typeface="Times New Roman"/>
                        <a:cs typeface="Times New Roman"/>
                        <a:sym typeface="Times New Roman"/>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216" name="TextBox 215"/>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17 of 29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40"/>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4" name="TextBox 25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18 of 29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FED811-37BE-4285-E8F2-1BCF58F92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1BF20CD7-1A1F-F02C-89D8-4817159B0921}"/>
              </a:ext>
            </a:extLst>
          </p:cNvPr>
          <p:cNvSpPr txBox="1"/>
          <p:nvPr/>
        </p:nvSpPr>
        <p:spPr>
          <a:xfrm>
            <a:off x="274320" y="95700"/>
            <a:ext cx="11612880" cy="461665"/>
          </a:xfrm>
          <a:prstGeom prst="rect">
            <a:avLst/>
          </a:prstGeom>
          <a:noFill/>
        </p:spPr>
        <p:txBody>
          <a:bodyPr wrap="square" rtlCol="0">
            <a:spAutoFit/>
          </a:bodyPr>
          <a:lstStyle/>
          <a:p>
            <a:pPr>
              <a:spcAft>
                <a:spcPts val="300"/>
              </a:spcAft>
            </a:pPr>
            <a:r>
              <a:rPr sz="2100" b="1">
                <a:solidFill>
                  <a:srgbClr val="263746"/>
                </a:solidFill>
                <a:latin typeface="Calibri"/>
              </a:rPr>
              <a:t>Ground and Bounded Orbital Edge: Conceptual Architecture</a:t>
            </a:r>
          </a:p>
        </p:txBody>
      </p:sp>
      <p:sp>
        <p:nvSpPr>
          <p:cNvPr id="8" name="TextBox 7">
            <a:extLst>
              <a:ext uri="{FF2B5EF4-FFF2-40B4-BE49-F238E27FC236}">
                <a16:creationId xmlns:a16="http://schemas.microsoft.com/office/drawing/2014/main" id="{BEBF326E-6C51-BC15-8AC5-36F23F8F1E4A}"/>
              </a:ext>
            </a:extLst>
          </p:cNvPr>
          <p:cNvSpPr txBox="1"/>
          <p:nvPr/>
        </p:nvSpPr>
        <p:spPr>
          <a:xfrm>
            <a:off x="3566160" y="5715000"/>
            <a:ext cx="5029200" cy="1051560"/>
          </a:xfrm>
          <a:prstGeom prst="rect">
            <a:avLst/>
          </a:prstGeom>
          <a:noFill/>
        </p:spPr>
        <p:txBody>
          <a:bodyPr wrap="square">
            <a:spAutoFit/>
          </a:bodyPr>
          <a:lstStyle/>
          <a:p>
            <a:pPr>
              <a:spcAft>
                <a:spcPts val="300"/>
              </a:spcAft>
            </a:pPr>
            <a:r>
              <a:rPr sz="1200">
                <a:solidFill>
                  <a:srgbClr val="263746"/>
                </a:solidFill>
                <a:latin typeface="Calibri"/>
              </a:rPr>
              <a:t>BOUNDED EDGE PATH</a:t>
            </a:r>
            <a:endParaRPr lang="en-US" sz="1200" b="1" dirty="0"/>
          </a:p>
          <a:p>
            <a:pPr>
              <a:spcAft>
                <a:spcPts val="300"/>
              </a:spcAft>
            </a:pPr>
            <a:r>
              <a:rPr sz="1200">
                <a:solidFill>
                  <a:srgbClr val="263746"/>
                </a:solidFill>
                <a:latin typeface="Calibri"/>
              </a:rPr>
              <a:t>Onboard processing precedes reduced-volume transmission. Compute cost and communications savings are tested under matched conditions.</a:t>
            </a:r>
          </a:p>
        </p:txBody>
      </p:sp>
      <p:sp>
        <p:nvSpPr>
          <p:cNvPr id="9" name="TextBox 8">
            <a:extLst>
              <a:ext uri="{FF2B5EF4-FFF2-40B4-BE49-F238E27FC236}">
                <a16:creationId xmlns:a16="http://schemas.microsoft.com/office/drawing/2014/main" id="{4E9576E9-339A-0129-16D4-A6B57C52DA8B}"/>
              </a:ext>
            </a:extLst>
          </p:cNvPr>
          <p:cNvSpPr txBox="1"/>
          <p:nvPr/>
        </p:nvSpPr>
        <p:spPr>
          <a:xfrm>
            <a:off x="137160" y="5715000"/>
            <a:ext cx="3200400" cy="1051560"/>
          </a:xfrm>
          <a:prstGeom prst="rect">
            <a:avLst/>
          </a:prstGeom>
          <a:noFill/>
        </p:spPr>
        <p:txBody>
          <a:bodyPr wrap="square" rtlCol="0">
            <a:spAutoFit/>
          </a:bodyPr>
          <a:lstStyle/>
          <a:p>
            <a:pPr>
              <a:spcAft>
                <a:spcPts val="300"/>
              </a:spcAft>
            </a:pPr>
            <a:r>
              <a:rPr sz="1200">
                <a:solidFill>
                  <a:srgbClr val="263746"/>
                </a:solidFill>
                <a:latin typeface="Calibri"/>
              </a:rPr>
              <a:t>GROUND PATH</a:t>
            </a:r>
            <a:endParaRPr lang="en-US" sz="1050" b="1" dirty="0"/>
          </a:p>
          <a:p>
            <a:pPr>
              <a:spcAft>
                <a:spcPts val="300"/>
              </a:spcAft>
            </a:pPr>
            <a:r>
              <a:rPr sz="1200">
                <a:solidFill>
                  <a:srgbClr val="263746"/>
                </a:solidFill>
                <a:latin typeface="Calibri"/>
              </a:rPr>
              <a:t>Full observation downlink, followed by ground processing. Link and compute queues contribute to delivery time.</a:t>
            </a:r>
          </a:p>
        </p:txBody>
      </p:sp>
      <p:sp>
        <p:nvSpPr>
          <p:cNvPr id="10" name="TextBox 9">
            <a:extLst>
              <a:ext uri="{FF2B5EF4-FFF2-40B4-BE49-F238E27FC236}">
                <a16:creationId xmlns:a16="http://schemas.microsoft.com/office/drawing/2014/main" id="{77829F88-3951-5DF7-0466-D78AB4648B47}"/>
              </a:ext>
            </a:extLst>
          </p:cNvPr>
          <p:cNvSpPr txBox="1"/>
          <p:nvPr/>
        </p:nvSpPr>
        <p:spPr>
          <a:xfrm>
            <a:off x="8823960" y="5715000"/>
            <a:ext cx="3200400" cy="1051560"/>
          </a:xfrm>
          <a:prstGeom prst="rect">
            <a:avLst/>
          </a:prstGeom>
          <a:noFill/>
        </p:spPr>
        <p:txBody>
          <a:bodyPr wrap="square" rtlCol="0">
            <a:spAutoFit/>
          </a:bodyPr>
          <a:lstStyle/>
          <a:p>
            <a:pPr>
              <a:spcAft>
                <a:spcPts val="300"/>
              </a:spcAft>
            </a:pPr>
            <a:r>
              <a:rPr sz="1200">
                <a:solidFill>
                  <a:srgbClr val="263746"/>
                </a:solidFill>
                <a:latin typeface="Calibri"/>
              </a:rPr>
              <a:t>MEASURED IN THE MODEL</a:t>
            </a:r>
            <a:endParaRPr lang="en-US" sz="1050" b="1" dirty="0"/>
          </a:p>
          <a:p>
            <a:pPr>
              <a:spcAft>
                <a:spcPts val="300"/>
              </a:spcAft>
            </a:pPr>
            <a:r>
              <a:rPr sz="1200">
                <a:solidFill>
                  <a:srgbClr val="263746"/>
                </a:solidFill>
                <a:latin typeface="Calibri"/>
              </a:rPr>
              <a:t>Information-delivery latency and queue behavior. Operator and clinical outcomes are subsequent activities.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079EA75-2097-AA90-2107-DAA7D3FB789E}"/>
                  </a:ext>
                </a:extLst>
              </p14:cNvPr>
              <p14:cNvContentPartPr/>
              <p14:nvPr/>
            </p14:nvContentPartPr>
            <p14:xfrm>
              <a:off x="4297560" y="1924400"/>
              <a:ext cx="829080" cy="110160"/>
            </p14:xfrm>
          </p:contentPart>
        </mc:Choice>
        <mc:Fallback xmlns="">
          <p:pic>
            <p:nvPicPr>
              <p:cNvPr id="3" name="Ink 2">
                <a:extLst>
                  <a:ext uri="{FF2B5EF4-FFF2-40B4-BE49-F238E27FC236}">
                    <a16:creationId xmlns:a16="http://schemas.microsoft.com/office/drawing/2014/main" id="{B079EA75-2097-AA90-2107-DAA7D3FB789E}"/>
                  </a:ext>
                </a:extLst>
              </p:cNvPr>
              <p:cNvPicPr/>
              <p:nvPr/>
            </p:nvPicPr>
            <p:blipFill>
              <a:blip r:embed="rId4"/>
              <a:stretch>
                <a:fillRect/>
              </a:stretch>
            </p:blipFill>
            <p:spPr>
              <a:xfrm>
                <a:off x="4291440" y="1918280"/>
                <a:ext cx="8413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C8B8CF3D-B210-2170-10D8-A4BB63C08BEA}"/>
                  </a:ext>
                </a:extLst>
              </p14:cNvPr>
              <p14:cNvContentPartPr/>
              <p14:nvPr/>
            </p14:nvContentPartPr>
            <p14:xfrm>
              <a:off x="7111680" y="1889480"/>
              <a:ext cx="712080" cy="241200"/>
            </p14:xfrm>
          </p:contentPart>
        </mc:Choice>
        <mc:Fallback xmlns="">
          <p:pic>
            <p:nvPicPr>
              <p:cNvPr id="4" name="Ink 3">
                <a:extLst>
                  <a:ext uri="{FF2B5EF4-FFF2-40B4-BE49-F238E27FC236}">
                    <a16:creationId xmlns:a16="http://schemas.microsoft.com/office/drawing/2014/main" id="{C8B8CF3D-B210-2170-10D8-A4BB63C08BEA}"/>
                  </a:ext>
                </a:extLst>
              </p:cNvPr>
              <p:cNvPicPr/>
              <p:nvPr/>
            </p:nvPicPr>
            <p:blipFill>
              <a:blip r:embed="rId6"/>
              <a:stretch>
                <a:fillRect/>
              </a:stretch>
            </p:blipFill>
            <p:spPr>
              <a:xfrm>
                <a:off x="7105560" y="1883360"/>
                <a:ext cx="7243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F58DA9C0-8C3E-3B0F-3EC7-58764831A41D}"/>
                  </a:ext>
                </a:extLst>
              </p14:cNvPr>
              <p14:cNvContentPartPr/>
              <p14:nvPr/>
            </p14:nvContentPartPr>
            <p14:xfrm>
              <a:off x="2752440" y="2651600"/>
              <a:ext cx="7021800" cy="1001160"/>
            </p14:xfrm>
          </p:contentPart>
        </mc:Choice>
        <mc:Fallback xmlns="">
          <p:pic>
            <p:nvPicPr>
              <p:cNvPr id="7" name="Ink 6">
                <a:extLst>
                  <a:ext uri="{FF2B5EF4-FFF2-40B4-BE49-F238E27FC236}">
                    <a16:creationId xmlns:a16="http://schemas.microsoft.com/office/drawing/2014/main" id="{F58DA9C0-8C3E-3B0F-3EC7-58764831A41D}"/>
                  </a:ext>
                </a:extLst>
              </p:cNvPr>
              <p:cNvPicPr/>
              <p:nvPr/>
            </p:nvPicPr>
            <p:blipFill>
              <a:blip r:embed="rId8"/>
              <a:stretch>
                <a:fillRect/>
              </a:stretch>
            </p:blipFill>
            <p:spPr>
              <a:xfrm>
                <a:off x="2746320" y="2645480"/>
                <a:ext cx="7034040" cy="1013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305495D2-39D0-6728-FDFB-3B34DEFF800F}"/>
                  </a:ext>
                </a:extLst>
              </p14:cNvPr>
              <p14:cNvContentPartPr/>
              <p14:nvPr/>
            </p14:nvContentPartPr>
            <p14:xfrm>
              <a:off x="9743280" y="3108800"/>
              <a:ext cx="702720" cy="678600"/>
            </p14:xfrm>
          </p:contentPart>
        </mc:Choice>
        <mc:Fallback xmlns="">
          <p:pic>
            <p:nvPicPr>
              <p:cNvPr id="11" name="Ink 10">
                <a:extLst>
                  <a:ext uri="{FF2B5EF4-FFF2-40B4-BE49-F238E27FC236}">
                    <a16:creationId xmlns:a16="http://schemas.microsoft.com/office/drawing/2014/main" id="{305495D2-39D0-6728-FDFB-3B34DEFF800F}"/>
                  </a:ext>
                </a:extLst>
              </p:cNvPr>
              <p:cNvPicPr/>
              <p:nvPr/>
            </p:nvPicPr>
            <p:blipFill>
              <a:blip r:embed="rId10"/>
              <a:stretch>
                <a:fillRect/>
              </a:stretch>
            </p:blipFill>
            <p:spPr>
              <a:xfrm>
                <a:off x="9737160" y="3102680"/>
                <a:ext cx="714960" cy="690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5B08344-5B1E-F5F4-ABF1-604A80E015B4}"/>
                  </a:ext>
                </a:extLst>
              </p14:cNvPr>
              <p14:cNvContentPartPr/>
              <p14:nvPr/>
            </p14:nvContentPartPr>
            <p14:xfrm>
              <a:off x="1626360" y="3240920"/>
              <a:ext cx="914040" cy="889200"/>
            </p14:xfrm>
          </p:contentPart>
        </mc:Choice>
        <mc:Fallback xmlns="">
          <p:pic>
            <p:nvPicPr>
              <p:cNvPr id="12" name="Ink 11">
                <a:extLst>
                  <a:ext uri="{FF2B5EF4-FFF2-40B4-BE49-F238E27FC236}">
                    <a16:creationId xmlns:a16="http://schemas.microsoft.com/office/drawing/2014/main" id="{35B08344-5B1E-F5F4-ABF1-604A80E015B4}"/>
                  </a:ext>
                </a:extLst>
              </p:cNvPr>
              <p:cNvPicPr/>
              <p:nvPr/>
            </p:nvPicPr>
            <p:blipFill>
              <a:blip r:embed="rId12"/>
              <a:stretch>
                <a:fillRect/>
              </a:stretch>
            </p:blipFill>
            <p:spPr>
              <a:xfrm>
                <a:off x="1620240" y="3234800"/>
                <a:ext cx="926280" cy="901440"/>
              </a:xfrm>
              <a:prstGeom prst="rect">
                <a:avLst/>
              </a:prstGeom>
            </p:spPr>
          </p:pic>
        </mc:Fallback>
      </mc:AlternateContent>
      <p:grpSp>
        <p:nvGrpSpPr>
          <p:cNvPr id="21" name="Group 20">
            <a:extLst>
              <a:ext uri="{FF2B5EF4-FFF2-40B4-BE49-F238E27FC236}">
                <a16:creationId xmlns:a16="http://schemas.microsoft.com/office/drawing/2014/main" id="{5D3E8331-F31D-9D61-3E8E-317921FC335C}"/>
              </a:ext>
            </a:extLst>
          </p:cNvPr>
          <p:cNvGrpSpPr/>
          <p:nvPr/>
        </p:nvGrpSpPr>
        <p:grpSpPr>
          <a:xfrm>
            <a:off x="0" y="1269920"/>
            <a:ext cx="2005560" cy="2372760"/>
            <a:chOff x="-157440" y="1269920"/>
            <a:chExt cx="2005560" cy="2372760"/>
          </a:xfrm>
        </p:grpSpPr>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7D8AC622-8D5B-0FAF-14F7-9FE9C74A0FC0}"/>
                    </a:ext>
                  </a:extLst>
                </p14:cNvPr>
                <p14:cNvContentPartPr/>
                <p14:nvPr/>
              </p14:nvContentPartPr>
              <p14:xfrm>
                <a:off x="639960" y="2204480"/>
                <a:ext cx="225720" cy="221400"/>
              </p14:xfrm>
            </p:contentPart>
          </mc:Choice>
          <mc:Fallback xmlns="">
            <p:pic>
              <p:nvPicPr>
                <p:cNvPr id="13" name="Ink 12">
                  <a:extLst>
                    <a:ext uri="{FF2B5EF4-FFF2-40B4-BE49-F238E27FC236}">
                      <a16:creationId xmlns:a16="http://schemas.microsoft.com/office/drawing/2014/main" id="{7D8AC622-8D5B-0FAF-14F7-9FE9C74A0FC0}"/>
                    </a:ext>
                  </a:extLst>
                </p:cNvPr>
                <p:cNvPicPr/>
                <p:nvPr/>
              </p:nvPicPr>
              <p:blipFill>
                <a:blip r:embed="rId14"/>
                <a:stretch>
                  <a:fillRect/>
                </a:stretch>
              </p:blipFill>
              <p:spPr>
                <a:xfrm>
                  <a:off x="633840" y="2198360"/>
                  <a:ext cx="23796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B17D7FC9-2C1F-4EDD-5073-841FFEC70AAE}"/>
                    </a:ext>
                  </a:extLst>
                </p14:cNvPr>
                <p14:cNvContentPartPr/>
                <p14:nvPr/>
              </p14:nvContentPartPr>
              <p14:xfrm>
                <a:off x="660120" y="2407880"/>
                <a:ext cx="288360" cy="503640"/>
              </p14:xfrm>
            </p:contentPart>
          </mc:Choice>
          <mc:Fallback xmlns="">
            <p:pic>
              <p:nvPicPr>
                <p:cNvPr id="14" name="Ink 13">
                  <a:extLst>
                    <a:ext uri="{FF2B5EF4-FFF2-40B4-BE49-F238E27FC236}">
                      <a16:creationId xmlns:a16="http://schemas.microsoft.com/office/drawing/2014/main" id="{B17D7FC9-2C1F-4EDD-5073-841FFEC70AAE}"/>
                    </a:ext>
                  </a:extLst>
                </p:cNvPr>
                <p:cNvPicPr/>
                <p:nvPr/>
              </p:nvPicPr>
              <p:blipFill>
                <a:blip r:embed="rId16"/>
                <a:stretch>
                  <a:fillRect/>
                </a:stretch>
              </p:blipFill>
              <p:spPr>
                <a:xfrm>
                  <a:off x="654000" y="2401760"/>
                  <a:ext cx="300600" cy="515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3395F374-4E85-CF78-6E0A-A0FC2959B76C}"/>
                    </a:ext>
                  </a:extLst>
                </p14:cNvPr>
                <p14:cNvContentPartPr/>
                <p14:nvPr/>
              </p14:nvContentPartPr>
              <p14:xfrm>
                <a:off x="1280040" y="2793800"/>
                <a:ext cx="568080" cy="544680"/>
              </p14:xfrm>
            </p:contentPart>
          </mc:Choice>
          <mc:Fallback xmlns="">
            <p:pic>
              <p:nvPicPr>
                <p:cNvPr id="16" name="Ink 15">
                  <a:extLst>
                    <a:ext uri="{FF2B5EF4-FFF2-40B4-BE49-F238E27FC236}">
                      <a16:creationId xmlns:a16="http://schemas.microsoft.com/office/drawing/2014/main" id="{3395F374-4E85-CF78-6E0A-A0FC2959B76C}"/>
                    </a:ext>
                  </a:extLst>
                </p:cNvPr>
                <p:cNvPicPr/>
                <p:nvPr/>
              </p:nvPicPr>
              <p:blipFill>
                <a:blip r:embed="rId18"/>
                <a:stretch>
                  <a:fillRect/>
                </a:stretch>
              </p:blipFill>
              <p:spPr>
                <a:xfrm>
                  <a:off x="1273920" y="2787680"/>
                  <a:ext cx="58032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E984FD97-76E9-0C94-1AF6-F5C99BC477D0}"/>
                    </a:ext>
                  </a:extLst>
                </p14:cNvPr>
                <p14:cNvContentPartPr/>
                <p14:nvPr/>
              </p14:nvContentPartPr>
              <p14:xfrm>
                <a:off x="1462920" y="3383120"/>
                <a:ext cx="349200" cy="259560"/>
              </p14:xfrm>
            </p:contentPart>
          </mc:Choice>
          <mc:Fallback xmlns="">
            <p:pic>
              <p:nvPicPr>
                <p:cNvPr id="17" name="Ink 16">
                  <a:extLst>
                    <a:ext uri="{FF2B5EF4-FFF2-40B4-BE49-F238E27FC236}">
                      <a16:creationId xmlns:a16="http://schemas.microsoft.com/office/drawing/2014/main" id="{E984FD97-76E9-0C94-1AF6-F5C99BC477D0}"/>
                    </a:ext>
                  </a:extLst>
                </p:cNvPr>
                <p:cNvPicPr/>
                <p:nvPr/>
              </p:nvPicPr>
              <p:blipFill>
                <a:blip r:embed="rId20"/>
                <a:stretch>
                  <a:fillRect/>
                </a:stretch>
              </p:blipFill>
              <p:spPr>
                <a:xfrm>
                  <a:off x="1456800" y="3377000"/>
                  <a:ext cx="36144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C229FC81-0955-D2AE-FA52-3824E7C8C0E3}"/>
                    </a:ext>
                  </a:extLst>
                </p14:cNvPr>
                <p14:cNvContentPartPr/>
                <p14:nvPr/>
              </p14:nvContentPartPr>
              <p14:xfrm>
                <a:off x="-157440" y="1298000"/>
                <a:ext cx="995760" cy="873000"/>
              </p14:xfrm>
            </p:contentPart>
          </mc:Choice>
          <mc:Fallback xmlns="">
            <p:pic>
              <p:nvPicPr>
                <p:cNvPr id="19" name="Ink 18">
                  <a:extLst>
                    <a:ext uri="{FF2B5EF4-FFF2-40B4-BE49-F238E27FC236}">
                      <a16:creationId xmlns:a16="http://schemas.microsoft.com/office/drawing/2014/main" id="{C229FC81-0955-D2AE-FA52-3824E7C8C0E3}"/>
                    </a:ext>
                  </a:extLst>
                </p:cNvPr>
                <p:cNvPicPr/>
                <p:nvPr/>
              </p:nvPicPr>
              <p:blipFill>
                <a:blip r:embed="rId22"/>
                <a:stretch>
                  <a:fillRect/>
                </a:stretch>
              </p:blipFill>
              <p:spPr>
                <a:xfrm>
                  <a:off x="-163560" y="1291880"/>
                  <a:ext cx="1008000" cy="885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C5CF8A83-9669-C964-4F4E-0FD602B8F9B6}"/>
                    </a:ext>
                  </a:extLst>
                </p14:cNvPr>
                <p14:cNvContentPartPr/>
                <p14:nvPr/>
              </p14:nvContentPartPr>
              <p14:xfrm>
                <a:off x="377520" y="1269920"/>
                <a:ext cx="222120" cy="783360"/>
              </p14:xfrm>
            </p:contentPart>
          </mc:Choice>
          <mc:Fallback xmlns="">
            <p:pic>
              <p:nvPicPr>
                <p:cNvPr id="20" name="Ink 19">
                  <a:extLst>
                    <a:ext uri="{FF2B5EF4-FFF2-40B4-BE49-F238E27FC236}">
                      <a16:creationId xmlns:a16="http://schemas.microsoft.com/office/drawing/2014/main" id="{C5CF8A83-9669-C964-4F4E-0FD602B8F9B6}"/>
                    </a:ext>
                  </a:extLst>
                </p:cNvPr>
                <p:cNvPicPr/>
                <p:nvPr/>
              </p:nvPicPr>
              <p:blipFill>
                <a:blip r:embed="rId24"/>
                <a:stretch>
                  <a:fillRect/>
                </a:stretch>
              </p:blipFill>
              <p:spPr>
                <a:xfrm>
                  <a:off x="371400" y="1263800"/>
                  <a:ext cx="234360" cy="795600"/>
                </a:xfrm>
                <a:prstGeom prst="rect">
                  <a:avLst/>
                </a:prstGeom>
              </p:spPr>
            </p:pic>
          </mc:Fallback>
        </mc:AlternateContent>
      </p:grpSp>
      <p:grpSp>
        <p:nvGrpSpPr>
          <p:cNvPr id="26" name="Group 25">
            <a:extLst>
              <a:ext uri="{FF2B5EF4-FFF2-40B4-BE49-F238E27FC236}">
                <a16:creationId xmlns:a16="http://schemas.microsoft.com/office/drawing/2014/main" id="{3B1CC626-FCF4-DE2C-793B-C9DD08D3C822}"/>
              </a:ext>
            </a:extLst>
          </p:cNvPr>
          <p:cNvGrpSpPr/>
          <p:nvPr/>
        </p:nvGrpSpPr>
        <p:grpSpPr>
          <a:xfrm>
            <a:off x="10411080" y="3668240"/>
            <a:ext cx="1663560" cy="1711800"/>
            <a:chOff x="10411080" y="3668240"/>
            <a:chExt cx="1663560" cy="1711800"/>
          </a:xfrm>
        </p:grpSpPr>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EBAD8D1A-3395-F02B-91BD-01E6E84C9C69}"/>
                    </a:ext>
                  </a:extLst>
                </p14:cNvPr>
                <p14:cNvContentPartPr/>
                <p14:nvPr/>
              </p14:nvContentPartPr>
              <p14:xfrm>
                <a:off x="10932000" y="3860480"/>
                <a:ext cx="360" cy="241200"/>
              </p14:xfrm>
            </p:contentPart>
          </mc:Choice>
          <mc:Fallback xmlns="">
            <p:pic>
              <p:nvPicPr>
                <p:cNvPr id="22" name="Ink 21">
                  <a:extLst>
                    <a:ext uri="{FF2B5EF4-FFF2-40B4-BE49-F238E27FC236}">
                      <a16:creationId xmlns:a16="http://schemas.microsoft.com/office/drawing/2014/main" id="{EBAD8D1A-3395-F02B-91BD-01E6E84C9C69}"/>
                    </a:ext>
                  </a:extLst>
                </p:cNvPr>
                <p:cNvPicPr/>
                <p:nvPr/>
              </p:nvPicPr>
              <p:blipFill>
                <a:blip r:embed="rId26"/>
                <a:stretch>
                  <a:fillRect/>
                </a:stretch>
              </p:blipFill>
              <p:spPr>
                <a:xfrm>
                  <a:off x="10925880" y="3854360"/>
                  <a:ext cx="126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527DB4FA-210F-EB45-2BBF-B22F00BBF718}"/>
                    </a:ext>
                  </a:extLst>
                </p14:cNvPr>
                <p14:cNvContentPartPr/>
                <p14:nvPr/>
              </p14:nvContentPartPr>
              <p14:xfrm>
                <a:off x="10728960" y="3974240"/>
                <a:ext cx="419040" cy="39600"/>
              </p14:xfrm>
            </p:contentPart>
          </mc:Choice>
          <mc:Fallback xmlns="">
            <p:pic>
              <p:nvPicPr>
                <p:cNvPr id="23" name="Ink 22">
                  <a:extLst>
                    <a:ext uri="{FF2B5EF4-FFF2-40B4-BE49-F238E27FC236}">
                      <a16:creationId xmlns:a16="http://schemas.microsoft.com/office/drawing/2014/main" id="{527DB4FA-210F-EB45-2BBF-B22F00BBF718}"/>
                    </a:ext>
                  </a:extLst>
                </p:cNvPr>
                <p:cNvPicPr/>
                <p:nvPr/>
              </p:nvPicPr>
              <p:blipFill>
                <a:blip r:embed="rId28"/>
                <a:stretch>
                  <a:fillRect/>
                </a:stretch>
              </p:blipFill>
              <p:spPr>
                <a:xfrm>
                  <a:off x="10722840" y="3968120"/>
                  <a:ext cx="4312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92500C28-2378-DBE3-A505-B5D690F53934}"/>
                    </a:ext>
                  </a:extLst>
                </p14:cNvPr>
                <p14:cNvContentPartPr/>
                <p14:nvPr/>
              </p14:nvContentPartPr>
              <p14:xfrm>
                <a:off x="10411080" y="3668240"/>
                <a:ext cx="1663560" cy="1711800"/>
              </p14:xfrm>
            </p:contentPart>
          </mc:Choice>
          <mc:Fallback xmlns="">
            <p:pic>
              <p:nvPicPr>
                <p:cNvPr id="25" name="Ink 24">
                  <a:extLst>
                    <a:ext uri="{FF2B5EF4-FFF2-40B4-BE49-F238E27FC236}">
                      <a16:creationId xmlns:a16="http://schemas.microsoft.com/office/drawing/2014/main" id="{92500C28-2378-DBE3-A505-B5D690F53934}"/>
                    </a:ext>
                  </a:extLst>
                </p:cNvPr>
                <p:cNvPicPr/>
                <p:nvPr/>
              </p:nvPicPr>
              <p:blipFill>
                <a:blip r:embed="rId30"/>
                <a:stretch>
                  <a:fillRect/>
                </a:stretch>
              </p:blipFill>
              <p:spPr>
                <a:xfrm>
                  <a:off x="10404960" y="3662120"/>
                  <a:ext cx="1675800" cy="1724040"/>
                </a:xfrm>
                <a:prstGeom prst="rect">
                  <a:avLst/>
                </a:prstGeom>
              </p:spPr>
            </p:pic>
          </mc:Fallback>
        </mc:AlternateContent>
      </p:grpSp>
      <p:sp>
        <p:nvSpPr>
          <p:cNvPr id="27" name="TextBox 2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19 of 29</a:t>
            </a:r>
          </a:p>
        </p:txBody>
      </p:sp>
    </p:spTree>
    <p:extLst>
      <p:ext uri="{BB962C8B-B14F-4D97-AF65-F5344CB8AC3E}">
        <p14:creationId xmlns:p14="http://schemas.microsoft.com/office/powerpoint/2010/main" val="853693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411480"/>
          </a:xfrm>
          <a:prstGeom prst="rect">
            <a:avLst/>
          </a:prstGeom>
          <a:noFill/>
        </p:spPr>
        <p:txBody>
          <a:bodyPr wrap="none" lIns="27432" tIns="18288" rIns="27432" bIns="18288">
            <a:spAutoFit/>
          </a:bodyPr>
          <a:lstStyle/>
          <a:p>
            <a:pPr>
              <a:defRPr sz="2200" b="1">
                <a:solidFill>
                  <a:srgbClr val="2C3137"/>
                </a:solidFill>
                <a:latin typeface="Arial"/>
              </a:defRPr>
            </a:pPr>
            <a:r>
              <a:t>Workbook Rosetta — Tab Colors, Cohorts, and Data Flow</a:t>
            </a:r>
          </a:p>
        </p:txBody>
      </p:sp>
      <p:sp>
        <p:nvSpPr>
          <p:cNvPr id="3" name="TextBox 2"/>
          <p:cNvSpPr txBox="1"/>
          <p:nvPr/>
        </p:nvSpPr>
        <p:spPr>
          <a:xfrm>
            <a:off x="548640" y="713232"/>
            <a:ext cx="10698480" cy="411480"/>
          </a:xfrm>
          <a:prstGeom prst="rect">
            <a:avLst/>
          </a:prstGeom>
          <a:noFill/>
        </p:spPr>
        <p:txBody>
          <a:bodyPr wrap="none" lIns="27432" tIns="18288" rIns="27432" bIns="18288">
            <a:spAutoFit/>
          </a:bodyPr>
          <a:lstStyle/>
          <a:p>
            <a:pPr>
              <a:defRPr sz="1050" b="0">
                <a:solidFill>
                  <a:srgbClr val="3C3C3C"/>
                </a:solidFill>
                <a:latin typeface="Arial"/>
              </a:defRPr>
            </a:pPr>
            <a:r>
              <a:t>How to read the ASOT workbook: raw A/C/E inputs are normalized, joined, converted into arrivals, run through matched Ground and Edge paths, then summarized for dashboard and MATLAB handoff.</a:t>
            </a:r>
          </a:p>
        </p:txBody>
      </p:sp>
      <p:graphicFrame>
        <p:nvGraphicFramePr>
          <p:cNvPr id="4" name="Table 3"/>
          <p:cNvGraphicFramePr>
            <a:graphicFrameLocks noGrp="1"/>
          </p:cNvGraphicFramePr>
          <p:nvPr/>
        </p:nvGraphicFramePr>
        <p:xfrm>
          <a:off x="502920" y="1143000"/>
          <a:ext cx="10972794" cy="868680"/>
        </p:xfrm>
        <a:graphic>
          <a:graphicData uri="http://schemas.openxmlformats.org/drawingml/2006/table">
            <a:tbl>
              <a:tblPr firstRow="1" bandRow="1">
                <a:tableStyleId>{5C22544A-7EE6-4342-B048-85BDC9FD1C3A}</a:tableStyleId>
              </a:tblPr>
              <a:tblGrid>
                <a:gridCol w="1567542">
                  <a:extLst>
                    <a:ext uri="{9D8B030D-6E8A-4147-A177-3AD203B41FA5}">
                      <a16:colId xmlns:a16="http://schemas.microsoft.com/office/drawing/2014/main" val="20000"/>
                    </a:ext>
                  </a:extLst>
                </a:gridCol>
                <a:gridCol w="1567542">
                  <a:extLst>
                    <a:ext uri="{9D8B030D-6E8A-4147-A177-3AD203B41FA5}">
                      <a16:colId xmlns:a16="http://schemas.microsoft.com/office/drawing/2014/main" val="20001"/>
                    </a:ext>
                  </a:extLst>
                </a:gridCol>
                <a:gridCol w="1567542">
                  <a:extLst>
                    <a:ext uri="{9D8B030D-6E8A-4147-A177-3AD203B41FA5}">
                      <a16:colId xmlns:a16="http://schemas.microsoft.com/office/drawing/2014/main" val="20002"/>
                    </a:ext>
                  </a:extLst>
                </a:gridCol>
                <a:gridCol w="1567542">
                  <a:extLst>
                    <a:ext uri="{9D8B030D-6E8A-4147-A177-3AD203B41FA5}">
                      <a16:colId xmlns:a16="http://schemas.microsoft.com/office/drawing/2014/main" val="20003"/>
                    </a:ext>
                  </a:extLst>
                </a:gridCol>
                <a:gridCol w="1567542">
                  <a:extLst>
                    <a:ext uri="{9D8B030D-6E8A-4147-A177-3AD203B41FA5}">
                      <a16:colId xmlns:a16="http://schemas.microsoft.com/office/drawing/2014/main" val="20004"/>
                    </a:ext>
                  </a:extLst>
                </a:gridCol>
                <a:gridCol w="1567542">
                  <a:extLst>
                    <a:ext uri="{9D8B030D-6E8A-4147-A177-3AD203B41FA5}">
                      <a16:colId xmlns:a16="http://schemas.microsoft.com/office/drawing/2014/main" val="20005"/>
                    </a:ext>
                  </a:extLst>
                </a:gridCol>
                <a:gridCol w="1567542">
                  <a:extLst>
                    <a:ext uri="{9D8B030D-6E8A-4147-A177-3AD203B41FA5}">
                      <a16:colId xmlns:a16="http://schemas.microsoft.com/office/drawing/2014/main" val="20006"/>
                    </a:ext>
                  </a:extLst>
                </a:gridCol>
              </a:tblGrid>
              <a:tr h="434340">
                <a:tc>
                  <a:txBody>
                    <a:bodyPr/>
                    <a:lstStyle/>
                    <a:p>
                      <a:pPr algn="ctr">
                        <a:defRPr sz="800" b="1">
                          <a:solidFill>
                            <a:srgbClr val="000000"/>
                          </a:solidFill>
                          <a:latin typeface="Arial"/>
                        </a:defRPr>
                      </a:pPr>
                      <a:r>
                        <a:t>Raw A/C/E</a:t>
                      </a:r>
                    </a:p>
                  </a:txBody>
                  <a:tcPr>
                    <a:solidFill>
                      <a:srgbClr val="D9E1F2"/>
                    </a:solidFill>
                  </a:tcPr>
                </a:tc>
                <a:tc>
                  <a:txBody>
                    <a:bodyPr/>
                    <a:lstStyle/>
                    <a:p>
                      <a:pPr algn="ctr">
                        <a:defRPr sz="800" b="1">
                          <a:solidFill>
                            <a:srgbClr val="000000"/>
                          </a:solidFill>
                          <a:latin typeface="Arial"/>
                        </a:defRPr>
                      </a:pPr>
                      <a:r>
                        <a:t>Normalize</a:t>
                      </a:r>
                    </a:p>
                  </a:txBody>
                  <a:tcPr>
                    <a:solidFill>
                      <a:srgbClr val="EADDF7"/>
                    </a:solidFill>
                  </a:tcPr>
                </a:tc>
                <a:tc>
                  <a:txBody>
                    <a:bodyPr/>
                    <a:lstStyle/>
                    <a:p>
                      <a:pPr algn="ctr">
                        <a:defRPr sz="800" b="1">
                          <a:solidFill>
                            <a:srgbClr val="000000"/>
                          </a:solidFill>
                          <a:latin typeface="Arial"/>
                        </a:defRPr>
                      </a:pPr>
                      <a:r>
                        <a:t>Join / Audit</a:t>
                      </a:r>
                    </a:p>
                  </a:txBody>
                  <a:tcPr>
                    <a:solidFill>
                      <a:srgbClr val="EADDF7"/>
                    </a:solidFill>
                  </a:tcPr>
                </a:tc>
                <a:tc>
                  <a:txBody>
                    <a:bodyPr/>
                    <a:lstStyle/>
                    <a:p>
                      <a:pPr algn="ctr">
                        <a:defRPr sz="800" b="1">
                          <a:solidFill>
                            <a:srgbClr val="000000"/>
                          </a:solidFill>
                          <a:latin typeface="Arial"/>
                        </a:defRPr>
                      </a:pPr>
                      <a:r>
                        <a:t>Arrivals</a:t>
                      </a:r>
                    </a:p>
                  </a:txBody>
                  <a:tcPr>
                    <a:solidFill>
                      <a:srgbClr val="DAF2DA"/>
                    </a:solidFill>
                  </a:tcPr>
                </a:tc>
                <a:tc>
                  <a:txBody>
                    <a:bodyPr/>
                    <a:lstStyle/>
                    <a:p>
                      <a:pPr algn="ctr">
                        <a:defRPr sz="800" b="1">
                          <a:solidFill>
                            <a:srgbClr val="000000"/>
                          </a:solidFill>
                          <a:latin typeface="Arial"/>
                        </a:defRPr>
                      </a:pPr>
                      <a:r>
                        <a:t>Ground + Edge</a:t>
                      </a:r>
                    </a:p>
                  </a:txBody>
                  <a:tcPr>
                    <a:solidFill>
                      <a:srgbClr val="DAF2DA"/>
                    </a:solidFill>
                  </a:tcPr>
                </a:tc>
                <a:tc>
                  <a:txBody>
                    <a:bodyPr/>
                    <a:lstStyle/>
                    <a:p>
                      <a:pPr algn="ctr">
                        <a:defRPr sz="800" b="1">
                          <a:solidFill>
                            <a:srgbClr val="000000"/>
                          </a:solidFill>
                          <a:latin typeface="Arial"/>
                        </a:defRPr>
                      </a:pPr>
                      <a:r>
                        <a:t>Compare / Stats</a:t>
                      </a:r>
                    </a:p>
                  </a:txBody>
                  <a:tcPr>
                    <a:solidFill>
                      <a:srgbClr val="F4E2CC"/>
                    </a:solidFill>
                  </a:tcPr>
                </a:tc>
                <a:tc>
                  <a:txBody>
                    <a:bodyPr/>
                    <a:lstStyle/>
                    <a:p>
                      <a:pPr algn="ctr">
                        <a:defRPr sz="800" b="1">
                          <a:solidFill>
                            <a:srgbClr val="000000"/>
                          </a:solidFill>
                          <a:latin typeface="Arial"/>
                        </a:defRPr>
                      </a:pPr>
                      <a:r>
                        <a:t>Dashboard + MATLAB</a:t>
                      </a:r>
                    </a:p>
                  </a:txBody>
                  <a:tcPr>
                    <a:solidFill>
                      <a:srgbClr val="D9E1F2"/>
                    </a:solidFill>
                  </a:tcPr>
                </a:tc>
                <a:extLst>
                  <a:ext uri="{0D108BD9-81ED-4DB2-BD59-A6C34878D82A}">
                    <a16:rowId xmlns:a16="http://schemas.microsoft.com/office/drawing/2014/main" val="10000"/>
                  </a:ext>
                </a:extLst>
              </a:tr>
              <a:tr h="434340">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OUTPUT</a:t>
                      </a:r>
                    </a:p>
                  </a:txBody>
                  <a:tcPr>
                    <a:solidFill>
                      <a:srgbClr val="FFFFFF"/>
                    </a:solidFill>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502920" y="2240280"/>
          <a:ext cx="11064240" cy="324612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05765">
                <a:tc>
                  <a:txBody>
                    <a:bodyPr/>
                    <a:lstStyle/>
                    <a:p>
                      <a:pPr algn="ctr">
                        <a:defRPr sz="819" b="1">
                          <a:solidFill>
                            <a:srgbClr val="FFFFFF"/>
                          </a:solidFill>
                          <a:latin typeface="Arial"/>
                        </a:defRPr>
                      </a:pPr>
                      <a:r>
                        <a:t>Color</a:t>
                      </a:r>
                    </a:p>
                  </a:txBody>
                  <a:tcPr>
                    <a:solidFill>
                      <a:srgbClr val="1F4E79"/>
                    </a:solidFill>
                  </a:tcPr>
                </a:tc>
                <a:tc>
                  <a:txBody>
                    <a:bodyPr/>
                    <a:lstStyle/>
                    <a:p>
                      <a:pPr algn="ctr">
                        <a:defRPr sz="819" b="1">
                          <a:solidFill>
                            <a:srgbClr val="FFFFFF"/>
                          </a:solidFill>
                          <a:latin typeface="Arial"/>
                        </a:defRPr>
                      </a:pPr>
                      <a:r>
                        <a:t>Family</a:t>
                      </a:r>
                    </a:p>
                  </a:txBody>
                  <a:tcPr>
                    <a:solidFill>
                      <a:srgbClr val="1F4E79"/>
                    </a:solidFill>
                  </a:tcPr>
                </a:tc>
                <a:tc>
                  <a:txBody>
                    <a:bodyPr/>
                    <a:lstStyle/>
                    <a:p>
                      <a:pPr algn="ctr">
                        <a:defRPr sz="819" b="1">
                          <a:solidFill>
                            <a:srgbClr val="FFFFFF"/>
                          </a:solidFill>
                          <a:latin typeface="Arial"/>
                        </a:defRPr>
                      </a:pPr>
                      <a:r>
                        <a:t>Representative tabs</a:t>
                      </a:r>
                    </a:p>
                  </a:txBody>
                  <a:tcPr>
                    <a:solidFill>
                      <a:srgbClr val="1F4E79"/>
                    </a:solidFill>
                  </a:tcPr>
                </a:tc>
                <a:tc>
                  <a:txBody>
                    <a:bodyPr/>
                    <a:lstStyle/>
                    <a:p>
                      <a:pPr algn="ctr">
                        <a:defRPr sz="819" b="1">
                          <a:solidFill>
                            <a:srgbClr val="FFFFFF"/>
                          </a:solidFill>
                          <a:latin typeface="Arial"/>
                        </a:defRPr>
                      </a:pPr>
                      <a:r>
                        <a:t>What happens there</a:t>
                      </a:r>
                    </a:p>
                  </a:txBody>
                  <a:tcPr>
                    <a:solidFill>
                      <a:srgbClr val="1F4E79"/>
                    </a:solidFill>
                  </a:tcPr>
                </a:tc>
                <a:tc>
                  <a:txBody>
                    <a:bodyPr/>
                    <a:lstStyle/>
                    <a:p>
                      <a:pPr algn="ctr">
                        <a:defRPr sz="819" b="1">
                          <a:solidFill>
                            <a:srgbClr val="FFFFFF"/>
                          </a:solidFill>
                          <a:latin typeface="Arial"/>
                        </a:defRPr>
                      </a:pPr>
                      <a:r>
                        <a:t>Reviewer cue</a:t>
                      </a:r>
                    </a:p>
                  </a:txBody>
                  <a:tcPr>
                    <a:solidFill>
                      <a:srgbClr val="1F4E79"/>
                    </a:solidFill>
                  </a:tcPr>
                </a:tc>
                <a:extLst>
                  <a:ext uri="{0D108BD9-81ED-4DB2-BD59-A6C34878D82A}">
                    <a16:rowId xmlns:a16="http://schemas.microsoft.com/office/drawing/2014/main" val="10000"/>
                  </a:ext>
                </a:extLst>
              </a:tr>
              <a:tr h="405765">
                <a:tc>
                  <a:txBody>
                    <a:bodyPr/>
                    <a:lstStyle/>
                    <a:p>
                      <a:pPr algn="ctr">
                        <a:defRPr sz="770" b="1">
                          <a:solidFill>
                            <a:srgbClr val="000000"/>
                          </a:solidFill>
                          <a:latin typeface="Arial"/>
                        </a:defRPr>
                      </a:pPr>
                      <a:r>
                        <a:t>Blue</a:t>
                      </a:r>
                    </a:p>
                  </a:txBody>
                  <a:tcPr>
                    <a:solidFill>
                      <a:srgbClr val="D9E1F2"/>
                    </a:solidFill>
                  </a:tcPr>
                </a:tc>
                <a:tc>
                  <a:txBody>
                    <a:bodyPr/>
                    <a:lstStyle/>
                    <a:p>
                      <a:pPr algn="l">
                        <a:defRPr sz="770" b="1">
                          <a:solidFill>
                            <a:srgbClr val="000000"/>
                          </a:solidFill>
                          <a:latin typeface="Arial"/>
                        </a:defRPr>
                      </a:pPr>
                      <a:r>
                        <a:t>Executive control</a:t>
                      </a:r>
                    </a:p>
                  </a:txBody>
                  <a:tcPr>
                    <a:solidFill>
                      <a:srgbClr val="FFFFFF"/>
                    </a:solidFill>
                  </a:tcPr>
                </a:tc>
                <a:tc>
                  <a:txBody>
                    <a:bodyPr/>
                    <a:lstStyle/>
                    <a:p>
                      <a:pPr algn="l">
                        <a:defRPr sz="730" b="0">
                          <a:solidFill>
                            <a:srgbClr val="000000"/>
                          </a:solidFill>
                          <a:latin typeface="Arial"/>
                        </a:defRPr>
                      </a:pPr>
                      <a:r>
                        <a:t>DASHBOARD, INTRO, Settings, Protocol, Provenance</a:t>
                      </a:r>
                    </a:p>
                  </a:txBody>
                  <a:tcPr>
                    <a:solidFill>
                      <a:srgbClr val="FFFFFF"/>
                    </a:solidFill>
                  </a:tcPr>
                </a:tc>
                <a:tc>
                  <a:txBody>
                    <a:bodyPr/>
                    <a:lstStyle/>
                    <a:p>
                      <a:pPr algn="l">
                        <a:defRPr sz="730" b="0">
                          <a:solidFill>
                            <a:srgbClr val="000000"/>
                          </a:solidFill>
                          <a:latin typeface="Arial"/>
                        </a:defRPr>
                      </a:pPr>
                      <a:r>
                        <a:t>Defines purpose, schema, control dials, and provenance.</a:t>
                      </a:r>
                    </a:p>
                  </a:txBody>
                  <a:tcPr>
                    <a:solidFill>
                      <a:srgbClr val="FFFFFF"/>
                    </a:solidFill>
                  </a:tcPr>
                </a:tc>
                <a:tc>
                  <a:txBody>
                    <a:bodyPr/>
                    <a:lstStyle/>
                    <a:p>
                      <a:pPr algn="l">
                        <a:defRPr sz="730" b="0">
                          <a:solidFill>
                            <a:srgbClr val="000000"/>
                          </a:solidFill>
                          <a:latin typeface="Arial"/>
                        </a:defRPr>
                      </a:pPr>
                      <a:r>
                        <a:t>Start here. Explains what the workbook is and what is adjustable.</a:t>
                      </a:r>
                    </a:p>
                  </a:txBody>
                  <a:tcPr>
                    <a:solidFill>
                      <a:srgbClr val="FFFFFF"/>
                    </a:solidFill>
                  </a:tcPr>
                </a:tc>
                <a:extLst>
                  <a:ext uri="{0D108BD9-81ED-4DB2-BD59-A6C34878D82A}">
                    <a16:rowId xmlns:a16="http://schemas.microsoft.com/office/drawing/2014/main" val="10001"/>
                  </a:ext>
                </a:extLst>
              </a:tr>
              <a:tr h="405765">
                <a:tc>
                  <a:txBody>
                    <a:bodyPr/>
                    <a:lstStyle/>
                    <a:p>
                      <a:pPr algn="ctr">
                        <a:defRPr sz="770" b="1">
                          <a:solidFill>
                            <a:srgbClr val="000000"/>
                          </a:solidFill>
                          <a:latin typeface="Arial"/>
                        </a:defRPr>
                      </a:pPr>
                      <a:r>
                        <a:t>Green</a:t>
                      </a:r>
                    </a:p>
                  </a:txBody>
                  <a:tcPr>
                    <a:solidFill>
                      <a:srgbClr val="DAF2DA"/>
                    </a:solidFill>
                  </a:tcPr>
                </a:tc>
                <a:tc>
                  <a:txBody>
                    <a:bodyPr/>
                    <a:lstStyle/>
                    <a:p>
                      <a:pPr algn="l">
                        <a:defRPr sz="770" b="1">
                          <a:solidFill>
                            <a:srgbClr val="000000"/>
                          </a:solidFill>
                          <a:latin typeface="Arial"/>
                        </a:defRPr>
                      </a:pPr>
                      <a:r>
                        <a:t>Core cohort / DES engine</a:t>
                      </a:r>
                    </a:p>
                  </a:txBody>
                  <a:tcPr>
                    <a:solidFill>
                      <a:srgbClr val="F8F8F8"/>
                    </a:solidFill>
                  </a:tcPr>
                </a:tc>
                <a:tc>
                  <a:txBody>
                    <a:bodyPr/>
                    <a:lstStyle/>
                    <a:p>
                      <a:pPr algn="l">
                        <a:defRPr sz="730" b="0">
                          <a:solidFill>
                            <a:srgbClr val="000000"/>
                          </a:solidFill>
                          <a:latin typeface="Arial"/>
                        </a:defRPr>
                      </a:pPr>
                      <a:r>
                        <a:t>Arrivals, RGS_Ground_Run, Edge_Run, Comparison</a:t>
                      </a:r>
                    </a:p>
                  </a:txBody>
                  <a:tcPr>
                    <a:solidFill>
                      <a:srgbClr val="F8F8F8"/>
                    </a:solidFill>
                  </a:tcPr>
                </a:tc>
                <a:tc>
                  <a:txBody>
                    <a:bodyPr/>
                    <a:lstStyle/>
                    <a:p>
                      <a:pPr algn="l">
                        <a:defRPr sz="730" b="0">
                          <a:solidFill>
                            <a:srgbClr val="000000"/>
                          </a:solidFill>
                          <a:latin typeface="Arial"/>
                        </a:defRPr>
                      </a:pPr>
                      <a:r>
                        <a:t>Same arrivals are processed through Ground and Edge paths; Comparison calculates latency delta.</a:t>
                      </a:r>
                    </a:p>
                  </a:txBody>
                  <a:tcPr>
                    <a:solidFill>
                      <a:srgbClr val="F8F8F8"/>
                    </a:solidFill>
                  </a:tcPr>
                </a:tc>
                <a:tc>
                  <a:txBody>
                    <a:bodyPr/>
                    <a:lstStyle/>
                    <a:p>
                      <a:pPr algn="l">
                        <a:defRPr sz="730" b="0">
                          <a:solidFill>
                            <a:srgbClr val="000000"/>
                          </a:solidFill>
                          <a:latin typeface="Arial"/>
                        </a:defRPr>
                      </a:pPr>
                      <a:r>
                        <a:t>This is the mathematical heart. Do not reorder.</a:t>
                      </a:r>
                    </a:p>
                  </a:txBody>
                  <a:tcPr>
                    <a:solidFill>
                      <a:srgbClr val="F8F8F8"/>
                    </a:solidFill>
                  </a:tcPr>
                </a:tc>
                <a:extLst>
                  <a:ext uri="{0D108BD9-81ED-4DB2-BD59-A6C34878D82A}">
                    <a16:rowId xmlns:a16="http://schemas.microsoft.com/office/drawing/2014/main" val="10002"/>
                  </a:ext>
                </a:extLst>
              </a:tr>
              <a:tr h="405765">
                <a:tc>
                  <a:txBody>
                    <a:bodyPr/>
                    <a:lstStyle/>
                    <a:p>
                      <a:pPr algn="ctr">
                        <a:defRPr sz="770" b="1">
                          <a:solidFill>
                            <a:srgbClr val="000000"/>
                          </a:solidFill>
                          <a:latin typeface="Arial"/>
                        </a:defRPr>
                      </a:pPr>
                      <a:r>
                        <a:t>Brown</a:t>
                      </a:r>
                    </a:p>
                  </a:txBody>
                  <a:tcPr>
                    <a:solidFill>
                      <a:srgbClr val="F4E2CC"/>
                    </a:solidFill>
                  </a:tcPr>
                </a:tc>
                <a:tc>
                  <a:txBody>
                    <a:bodyPr/>
                    <a:lstStyle/>
                    <a:p>
                      <a:pPr algn="l">
                        <a:defRPr sz="770" b="1">
                          <a:solidFill>
                            <a:srgbClr val="000000"/>
                          </a:solidFill>
                          <a:latin typeface="Arial"/>
                        </a:defRPr>
                      </a:pPr>
                      <a:r>
                        <a:t>Analysis and statistics</a:t>
                      </a:r>
                    </a:p>
                  </a:txBody>
                  <a:tcPr>
                    <a:solidFill>
                      <a:srgbClr val="FFFFFF"/>
                    </a:solidFill>
                  </a:tcPr>
                </a:tc>
                <a:tc>
                  <a:txBody>
                    <a:bodyPr/>
                    <a:lstStyle/>
                    <a:p>
                      <a:pPr algn="l">
                        <a:defRPr sz="730" b="0">
                          <a:solidFill>
                            <a:srgbClr val="000000"/>
                          </a:solidFill>
                          <a:latin typeface="Arial"/>
                        </a:defRPr>
                      </a:pPr>
                      <a:r>
                        <a:t>Replications, Sensitivity, Scenario_Snapshots, Latency_Bins, A/C/E snapshots</a:t>
                      </a:r>
                    </a:p>
                  </a:txBody>
                  <a:tcPr>
                    <a:solidFill>
                      <a:srgbClr val="FFFFFF"/>
                    </a:solidFill>
                  </a:tcPr>
                </a:tc>
                <a:tc>
                  <a:txBody>
                    <a:bodyPr/>
                    <a:lstStyle/>
                    <a:p>
                      <a:pPr algn="l">
                        <a:defRPr sz="730" b="0">
                          <a:solidFill>
                            <a:srgbClr val="000000"/>
                          </a:solidFill>
                          <a:latin typeface="Arial"/>
                        </a:defRPr>
                      </a:pPr>
                      <a:r>
                        <a:t>Aggregates runs, shows sensitivity, creates dashboard/histogram support.</a:t>
                      </a:r>
                    </a:p>
                  </a:txBody>
                  <a:tcPr>
                    <a:solidFill>
                      <a:srgbClr val="FFFFFF"/>
                    </a:solidFill>
                  </a:tcPr>
                </a:tc>
                <a:tc>
                  <a:txBody>
                    <a:bodyPr/>
                    <a:lstStyle/>
                    <a:p>
                      <a:pPr algn="l">
                        <a:defRPr sz="730" b="0">
                          <a:solidFill>
                            <a:srgbClr val="000000"/>
                          </a:solidFill>
                          <a:latin typeface="Arial"/>
                        </a:defRPr>
                      </a:pPr>
                      <a:r>
                        <a:t>This is where results become reviewer-readable.</a:t>
                      </a:r>
                    </a:p>
                  </a:txBody>
                  <a:tcPr>
                    <a:solidFill>
                      <a:srgbClr val="FFFFFF"/>
                    </a:solidFill>
                  </a:tcPr>
                </a:tc>
                <a:extLst>
                  <a:ext uri="{0D108BD9-81ED-4DB2-BD59-A6C34878D82A}">
                    <a16:rowId xmlns:a16="http://schemas.microsoft.com/office/drawing/2014/main" val="10003"/>
                  </a:ext>
                </a:extLst>
              </a:tr>
              <a:tr h="405765">
                <a:tc>
                  <a:txBody>
                    <a:bodyPr/>
                    <a:lstStyle/>
                    <a:p>
                      <a:pPr algn="ctr">
                        <a:defRPr sz="770" b="1">
                          <a:solidFill>
                            <a:srgbClr val="000000"/>
                          </a:solidFill>
                          <a:latin typeface="Arial"/>
                        </a:defRPr>
                      </a:pPr>
                      <a:r>
                        <a:t>Yellow</a:t>
                      </a:r>
                    </a:p>
                  </a:txBody>
                  <a:tcPr>
                    <a:solidFill>
                      <a:srgbClr val="FFF2CC"/>
                    </a:solidFill>
                  </a:tcPr>
                </a:tc>
                <a:tc>
                  <a:txBody>
                    <a:bodyPr/>
                    <a:lstStyle/>
                    <a:p>
                      <a:pPr algn="l">
                        <a:defRPr sz="770" b="1">
                          <a:solidFill>
                            <a:srgbClr val="000000"/>
                          </a:solidFill>
                          <a:latin typeface="Arial"/>
                        </a:defRPr>
                      </a:pPr>
                      <a:r>
                        <a:t>Verification and audit</a:t>
                      </a:r>
                    </a:p>
                  </a:txBody>
                  <a:tcPr>
                    <a:solidFill>
                      <a:srgbClr val="F8F8F8"/>
                    </a:solidFill>
                  </a:tcPr>
                </a:tc>
                <a:tc>
                  <a:txBody>
                    <a:bodyPr/>
                    <a:lstStyle/>
                    <a:p>
                      <a:pPr algn="l">
                        <a:defRPr sz="730" b="0">
                          <a:solidFill>
                            <a:srgbClr val="000000"/>
                          </a:solidFill>
                          <a:latin typeface="Arial"/>
                        </a:defRPr>
                      </a:pPr>
                      <a:r>
                        <a:t>Hand_Check, _Build_Check, Validation</a:t>
                      </a:r>
                    </a:p>
                  </a:txBody>
                  <a:tcPr>
                    <a:solidFill>
                      <a:srgbClr val="F8F8F8"/>
                    </a:solidFill>
                  </a:tcPr>
                </a:tc>
                <a:tc>
                  <a:txBody>
                    <a:bodyPr/>
                    <a:lstStyle/>
                    <a:p>
                      <a:pPr algn="l">
                        <a:defRPr sz="730" b="0">
                          <a:solidFill>
                            <a:srgbClr val="000000"/>
                          </a:solidFill>
                          <a:latin typeface="Arial"/>
                        </a:defRPr>
                      </a:pPr>
                      <a:r>
                        <a:t>Checks formulas, first records, validation rules, and calculation integrity.</a:t>
                      </a:r>
                    </a:p>
                  </a:txBody>
                  <a:tcPr>
                    <a:solidFill>
                      <a:srgbClr val="F8F8F8"/>
                    </a:solidFill>
                  </a:tcPr>
                </a:tc>
                <a:tc>
                  <a:txBody>
                    <a:bodyPr/>
                    <a:lstStyle/>
                    <a:p>
                      <a:pPr algn="l">
                        <a:defRPr sz="730" b="0">
                          <a:solidFill>
                            <a:srgbClr val="000000"/>
                          </a:solidFill>
                          <a:latin typeface="Arial"/>
                        </a:defRPr>
                      </a:pPr>
                      <a:r>
                        <a:t>Evidence that the workbook was checked.</a:t>
                      </a:r>
                    </a:p>
                  </a:txBody>
                  <a:tcPr>
                    <a:solidFill>
                      <a:srgbClr val="F8F8F8"/>
                    </a:solidFill>
                  </a:tcPr>
                </a:tc>
                <a:extLst>
                  <a:ext uri="{0D108BD9-81ED-4DB2-BD59-A6C34878D82A}">
                    <a16:rowId xmlns:a16="http://schemas.microsoft.com/office/drawing/2014/main" val="10004"/>
                  </a:ext>
                </a:extLst>
              </a:tr>
              <a:tr h="405765">
                <a:tc>
                  <a:txBody>
                    <a:bodyPr/>
                    <a:lstStyle/>
                    <a:p>
                      <a:pPr algn="ctr">
                        <a:defRPr sz="770" b="1">
                          <a:solidFill>
                            <a:srgbClr val="000000"/>
                          </a:solidFill>
                          <a:latin typeface="Arial"/>
                        </a:defRPr>
                      </a:pPr>
                      <a:r>
                        <a:t>Purple</a:t>
                      </a:r>
                    </a:p>
                  </a:txBody>
                  <a:tcPr>
                    <a:solidFill>
                      <a:srgbClr val="EADDF7"/>
                    </a:solidFill>
                  </a:tcPr>
                </a:tc>
                <a:tc>
                  <a:txBody>
                    <a:bodyPr/>
                    <a:lstStyle/>
                    <a:p>
                      <a:pPr algn="l">
                        <a:defRPr sz="770" b="1">
                          <a:solidFill>
                            <a:srgbClr val="000000"/>
                          </a:solidFill>
                          <a:latin typeface="Arial"/>
                        </a:defRPr>
                      </a:pPr>
                      <a:r>
                        <a:t>Integration blenders</a:t>
                      </a:r>
                    </a:p>
                  </a:txBody>
                  <a:tcPr>
                    <a:solidFill>
                      <a:srgbClr val="FFFFFF"/>
                    </a:solidFill>
                  </a:tcPr>
                </a:tc>
                <a:tc>
                  <a:txBody>
                    <a:bodyPr/>
                    <a:lstStyle/>
                    <a:p>
                      <a:pPr algn="l">
                        <a:defRPr sz="730" b="0">
                          <a:solidFill>
                            <a:srgbClr val="000000"/>
                          </a:solidFill>
                          <a:latin typeface="Arial"/>
                        </a:defRPr>
                      </a:pPr>
                      <a:r>
                        <a:t>Simul_Enviro_OMNI_Normalized, Integration_Join_Audit, Integration_Common_Timeline</a:t>
                      </a:r>
                    </a:p>
                  </a:txBody>
                  <a:tcPr>
                    <a:solidFill>
                      <a:srgbClr val="FFFFFF"/>
                    </a:solidFill>
                  </a:tcPr>
                </a:tc>
                <a:tc>
                  <a:txBody>
                    <a:bodyPr/>
                    <a:lstStyle/>
                    <a:p>
                      <a:pPr algn="l">
                        <a:defRPr sz="730" b="0">
                          <a:solidFill>
                            <a:srgbClr val="000000"/>
                          </a:solidFill>
                          <a:latin typeface="Arial"/>
                        </a:defRPr>
                      </a:pPr>
                      <a:r>
                        <a:t>Normalizes and time-aligns AI/ML, COMM, and ENV into the common ACE timeline.</a:t>
                      </a:r>
                    </a:p>
                  </a:txBody>
                  <a:tcPr>
                    <a:solidFill>
                      <a:srgbClr val="FFFFFF"/>
                    </a:solidFill>
                  </a:tcPr>
                </a:tc>
                <a:tc>
                  <a:txBody>
                    <a:bodyPr/>
                    <a:lstStyle/>
                    <a:p>
                      <a:pPr algn="l">
                        <a:defRPr sz="730" b="0">
                          <a:solidFill>
                            <a:srgbClr val="000000"/>
                          </a:solidFill>
                          <a:latin typeface="Arial"/>
                        </a:defRPr>
                      </a:pPr>
                      <a:r>
                        <a:t>Shows how raw data became model input.</a:t>
                      </a:r>
                    </a:p>
                  </a:txBody>
                  <a:tcPr>
                    <a:solidFill>
                      <a:srgbClr val="FFFFFF"/>
                    </a:solidFill>
                  </a:tcPr>
                </a:tc>
                <a:extLst>
                  <a:ext uri="{0D108BD9-81ED-4DB2-BD59-A6C34878D82A}">
                    <a16:rowId xmlns:a16="http://schemas.microsoft.com/office/drawing/2014/main" val="10005"/>
                  </a:ext>
                </a:extLst>
              </a:tr>
              <a:tr h="405765">
                <a:tc>
                  <a:txBody>
                    <a:bodyPr/>
                    <a:lstStyle/>
                    <a:p>
                      <a:pPr algn="ctr">
                        <a:defRPr sz="770" b="1">
                          <a:solidFill>
                            <a:srgbClr val="000000"/>
                          </a:solidFill>
                          <a:latin typeface="Arial"/>
                        </a:defRPr>
                      </a:pPr>
                      <a:r>
                        <a:t>Orange</a:t>
                      </a:r>
                    </a:p>
                  </a:txBody>
                  <a:tcPr>
                    <a:solidFill>
                      <a:srgbClr val="FCE4D6"/>
                    </a:solidFill>
                  </a:tcPr>
                </a:tc>
                <a:tc>
                  <a:txBody>
                    <a:bodyPr/>
                    <a:lstStyle/>
                    <a:p>
                      <a:pPr algn="l">
                        <a:defRPr sz="770" b="1">
                          <a:solidFill>
                            <a:srgbClr val="000000"/>
                          </a:solidFill>
                          <a:latin typeface="Arial"/>
                        </a:defRPr>
                      </a:pPr>
                      <a:r>
                        <a:t>COMM decoders</a:t>
                      </a:r>
                    </a:p>
                  </a:txBody>
                  <a:tcPr>
                    <a:solidFill>
                      <a:srgbClr val="F8F8F8"/>
                    </a:solidFill>
                  </a:tcPr>
                </a:tc>
                <a:tc>
                  <a:txBody>
                    <a:bodyPr/>
                    <a:lstStyle/>
                    <a:p>
                      <a:pPr algn="l">
                        <a:defRPr sz="730" b="0">
                          <a:solidFill>
                            <a:srgbClr val="000000"/>
                          </a:solidFill>
                          <a:latin typeface="Arial"/>
                        </a:defRPr>
                      </a:pPr>
                      <a:r>
                        <a:t>COMM_Decoded, COMM_Beacons, COMM_Counter_Deltas, COMM_Rejected, Field Map, Decode QC</a:t>
                      </a:r>
                    </a:p>
                  </a:txBody>
                  <a:tcPr>
                    <a:solidFill>
                      <a:srgbClr val="F8F8F8"/>
                    </a:solidFill>
                  </a:tcPr>
                </a:tc>
                <a:tc>
                  <a:txBody>
                    <a:bodyPr/>
                    <a:lstStyle/>
                    <a:p>
                      <a:pPr algn="l">
                        <a:defRPr sz="730" b="0">
                          <a:solidFill>
                            <a:srgbClr val="000000"/>
                          </a:solidFill>
                          <a:latin typeface="Arial"/>
                        </a:defRPr>
                      </a:pPr>
                      <a:r>
                        <a:t>Decodes SatNOGS telemetry and records accepted/rejected communication fields.</a:t>
                      </a:r>
                    </a:p>
                  </a:txBody>
                  <a:tcPr>
                    <a:solidFill>
                      <a:srgbClr val="F8F8F8"/>
                    </a:solidFill>
                  </a:tcPr>
                </a:tc>
                <a:tc>
                  <a:txBody>
                    <a:bodyPr/>
                    <a:lstStyle/>
                    <a:p>
                      <a:pPr algn="l">
                        <a:defRPr sz="730" b="0">
                          <a:solidFill>
                            <a:srgbClr val="000000"/>
                          </a:solidFill>
                          <a:latin typeface="Arial"/>
                        </a:defRPr>
                      </a:pPr>
                      <a:r>
                        <a:t>Supports the C leg and QC traceability.</a:t>
                      </a:r>
                    </a:p>
                  </a:txBody>
                  <a:tcPr>
                    <a:solidFill>
                      <a:srgbClr val="F8F8F8"/>
                    </a:solidFill>
                  </a:tcPr>
                </a:tc>
                <a:extLst>
                  <a:ext uri="{0D108BD9-81ED-4DB2-BD59-A6C34878D82A}">
                    <a16:rowId xmlns:a16="http://schemas.microsoft.com/office/drawing/2014/main" val="10006"/>
                  </a:ext>
                </a:extLst>
              </a:tr>
              <a:tr h="405765">
                <a:tc>
                  <a:txBody>
                    <a:bodyPr/>
                    <a:lstStyle/>
                    <a:p>
                      <a:pPr algn="ctr">
                        <a:defRPr sz="770" b="1">
                          <a:solidFill>
                            <a:srgbClr val="000000"/>
                          </a:solidFill>
                          <a:latin typeface="Arial"/>
                        </a:defRPr>
                      </a:pPr>
                      <a:r>
                        <a:t>Grey</a:t>
                      </a:r>
                    </a:p>
                  </a:txBody>
                  <a:tcPr>
                    <a:solidFill>
                      <a:srgbClr val="E6E6E6"/>
                    </a:solidFill>
                  </a:tcPr>
                </a:tc>
                <a:tc>
                  <a:txBody>
                    <a:bodyPr/>
                    <a:lstStyle/>
                    <a:p>
                      <a:pPr algn="l">
                        <a:defRPr sz="770" b="1">
                          <a:solidFill>
                            <a:srgbClr val="000000"/>
                          </a:solidFill>
                          <a:latin typeface="Arial"/>
                        </a:defRPr>
                      </a:pPr>
                      <a:r>
                        <a:t>Raw / utility / history</a:t>
                      </a:r>
                    </a:p>
                  </a:txBody>
                  <a:tcPr>
                    <a:solidFill>
                      <a:srgbClr val="FFFFFF"/>
                    </a:solidFill>
                  </a:tcPr>
                </a:tc>
                <a:tc>
                  <a:txBody>
                    <a:bodyPr/>
                    <a:lstStyle/>
                    <a:p>
                      <a:pPr algn="l">
                        <a:defRPr sz="730" b="0">
                          <a:solidFill>
                            <a:srgbClr val="000000"/>
                          </a:solidFill>
                          <a:latin typeface="Arial"/>
                        </a:defRPr>
                      </a:pPr>
                      <a:r>
                        <a:t>Raw Simultaneity sheets, MATLAB_Map, MATLAB_Handoff, Change_Log, v9 Readme, ACE legacy input</a:t>
                      </a:r>
                    </a:p>
                  </a:txBody>
                  <a:tcPr>
                    <a:solidFill>
                      <a:srgbClr val="FFFFFF"/>
                    </a:solidFill>
                  </a:tcPr>
                </a:tc>
                <a:tc>
                  <a:txBody>
                    <a:bodyPr/>
                    <a:lstStyle/>
                    <a:p>
                      <a:pPr algn="l">
                        <a:defRPr sz="730" b="0">
                          <a:solidFill>
                            <a:srgbClr val="000000"/>
                          </a:solidFill>
                          <a:latin typeface="Arial"/>
                        </a:defRPr>
                      </a:pPr>
                      <a:r>
                        <a:t>Stores raw data, handoff tables, history, and MATLAB support.</a:t>
                      </a:r>
                    </a:p>
                  </a:txBody>
                  <a:tcPr>
                    <a:solidFill>
                      <a:srgbClr val="FFFFFF"/>
                    </a:solidFill>
                  </a:tcPr>
                </a:tc>
                <a:tc>
                  <a:txBody>
                    <a:bodyPr/>
                    <a:lstStyle/>
                    <a:p>
                      <a:pPr algn="l">
                        <a:defRPr sz="730" b="0">
                          <a:solidFill>
                            <a:srgbClr val="000000"/>
                          </a:solidFill>
                          <a:latin typeface="Arial"/>
                        </a:defRPr>
                      </a:pPr>
                      <a:r>
                        <a:t>Reference and configuration control layer.</a:t>
                      </a:r>
                    </a:p>
                  </a:txBody>
                  <a:tcP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594360" y="5596128"/>
            <a:ext cx="10698480" cy="320040"/>
          </a:xfrm>
          <a:prstGeom prst="rect">
            <a:avLst/>
          </a:prstGeom>
          <a:noFill/>
        </p:spPr>
        <p:txBody>
          <a:bodyPr wrap="none" lIns="27432" tIns="18288" rIns="27432" bIns="18288">
            <a:spAutoFit/>
          </a:bodyPr>
          <a:lstStyle/>
          <a:p>
            <a:pPr>
              <a:defRPr sz="880" b="1">
                <a:solidFill>
                  <a:srgbClr val="780000"/>
                </a:solidFill>
                <a:latin typeface="Arial"/>
              </a:defRPr>
            </a:pPr>
            <a:r>
              <a:t>Immutable sequence rule: names may be interpreted dynamically, but the 1–38 tab order is treated as ASOT configuration control; do not drag/reorder tabs.</a:t>
            </a:r>
          </a:p>
        </p:txBody>
      </p:sp>
      <p:sp>
        <p:nvSpPr>
          <p:cNvPr id="7" name="TextBox 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20 of 29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8"/>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01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FFFFFF"/>
                </a:solidFill>
                <a:latin typeface="Calibri"/>
              </a:rPr>
              <a:t>Praxis Schedule and Gantt Overview</a:t>
            </a:r>
          </a:p>
        </p:txBody>
      </p:sp>
      <p:sp>
        <p:nvSpPr>
          <p:cNvPr id="4" name="TextBox 3"/>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C6D2DC"/>
                </a:solidFill>
                <a:latin typeface="Calibri"/>
              </a:rPr>
              <a:t>Planning horizon retained from the full deck; detailed future dates remain subject to advisor review.</a:t>
            </a:r>
          </a:p>
        </p:txBody>
      </p:sp>
      <p:cxnSp>
        <p:nvCxnSpPr>
          <p:cNvPr id="5" name="Connector 4"/>
          <p:cNvCxnSpPr/>
          <p:nvPr/>
        </p:nvCxnSpPr>
        <p:spPr>
          <a:xfrm>
            <a:off x="352044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Sep 26</a:t>
            </a:r>
          </a:p>
        </p:txBody>
      </p:sp>
      <p:cxnSp>
        <p:nvCxnSpPr>
          <p:cNvPr id="7" name="Connector 6"/>
          <p:cNvCxnSpPr/>
          <p:nvPr/>
        </p:nvCxnSpPr>
        <p:spPr>
          <a:xfrm>
            <a:off x="4310699"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990659"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Oct</a:t>
            </a:r>
          </a:p>
        </p:txBody>
      </p:sp>
      <p:cxnSp>
        <p:nvCxnSpPr>
          <p:cNvPr id="9" name="Connector 8"/>
          <p:cNvCxnSpPr/>
          <p:nvPr/>
        </p:nvCxnSpPr>
        <p:spPr>
          <a:xfrm>
            <a:off x="5127301"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07261"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Nov</a:t>
            </a:r>
          </a:p>
        </p:txBody>
      </p:sp>
      <p:cxnSp>
        <p:nvCxnSpPr>
          <p:cNvPr id="11" name="Connector 10"/>
          <p:cNvCxnSpPr/>
          <p:nvPr/>
        </p:nvCxnSpPr>
        <p:spPr>
          <a:xfrm>
            <a:off x="591756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59752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Dec</a:t>
            </a:r>
          </a:p>
        </p:txBody>
      </p:sp>
      <p:cxnSp>
        <p:nvCxnSpPr>
          <p:cNvPr id="13" name="Connector 12"/>
          <p:cNvCxnSpPr/>
          <p:nvPr/>
        </p:nvCxnSpPr>
        <p:spPr>
          <a:xfrm>
            <a:off x="6734162"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1412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Jan 27</a:t>
            </a:r>
          </a:p>
        </p:txBody>
      </p:sp>
      <p:cxnSp>
        <p:nvCxnSpPr>
          <p:cNvPr id="15" name="Connector 14"/>
          <p:cNvCxnSpPr/>
          <p:nvPr/>
        </p:nvCxnSpPr>
        <p:spPr>
          <a:xfrm>
            <a:off x="7550763"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230723"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Feb</a:t>
            </a:r>
          </a:p>
        </p:txBody>
      </p:sp>
      <p:cxnSp>
        <p:nvCxnSpPr>
          <p:cNvPr id="17" name="Connector 16"/>
          <p:cNvCxnSpPr/>
          <p:nvPr/>
        </p:nvCxnSpPr>
        <p:spPr>
          <a:xfrm>
            <a:off x="8288339"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968299"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Mar</a:t>
            </a:r>
          </a:p>
        </p:txBody>
      </p:sp>
      <p:cxnSp>
        <p:nvCxnSpPr>
          <p:cNvPr id="19" name="Connector 18"/>
          <p:cNvCxnSpPr/>
          <p:nvPr/>
        </p:nvCxnSpPr>
        <p:spPr>
          <a:xfrm>
            <a:off x="9104941"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784901"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Apr</a:t>
            </a:r>
          </a:p>
        </p:txBody>
      </p:sp>
      <p:cxnSp>
        <p:nvCxnSpPr>
          <p:cNvPr id="21" name="Connector 20"/>
          <p:cNvCxnSpPr/>
          <p:nvPr/>
        </p:nvCxnSpPr>
        <p:spPr>
          <a:xfrm>
            <a:off x="989520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57516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May</a:t>
            </a:r>
          </a:p>
        </p:txBody>
      </p:sp>
      <p:cxnSp>
        <p:nvCxnSpPr>
          <p:cNvPr id="23" name="Connector 22"/>
          <p:cNvCxnSpPr/>
          <p:nvPr/>
        </p:nvCxnSpPr>
        <p:spPr>
          <a:xfrm>
            <a:off x="10711802"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39176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Jun</a:t>
            </a:r>
          </a:p>
        </p:txBody>
      </p:sp>
      <p:sp>
        <p:nvSpPr>
          <p:cNvPr id="25" name="TextBox 24"/>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Research archive / public sources</a:t>
            </a:r>
          </a:p>
        </p:txBody>
      </p:sp>
      <p:sp>
        <p:nvSpPr>
          <p:cNvPr id="26" name="Rectangle 25"/>
          <p:cNvSpPr/>
          <p:nvPr/>
        </p:nvSpPr>
        <p:spPr>
          <a:xfrm>
            <a:off x="3520440" y="1984248"/>
            <a:ext cx="3187380"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28600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FFFFFF"/>
                </a:solidFill>
                <a:latin typeface="Calibri"/>
              </a:rPr>
              <a:t>Chapter 2 final revisions</a:t>
            </a:r>
          </a:p>
        </p:txBody>
      </p:sp>
      <p:sp>
        <p:nvSpPr>
          <p:cNvPr id="28" name="Rectangle 27"/>
          <p:cNvSpPr/>
          <p:nvPr/>
        </p:nvSpPr>
        <p:spPr>
          <a:xfrm>
            <a:off x="4758513" y="2377440"/>
            <a:ext cx="711233"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2920" y="26791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Excel v9 / simultaneous ACE</a:t>
            </a:r>
          </a:p>
        </p:txBody>
      </p:sp>
      <p:sp>
        <p:nvSpPr>
          <p:cNvPr id="30" name="Rectangle 29"/>
          <p:cNvSpPr/>
          <p:nvPr/>
        </p:nvSpPr>
        <p:spPr>
          <a:xfrm>
            <a:off x="3994595" y="2770632"/>
            <a:ext cx="1896623"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07238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3 conceptual planning</a:t>
            </a:r>
          </a:p>
        </p:txBody>
      </p:sp>
      <p:sp>
        <p:nvSpPr>
          <p:cNvPr id="32" name="Rectangle 31"/>
          <p:cNvSpPr/>
          <p:nvPr/>
        </p:nvSpPr>
        <p:spPr>
          <a:xfrm>
            <a:off x="5074617" y="3163824"/>
            <a:ext cx="395129"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4655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MATLAB / SimEvents development</a:t>
            </a:r>
          </a:p>
        </p:txBody>
      </p:sp>
      <p:sp>
        <p:nvSpPr>
          <p:cNvPr id="34" name="Rectangle 33"/>
          <p:cNvSpPr/>
          <p:nvPr/>
        </p:nvSpPr>
        <p:spPr>
          <a:xfrm>
            <a:off x="5074617" y="3557016"/>
            <a:ext cx="202833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385876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3 methodology draft</a:t>
            </a:r>
          </a:p>
        </p:txBody>
      </p:sp>
      <p:sp>
        <p:nvSpPr>
          <p:cNvPr id="36" name="Rectangle 35"/>
          <p:cNvSpPr/>
          <p:nvPr/>
        </p:nvSpPr>
        <p:spPr>
          <a:xfrm>
            <a:off x="5127301" y="3950208"/>
            <a:ext cx="279225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251959"/>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Experiments / sensitivity / V&amp;V</a:t>
            </a:r>
          </a:p>
        </p:txBody>
      </p:sp>
      <p:sp>
        <p:nvSpPr>
          <p:cNvPr id="38" name="Rectangle 37"/>
          <p:cNvSpPr/>
          <p:nvPr/>
        </p:nvSpPr>
        <p:spPr>
          <a:xfrm>
            <a:off x="7550763" y="4343400"/>
            <a:ext cx="1922965"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4645151"/>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Chapters 1, 4 and 5</a:t>
            </a:r>
          </a:p>
        </p:txBody>
      </p:sp>
      <p:sp>
        <p:nvSpPr>
          <p:cNvPr id="40" name="Rectangle 39"/>
          <p:cNvSpPr/>
          <p:nvPr/>
        </p:nvSpPr>
        <p:spPr>
          <a:xfrm>
            <a:off x="8657127" y="4736592"/>
            <a:ext cx="202833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50383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Committee / defense planning</a:t>
            </a:r>
          </a:p>
        </p:txBody>
      </p:sp>
      <p:sp>
        <p:nvSpPr>
          <p:cNvPr id="42" name="Rectangle 41"/>
          <p:cNvSpPr/>
          <p:nvPr/>
        </p:nvSpPr>
        <p:spPr>
          <a:xfrm>
            <a:off x="10711802" y="5129784"/>
            <a:ext cx="763917"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5074617" y="1627632"/>
            <a:ext cx="0" cy="3931920"/>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337257" y="1078992"/>
            <a:ext cx="16916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45" name="Connector 44"/>
          <p:cNvCxnSpPr/>
          <p:nvPr/>
        </p:nvCxnSpPr>
        <p:spPr>
          <a:xfrm>
            <a:off x="5469747" y="1627632"/>
            <a:ext cx="0" cy="3931920"/>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230368" y="1316736"/>
            <a:ext cx="22402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19" b="1">
                <a:solidFill>
                  <a:srgbClr val="C00000"/>
                </a:solidFill>
                <a:latin typeface="Calibri"/>
              </a:rPr>
              <a:t>14 NOV · FINAL REVISIONS</a:t>
            </a:r>
          </a:p>
        </p:txBody>
      </p:sp>
      <p:sp>
        <p:nvSpPr>
          <p:cNvPr id="47" name="TextBox 46"/>
          <p:cNvSpPr txBox="1"/>
          <p:nvPr/>
        </p:nvSpPr>
        <p:spPr>
          <a:xfrm>
            <a:off x="502920" y="5623560"/>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Green = October 30 briefing.  Red suspense = November 14: Dr. Hao comments incorporated + final revisions.</a:t>
            </a:r>
          </a:p>
        </p:txBody>
      </p:sp>
      <p:sp>
        <p:nvSpPr>
          <p:cNvPr id="48" name="TextBox 4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21 of 29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4"/>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01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FFFFFF"/>
                </a:solidFill>
                <a:latin typeface="Calibri"/>
              </a:rPr>
              <a:t>Near-Term Execution Plan: October 30–November 14</a:t>
            </a:r>
          </a:p>
        </p:txBody>
      </p:sp>
      <p:sp>
        <p:nvSpPr>
          <p:cNvPr id="4" name="TextBox 3"/>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C6D2DC"/>
                </a:solidFill>
                <a:latin typeface="Calibri"/>
              </a:rPr>
              <a:t>Planned work: close Chapter 2 against Dr. Hao’s guidance, preserve evidence, then prepare Session 6.</a:t>
            </a:r>
          </a:p>
        </p:txBody>
      </p:sp>
      <p:cxnSp>
        <p:nvCxnSpPr>
          <p:cNvPr id="5" name="Connector 4"/>
          <p:cNvCxnSpPr/>
          <p:nvPr/>
        </p:nvCxnSpPr>
        <p:spPr>
          <a:xfrm>
            <a:off x="3520440"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30 Oct</a:t>
            </a:r>
          </a:p>
        </p:txBody>
      </p:sp>
      <p:cxnSp>
        <p:nvCxnSpPr>
          <p:cNvPr id="7" name="Connector 6"/>
          <p:cNvCxnSpPr/>
          <p:nvPr/>
        </p:nvCxnSpPr>
        <p:spPr>
          <a:xfrm>
            <a:off x="5111496"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91456"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2 Nov</a:t>
            </a:r>
          </a:p>
        </p:txBody>
      </p:sp>
      <p:cxnSp>
        <p:nvCxnSpPr>
          <p:cNvPr id="9" name="Connector 8"/>
          <p:cNvCxnSpPr/>
          <p:nvPr/>
        </p:nvCxnSpPr>
        <p:spPr>
          <a:xfrm>
            <a:off x="7232904"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12864"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6 Nov</a:t>
            </a:r>
          </a:p>
        </p:txBody>
      </p:sp>
      <p:cxnSp>
        <p:nvCxnSpPr>
          <p:cNvPr id="11" name="Connector 10"/>
          <p:cNvCxnSpPr/>
          <p:nvPr/>
        </p:nvCxnSpPr>
        <p:spPr>
          <a:xfrm>
            <a:off x="9354312"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03427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10 Nov</a:t>
            </a:r>
          </a:p>
        </p:txBody>
      </p:sp>
      <p:cxnSp>
        <p:nvCxnSpPr>
          <p:cNvPr id="13" name="Connector 12"/>
          <p:cNvCxnSpPr/>
          <p:nvPr/>
        </p:nvCxnSpPr>
        <p:spPr>
          <a:xfrm>
            <a:off x="11475720"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14 Nov</a:t>
            </a:r>
          </a:p>
        </p:txBody>
      </p:sp>
      <p:sp>
        <p:nvSpPr>
          <p:cNvPr id="15" name="TextBox 14"/>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Session 5 feedback disposition</a:t>
            </a:r>
          </a:p>
        </p:txBody>
      </p:sp>
      <p:sp>
        <p:nvSpPr>
          <p:cNvPr id="16" name="Rectangle 15"/>
          <p:cNvSpPr/>
          <p:nvPr/>
        </p:nvSpPr>
        <p:spPr>
          <a:xfrm>
            <a:off x="3520440" y="1984248"/>
            <a:ext cx="1591055"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Capture decisions and open actions</a:t>
            </a:r>
          </a:p>
        </p:txBody>
      </p:sp>
      <p:sp>
        <p:nvSpPr>
          <p:cNvPr id="18" name="TextBox 17"/>
          <p:cNvSpPr txBox="1"/>
          <p:nvPr/>
        </p:nvSpPr>
        <p:spPr>
          <a:xfrm>
            <a:off x="502920" y="24505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10" b="0">
                <a:solidFill>
                  <a:srgbClr val="FFFFFF"/>
                </a:solidFill>
                <a:latin typeface="Calibri"/>
              </a:rPr>
              <a:t>Dr. Hao comments + final Chapter 2 revisions</a:t>
            </a:r>
          </a:p>
        </p:txBody>
      </p:sp>
      <p:sp>
        <p:nvSpPr>
          <p:cNvPr id="19" name="Rectangle 18"/>
          <p:cNvSpPr/>
          <p:nvPr/>
        </p:nvSpPr>
        <p:spPr>
          <a:xfrm>
            <a:off x="3520440" y="2542032"/>
            <a:ext cx="795528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7016" y="2752344"/>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PRIMARY SUSPENSE · 14 Nov</a:t>
            </a:r>
          </a:p>
        </p:txBody>
      </p:sp>
      <p:sp>
        <p:nvSpPr>
          <p:cNvPr id="21" name="TextBox 20"/>
          <p:cNvSpPr txBox="1"/>
          <p:nvPr/>
        </p:nvSpPr>
        <p:spPr>
          <a:xfrm>
            <a:off x="502920" y="30083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380" b="0">
                <a:solidFill>
                  <a:srgbClr val="FFFFFF"/>
                </a:solidFill>
                <a:latin typeface="Calibri"/>
              </a:rPr>
              <a:t>Concision / reference / figure / format check</a:t>
            </a:r>
          </a:p>
        </p:txBody>
      </p:sp>
      <p:sp>
        <p:nvSpPr>
          <p:cNvPr id="22" name="Rectangle 21"/>
          <p:cNvSpPr/>
          <p:nvPr/>
        </p:nvSpPr>
        <p:spPr>
          <a:xfrm>
            <a:off x="6702552" y="3099816"/>
            <a:ext cx="3182112"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39128" y="3310128"/>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71559F"/>
                </a:solidFill>
                <a:latin typeface="Calibri"/>
              </a:rPr>
              <a:t>Final claim-to-source check</a:t>
            </a:r>
          </a:p>
        </p:txBody>
      </p:sp>
      <p:sp>
        <p:nvSpPr>
          <p:cNvPr id="24" name="TextBox 23"/>
          <p:cNvSpPr txBox="1"/>
          <p:nvPr/>
        </p:nvSpPr>
        <p:spPr>
          <a:xfrm>
            <a:off x="502920" y="356616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Owner model reproduction</a:t>
            </a:r>
          </a:p>
        </p:txBody>
      </p:sp>
      <p:sp>
        <p:nvSpPr>
          <p:cNvPr id="25" name="Rectangle 24"/>
          <p:cNvSpPr/>
          <p:nvPr/>
        </p:nvSpPr>
        <p:spPr>
          <a:xfrm>
            <a:off x="5111496" y="3657600"/>
            <a:ext cx="318211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48072" y="386791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Recorded baseline → local PASS evidence</a:t>
            </a:r>
          </a:p>
        </p:txBody>
      </p:sp>
      <p:sp>
        <p:nvSpPr>
          <p:cNvPr id="27" name="TextBox 26"/>
          <p:cNvSpPr txBox="1"/>
          <p:nvPr/>
        </p:nvSpPr>
        <p:spPr>
          <a:xfrm>
            <a:off x="502920" y="41239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V&amp;V and sensitivity design</a:t>
            </a:r>
          </a:p>
        </p:txBody>
      </p:sp>
      <p:sp>
        <p:nvSpPr>
          <p:cNvPr id="28" name="Rectangle 27"/>
          <p:cNvSpPr/>
          <p:nvPr/>
        </p:nvSpPr>
        <p:spPr>
          <a:xfrm>
            <a:off x="7232904" y="4215384"/>
            <a:ext cx="318211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69480" y="4425696"/>
            <a:ext cx="4242816"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Benchmark before scaling</a:t>
            </a:r>
          </a:p>
        </p:txBody>
      </p:sp>
      <p:sp>
        <p:nvSpPr>
          <p:cNvPr id="30" name="TextBox 29"/>
          <p:cNvSpPr txBox="1"/>
          <p:nvPr/>
        </p:nvSpPr>
        <p:spPr>
          <a:xfrm>
            <a:off x="502920" y="468172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Session 6 package</a:t>
            </a:r>
          </a:p>
        </p:txBody>
      </p:sp>
      <p:sp>
        <p:nvSpPr>
          <p:cNvPr id="31" name="Rectangle 30"/>
          <p:cNvSpPr/>
          <p:nvPr/>
        </p:nvSpPr>
        <p:spPr>
          <a:xfrm>
            <a:off x="9354312" y="4773168"/>
            <a:ext cx="2121408"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90888" y="4983480"/>
            <a:ext cx="2121408"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950" b="1">
                <a:solidFill>
                  <a:srgbClr val="BD8E36"/>
                </a:solidFill>
                <a:latin typeface="Calibri"/>
              </a:rPr>
              <a:t>Final revisions + model evidence</a:t>
            </a:r>
          </a:p>
        </p:txBody>
      </p:sp>
      <p:cxnSp>
        <p:nvCxnSpPr>
          <p:cNvPr id="33" name="Connector 32"/>
          <p:cNvCxnSpPr/>
          <p:nvPr/>
        </p:nvCxnSpPr>
        <p:spPr>
          <a:xfrm>
            <a:off x="3520440" y="1627632"/>
            <a:ext cx="0" cy="3739896"/>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898648" y="1097280"/>
            <a:ext cx="13258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35" name="Connector 34"/>
          <p:cNvCxnSpPr/>
          <p:nvPr/>
        </p:nvCxnSpPr>
        <p:spPr>
          <a:xfrm>
            <a:off x="11475720" y="1627632"/>
            <a:ext cx="0" cy="3739896"/>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555480" y="1097280"/>
            <a:ext cx="21488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30" b="1">
                <a:solidFill>
                  <a:srgbClr val="C00000"/>
                </a:solidFill>
                <a:latin typeface="Calibri"/>
              </a:rPr>
              <a:t>14 NOV · FINAL REVISIONS</a:t>
            </a:r>
          </a:p>
        </p:txBody>
      </p:sp>
      <p:sp>
        <p:nvSpPr>
          <p:cNvPr id="37" name="TextBox 36"/>
          <p:cNvSpPr txBox="1"/>
          <p:nvPr/>
        </p:nvSpPr>
        <p:spPr>
          <a:xfrm>
            <a:off x="502920" y="5623560"/>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Green = October 30 briefing.  Red suspense = November 14: Dr. Hao comments incorporated + final revisions.</a:t>
            </a:r>
          </a:p>
        </p:txBody>
      </p:sp>
      <p:sp>
        <p:nvSpPr>
          <p:cNvPr id="38" name="TextBox 3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22 of 29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35"/>
          <p:cNvPicPr preferRelativeResize="0"/>
          <p:nvPr/>
        </p:nvPicPr>
        <p:blipFill rotWithShape="1">
          <a:blip r:embed="rId3">
            <a:alphaModFix/>
          </a:blip>
          <a:srcRect/>
          <a:stretch/>
        </p:blipFill>
        <p:spPr>
          <a:xfrm>
            <a:off x="0" y="0"/>
            <a:ext cx="12192000" cy="3223882"/>
          </a:xfrm>
          <a:prstGeom prst="rect">
            <a:avLst/>
          </a:prstGeom>
          <a:noFill/>
          <a:ln>
            <a:noFill/>
          </a:ln>
        </p:spPr>
      </p:pic>
      <p:pic>
        <p:nvPicPr>
          <p:cNvPr id="222" name="Google Shape;222;p35"/>
          <p:cNvPicPr preferRelativeResize="0"/>
          <p:nvPr/>
        </p:nvPicPr>
        <p:blipFill rotWithShape="1">
          <a:blip r:embed="rId4">
            <a:alphaModFix/>
          </a:blip>
          <a:srcRect/>
          <a:stretch/>
        </p:blipFill>
        <p:spPr>
          <a:xfrm>
            <a:off x="3570051" y="2354272"/>
            <a:ext cx="8621949" cy="3129790"/>
          </a:xfrm>
          <a:prstGeom prst="rect">
            <a:avLst/>
          </a:prstGeom>
          <a:noFill/>
          <a:ln>
            <a:noFill/>
          </a:ln>
        </p:spPr>
      </p:pic>
      <p:pic>
        <p:nvPicPr>
          <p:cNvPr id="223" name="Google Shape;223;p35"/>
          <p:cNvPicPr preferRelativeResize="0"/>
          <p:nvPr/>
        </p:nvPicPr>
        <p:blipFill rotWithShape="1">
          <a:blip r:embed="rId4">
            <a:alphaModFix/>
          </a:blip>
          <a:srcRect/>
          <a:stretch/>
        </p:blipFill>
        <p:spPr>
          <a:xfrm>
            <a:off x="0" y="4064972"/>
            <a:ext cx="7247777" cy="2630962"/>
          </a:xfrm>
          <a:prstGeom prst="rect">
            <a:avLst/>
          </a:prstGeom>
          <a:noFill/>
          <a:ln>
            <a:noFill/>
          </a:ln>
        </p:spPr>
      </p:pic>
      <p:sp>
        <p:nvSpPr>
          <p:cNvPr id="224" name="TextBox 223"/>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25" name="TextBox 224"/>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23 of 29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36"/>
          <p:cNvPicPr preferRelativeResize="0"/>
          <p:nvPr/>
        </p:nvPicPr>
        <p:blipFill rotWithShape="1">
          <a:blip r:embed="rId3">
            <a:alphaModFix/>
          </a:blip>
          <a:srcRect/>
          <a:stretch/>
        </p:blipFill>
        <p:spPr>
          <a:xfrm>
            <a:off x="0" y="0"/>
            <a:ext cx="12191999" cy="4425728"/>
          </a:xfrm>
          <a:prstGeom prst="rect">
            <a:avLst/>
          </a:prstGeom>
          <a:noFill/>
          <a:ln>
            <a:noFill/>
          </a:ln>
        </p:spPr>
      </p:pic>
      <p:sp>
        <p:nvSpPr>
          <p:cNvPr id="230" name="TextBox 229"/>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31" name="TextBox 230"/>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24 of 29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6" name="TextBox 235"/>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graphicFrame>
        <p:nvGraphicFramePr>
          <p:cNvPr id="235" name="Google Shape;235;p37"/>
          <p:cNvGraphicFramePr/>
          <p:nvPr>
            <p:extLst>
              <p:ext uri="{D42A27DB-BD31-4B8C-83A1-F6EECF244321}">
                <p14:modId xmlns:p14="http://schemas.microsoft.com/office/powerpoint/2010/main" val="716559281"/>
              </p:ext>
            </p:extLst>
          </p:nvPr>
        </p:nvGraphicFramePr>
        <p:xfrm>
          <a:off x="274320" y="365760"/>
          <a:ext cx="11631165" cy="5074914"/>
        </p:xfrm>
        <a:graphic>
          <a:graphicData uri="http://schemas.openxmlformats.org/drawingml/2006/table">
            <a:tbl>
              <a:tblPr>
                <a:noFill/>
                <a:tableStyleId>{3C1EB017-BC45-4DEE-9ABB-B4D90C79D28D}</a:tableStyleId>
              </a:tblPr>
              <a:tblGrid>
                <a:gridCol w="649445">
                  <a:extLst>
                    <a:ext uri="{9D8B030D-6E8A-4147-A177-3AD203B41FA5}">
                      <a16:colId xmlns:a16="http://schemas.microsoft.com/office/drawing/2014/main" val="20000"/>
                    </a:ext>
                  </a:extLst>
                </a:gridCol>
                <a:gridCol w="1180820">
                  <a:extLst>
                    <a:ext uri="{9D8B030D-6E8A-4147-A177-3AD203B41FA5}">
                      <a16:colId xmlns:a16="http://schemas.microsoft.com/office/drawing/2014/main" val="20001"/>
                    </a:ext>
                  </a:extLst>
                </a:gridCol>
                <a:gridCol w="1653155">
                  <a:extLst>
                    <a:ext uri="{9D8B030D-6E8A-4147-A177-3AD203B41FA5}">
                      <a16:colId xmlns:a16="http://schemas.microsoft.com/office/drawing/2014/main" val="20002"/>
                    </a:ext>
                  </a:extLst>
                </a:gridCol>
                <a:gridCol w="1298918">
                  <a:extLst>
                    <a:ext uri="{9D8B030D-6E8A-4147-A177-3AD203B41FA5}">
                      <a16:colId xmlns:a16="http://schemas.microsoft.com/office/drawing/2014/main" val="20003"/>
                    </a:ext>
                  </a:extLst>
                </a:gridCol>
                <a:gridCol w="2007425">
                  <a:extLst>
                    <a:ext uri="{9D8B030D-6E8A-4147-A177-3AD203B41FA5}">
                      <a16:colId xmlns:a16="http://schemas.microsoft.com/office/drawing/2014/main" val="20004"/>
                    </a:ext>
                  </a:extLst>
                </a:gridCol>
                <a:gridCol w="1889329">
                  <a:extLst>
                    <a:ext uri="{9D8B030D-6E8A-4147-A177-3AD203B41FA5}">
                      <a16:colId xmlns:a16="http://schemas.microsoft.com/office/drawing/2014/main" val="20005"/>
                    </a:ext>
                  </a:extLst>
                </a:gridCol>
                <a:gridCol w="590408">
                  <a:extLst>
                    <a:ext uri="{9D8B030D-6E8A-4147-A177-3AD203B41FA5}">
                      <a16:colId xmlns:a16="http://schemas.microsoft.com/office/drawing/2014/main" val="20006"/>
                    </a:ext>
                  </a:extLst>
                </a:gridCol>
                <a:gridCol w="2361665">
                  <a:extLst>
                    <a:ext uri="{9D8B030D-6E8A-4147-A177-3AD203B41FA5}">
                      <a16:colId xmlns:a16="http://schemas.microsoft.com/office/drawing/2014/main" val="20007"/>
                    </a:ext>
                  </a:extLst>
                </a:gridCol>
              </a:tblGrid>
              <a:tr h="146593">
                <a:tc gridSpan="8">
                  <a:txBody>
                    <a:bodyPr/>
                    <a:lstStyle/>
                    <a:p>
                      <a:pPr marL="0" marR="0" lvl="0" indent="0" algn="l" rtl="0">
                        <a:lnSpc>
                          <a:spcPct val="100000"/>
                        </a:lnSpc>
                        <a:spcBef>
                          <a:spcPts val="0"/>
                        </a:spcBef>
                        <a:spcAft>
                          <a:spcPts val="0"/>
                        </a:spcAft>
                        <a:buClr>
                          <a:schemeClr val="dk1"/>
                        </a:buClr>
                        <a:buSzPts val="1050"/>
                        <a:buFont typeface="Calibri"/>
                        <a:buNone/>
                      </a:pPr>
                      <a:r>
                        <a:rPr lang="en-US" sz="850" u="none"/>
                        <a:t>AIS Cohort Architecture — Company / Technology Register</a:t>
                      </a:r>
                      <a:endParaRPr sz="1050" b="1" i="0" u="none">
                        <a:solidFill>
                          <a:srgbClr val="FFFFFF"/>
                        </a:solidFill>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6058">
                <a:tc gridSpan="8">
                  <a:txBody>
                    <a:bodyPr/>
                    <a:lstStyle/>
                    <a:p>
                      <a:pPr marL="0" marR="0" lvl="0" indent="0" algn="l" rtl="0">
                        <a:lnSpc>
                          <a:spcPct val="100000"/>
                        </a:lnSpc>
                        <a:spcBef>
                          <a:spcPts val="0"/>
                        </a:spcBef>
                        <a:spcAft>
                          <a:spcPts val="0"/>
                        </a:spcAft>
                        <a:buClr>
                          <a:schemeClr val="dk1"/>
                        </a:buClr>
                        <a:buSzPts val="900"/>
                        <a:buFont typeface="Calibri"/>
                        <a:buNone/>
                      </a:pPr>
                      <a:r>
                        <a:rPr lang="en-US" sz="850" u="none"/>
                        <a:t>Heat reflects relevance to the Praxis solution space, not vendor quality or endorsement.</a:t>
                      </a:r>
                      <a:endParaRPr sz="900" b="0" i="1" u="none">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26058">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2"/>
                  </a:ext>
                </a:extLst>
              </a:tr>
              <a:tr h="249265">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 Tier</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Name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Function</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Company</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Technology / Descriptor from Slide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Praxis Relevance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Heat</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Rationale</a:t>
                      </a:r>
                      <a:endParaRPr sz="900" b="1" i="0" u="none">
                        <a:solidFill>
                          <a:srgbClr val="FFFFFF"/>
                        </a:solidFill>
                        <a:latin typeface="Carlito"/>
                        <a:ea typeface="Carlito"/>
                        <a:cs typeface="Carlito"/>
                        <a:sym typeface="Carlito"/>
                      </a:endParaRPr>
                    </a:p>
                  </a:txBody>
                  <a:tcPr marL="3175" marR="3175" marT="10972" marB="10972" anchor="ctr"/>
                </a:tc>
                <a:extLst>
                  <a:ext uri="{0D108BD9-81ED-4DB2-BD59-A6C34878D82A}">
                    <a16:rowId xmlns:a16="http://schemas.microsoft.com/office/drawing/2014/main" val="10003"/>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Advanced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SIREN autonomous OODA</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AI/ML edge decision-cycle relevance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Closest fit to autonomous onboard decision support and OODA compression.</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4"/>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Force AI</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STARHELM secure Rust runtime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Edge software/runtime relevance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onboard autonomous software execution.</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5"/>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Zenith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Cislunar CR3BP normal forms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Autonomy / onboard reasoning adjacency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Useful autonomy mathematics, but less direct to latency/edge-processing experiments.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6"/>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EraDrive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Era-AI NLP foundation model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AI orchestration / operator support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human-machine teaming and AI-assisted decision-support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7"/>
                  </a:ext>
                </a:extLst>
              </a:tr>
              <a:tr h="326897">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O-Astra ISR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LOGAN pre-approved guard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ISR / bounded action logic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fit to bounded autonomous sensing-to-action concepts.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8"/>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In Orbit Aerospace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INTELLACT zero-hallucination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Explainable / reliable onboard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model-credibility and autonomous decision-support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9"/>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Seekr Technologies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SeekrFlow multi-agent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AI orchestration / multi-agent coordination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fit to autonomous agents and workload triage.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0"/>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PiLogic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Manifest exact CPU-only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Compute-constrained edge AI</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bounded onboard compute and SWaP constraints.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1"/>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Synthetic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SUBSPACE on-orbit reconfigurable 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On-orbit adaptive 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edge-ML and adaptive onboard processing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2"/>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Ephemeris Net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SEP optical Layer 3 routing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Optical networking / routing / DDIL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link to crosslinks, routing, downlink bypass, and communications latency.</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3"/>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Picogrid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MARSO/Legion data middleware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Distributed data middleware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to moving and managing data across distributed space nodes.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4"/>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R-DEX Systems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HSA sub-100ps time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Precision timing / network synchronization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Timing is foundational to distributed sensing, networking, and latency measurement.</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5"/>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Starcloud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H100/Blackwell orbit datacenters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Orbital edge/cloud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Near-direct solution-space match for orbital cloud and high-performance edge compute.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6"/>
                  </a:ext>
                </a:extLst>
              </a:tr>
            </a:tbl>
          </a:graphicData>
        </a:graphic>
      </p:graphicFrame>
      <p:sp>
        <p:nvSpPr>
          <p:cNvPr id="237" name="TextBox 2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25 of 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35" name="Google Shape;235;p37"/>
          <p:cNvGraphicFramePr/>
          <p:nvPr>
            <p:extLst>
              <p:ext uri="{D42A27DB-BD31-4B8C-83A1-F6EECF244321}">
                <p14:modId xmlns:p14="http://schemas.microsoft.com/office/powerpoint/2010/main" val="716559281"/>
              </p:ext>
            </p:extLst>
          </p:nvPr>
        </p:nvGraphicFramePr>
        <p:xfrm>
          <a:off x="274320" y="365760"/>
          <a:ext cx="11631165" cy="5074911"/>
        </p:xfrm>
        <a:graphic>
          <a:graphicData uri="http://schemas.openxmlformats.org/drawingml/2006/table">
            <a:tbl>
              <a:tblPr>
                <a:noFill/>
                <a:tableStyleId>{3C1EB017-BC45-4DEE-9ABB-B4D90C79D28D}</a:tableStyleId>
              </a:tblPr>
              <a:tblGrid>
                <a:gridCol w="649445">
                  <a:extLst>
                    <a:ext uri="{9D8B030D-6E8A-4147-A177-3AD203B41FA5}">
                      <a16:colId xmlns:a16="http://schemas.microsoft.com/office/drawing/2014/main" val="20000"/>
                    </a:ext>
                  </a:extLst>
                </a:gridCol>
                <a:gridCol w="1180820">
                  <a:extLst>
                    <a:ext uri="{9D8B030D-6E8A-4147-A177-3AD203B41FA5}">
                      <a16:colId xmlns:a16="http://schemas.microsoft.com/office/drawing/2014/main" val="20001"/>
                    </a:ext>
                  </a:extLst>
                </a:gridCol>
                <a:gridCol w="1653155">
                  <a:extLst>
                    <a:ext uri="{9D8B030D-6E8A-4147-A177-3AD203B41FA5}">
                      <a16:colId xmlns:a16="http://schemas.microsoft.com/office/drawing/2014/main" val="20002"/>
                    </a:ext>
                  </a:extLst>
                </a:gridCol>
                <a:gridCol w="1298918">
                  <a:extLst>
                    <a:ext uri="{9D8B030D-6E8A-4147-A177-3AD203B41FA5}">
                      <a16:colId xmlns:a16="http://schemas.microsoft.com/office/drawing/2014/main" val="20003"/>
                    </a:ext>
                  </a:extLst>
                </a:gridCol>
                <a:gridCol w="2007425">
                  <a:extLst>
                    <a:ext uri="{9D8B030D-6E8A-4147-A177-3AD203B41FA5}">
                      <a16:colId xmlns:a16="http://schemas.microsoft.com/office/drawing/2014/main" val="20004"/>
                    </a:ext>
                  </a:extLst>
                </a:gridCol>
                <a:gridCol w="1889329">
                  <a:extLst>
                    <a:ext uri="{9D8B030D-6E8A-4147-A177-3AD203B41FA5}">
                      <a16:colId xmlns:a16="http://schemas.microsoft.com/office/drawing/2014/main" val="20005"/>
                    </a:ext>
                  </a:extLst>
                </a:gridCol>
                <a:gridCol w="590408">
                  <a:extLst>
                    <a:ext uri="{9D8B030D-6E8A-4147-A177-3AD203B41FA5}">
                      <a16:colId xmlns:a16="http://schemas.microsoft.com/office/drawing/2014/main" val="20006"/>
                    </a:ext>
                  </a:extLst>
                </a:gridCol>
                <a:gridCol w="2361665">
                  <a:extLst>
                    <a:ext uri="{9D8B030D-6E8A-4147-A177-3AD203B41FA5}">
                      <a16:colId xmlns:a16="http://schemas.microsoft.com/office/drawing/2014/main" val="20007"/>
                    </a:ext>
                  </a:extLst>
                </a:gridCol>
              </a:tblGrid>
              <a:tr h="129260">
                <a:tc gridSpan="8">
                  <a:txBody>
                    <a:bodyPr/>
                    <a:lstStyle/>
                    <a:p>
                      <a:pPr marL="0" marR="0" lvl="0" indent="0" algn="l" rtl="0">
                        <a:lnSpc>
                          <a:spcPct val="100000"/>
                        </a:lnSpc>
                        <a:spcBef>
                          <a:spcPts val="0"/>
                        </a:spcBef>
                        <a:spcAft>
                          <a:spcPts val="0"/>
                        </a:spcAft>
                        <a:buClr>
                          <a:schemeClr val="dk1"/>
                        </a:buClr>
                        <a:buSzPts val="1050"/>
                        <a:buFont typeface="Calibri"/>
                        <a:buNone/>
                      </a:pPr>
                      <a:r>
                        <a:rPr lang="en-US" sz="850" u="none"/>
                        <a:t>AIS Cohort Architecture — Company / Technology Register</a:t>
                      </a:r>
                      <a:endParaRPr sz="1050" b="1" i="0" u="none">
                        <a:solidFill>
                          <a:srgbClr val="FFFFFF"/>
                        </a:solidFill>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11154">
                <a:tc gridSpan="8">
                  <a:txBody>
                    <a:bodyPr/>
                    <a:lstStyle/>
                    <a:p>
                      <a:pPr marL="0" marR="0" lvl="0" indent="0" algn="l" rtl="0">
                        <a:lnSpc>
                          <a:spcPct val="100000"/>
                        </a:lnSpc>
                        <a:spcBef>
                          <a:spcPts val="0"/>
                        </a:spcBef>
                        <a:spcAft>
                          <a:spcPts val="0"/>
                        </a:spcAft>
                        <a:buClr>
                          <a:schemeClr val="dk1"/>
                        </a:buClr>
                        <a:buSzPts val="900"/>
                        <a:buFont typeface="Calibri"/>
                        <a:buNone/>
                      </a:pPr>
                      <a:r>
                        <a:rPr lang="en-US" sz="850" u="none"/>
                        <a:t>Heat reflects relevance to the Praxis solution space, not vendor quality or endorsement.</a:t>
                      </a:r>
                      <a:endParaRPr sz="900" b="0" i="1" u="none">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11154">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2"/>
                  </a:ext>
                </a:extLst>
              </a:tr>
              <a:tr h="219793">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 Tier</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Name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Function</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Company</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Technology / Descriptor from Slide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Praxis Relevance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Heat</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Rationale</a:t>
                      </a:r>
                      <a:endParaRPr sz="900" b="1" i="0" u="none">
                        <a:solidFill>
                          <a:srgbClr val="FFFFFF"/>
                        </a:solidFill>
                        <a:latin typeface="Carlito"/>
                        <a:ea typeface="Carlito"/>
                        <a:cs typeface="Carlito"/>
                        <a:sym typeface="Carlito"/>
                      </a:endParaRPr>
                    </a:p>
                  </a:txBody>
                  <a:tcPr marL="3175" marR="3175" marT="10972" marB="10972" anchor="ctr"/>
                </a:tc>
                <a:extLst>
                  <a:ext uri="{0D108BD9-81ED-4DB2-BD59-A6C34878D82A}">
                    <a16:rowId xmlns:a16="http://schemas.microsoft.com/office/drawing/2014/main" val="10003"/>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Neuron Dynamics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Compute-in-Memory SSM substrates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Edge compute architecture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to constrained onboard processing performance and power.</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7"/>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Sophia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800 TOPS modular TILEs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High-TOPS modular onboard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hardware precedent for bounded onboard AI/ML processing.</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8"/>
                  </a:ext>
                </a:extLst>
              </a:tr>
              <a:tr h="288246">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Hardware Layer</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err="1"/>
                        <a:t>SWaP</a:t>
                      </a:r>
                      <a:r>
                        <a:rPr lang="en-US" sz="850" u="none" dirty="0"/>
                        <a:t>-C </a:t>
                      </a:r>
                      <a:r>
                        <a:rPr lang="en-US" sz="850" u="none" dirty="0" err="1"/>
                        <a:t>High-TOPS</a:t>
                      </a:r>
                      <a:r>
                        <a:rPr lang="en-US" sz="850" u="none" dirty="0"/>
                        <a:t> Silicon</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Web Sensing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SpaceCortex GPU-in-FPGA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Radiation/space compute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implementation relevance for onboard compute architecture.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9"/>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Aethero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Radiation-resilient GPUs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Space-qualified GPU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edge-processing feasibility and resilience.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0"/>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Array Labs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GaN active radar flat tiles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SDA sensing / data-generation source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as a high-data-rate sensing source feeding the edge-processing problem.</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1"/>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Mithril Tech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Electrostatically-actuated mesh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Sensor/payload architecture adjacency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Supports perception-layer architecture but is less direct to modeling latency or AI processing.</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2"/>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EO Solutions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Passive RF signature fingerprinting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SDA sensing / RF characterization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SDA sensing and onboard exploitation opportunities.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3"/>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ThinkOrbital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ThinkX space-to-space X-ray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Novel sensing / high-data payload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as a sensor source; useful mainly as a workload/data-volume driver.</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4"/>
                  </a:ext>
                </a:extLst>
              </a:tr>
              <a:tr h="4370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OWL Integrations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Commodity SDR passive-RF mesh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Distributed RF sensing / networking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fit to distributed perception, edge processing, and communications-constrained operations.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5"/>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Multi-Modal Sensor Payloads</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Raptor Dynamix</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ARGUS electro-optical &amp; plasma</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EO / plasma sensing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perception input, but not itself the core edge-processing mechanism.</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6"/>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High-Maneuver Spacecraft</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Orbital Operations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Astraeus LH2/LOX bus + active RBC cooling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 thermal / maneuver support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COLD</a:t>
                      </a:r>
                      <a:endParaRPr sz="900" b="1" i="0" u="none">
                        <a:solidFill>
                          <a:srgbClr val="274E13"/>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Enabling spacecraft layer, but outside the likely core quantitative scope of the Praxis.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7"/>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High-Maneuver Spacecraft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Fortastra Corp</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Watchdog maneuvering platform (800+ 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maneuver / defensive response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Relevant if the Praxis extends from decision support into bounded action or maneuver response.</a:t>
                      </a:r>
                      <a:endParaRPr sz="900" b="0" i="0" u="none" dirty="0">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8"/>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High-Maneuver Spacecraft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 Kinetic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Whirlwind propellantless payload deployment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 deployment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COLD</a:t>
                      </a:r>
                      <a:endParaRPr sz="900" b="1" i="0" u="none">
                        <a:solidFill>
                          <a:srgbClr val="274E13"/>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Important architecture enabler but relatively distant from edge compute, latency, and AI/ML focus.</a:t>
                      </a:r>
                      <a:endParaRPr sz="900" b="0" i="0" u="none" dirty="0">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9"/>
                  </a:ext>
                </a:extLst>
              </a:tr>
            </a:tbl>
          </a:graphicData>
        </a:graphic>
      </p:graphicFrame>
      <p:sp>
        <p:nvSpPr>
          <p:cNvPr id="236" name="TextBox 235"/>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(continued) · current registers: AIS CFG011 / Research Data CFG020 / ACE CFG002</a:t>
            </a:r>
          </a:p>
        </p:txBody>
      </p:sp>
      <p:sp>
        <p:nvSpPr>
          <p:cNvPr id="237" name="TextBox 2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26 of 29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graphicFrame>
        <p:nvGraphicFramePr>
          <p:cNvPr id="241" name="Google Shape;241;p38"/>
          <p:cNvGraphicFramePr/>
          <p:nvPr>
            <p:extLst>
              <p:ext uri="{D42A27DB-BD31-4B8C-83A1-F6EECF244321}">
                <p14:modId xmlns:p14="http://schemas.microsoft.com/office/powerpoint/2010/main" val="2298685827"/>
              </p:ext>
            </p:extLst>
          </p:nvPr>
        </p:nvGraphicFramePr>
        <p:xfrm>
          <a:off x="274320" y="365760"/>
          <a:ext cx="11631162" cy="4277363"/>
        </p:xfrm>
        <a:graphic>
          <a:graphicData uri="http://schemas.openxmlformats.org/drawingml/2006/table">
            <a:tbl>
              <a:tblPr>
                <a:noFill/>
                <a:tableStyleId>{3C1EB017-BC45-4DEE-9ABB-B4D90C79D28D}</a:tableStyleId>
              </a:tblPr>
              <a:tblGrid>
                <a:gridCol w="251495">
                  <a:extLst>
                    <a:ext uri="{9D8B030D-6E8A-4147-A177-3AD203B41FA5}">
                      <a16:colId xmlns:a16="http://schemas.microsoft.com/office/drawing/2014/main" val="20000"/>
                    </a:ext>
                  </a:extLst>
                </a:gridCol>
                <a:gridCol w="565845">
                  <a:extLst>
                    <a:ext uri="{9D8B030D-6E8A-4147-A177-3AD203B41FA5}">
                      <a16:colId xmlns:a16="http://schemas.microsoft.com/office/drawing/2014/main" val="20001"/>
                    </a:ext>
                  </a:extLst>
                </a:gridCol>
                <a:gridCol w="565845">
                  <a:extLst>
                    <a:ext uri="{9D8B030D-6E8A-4147-A177-3AD203B41FA5}">
                      <a16:colId xmlns:a16="http://schemas.microsoft.com/office/drawing/2014/main" val="20002"/>
                    </a:ext>
                  </a:extLst>
                </a:gridCol>
                <a:gridCol w="1068809">
                  <a:extLst>
                    <a:ext uri="{9D8B030D-6E8A-4147-A177-3AD203B41FA5}">
                      <a16:colId xmlns:a16="http://schemas.microsoft.com/office/drawing/2014/main" val="20003"/>
                    </a:ext>
                  </a:extLst>
                </a:gridCol>
                <a:gridCol w="943074">
                  <a:extLst>
                    <a:ext uri="{9D8B030D-6E8A-4147-A177-3AD203B41FA5}">
                      <a16:colId xmlns:a16="http://schemas.microsoft.com/office/drawing/2014/main" val="20004"/>
                    </a:ext>
                  </a:extLst>
                </a:gridCol>
                <a:gridCol w="1068809">
                  <a:extLst>
                    <a:ext uri="{9D8B030D-6E8A-4147-A177-3AD203B41FA5}">
                      <a16:colId xmlns:a16="http://schemas.microsoft.com/office/drawing/2014/main" val="20005"/>
                    </a:ext>
                  </a:extLst>
                </a:gridCol>
                <a:gridCol w="1508892">
                  <a:extLst>
                    <a:ext uri="{9D8B030D-6E8A-4147-A177-3AD203B41FA5}">
                      <a16:colId xmlns:a16="http://schemas.microsoft.com/office/drawing/2014/main" val="20006"/>
                    </a:ext>
                  </a:extLst>
                </a:gridCol>
                <a:gridCol w="880194">
                  <a:extLst>
                    <a:ext uri="{9D8B030D-6E8A-4147-A177-3AD203B41FA5}">
                      <a16:colId xmlns:a16="http://schemas.microsoft.com/office/drawing/2014/main" val="20007"/>
                    </a:ext>
                  </a:extLst>
                </a:gridCol>
                <a:gridCol w="1068809">
                  <a:extLst>
                    <a:ext uri="{9D8B030D-6E8A-4147-A177-3AD203B41FA5}">
                      <a16:colId xmlns:a16="http://schemas.microsoft.com/office/drawing/2014/main" val="20008"/>
                    </a:ext>
                  </a:extLst>
                </a:gridCol>
                <a:gridCol w="1194544">
                  <a:extLst>
                    <a:ext uri="{9D8B030D-6E8A-4147-A177-3AD203B41FA5}">
                      <a16:colId xmlns:a16="http://schemas.microsoft.com/office/drawing/2014/main" val="20009"/>
                    </a:ext>
                  </a:extLst>
                </a:gridCol>
                <a:gridCol w="502964">
                  <a:extLst>
                    <a:ext uri="{9D8B030D-6E8A-4147-A177-3AD203B41FA5}">
                      <a16:colId xmlns:a16="http://schemas.microsoft.com/office/drawing/2014/main" val="20010"/>
                    </a:ext>
                  </a:extLst>
                </a:gridCol>
                <a:gridCol w="408669">
                  <a:extLst>
                    <a:ext uri="{9D8B030D-6E8A-4147-A177-3AD203B41FA5}">
                      <a16:colId xmlns:a16="http://schemas.microsoft.com/office/drawing/2014/main" val="20011"/>
                    </a:ext>
                  </a:extLst>
                </a:gridCol>
                <a:gridCol w="408669">
                  <a:extLst>
                    <a:ext uri="{9D8B030D-6E8A-4147-A177-3AD203B41FA5}">
                      <a16:colId xmlns:a16="http://schemas.microsoft.com/office/drawing/2014/main" val="20012"/>
                    </a:ext>
                  </a:extLst>
                </a:gridCol>
                <a:gridCol w="1194544">
                  <a:extLst>
                    <a:ext uri="{9D8B030D-6E8A-4147-A177-3AD203B41FA5}">
                      <a16:colId xmlns:a16="http://schemas.microsoft.com/office/drawing/2014/main" val="20013"/>
                    </a:ext>
                  </a:extLst>
                </a:gridCol>
              </a:tblGrid>
              <a:tr h="134283">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1" dirty="0">
                          <a:solidFill>
                            <a:srgbClr val="000000"/>
                          </a:solidFill>
                          <a:latin typeface="Arial"/>
                          <a:ea typeface="Arial"/>
                          <a:cs typeface="Arial"/>
                          <a:sym typeface="Arial"/>
                        </a:rPr>
                        <a:t>International Research Data Requests — Priority &amp; Mailing Register</a:t>
                      </a:r>
                      <a:endParaRPr sz="1100" b="1" i="0" u="none" dirty="0">
                        <a:solidFill>
                          <a:srgbClr val="FFFFFF"/>
                        </a:solidFill>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0"/>
                  </a:ext>
                </a:extLst>
              </a:tr>
              <a:tr h="103754">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Purpose: obtain public, scientifically defensible data that parameterize degraded, disrupted, intermittent, or resource-constrained conditions relevant to the Praxis.</a:t>
                      </a:r>
                      <a:endParaRPr sz="1000" b="0" i="1" u="none">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1"/>
                  </a:ext>
                </a:extLst>
              </a:tr>
              <a:tr h="94592">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Primary outreach wave = priorities 1–6.  Main bucket = strongest reason to contact; secondary buckets show additional value.</a:t>
                      </a:r>
                      <a:endParaRPr sz="1000" b="0" i="0" u="none">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2"/>
                  </a:ext>
                </a:extLst>
              </a:tr>
              <a:tr h="156802">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dirty="0">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extLst>
                  <a:ext uri="{0D108BD9-81ED-4DB2-BD59-A6C34878D82A}">
                    <a16:rowId xmlns:a16="http://schemas.microsoft.com/office/drawing/2014/main" val="10003"/>
                  </a:ext>
                </a:extLst>
              </a:tr>
              <a:tr h="155614">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Priority</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Country</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Entity / Program</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Main Data Bucket</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Secondary Buckets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Mailing Address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POC / Office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Email</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Website / Intake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Status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Date Sent</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Response Date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Notes</a:t>
                      </a:r>
                      <a:endParaRPr sz="1000" b="1" i="0" u="none">
                        <a:solidFill>
                          <a:srgbClr val="FFFFFF"/>
                        </a:solidFill>
                        <a:latin typeface="Carlito"/>
                        <a:ea typeface="Carlito"/>
                        <a:cs typeface="Carlito"/>
                        <a:sym typeface="Carlito"/>
                      </a:endParaRPr>
                    </a:p>
                  </a:txBody>
                  <a:tcPr marL="22860" marR="22860" marT="10972" marB="10972" anchor="ctr"/>
                </a:tc>
                <a:extLst>
                  <a:ext uri="{0D108BD9-81ED-4DB2-BD59-A6C34878D82A}">
                    <a16:rowId xmlns:a16="http://schemas.microsoft.com/office/drawing/2014/main" val="10004"/>
                  </a:ext>
                </a:extLst>
              </a:tr>
              <a:tr h="353158">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Japan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NICT — World Data Center for Ionosphere &amp; Space Weather</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 data; workload-event volume</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World Data Center for Ionosphere and Space Weather, Space Environment Laboratory, Applied Electromagnetic Research Center, NICT, 4-2-1 Nukui-Kitamachi, Koganei, Tokyo 184-8795, JAPAN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World Data Center for Ionosphere &amp; Space Weather</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iono@ml.nict.go.jp</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https://wdc.nict.go.jp/wdc-top/contact.html</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clarification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14</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14</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NICT requested specific ionosonde/TEC parameters; Japanese follow-up sent. Files pending.</a:t>
                      </a:r>
                      <a:endParaRPr sz="1000" b="1"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5"/>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Canada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University of Victoria — LENS / Starlink@PanLab</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 response/recovery timing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Department of Computer Science, University of Victoria, Engineering &amp; Computer Science Building, Room 504, PO Box 1700 STN CSC, Victoria, BC V8W 2Y2, CANADA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Jinwei Zhao; Prof. Jianping Pan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clarkzjw@uvic.ca; pan@uvic.ca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https://onlineacademiccommunity.uvic.ca/starlink/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awaiting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Prof. Pan asked for clarification; LENS latency/loss/uptime variables requested. Files pending.</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6"/>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 / 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WetLinks — Osnabrück University / University of Twente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 environmental correlation</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 Distributed Systems Group, Institute of Computer Science, Osnabrück University, Friedrich-Janssen-Str. 1, 49076 Osnabrück,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Dominic Laniewski; Prof. Nils Aschenbruck; Prof. Roland van Rijswijk-Deij</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laniewski@uni-osnabrueck.de; aschenbruck@uni-osnabrueck.de; r.m.vanrijswijk@utwente.nl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https://arxiv.org/abs/2402.16448</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25</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WetLinks public repository + dataset/paper links received; screen files/fields next.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7"/>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4</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NCC — RIPE Atlas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 outage/recovery; event-volume inputs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Network Coordination Centre, P.O. Box 10096, 1001 EB Amsterdam, 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Atlas Team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atlas@ripe.net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https://atlas.ripe.net/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Potential independent/original active measurement campaign.</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8"/>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5</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New Zealand</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University of Otago — Solar Tsunamis / MANA Network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Environmental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 Department of Physics, University of Otago, PO Box 56, Dunedin 9054,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Dr Johnny Malone-Leigh; Prof. Craig Rodger; Lisa Evans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john.m.leigh@otago.ac.nz; craig.rodger@otago.ac.nz; lisa.evans@otago.ac.nz</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https://solartsunamis.otago.ac.nz/mana/mana-data/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Formal scientific data access; Southern Hemisphere geomagnetic disturbance timelines.</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9"/>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6</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Earth Sciences New Zealand — Geomagnetism Project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Persistent SDA / Environmental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DDIL environmental proxy; bounded-response trigger data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Avalon Campus, 1 Fairway Drive, Avalon 5011, PO Box 30-368, Lower Hutt 5040,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Dr Tanja Petersen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https://www.gns.cri.nz/about-us/staff-search/tanja-petersen/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INTERMAGNET / Scott Base context; independent validation. General phone: +64 4 570 1444.</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0"/>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7</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Australian Space Weather Forecasting Centre — Bureau of Meteorology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Australian Space Weather Forecasting Centre, Bureau of Meteorology, Lot Fourteen, Adelaide, SA 5000, AUSTRALIA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Forecaster</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ASWFC@bom.gov.au; space@bom.gov.au</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https://www.sws.bom.gov.au/Contact_Us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links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ASWFC supplied HF/ionosphere/K-index links + citation guidance; no direct network data.</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1"/>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8</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United Kingdom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 Office — Space Weather Operations Centre (MOSWOC)</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Persistent SDA; bounded-response triggers; workload-event volume</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 Office, FitzRoy Road, Exeter, Devon EX1 3PB, UNITED KINGDOM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Mark Gibbs / MOSWOC</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enquiries@metoffice.gov.uk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https://weather.metoffice.gov.uk/learn-about/space-weather/met-office-role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Independent operational flare/radio-blackout/geomagnetic interpretation.</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2"/>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9</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South Africa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SANSA — Space Weather Centre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DDIL / Communications Degradation</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SANSA Space Science, PO Box 32, Hermanus 7200, Western Cape, SOUTH AFRICA. Physical site: Hospital Street, Hermanus 7200.</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Centre / SANSA Space Science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spaceweather@sansa.org.za; spacesci-info@sansa.org.za</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https://www.sansa.org.za/products-and-services/space-science/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environmental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14</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SANSA provided Hermanus geomagnetic-data route/citation; no direct latency/loss/availability.</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3"/>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10</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Belgium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ESA — Space Weather Service Network / Coordination Centre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 DDIL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Bounded autonomous-response trigger data;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Coordination Centre, Space Pole, Avenue Circulaire–Ringlaan 3, 1180 Uccle–Ukkel, BELGIUM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SWE Service Helpdesk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helpdesk.swe@esa.int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https://swe.ssa.esa.int/contact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European product-selection, archive, API and V&amp;V support.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4"/>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11</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EUMETSAT — User Service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 Ground-Station Availability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atmospheric/ground-site proxy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EUMETSAT, Eumetsat-Allee 1, D-64295 Darmstadt,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User Service Helpdesk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ops@eumetsat.int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https://www.eumetsat.int/contact-eumetsat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Meteorology/precipitation/cloud inputs for notional ground-station availability.</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5"/>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12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Cross-Cutting Referral Source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All five families by referral only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Ministry of Business, Innovation and Employment, PO Box 1473, Wellington 6140,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nzspaceagency@mbie.govt.nz</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https://www.mbie.govt.nz/science-and-technology/space/connect-with-nzsa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Referral/ecosystem source, not primary scientific data.</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6"/>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ESA Space Debris Office — DISCOS / SDUP</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Bounded Autonomous Response / Maneuver Support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Debris Office, ESOC/ESA, Robert-Bosch-Str. 5, 64293 Darmstadt,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Debris Office / SDUP Support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space.debris.support@esa.int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https://sdup.esoc.esa.int/contact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Public conjunction/object metadata and event-trigger context.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7"/>
                  </a:ext>
                </a:extLst>
              </a:tr>
              <a:tr h="156802">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extLst>
                  <a:ext uri="{0D108BD9-81ED-4DB2-BD59-A6C34878D82A}">
                    <a16:rowId xmlns:a16="http://schemas.microsoft.com/office/drawing/2014/main" val="10018"/>
                  </a:ext>
                </a:extLst>
              </a:tr>
              <a:tr h="91350">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0" dirty="0">
                          <a:solidFill>
                            <a:srgbClr val="000000"/>
                          </a:solidFill>
                          <a:latin typeface="Arial"/>
                          <a:ea typeface="Arial"/>
                          <a:cs typeface="Arial"/>
                          <a:sym typeface="Arial"/>
                        </a:rPr>
                        <a:t>Request framing: seek public, scientifically defensible observations that reproduce system symptoms of degraded/disrupted operations: latency, outages, observation gaps, disturbance onset/recovery, alert volume and quality/confidence. Do not use classified, restricted data, proprietary or operational data.</a:t>
                      </a:r>
                      <a:endParaRPr sz="2000" dirty="0"/>
                    </a:p>
                  </a:txBody>
                  <a:tcPr marL="22860" marR="22860" marT="10972" marB="10972" anchor="ctr"/>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19"/>
                  </a:ext>
                </a:extLst>
              </a:tr>
            </a:tbl>
          </a:graphicData>
        </a:graphic>
      </p:graphicFrame>
      <p:sp>
        <p:nvSpPr>
          <p:cNvPr id="242" name="TextBox 241"/>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43" name="TextBox 242"/>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27 of 29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8" name="TextBox 247"/>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graphicFrame>
        <p:nvGraphicFramePr>
          <p:cNvPr id="247" name="Google Shape;247;p39"/>
          <p:cNvGraphicFramePr/>
          <p:nvPr>
            <p:extLst>
              <p:ext uri="{D42A27DB-BD31-4B8C-83A1-F6EECF244321}">
                <p14:modId xmlns:p14="http://schemas.microsoft.com/office/powerpoint/2010/main" val="4123301170"/>
              </p:ext>
            </p:extLst>
          </p:nvPr>
        </p:nvGraphicFramePr>
        <p:xfrm>
          <a:off x="274320" y="365760"/>
          <a:ext cx="11631163" cy="3621050"/>
        </p:xfrm>
        <a:graphic>
          <a:graphicData uri="http://schemas.openxmlformats.org/drawingml/2006/table">
            <a:tbl>
              <a:tblPr>
                <a:noFill/>
                <a:tableStyleId>{3C1EB017-BC45-4DEE-9ABB-B4D90C79D28D}</a:tableStyleId>
              </a:tblPr>
              <a:tblGrid>
                <a:gridCol w="1654202">
                  <a:extLst>
                    <a:ext uri="{9D8B030D-6E8A-4147-A177-3AD203B41FA5}">
                      <a16:colId xmlns:a16="http://schemas.microsoft.com/office/drawing/2014/main" val="20000"/>
                    </a:ext>
                  </a:extLst>
                </a:gridCol>
                <a:gridCol w="1654202">
                  <a:extLst>
                    <a:ext uri="{9D8B030D-6E8A-4147-A177-3AD203B41FA5}">
                      <a16:colId xmlns:a16="http://schemas.microsoft.com/office/drawing/2014/main" val="20001"/>
                    </a:ext>
                  </a:extLst>
                </a:gridCol>
                <a:gridCol w="1188977">
                  <a:extLst>
                    <a:ext uri="{9D8B030D-6E8A-4147-A177-3AD203B41FA5}">
                      <a16:colId xmlns:a16="http://schemas.microsoft.com/office/drawing/2014/main" val="20002"/>
                    </a:ext>
                  </a:extLst>
                </a:gridCol>
                <a:gridCol w="827114">
                  <a:extLst>
                    <a:ext uri="{9D8B030D-6E8A-4147-A177-3AD203B41FA5}">
                      <a16:colId xmlns:a16="http://schemas.microsoft.com/office/drawing/2014/main" val="20003"/>
                    </a:ext>
                  </a:extLst>
                </a:gridCol>
                <a:gridCol w="1757592">
                  <a:extLst>
                    <a:ext uri="{9D8B030D-6E8A-4147-A177-3AD203B41FA5}">
                      <a16:colId xmlns:a16="http://schemas.microsoft.com/office/drawing/2014/main" val="20004"/>
                    </a:ext>
                  </a:extLst>
                </a:gridCol>
                <a:gridCol w="1964370">
                  <a:extLst>
                    <a:ext uri="{9D8B030D-6E8A-4147-A177-3AD203B41FA5}">
                      <a16:colId xmlns:a16="http://schemas.microsoft.com/office/drawing/2014/main" val="20005"/>
                    </a:ext>
                  </a:extLst>
                </a:gridCol>
                <a:gridCol w="1964370">
                  <a:extLst>
                    <a:ext uri="{9D8B030D-6E8A-4147-A177-3AD203B41FA5}">
                      <a16:colId xmlns:a16="http://schemas.microsoft.com/office/drawing/2014/main" val="20006"/>
                    </a:ext>
                  </a:extLst>
                </a:gridCol>
                <a:gridCol w="620336">
                  <a:extLst>
                    <a:ext uri="{9D8B030D-6E8A-4147-A177-3AD203B41FA5}">
                      <a16:colId xmlns:a16="http://schemas.microsoft.com/office/drawing/2014/main" val="20007"/>
                    </a:ext>
                  </a:extLst>
                </a:gridCol>
              </a:tblGrid>
              <a:tr h="1895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u="none" dirty="0">
                          <a:solidFill>
                            <a:srgbClr val="000000"/>
                          </a:solidFill>
                          <a:latin typeface="Arial"/>
                          <a:ea typeface="Arial"/>
                          <a:cs typeface="Arial"/>
                          <a:sym typeface="Arial"/>
                        </a:rPr>
                        <a:t>International Research Data Outreach Register</a:t>
                      </a:r>
                      <a:endParaRPr sz="1600" b="1" i="0" u="none" dirty="0">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76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Prioritized POC/data-source register • v07 • 2026-09-16</a:t>
                      </a:r>
                      <a:endParaRPr sz="1050" b="0" i="1" u="none">
                        <a:solidFill>
                          <a:srgbClr val="1F2937"/>
                        </a:solidFill>
                        <a:latin typeface="Carlito"/>
                        <a:ea typeface="Carlito"/>
                        <a:cs typeface="Carlito"/>
                        <a:sym typeface="Carlito"/>
                      </a:endParaRPr>
                    </a:p>
                  </a:txBody>
                  <a:tcPr marL="3275" marR="32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2"/>
                  </a:ext>
                </a:extLst>
              </a:tr>
              <a:tr h="286800">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Metric</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Value</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Priority</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Organization</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Core Value</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Planned wave</a:t>
                      </a:r>
                      <a:endParaRPr sz="1100" b="1" i="0" u="none">
                        <a:solidFill>
                          <a:srgbClr val="FFFFFF"/>
                        </a:solidFill>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3"/>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Total Targets</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13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1</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Japan</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NICT — World Data Center for Ionosphere &amp; Space Weather</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Space weather / ionosphere / solar-flare effects</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1" i="0" u="none">
                        <a:solidFill>
                          <a:srgbClr val="1F2937"/>
                        </a:solidFill>
                        <a:latin typeface="Carlito"/>
                        <a:ea typeface="Carlito"/>
                        <a:cs typeface="Carlito"/>
                        <a:sym typeface="Carlito"/>
                      </a:endParaRPr>
                    </a:p>
                  </a:txBody>
                  <a:tcPr marL="3275" marR="3275" marT="10972" marB="10972"/>
                </a:tc>
                <a:extLst>
                  <a:ext uri="{0D108BD9-81ED-4DB2-BD59-A6C34878D82A}">
                    <a16:rowId xmlns:a16="http://schemas.microsoft.com/office/drawing/2014/main" val="10004"/>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1 — Primary</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2</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Victoria — Starlink@PanLab / LENS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LEO latency / one-way delay / network performance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5"/>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2 — Secondary</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Germany / 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WetLinks — Osnabrück University / University of Twente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Starlink RTT / packet loss / throughput / traceroute / weather</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6"/>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3 — Supporting</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RIPE NCC — RIPE Atlas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Independent active Internet measurements / ping / traceroute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7"/>
                  </a:ext>
                </a:extLst>
              </a:tr>
              <a:tr h="2868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5</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Otago — Solar Tsunamis / MANA Network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Geomagnetic observations / Southern Hemisphere environmental stress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8"/>
                  </a:ext>
                </a:extLst>
              </a:tr>
              <a:tr h="2868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Earth Sciences New Zealand — Geomagnetism Project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Geomagnetic observatory / INTERMAGNET / Scott Base context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9"/>
                  </a:ext>
                </a:extLst>
              </a:tr>
              <a:tr h="145300">
                <a:tc>
                  <a:txBody>
                    <a:bodyPr/>
                    <a:lstStyle/>
                    <a:p>
                      <a:pPr marL="0" marR="0" lvl="0" indent="0" algn="l"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Color</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Meaning</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0"/>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1</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Primary outreach — material value to model/data/V&amp;V</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1"/>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2</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Secondary wave — cross-validation / operational interpretation</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2"/>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Supporting — contextual, referral, or lower marginal value</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3"/>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4"/>
                  </a:ext>
                </a:extLst>
              </a:tr>
            </a:tbl>
          </a:graphicData>
        </a:graphic>
      </p:graphicFrame>
      <p:sp>
        <p:nvSpPr>
          <p:cNvPr id="249" name="TextBox 248"/>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28 of 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47" name="Google Shape;247;p39"/>
          <p:cNvGraphicFramePr/>
          <p:nvPr>
            <p:extLst>
              <p:ext uri="{D42A27DB-BD31-4B8C-83A1-F6EECF244321}">
                <p14:modId xmlns:p14="http://schemas.microsoft.com/office/powerpoint/2010/main" val="4123301170"/>
              </p:ext>
            </p:extLst>
          </p:nvPr>
        </p:nvGraphicFramePr>
        <p:xfrm>
          <a:off x="274320" y="365760"/>
          <a:ext cx="11631163" cy="3620150"/>
        </p:xfrm>
        <a:graphic>
          <a:graphicData uri="http://schemas.openxmlformats.org/drawingml/2006/table">
            <a:tbl>
              <a:tblPr>
                <a:noFill/>
                <a:tableStyleId>{3C1EB017-BC45-4DEE-9ABB-B4D90C79D28D}</a:tableStyleId>
              </a:tblPr>
              <a:tblGrid>
                <a:gridCol w="1654202">
                  <a:extLst>
                    <a:ext uri="{9D8B030D-6E8A-4147-A177-3AD203B41FA5}">
                      <a16:colId xmlns:a16="http://schemas.microsoft.com/office/drawing/2014/main" val="20000"/>
                    </a:ext>
                  </a:extLst>
                </a:gridCol>
                <a:gridCol w="1654202">
                  <a:extLst>
                    <a:ext uri="{9D8B030D-6E8A-4147-A177-3AD203B41FA5}">
                      <a16:colId xmlns:a16="http://schemas.microsoft.com/office/drawing/2014/main" val="20001"/>
                    </a:ext>
                  </a:extLst>
                </a:gridCol>
                <a:gridCol w="1188977">
                  <a:extLst>
                    <a:ext uri="{9D8B030D-6E8A-4147-A177-3AD203B41FA5}">
                      <a16:colId xmlns:a16="http://schemas.microsoft.com/office/drawing/2014/main" val="20002"/>
                    </a:ext>
                  </a:extLst>
                </a:gridCol>
                <a:gridCol w="827114">
                  <a:extLst>
                    <a:ext uri="{9D8B030D-6E8A-4147-A177-3AD203B41FA5}">
                      <a16:colId xmlns:a16="http://schemas.microsoft.com/office/drawing/2014/main" val="20003"/>
                    </a:ext>
                  </a:extLst>
                </a:gridCol>
                <a:gridCol w="1757592">
                  <a:extLst>
                    <a:ext uri="{9D8B030D-6E8A-4147-A177-3AD203B41FA5}">
                      <a16:colId xmlns:a16="http://schemas.microsoft.com/office/drawing/2014/main" val="20004"/>
                    </a:ext>
                  </a:extLst>
                </a:gridCol>
                <a:gridCol w="1964370">
                  <a:extLst>
                    <a:ext uri="{9D8B030D-6E8A-4147-A177-3AD203B41FA5}">
                      <a16:colId xmlns:a16="http://schemas.microsoft.com/office/drawing/2014/main" val="20005"/>
                    </a:ext>
                  </a:extLst>
                </a:gridCol>
                <a:gridCol w="1964370">
                  <a:extLst>
                    <a:ext uri="{9D8B030D-6E8A-4147-A177-3AD203B41FA5}">
                      <a16:colId xmlns:a16="http://schemas.microsoft.com/office/drawing/2014/main" val="20006"/>
                    </a:ext>
                  </a:extLst>
                </a:gridCol>
                <a:gridCol w="620336">
                  <a:extLst>
                    <a:ext uri="{9D8B030D-6E8A-4147-A177-3AD203B41FA5}">
                      <a16:colId xmlns:a16="http://schemas.microsoft.com/office/drawing/2014/main" val="20007"/>
                    </a:ext>
                  </a:extLst>
                </a:gridCol>
              </a:tblGrid>
              <a:tr h="1895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u="none" dirty="0">
                          <a:solidFill>
                            <a:srgbClr val="000000"/>
                          </a:solidFill>
                          <a:latin typeface="Arial"/>
                          <a:ea typeface="Arial"/>
                          <a:cs typeface="Arial"/>
                          <a:sym typeface="Arial"/>
                        </a:rPr>
                        <a:t>International Research Data Outreach Register</a:t>
                      </a:r>
                      <a:endParaRPr sz="1600" b="1" i="0" u="none" dirty="0">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76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Prioritized POC/data-source register • v07 • 2026-09-16</a:t>
                      </a:r>
                      <a:endParaRPr sz="1050" b="0" i="1" u="none">
                        <a:solidFill>
                          <a:srgbClr val="1F2937"/>
                        </a:solidFill>
                        <a:latin typeface="Carlito"/>
                        <a:ea typeface="Carlito"/>
                        <a:cs typeface="Carlito"/>
                        <a:sym typeface="Carlito"/>
                      </a:endParaRPr>
                    </a:p>
                  </a:txBody>
                  <a:tcPr marL="3275" marR="32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2"/>
                  </a:ext>
                </a:extLst>
              </a:tr>
              <a:tr h="16287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Top table: priority planning. Below: actual six-country postal outreach of August 17. Shared WetLinks coverage is not counted as a separate Dutch reply.</a:t>
                      </a:r>
                      <a:endParaRPr sz="1050" b="0" i="0" u="none">
                        <a:solidFill>
                          <a:srgbClr val="1F2937"/>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15"/>
                  </a:ext>
                </a:extLst>
              </a:tr>
              <a:tr h="163000">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FIRST-WAVE RESPONSE STATUS — SEPTEMBER 16, 2026</a:t>
                      </a:r>
                      <a:endParaRPr sz="1200" b="1" i="0" u="none">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16"/>
                  </a:ext>
                </a:extLst>
              </a:tr>
              <a:tr h="162875">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Packets mailed</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6</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Direct replies</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5</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Auto-reply only</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0</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Archive-link replies</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3</a:t>
                      </a:r>
                      <a:endParaRPr sz="1050" b="1" i="0" u="none">
                        <a:solidFill>
                          <a:srgbClr val="17365D"/>
                        </a:solidFill>
                        <a:latin typeface="Carlito"/>
                        <a:ea typeface="Carlito"/>
                        <a:cs typeface="Carlito"/>
                        <a:sym typeface="Carlito"/>
                      </a:endParaRPr>
                    </a:p>
                  </a:txBody>
                  <a:tcPr marL="3275" marR="3275" marT="10972" marB="10972" anchor="ctr"/>
                </a:tc>
                <a:extLst>
                  <a:ext uri="{0D108BD9-81ED-4DB2-BD59-A6C34878D82A}">
                    <a16:rowId xmlns:a16="http://schemas.microsoft.com/office/drawing/2014/main" val="10017"/>
                  </a:ext>
                </a:extLst>
              </a:tr>
              <a:tr h="145300">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Organization / Contact</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Status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Response date</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Next action</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Data status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Evidence / limits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 </a:t>
                      </a:r>
                      <a:endParaRPr sz="1100" b="1" i="0" u="none">
                        <a:solidFill>
                          <a:srgbClr val="FFFFFF"/>
                        </a:solidFill>
                        <a:latin typeface="Carlito"/>
                        <a:ea typeface="Carlito"/>
                        <a:cs typeface="Carlito"/>
                        <a:sym typeface="Carlito"/>
                      </a:endParaRPr>
                    </a:p>
                  </a:txBody>
                  <a:tcPr marL="3275" marR="3275" marT="10972" marB="10972" anchor="ctr"/>
                </a:tc>
                <a:extLst>
                  <a:ext uri="{0D108BD9-81ED-4DB2-BD59-A6C34878D82A}">
                    <a16:rowId xmlns:a16="http://schemas.microsoft.com/office/drawing/2014/main" val="10018"/>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Germany</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Osnabrück University - Prof. Dr. Nils Aschenbruck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RESPONDED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Aug 25,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Inspect/select public files; see shared WetLinks coverage below.</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GitHub + dataset/paper DOI. Data/code supplied as-is.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19"/>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Victoria - Prof. Jianping Pan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12,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Await LENS file/field guidance after field-specific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Latency/loss/throughput/outage/recovery requested; public variables not confirmed.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0"/>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Japan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NICT - WDC</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Await guidance after Japanese follow-up requesting foF2/TEC and network-data referral.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NICT asked for product specifics; follow-up supplied with sample period and citation request.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1"/>
                  </a:ext>
                </a:extLst>
              </a:tr>
              <a:tr h="4283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Twente - shared WetLinks work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Standing by</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No separate follow-up unless a Twente-specific issue arises.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Shared WetLinks links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Covered by the German reply, per existing register; not an independent Dutch response.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2"/>
                  </a:ext>
                </a:extLst>
              </a:tr>
              <a:tr h="569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South Africa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SANSA - Dr Mpho Tshisaphungo</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ENVIRONMENTAL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Use Hermanus geomagnetic data if needed; no direct satellite-link metrics.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Public geomagnetic route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SANSA confirmed public research use/citation; no latency, packet-loss or availability data.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3"/>
                  </a:ext>
                </a:extLst>
              </a:tr>
              <a:tr h="4283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Australia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ASWFC / Bureau - Cassie Marshall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RESPONDED / ARCHIVES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13,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Inspect archive/API fields and usage terms; clarify regional K-index only if needed.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Eight links; citation guidance received. X-ray flux must not be attributed to Bureau.</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dirty="0">
                          <a:solidFill>
                            <a:srgbClr val="000000"/>
                          </a:solidFill>
                          <a:latin typeface="Arial"/>
                          <a:ea typeface="Arial"/>
                          <a:cs typeface="Arial"/>
                          <a:sym typeface="Arial"/>
                        </a:rPr>
                        <a:t> </a:t>
                      </a:r>
                      <a:endParaRPr sz="1100" b="0" i="0" u="none" dirty="0">
                        <a:latin typeface="Carlito"/>
                        <a:ea typeface="Carlito"/>
                        <a:cs typeface="Carlito"/>
                        <a:sym typeface="Carlito"/>
                      </a:endParaRPr>
                    </a:p>
                  </a:txBody>
                  <a:tcPr marL="3275" marR="3275" marT="10972" marB="10972"/>
                </a:tc>
                <a:extLst>
                  <a:ext uri="{0D108BD9-81ED-4DB2-BD59-A6C34878D82A}">
                    <a16:rowId xmlns:a16="http://schemas.microsoft.com/office/drawing/2014/main" val="10024"/>
                  </a:ext>
                </a:extLst>
              </a:tr>
            </a:tbl>
          </a:graphicData>
        </a:graphic>
      </p:graphicFrame>
      <p:sp>
        <p:nvSpPr>
          <p:cNvPr id="248" name="TextBox 247"/>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(continued) · current registers: AIS CFG011 / Research Data CFG020 / ACE CFG002</a:t>
            </a:r>
          </a:p>
        </p:txBody>
      </p:sp>
      <p:sp>
        <p:nvSpPr>
          <p:cNvPr id="249" name="TextBox 248"/>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29 of 29</a:t>
            </a:r>
          </a:p>
        </p:txBody>
      </p:sp>
    </p:spTree>
  </p:cSld>
  <p:clrMapOvr>
    <a:masterClrMapping/>
  </p:clrMapOvr>
</p:sld>
</file>

<file path=ppt/theme/carlo_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37adc8ff-f4a3-4a14-9c0d-84b4985de0d2}" enabled="1" method="Privileged" siteId="{8331b18d-2d87-48ef-a35f-ac8818ebf9b4}" contentBits="0" removed="0"/>
</clbl:labelList>
</file>

<file path=docProps/app.xml><?xml version="1.0" encoding="utf-8"?>
<Properties xmlns="http://schemas.openxmlformats.org/officeDocument/2006/extended-properties" xmlns:vt="http://schemas.openxmlformats.org/officeDocument/2006/docPropsVTypes">
  <TotalTime>265</TotalTime>
  <Words>13107</Words>
  <Application>Microsoft Office PowerPoint</Application>
  <PresentationFormat>Widescreen</PresentationFormat>
  <Paragraphs>1398</Paragraphs>
  <Slides>23</Slides>
  <Notes>21</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Custom Design</vt:lpstr>
      <vt:lpstr>1_Custom Design</vt:lpstr>
      <vt:lpstr>Modeling Orbital Edge Processing in a Contested Environment</vt:lpstr>
      <vt:lpstr>Response to Advisor Feedback from previous meeting(s)</vt:lpstr>
      <vt:lpstr>Progress Since Last Meeting</vt:lpstr>
      <vt:lpstr>Issues Encountered and Setbacks</vt:lpstr>
      <vt:lpstr>Tasks for the Next Two Weeks</vt:lpstr>
      <vt:lpstr>PowerPoint Presentation</vt:lpstr>
      <vt:lpstr>PowerPoint Presentation</vt:lpstr>
      <vt:lpstr>Problem and Thesis Statements</vt:lpstr>
      <vt:lpstr>Research Objectives and Questions</vt:lpstr>
      <vt:lpstr>Research Hypotheses — Proposed Refinement</vt:lpstr>
      <vt:lpstr>5 Foundational References</vt:lpstr>
      <vt:lpstr>PowerPoint Presentation</vt:lpstr>
      <vt:lpstr>Summary of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GWU Dr Hao - Session 5 - Oct 30, 2026 - v15 - Chapter 2 Progress</dc:title>
  <dc:creator>Carlo Antonio Nino</dc:creator>
  <cp:lastModifiedBy>Carlo Antonio Nino</cp:lastModifiedBy>
  <cp:revision>15</cp:revision>
  <dcterms:modified xsi:type="dcterms:W3CDTF">2026-10-01T21:09:02Z</dcterms:modified>
</cp:coreProperties>
</file>