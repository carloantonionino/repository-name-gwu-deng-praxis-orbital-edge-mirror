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ink/ink1.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Masters/carlo_slideMaster1.xml" ContentType="application/vnd.openxmlformats-officedocument.presentationml.slideMaster+xml"/>
  <Override PartName="/ppt/theme/carlo_theme1.xml" ContentType="application/vnd.openxmlformats-officedocument.theme+xml"/>
  <Override PartName="/ppt/slideLayouts/carlo_slideLayout1.xml" ContentType="application/vnd.openxmlformats-officedocument.presentationml.slideLayout+xml"/>
  <Override PartName="/ppt/slideLayouts/carlo_slideLayout2.xml" ContentType="application/vnd.openxmlformats-officedocument.presentationml.slideLayout+xml"/>
  <Override PartName="/ppt/slideLayouts/carlo_slideLayout3.xml" ContentType="application/vnd.openxmlformats-officedocument.presentationml.slideLayout+xml"/>
  <Override PartName="/ppt/slideLayouts/carlo_slideLayout4.xml" ContentType="application/vnd.openxmlformats-officedocument.presentationml.slideLayout+xml"/>
  <Override PartName="/ppt/slideLayouts/carlo_slideLayout5.xml" ContentType="application/vnd.openxmlformats-officedocument.presentationml.slideLayout+xml"/>
  <Override PartName="/ppt/slideLayouts/carlo_slideLayout6.xml" ContentType="application/vnd.openxmlformats-officedocument.presentationml.slideLayout+xml"/>
  <Override PartName="/ppt/slideLayouts/carlo_slideLayout7.xml" ContentType="application/vnd.openxmlformats-officedocument.presentationml.slideLayout+xml"/>
  <Override PartName="/ppt/slideLayouts/carlo_slideLayout8.xml" ContentType="application/vnd.openxmlformats-officedocument.presentationml.slideLayout+xml"/>
  <Override PartName="/ppt/slideLayouts/carlo_slideLayout9.xml" ContentType="application/vnd.openxmlformats-officedocument.presentationml.slideLayout+xml"/>
  <Override PartName="/ppt/slideLayouts/carlo_slideLayout10.xml" ContentType="application/vnd.openxmlformats-officedocument.presentationml.slideLayout+xml"/>
  <Override PartName="/ppt/slideLayouts/carlo_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7" r:id="rId1"/>
    <p:sldMasterId id="2147483668" r:id="rId2"/>
    <p:sldMasterId id="2147483669" r:id="rIdCarloMaster40"/>
  </p:sldMasterIdLst>
  <p:notesMasterIdLst>
    <p:notesMasterId r:id="rId26"/>
  </p:notesMasterIdLst>
  <p:sldIdLst>
    <p:sldId id="256" r:id="rId3"/>
    <p:sldId id="257" r:id="rId4"/>
    <p:sldId id="258" r:id="rId5"/>
    <p:sldId id="259" r:id="rId6"/>
    <p:sldId id="260" r:id="rId7"/>
    <p:sldId id="261" r:id="rId8"/>
    <p:sldId id="279" r:id="rId35"/>
    <p:sldId id="280" r:id="rId36"/>
    <p:sldId id="281" r:id="rId37"/>
    <p:sldId id="282" r:id="rId38"/>
    <p:sldId id="262" r:id="rId9"/>
    <p:sldId id="263" r:id="rId10"/>
    <p:sldId id="264" r:id="rId11"/>
    <p:sldId id="265" r:id="rId12"/>
    <p:sldId id="266" r:id="rId13"/>
    <p:sldId id="267" r:id="rId14"/>
    <p:sldId id="268" r:id="rId15"/>
    <p:sldId id="274" r:id="rId16"/>
    <p:sldId id="278" r:id="rId17"/>
    <p:sldId id="277" r:id="rId18"/>
    <p:sldId id="275" r:id="rId19"/>
    <p:sldId id="276" r:id="rId20"/>
    <p:sldId id="269" r:id="rId21"/>
    <p:sldId id="270" r:id="rId22"/>
    <p:sldId id="271" r:id="rId23"/>
    <p:sldId id="283" r:id="rId39"/>
    <p:sldId id="272" r:id="rId24"/>
    <p:sldId id="273" r:id="rId25"/>
    <p:sldId id="284" r:id="rId40"/>
  </p:sldIdLst>
  <p:sldSz cx="12192000" cy="6858000"/>
  <p:notesSz cx="6858000" cy="9144000"/>
  <p:embeddedFontLst>
    <p:embeddedFont>
      <p:font typeface="Carlito" panose="020F0502020204030204" pitchFamily="34"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C1EB017-BC45-4DEE-9ABB-B4D90C79D28D}">
  <a:tblStyle styleId="{3C1EB017-BC45-4DEE-9ABB-B4D90C79D28D}"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8257" autoAdjust="0"/>
  </p:normalViewPr>
  <p:slideViewPr>
    <p:cSldViewPr snapToGrid="0">
      <p:cViewPr varScale="1">
        <p:scale>
          <a:sx n="90" d="100"/>
          <a:sy n="90" d="100"/>
        </p:scale>
        <p:origin x="89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26.xml"/><Relationship Id="rId40" Type="http://schemas.openxmlformats.org/officeDocument/2006/relationships/slide" Target="slides/slide29.xml"/><Relationship Id="rIdCarloMaster40" Type="http://schemas.openxmlformats.org/officeDocument/2006/relationships/slideMaster" Target="slideMasters/carlo_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Narrative pages</c:v>
                </c:pt>
              </c:strCache>
            </c:strRef>
          </c:tx>
          <c:dPt>
            <c:idx val="0"/>
            <c:spPr>
              <a:solidFill>
                <a:srgbClr val="286B98"/>
              </a:solidFill>
              <a:ln>
                <a:noFill/>
              </a:ln>
            </c:spPr>
          </c:dPt>
          <c:dPt>
            <c:idx val="1"/>
            <c:spPr>
              <a:solidFill>
                <a:srgbClr val="167E86"/>
              </a:solidFill>
              <a:ln>
                <a:noFill/>
              </a:ln>
            </c:spPr>
          </c:dPt>
          <c:dPt>
            <c:idx val="2"/>
            <c:spPr>
              <a:solidFill>
                <a:srgbClr val="BD8E36"/>
              </a:solidFill>
              <a:ln>
                <a:noFill/>
              </a:ln>
            </c:spPr>
          </c:dPt>
          <c:cat>
            <c:strRef>
              <c:f>Sheet1!$A$2:$A$4</c:f>
              <c:strCache>
                <c:ptCount val="3"/>
                <c:pt idx="0">
                  <c:v>Meeting 4 · v8</c:v>
                </c:pt>
                <c:pt idx="1">
                  <c:v>v9 · Oct 24</c:v>
                </c:pt>
                <c:pt idx="2">
                  <c:v>v11 · Oct 28</c:v>
                </c:pt>
              </c:strCache>
            </c:strRef>
          </c:cat>
          <c:val>
            <c:numRef>
              <c:f>Sheet1!$B$2:$B$4</c:f>
              <c:numCache>
                <c:formatCode>General</c:formatCode>
                <c:ptCount val="3"/>
                <c:pt idx="0">
                  <c:v>17</c:v>
                </c:pt>
                <c:pt idx="1">
                  <c:v>32</c:v>
                </c:pt>
                <c:pt idx="2">
                  <c:v>51</c:v>
                </c:pt>
              </c:numCache>
            </c:numRef>
          </c:val>
        </c:ser>
        <c:dLbls>
          <c:txPr>
            <a:bodyPr/>
            <a:lstStyle/>
            <a:p>
              <a:pPr>
                <a:defRPr sz="2000" b="1"/>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max val="60.0"/>
          <c:min val="0.0"/>
        </c:scaling>
        <c:delete val="0"/>
        <c:axPos val="l"/>
        <c:majorGridlines/>
        <c:majorTickMark val="out"/>
        <c:minorTickMark val="none"/>
        <c:tickLblPos val="nextTo"/>
        <c:txPr>
          <a:bodyPr/>
          <a:lstStyle/>
          <a:p>
            <a:pPr>
              <a:defRPr sz="1300"/>
            </a:pPr>
          </a:p>
        </c:txPr>
        <c:crossAx val="-2068027336"/>
        <c:crosses val="autoZero"/>
        <c:majorUnit val="10.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Mean latency (s)</c:v>
                </c:pt>
              </c:strCache>
            </c:strRef>
          </c:tx>
          <c:dPt>
            <c:idx val="0"/>
            <c:spPr>
              <a:solidFill>
                <a:srgbClr val="286B98"/>
              </a:solidFill>
            </c:spPr>
          </c:dPt>
          <c:dPt>
            <c:idx val="1"/>
            <c:spPr>
              <a:solidFill>
                <a:srgbClr val="71559F"/>
              </a:solidFill>
            </c:spPr>
          </c:dPt>
          <c:cat>
            <c:strRef>
              <c:f>Sheet1!$A$2:$A$3</c:f>
              <c:strCache>
                <c:ptCount val="2"/>
                <c:pt idx="0">
                  <c:v>Ground</c:v>
                </c:pt>
                <c:pt idx="1">
                  <c:v>Bounded Edge</c:v>
                </c:pt>
              </c:strCache>
            </c:strRef>
          </c:cat>
          <c:val>
            <c:numRef>
              <c:f>Sheet1!$B$2:$B$3</c:f>
              <c:numCache>
                <c:formatCode>General</c:formatCode>
                <c:ptCount val="2"/>
                <c:pt idx="0">
                  <c:v>1067.6434</c:v>
                </c:pt>
                <c:pt idx="1">
                  <c:v>198.228</c:v>
                </c:pt>
              </c:numCache>
            </c:numRef>
          </c:val>
        </c:ser>
        <c:dLbls>
          <c:numFmt formatCode="0.0" sourceLinked="0"/>
          <c:txPr>
            <a:bodyPr/>
            <a:lstStyle/>
            <a:p>
              <a:pPr>
                <a:defRPr sz="13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200.0"/>
          <c:min val="0.0"/>
        </c:scaling>
        <c:delete val="0"/>
        <c:axPos val="b"/>
        <c:majorGridlines/>
        <c:majorTickMark val="out"/>
        <c:minorTickMark val="none"/>
        <c:tickLblPos val="nextTo"/>
        <c:txPr>
          <a:bodyPr/>
          <a:lstStyle/>
          <a:p>
            <a:pPr>
              <a:defRPr sz="1200"/>
            </a:pPr>
          </a:p>
        </c:txPr>
        <c:crossAx val="-2068027336"/>
        <c:crosses val="autoZero"/>
        <c:majorUnit val="300.0"/>
      </c:valAx>
    </c:plotArea>
    <c:dispBlanksAs val="gap"/>
  </c:chart>
  <c:txPr>
    <a:bodyPr/>
    <a:lstStyle/>
    <a:p>
      <a:pPr>
        <a:defRPr sz="1800"/>
      </a:pPr>
      <a:endParaRPr lang="en-US"/>
    </a:p>
  </c:txPr>
  <c:externalData r:id="rId1">
    <c:autoUpdate val="0"/>
  </c:externalData>
</c:chartSpace>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1:44.277"/>
    </inkml:context>
    <inkml:brush xml:id="br0">
      <inkml:brushProperty name="width" value="0.035" units="cm"/>
      <inkml:brushProperty name="height" value="0.035" units="cm"/>
      <inkml:brushProperty name="color" value="#E71224"/>
    </inkml:brush>
  </inkml:definitions>
  <inkml:trace contextRef="#ctx0" brushRef="#br0">0 186 24575,'13'12'0,"1"-1"0,-1 0 0,2-1 0,-1-1 0,2 0 0,-1-1 0,1 0 0,0-1 0,0-1 0,1-1 0,0 0 0,27 3 0,14-1 0,1-4 0,83-4 0,-60-1 0,416-16 0,-339 4 0,175-39 0,-107-12 0,-97 25 0,192-55-1365,-257 79-5461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1:45.327"/>
    </inkml:context>
    <inkml:brush xml:id="br0">
      <inkml:brushProperty name="width" value="0.035" units="cm"/>
      <inkml:brushProperty name="height" value="0.035" units="cm"/>
      <inkml:brushProperty name="color" value="#E71224"/>
    </inkml:brush>
  </inkml:definitions>
  <inkml:trace contextRef="#ctx0" brushRef="#br0">1 1 24575,'7'4'0,"-1"1"0,1-1 0,1 0 0,-1-1 0,0 0 0,1 0 0,0-1 0,0 0 0,0 0 0,12 1 0,14 4 0,322 70 0,-192-44 0,148 58 0,-118-29 0,-84-27 48,145 67 0,93 69-910,-285-139 263,-16-8-6227</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1:47.302"/>
    </inkml:context>
    <inkml:brush xml:id="br0">
      <inkml:brushProperty name="width" value="0.035" units="cm"/>
      <inkml:brushProperty name="height" value="0.035" units="cm"/>
      <inkml:brushProperty name="color" value="#E71224"/>
    </inkml:brush>
  </inkml:definitions>
  <inkml:trace contextRef="#ctx0" brushRef="#br0">19504 0 24575,'-3'25'0,"0"0"0,-2-1 0,-1 0 0,-1 0 0,-1 0 0,-1-1 0,-18 31 0,9-12 0,-19 41 0,-4-2 0,-3-2 0,-3-1 0,-58 70 0,73-108 0,-1-2 0,-3-2 0,-1 0 0,-1-3 0,-2-1 0,-1-2 0,-1-2 0,-84 41 0,49-37 0,-1-3 0,-106 23 0,-172 20 0,303-62 0,-221 39 0,-643 131 0,698-129 0,-802 151 0,95-118-218,-7-36-112,503-28 274,156 1 56,3 12 0,0 12 0,3 12 0,3 12 0,3 11 0,-253 115 0,240-91 0,212-85 0,-2-3 0,-94 12 0,-325 1 448,241-19-292,101-2-79,-1406 54-1079,370-59 496,-1086 28-855,1044 29 772,1067-54 757,-1-7 1,1-6-1,-215-37 1,-840-261 1541,1110 271-1228,-155-76-1,-74-73-447,191 108-34,-45-28 0,155 86 0,1-1 0,0-2 0,1 0 0,-30-35 0,40 38 0,1-1 0,0-1 0,2 0 0,0 0 0,-13-36 0,-27-108 0,23 67 0,-89-268 0,116 361 0,-3-9 0,1 1 0,0-1 0,1 0 0,-2-18 0,4 27 0,1-1 0,-1 0 0,0 1 0,1-1 0,0 1 0,0-1 0,0 1 0,0-1 0,1 1 0,-1 0 0,1-1 0,0 1 0,0 0 0,0 0 0,0 0 0,0 0 0,1 1 0,0-1 0,2-2 0,14-9 0,1 1 0,0 0 0,1 1 0,0 1 0,1 2 0,38-13 0,145-29 0,292-35 0,-30 6 0,-435 74-455,-1-1 0,39-14 0,-46 9-6371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1:53.351"/>
    </inkml:context>
    <inkml:brush xml:id="br0">
      <inkml:brushProperty name="width" value="0.035" units="cm"/>
      <inkml:brushProperty name="height" value="0.035" units="cm"/>
      <inkml:brushProperty name="color" value="#E71224"/>
    </inkml:brush>
  </inkml:definitions>
  <inkml:trace contextRef="#ctx0" brushRef="#br0">0 0 24575,'7'2'0,"0"-1"0,0 1 0,0 0 0,-1 1 0,1 0 0,-1 0 0,1 0 0,9 7 0,5 2 0,44 25 0,-1 3 0,93 76 0,106 116 0,-132-113 0,-17-19 0,306 298 0,-401-374 0,24 37 0,-34-46 0,1 0 0,0-1 0,1 0 0,0-1 0,1 0 0,1-1 0,17 14 0,23 7 0,1-3 0,110 46 0,-157-73 0,-1 0 0,0 1 0,0 0 0,0 0 0,0 0 0,0 1 0,-1 0 0,0 0 0,0 1 0,-1-1 0,1 1 0,-1 0 0,4 8 0,5 10 0,-2 1 0,10 30 0,-8-21 0,53 190-1365,-61-205-5461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1:55.521"/>
    </inkml:context>
    <inkml:brush xml:id="br0">
      <inkml:brushProperty name="width" value="0.035" units="cm"/>
      <inkml:brushProperty name="height" value="0.035" units="cm"/>
      <inkml:brushProperty name="color" value="#E71224"/>
    </inkml:brush>
  </inkml:definitions>
  <inkml:trace contextRef="#ctx0" brushRef="#br0">2538 0 24575,'-3'26'0,"-1"0"0,-2 0 0,0 0 0,-2-1 0,-1 0 0,-15 31 0,1-3 0,-2-1 0,-1-1 0,-4-1 0,-1-2 0,-2-1 0,-3-2 0,-68 69 0,-66 47 0,-173 150 0,283-264 0,-2-3 0,-1-2 0,-2-3 0,-80 34 0,79-45 0,15-8 0,1 2 0,1 2 0,1 2 0,-88 65 0,84-44 0,2 1 0,-47 60 0,-78 119 0,12-15 0,139-184 0,-2 0 0,0-2 0,-2-1 0,-1-1 0,-56 35 0,65-44-84,-13 6 282,32-20-268,-1-1-1,1 1 1,-1-1-1,0 1 1,1-1 0,-1 0-1,1 0 1,-1 1-1,1-1 1,-1 0-1,0-1 1,1 1-1,-1 0 1,1 0 0,-1-1-1,0 1 1,1 0-1,-1-1 1,1 0-1,-3-1 1,-15-12-6756</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1:58.811"/>
    </inkml:context>
    <inkml:brush xml:id="br0">
      <inkml:brushProperty name="width" value="0.035" units="cm"/>
      <inkml:brushProperty name="height" value="0.035" units="cm"/>
      <inkml:brushProperty name="color" value="#E71224"/>
    </inkml:brush>
  </inkml:definitions>
  <inkml:trace contextRef="#ctx0" brushRef="#br0">0 1 24575,'5'4'0,"11"22"0,22 20 0,19 22 0,24 18 0,17 4 0,-3-3 0,-13-12 0,-16-14 0,-14-18 0,-16-15-8191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1:59.813"/>
    </inkml:context>
    <inkml:brush xml:id="br0">
      <inkml:brushProperty name="width" value="0.035" units="cm"/>
      <inkml:brushProperty name="height" value="0.035" units="cm"/>
      <inkml:brushProperty name="color" value="#E71224"/>
    </inkml:brush>
  </inkml:definitions>
  <inkml:trace contextRef="#ctx0" brushRef="#br0">1 0 24575,'2'22'0,"1"0"0,1 0 0,0 0 0,2-1 0,1 0 0,1 0 0,12 25 0,-5-10 0,59 137 0,7-4 0,8-3 0,7-4 0,194 250 0,-280-400 0,-4-3 0,1-1 0,-1-1 0,1 1 0,1-1 0,-1 0 0,1-1 0,14 9 0,-22-14 2,0-1-1,1 0 0,-1 1 1,1-1-1,-1 0 0,0 1 0,1-1 1,-1 0-1,1 0 0,-1 1 1,1-1-1,-1 0 0,1 0 1,-1 0-1,1 0 0,-1 0 1,1 0-1,-1 0 0,1 0 1,-1 0-1,1 0 0,-1 0 1,1 0-1,-1 0 0,1 0 0,-1 0 1,1-1-1,-1 1 0,1 0 1,-1 0-1,0 0 0,1-1 1,-1 1-1,1 0 0,-1-1 1,0 1-1,1 0 0,-1-1 1,0 1-1,1 0 0,-1-1 1,0 1-1,1-1 0,-1 1 0,0-1 1,0 1-1,0-1 0,1 1 1,-1-1-1,0 1 0,0-1 1,0 1-1,0-1 0,0 1 1,0-1-1,0 0 0,-5-30-1259,5 30 1076,-8-26-6644</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2:00.777"/>
    </inkml:context>
    <inkml:brush xml:id="br0">
      <inkml:brushProperty name="width" value="0.035" units="cm"/>
      <inkml:brushProperty name="height" value="0.035" units="cm"/>
      <inkml:brushProperty name="color" value="#E71224"/>
    </inkml:brush>
  </inkml:definitions>
  <inkml:trace contextRef="#ctx0" brushRef="#br0">0 1 24575,'23'20'0,"0"0"0,40 25 0,14 10 0,502 476 0,-418-374 0,-98-97 0,486 508 0,-515-522 0,-29-36 0,-22-26 0,-2-4-341,1 0 0,1-2-1,-20-32 1,24 32-6485</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2:01.543"/>
    </inkml:context>
    <inkml:brush xml:id="br0">
      <inkml:brushProperty name="width" value="0.035" units="cm"/>
      <inkml:brushProperty name="height" value="0.035" units="cm"/>
      <inkml:brushProperty name="color" value="#E71224"/>
    </inkml:brush>
  </inkml:definitions>
  <inkml:trace contextRef="#ctx0" brushRef="#br0">0 0 24575,'173'149'0,"-29"-29"0,-31-22 0,3-5 0,205 125 0,-305-208 0,-11-6 0,1 0 0,1 0 0,-1-1 0,0 1 0,1-1 0,0-1 0,-1 1 0,1-1 0,13 2 0,-20-4 0,1 0 0,-1 0 0,1-1 0,-1 1 0,1 0 0,-1 0 0,0-1 0,1 1 0,-1 0 0,1 0 0,-1-1 0,1 1 0,-1 0 0,0-1 0,1 1 0,-1 0 0,0-1 0,1 1 0,-1-1 0,0 1 0,0-1 0,1 1 0,-1-1 0,0 1 0,0-1 0,0 1 0,0-1 0,0 1 0,0-1 0,0 1 0,0-1 0,0 1 0,0-1 0,0 1 0,0-1 0,0 1 0,0-1 0,0 1 0,0-1 0,0 1 0,-1-1 0,1 1 0,-1-1 0,-9-25 0,10 24 0,-24-43-1365,-3 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2:03.873"/>
    </inkml:context>
    <inkml:brush xml:id="br0">
      <inkml:brushProperty name="width" value="0.035" units="cm"/>
      <inkml:brushProperty name="height" value="0.035" units="cm"/>
      <inkml:brushProperty name="color" value="#E71224"/>
    </inkml:brush>
  </inkml:definitions>
  <inkml:trace contextRef="#ctx0" brushRef="#br0">974 346 24575,'-2'23'0,"-2"0"0,0 0 0,-1-1 0,-1 1 0,-17 41 0,1-4 0,3 6 0,3 1 0,2 1 0,4 0 0,2 0 0,3 1 0,9 124 0,0-154 0,2 0 0,2-1 0,1 0 0,2-1 0,2 0 0,32 65 0,-19-54 0,3-1 0,1-2 0,2-1 0,51 54 0,-12-28 0,3-3 0,3-4 0,2-2 0,171 96 0,14-22 0,-225-119 0,-1-2 0,2-2 0,0-1 0,0-2 0,45 4 0,-71-12 0,1 0 0,-1-1 0,0-1 0,0-1 0,1 0 0,-1 0 0,0-2 0,-1 1 0,1-2 0,-1 0 0,0 0 0,0-2 0,0 1 0,-1-2 0,0 1 0,0-2 0,-1 0 0,0 0 0,-1-1 0,11-12 0,1-5 0,-2-1 0,-1 0 0,-1-2 0,-1 0 0,-1-1 0,-2-1 0,12-43 0,-1-7 0,-3-2 0,-4 0 0,-4-1 0,-4-1 0,-3 0 0,-4 0 0,-4 0 0,-4 0 0,-3 0 0,-4 0 0,-4 2 0,-4 0 0,-3 0 0,-4 2 0,-3 2 0,-4 0 0,-3 2 0,-4 2 0,-3 2 0,-84-109 0,108 158 0,-1 0 0,-1 1 0,-1 2 0,-32-25 0,48 42 0,1 0 0,-1 0 0,0 1 0,0 0 0,-1 1 0,1 0 0,-1 0 0,1 0 0,-1 1 0,0 0 0,0 1 0,0 0 0,0 0 0,0 0 0,0 1 0,-1 0 0,1 1 0,0 0 0,0 0 0,0 1 0,0 0 0,-10 4 0,-2 4 0,0 0 0,1 1 0,1 1 0,0 1 0,-17 15 0,-81 84 0,62-57 0,-18 15 0,-2-4 0,-3-3 0,-3-3 0,-2-4 0,-104 53 0,-28-15 0,-359 106 0,495-175-682,-118 20-1,117-36-6143</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2:04.576"/>
    </inkml:context>
    <inkml:brush xml:id="br0">
      <inkml:brushProperty name="width" value="0.035" units="cm"/>
      <inkml:brushProperty name="height" value="0.035" units="cm"/>
      <inkml:brushProperty name="color" value="#E71224"/>
    </inkml:brush>
  </inkml:definitions>
  <inkml:trace contextRef="#ctx0" brushRef="#br0">616 0 24575,'-4'117'0,"-5"0"0,-34 157 0,19-144 0,-75 361 0,64-349 0,-77 196 0,-8-58 120,87-214-615,-3 0 0,-47 65 0,66-108-6331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2:13.445"/>
    </inkml:context>
    <inkml:brush xml:id="br0">
      <inkml:brushProperty name="width" value="0.035" units="cm"/>
      <inkml:brushProperty name="height" value="0.035" units="cm"/>
      <inkml:brushProperty name="color" value="#E71224"/>
    </inkml:brush>
  </inkml:definitions>
  <inkml:trace contextRef="#ctx0" brushRef="#br0">0 1 24575,'0'5'0,"0"11"0,0 7 0,0 6 0,0 6 0,0 12 0,0 13 0,0 10 0,0 12 0,0 3 0,0-5 0,0-10 0,0-22 0,0-29 0,0-28 0,0-26 0,0-12 0,0 2-8191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2:14.336"/>
    </inkml:context>
    <inkml:brush xml:id="br0">
      <inkml:brushProperty name="width" value="0.035" units="cm"/>
      <inkml:brushProperty name="height" value="0.035" units="cm"/>
      <inkml:brushProperty name="color" value="#E71224"/>
    </inkml:brush>
  </inkml:definitions>
  <inkml:trace contextRef="#ctx0" brushRef="#br0">0 24 24575,'565'47'0,"-361"-22"0,-177-21 0,19 1 0,76 0 0,-109-5 0,-1-1 0,1-1 0,0 0 0,-1 0 0,1-1 0,-1-1 0,0 0 0,0-1 0,-1 0 0,19-12 0,-26 14-124,0 1 0,-1-1 0,1 0 0,-1-1 0,0 1 0,0-1-1,0 1 1,0-1 0,-1 0 0,3-6 0,4-11-6702</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1T20:32:16.415"/>
    </inkml:context>
    <inkml:brush xml:id="br0">
      <inkml:brushProperty name="width" value="0.035" units="cm"/>
      <inkml:brushProperty name="height" value="0.035" units="cm"/>
      <inkml:brushProperty name="color" value="#E71224"/>
    </inkml:brush>
  </inkml:definitions>
  <inkml:trace contextRef="#ctx0" brushRef="#br0">262 337 24575,'-2'73'0,"-4"-1"0,-2 0 0,-24 94 0,-80 205 0,86-285-67,4 1 1,3 1-1,5 1 0,3 0 0,5 1 0,3 0 0,13 135 1,11-53-113,7-2 1,97 323 0,-75-334 132,6-3-1,7-2 1,90 157-1,-110-240 16,2-2-1,4-2 0,61 66 0,-68-89 20,2-2 1,3-1-1,0-3 1,100 61-1,-64-56 14,1-3 1,2-4-1,1-4 1,2-4-1,121 23 1,472 45-148,-589-86 75,1378 191-919,-1331-180 976,-66-9-2,0 0 104,125 5 1,-191-16-29,0-1 0,1-1 0,-1 0 0,0 0 0,0 0 0,0-1 0,0 0 0,0-1 0,8-3 0,-11 3-45,-1 0 1,0 0 0,0 0 0,0-1 0,0 1 0,-1-1 0,1 0 0,-1 0-1,0 0 1,0-1 0,0 1 0,-1-1 0,1 1 0,-1-1 0,2-8 0,2-8 26,0 1 1,-2-1-1,-1 0 1,0 0-1,-2-39 1,-15-120 0,-68-264-27,-30-1 13,22 95-18,-77-450 10,32-3-79,98 572 0,-41-199-242,51 309 218,-64-173 1,76 255 63,-1 2 1,-29-50-1,36 73 45,0 0 0,-1 1-1,-1 0 1,0 1 0,-1 0 0,0 1-1,0 0 1,-25-15 0,13 12 117,0 2 0,-1 0 0,-1 2 0,0 1 0,0 1 0,-44-8 0,-169-9-183,214 24 60,-81-5-22,0 4 0,0 5 0,-203 33 0,252-25 0,1 3 0,1 2 0,1 3 0,0 2 0,1 2 0,1 3 0,2 2 0,-91 67 0,83-46-5,3 2 0,2 2-1,-85 113 1,-107 201 150,147-214 220,80-124-338,-2-1 0,-1 0-1,-40 39 1,52-58-28,-1-1 0,0 0 1,-1 0-1,0-1 0,0-1 1,0 0-1,-1 0 0,0-1 1,0-1-1,0 0 1,-1-1-1,-20 3 0,-72 3-54,-29 3 209,117-9-363,1 1 0,0 0 0,1 1 0,-1 0-1,1 1 1,-15 9 0,6 0-6617</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R="0" lvl="1"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R="0" lvl="1"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 name="Google Shape;6;n"/>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endParaRPr/>
          </a:p>
        </p:txBody>
      </p:sp>
      <p:sp>
        <p:nvSpPr>
          <p:cNvPr id="7" name="Google Shape;7;n"/>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R="0" lvl="1"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Session 5: October 30, 2026, 4:00 PM Pacific. Current full GWU deck derived from v14 Carlo Methodology; his methodology slide is retained unchanged. Controlled manuscript: v11 - Oct 28 cn.docx, Google Drive 12ZWPsFc2J9PaHwML62_epcqR9W4eAnLz. Current normalized Chapter 2 narrative is 51 pages versus the previously recorded v9 count of 32: a 19-page difference. Counts exclude front matter and bibliography. The 47-to-51 correction is layout reflow after consistent double spacing, not further writing. The 20-source expansion set is integrated; 15 newly unique entries plus 5 already in v9 yield 91 unique references overall. The three cases are School Wildfire Situational Awareness, Flood Information for Hospital Access, and Municipal Reservoir and Bloom Monitoring. No MATLAB execution or advisor submission is performed by this deck update.</a:t>
            </a:r>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2" name="Google Shape;92;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Exact red advisor quotations and their dates are retained from the prior v14 deck. Wording in quotation marks remains unchanged. Responses now identify current manuscript v11, 51 Chapter 2 narrative pages versus 32 in v9 (+19), three civilian use cases, and the November 14 final-revision suspense. The +19 reflects expansion and normalized double spacing, excluding front matter and References. Working-draft additions are ready for advisor review; advisor acceptance is not asserted. The requested expansion amount is summarized from Carlo's instruction, rather than added as a new verbatim advisor quotation.</a:t>
            </a:r>
          </a:p>
        </p:txBody>
      </p:sp>
      <p:sp>
        <p:nvSpPr>
          <p:cNvPr id="93" name="Google Shape;93;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5" name="Google Shape;105;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Narrative-page accounting: v8 Meeting 4 = 17 pages; v9 October 24 = 32 pages; normalized v11 October 28 = 51 pages. The headline comparison requested by Carlo is 32 to 51, a difference of 19 narrative pages (approximately 18–20). v11 renders as 76 pages: 10 front matter + 51 Chapter 2 narrative + 15 References. The prior mixed-spacing version rendered as 47 narrative pages; normalization accounts for four pages of reflow. Reference reconciliation: v9 contained 76 unique entries; the 20-source expansion package includes 15 new unique entries and five reused sources, giving 91 unique entries. Bold use-case labels highlight the school, medical and municipal additions. Method-precedent table preserved.</a:t>
            </a:r>
          </a:p>
        </p:txBody>
      </p:sp>
      <p:sp>
        <p:nvSpPr>
          <p:cNvPr id="106" name="Google Shape;10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No new MATLAB run is claimed by this deck update. All original chapter prose is retained in the highlighted working copy. Section 2.3 contains future workflows; the implemented DES endpoint is information delivery. Front-matter placeholders remain a final packaging task.</a:t>
            </a:r>
          </a:p>
        </p:txBody>
      </p:sp>
      <p:sp>
        <p:nvSpPr>
          <p:cNvPr id="119" name="Google Shape;119;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9" name="Google Shape;129;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Upcoming activities are planned, not completed. Current briefing marker = October 30; next review gate = November 14. Chapter 2 modification/reduction/editing remains the priority.</a:t>
            </a:r>
          </a:p>
        </p:txBody>
      </p:sp>
      <p:sp>
        <p:nvSpPr>
          <p:cNvPr id="130" name="Google Shape;130;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Date-positioned native Gantt. Vertical markers fixed to 2026-10-30 and 2026-11-14 as requested. Planned task intervals are planning targets, not completion claims.</a:t>
            </a:r>
          </a:p>
        </p:txBody>
      </p:sp>
      <p:sp>
        <p:nvSpPr>
          <p:cNvPr id="141" name="Google Shape;14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6" name="Google Shape;146;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200"/>
          </a:p>
        </p:txBody>
      </p:sp>
      <p:sp>
        <p:nvSpPr>
          <p:cNvPr id="147" name="Google Shape;147;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FINAL SUBMISSION, SLIDE 2</a:t>
            </a:r>
          </a:p>
          <a:p>
            <a:r>
              <a:t>This Praxis develops a simulation-based systems engineering framework to evaluate autonomous satellite decision support under degraded communications.</a:t>
            </a:r>
          </a:p>
          <a:p>
            <a:r>
              <a:t>The study compares ground-centric routing against an orbital edge-processing path using public orbital data and space-weather indices.</a:t>
            </a:r>
          </a:p>
          <a:p>
            <a:r>
              <a:t>The modeled decisions include onboard filtering, alert prioritization, downlink prioritization, resource allocation, and safe-response recommendations for ground operator review.</a:t>
            </a:r>
          </a:p>
          <a:p>
            <a:r>
              <a:t>The framework evaluates onboard artificial intelligence and machine learning for predictive threat assessment and response.</a:t>
            </a:r>
          </a:p>
          <a:p>
            <a:r>
              <a:t>The model assesses decision latency, operator workload, cognitive burden, and resource utilization through simulation.</a:t>
            </a:r>
          </a:p>
          <a:p>
            <a:r>
              <a:t>The work produces a public-domain feasibility study and a preliminary Concept of Operations.</a:t>
            </a:r>
          </a:p>
          <a:p>
            <a:r>
              <a:t>Validation compares simulated outputs against public benchmarks, theoretical delay calculations, repeated runs, and sensitivity analysis.</a:t>
            </a:r>
          </a:p>
          <a:p>
            <a:r>
              <a:t>The research will not use classified data, develop new algorithms, or build physical hardware.</a:t>
            </a:r>
          </a:p>
          <a:p>
            <a:r>
              <a:t>Scope of Work</a:t>
            </a:r>
          </a:p>
          <a:p>
            <a:r>
              <a:t>SPEAKER NOTES</a:t>
            </a:r>
          </a:p>
          <a:p>
            <a:r>
              <a:t>Modeling Autonomous Satellite Decision-Making in Contested Environments.</a:t>
            </a:r>
          </a:p>
          <a:p/>
          <a:p>
            <a:r>
              <a:t>can an orbital edge-processing layer provide useful information to the operator faster?</a:t>
            </a:r>
            <a:br/>
          </a:p>
          <a:p>
            <a:r>
              <a:t>The model focuses on bounded functions such as filtering, prioritizing, routing, allocating resources, and presenting recommendations. </a:t>
            </a:r>
            <a:br/>
          </a:p>
          <a:p>
            <a:r>
              <a:t>The goal is to measure whether this architecture reduces latency, preserves communications availability, and reduces operator workload using only public, public, non-restricted data.”</a:t>
            </a:r>
          </a:p>
          <a:p/>
          <a:p/>
          <a:p>
            <a:r>
              <a:t>FINAL SUBMISSION, SLIDE 5</a:t>
            </a:r>
          </a:p>
          <a:p>
            <a:r>
              <a:t>(A) Deliverable | (B) Format | (C) WC</a:t>
            </a:r>
          </a:p>
          <a:p>
            <a:r>
              <a:t>Issue | Human-in-the-loop satellite control introduces significant latency, which limits timely responses to threats in contested space environments. | 16</a:t>
            </a:r>
          </a:p>
          <a:p>
            <a:r>
              <a:t>Reference | United States Space Force. (2020). Spacepower: Doctrine for Space Forces (CSO-P). https://www.spaceforce.mil/Portals/2/Space%20Capstone%20Publication_10%20Aug%202020.pdf | NA</a:t>
            </a:r>
          </a:p>
          <a:p>
            <a:r>
              <a:t>”so what” | During communication denials, reliance on centralized networks slows the OODA loop, preventing timely target prioritization and jeopardizing mission survival. | 19</a:t>
            </a:r>
          </a:p>
          <a:p>
            <a:r>
              <a:t>Reference | United States Space Force. (2025). Space Warfighting: A Framework for Planners. United States Space Force | NA</a:t>
            </a:r>
          </a:p>
          <a:p>
            <a:r>
              <a:t>Problem statement | The multi-node communication architecture of traditional satellite control creates severe decision latency and operator cognitive burden, slowing the OODA loop and jeopardizing mission survival during communication denials. | 27</a:t>
            </a:r>
          </a:p>
          <a:p>
            <a:r>
              <a:t>Industry | Aerospace and Defense / United States Space Force | NA</a:t>
            </a:r>
          </a:p>
          <a:p>
            <a:r>
              <a:t>PS elaboration 1 | Round-trip data routing from operators to satellites, ground stations, and centralized continental networks creates unsustainable bottlenecks for tactical operations. | 19</a:t>
            </a:r>
          </a:p>
          <a:p>
            <a:r>
              <a:t>PS elaboration 2 | Satellites require edge computing for limited autonomous target acquisition to maintain operational capability when disconnected from the primary network. | 19</a:t>
            </a:r>
          </a:p>
          <a:p>
            <a:r>
              <a:t>Problem Statement</a:t>
            </a:r>
          </a:p>
          <a:p>
            <a:r>
              <a:t>SPEAKER NOTES</a:t>
            </a:r>
          </a:p>
          <a:p/>
          <a:p/>
          <a:p>
            <a:r>
              <a:t>FINAL SUBMISSION, SLIDE 6</a:t>
            </a:r>
          </a:p>
          <a:p>
            <a:r>
              <a:t>(A) Deliverable |  | WC</a:t>
            </a:r>
          </a:p>
          <a:p>
            <a:r>
              <a:t>Thesis Statement | This praxis will deliver a simulation-based systems engineering model demonstrating a bounded onboard decision-making framework under degraded communications. | 18</a:t>
            </a:r>
          </a:p>
          <a:p>
            <a:r>
              <a:t>Research Product | Simulation-Based Evaluation Framework | 4</a:t>
            </a:r>
          </a:p>
          <a:p>
            <a:r>
              <a:t>Format | Python/MATLAB/Simulink Model | 3</a:t>
            </a:r>
          </a:p>
          <a:p>
            <a:r>
              <a:t>Deliverable Usage | Systems engineers will use the framework during early architecture trades for onboard processing under degraded communications. | 16</a:t>
            </a:r>
          </a:p>
          <a:p>
            <a:r>
              <a:t>Tie back to PS | The framework will address decision latency by comparing ground-centric routing with bounded onboard decision support under the same scenarios. | 18</a:t>
            </a:r>
          </a:p>
          <a:p>
            <a:r>
              <a:t>New Contributions | This work will contribute a public, repeatable method for evaluating orbital edge-processing performance without classified data or new algorithms. | 18</a:t>
            </a:r>
          </a:p>
          <a:p/>
          <a:p>
            <a:r>
              <a:t>Scope | The framework will apply to autonomous systems that operate with degraded communications and constrained human oversight. | 16</a:t>
            </a:r>
          </a:p>
          <a:p>
            <a:r>
              <a:t>Main methodology | Discrete-Event Simulation | 3</a:t>
            </a:r>
          </a:p>
          <a:p>
            <a:r>
              <a:t>Inputs | Threat Type (Categorical), Threat Proximity (km), Communication Link Status (Boolean), Satellite Resource Availability (%), AI Confidence Score (%) | NA</a:t>
            </a:r>
          </a:p>
          <a:p>
            <a:r>
              <a:t>Outputs | Response Latency (seconds), Mission Success Probability (%), Resource Consumption (%), Correct Action Taken (Boolean) | NA</a:t>
            </a:r>
          </a:p>
          <a:p>
            <a:r>
              <a:t>Thesis Statement</a:t>
            </a:r>
          </a:p>
          <a:p>
            <a:r>
              <a:t>SPEAKER NOTES</a:t>
            </a:r>
          </a:p>
          <a:p/>
          <a:p/>
          <a:p>
            <a:r>
              <a:t>The quoted July problem statement retains original terminology. It is not represented as the current civil framing; that refinement is explicitly stated on the slide.</a:t>
            </a:r>
          </a:p>
          <a:p>
            <a:r>
              <a:t>Session 5 update: current chapter v11; source measurements, synthetic inputs and simulation outputs remain separately qualified. Baseline regression is documented; owner reproduction and extended sensitivity remain next steps.</a:t>
            </a:r>
          </a:p>
        </p:txBody>
      </p:sp>
      <p:sp>
        <p:nvSpPr>
          <p:cNvPr id="153" name="Google Shape;153;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4" name="Google Shape;164;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FINAL SUBMISSION, SLIDE 2</a:t>
            </a:r>
          </a:p>
          <a:p>
            <a:r>
              <a:t>This Praxis develops a simulation-based systems engineering framework to evaluate autonomous satellite decision support under degraded communications.</a:t>
            </a:r>
          </a:p>
          <a:p>
            <a:r>
              <a:t>The study compares ground-centric routing against an orbital edge-processing path using public orbital data and space-weather indices.</a:t>
            </a:r>
          </a:p>
          <a:p>
            <a:r>
              <a:t>The modeled decisions include onboard filtering, alert prioritization, downlink prioritization, resource allocation, and safe-response recommendations for ground operator review.</a:t>
            </a:r>
          </a:p>
          <a:p>
            <a:r>
              <a:t>The framework evaluates onboard artificial intelligence and machine learning for predictive threat assessment and response.</a:t>
            </a:r>
          </a:p>
          <a:p>
            <a:r>
              <a:t>The model assesses decision latency, operator workload, cognitive burden, and resource utilization through simulation.</a:t>
            </a:r>
          </a:p>
          <a:p>
            <a:r>
              <a:t>The work produces a public-domain feasibility study and a preliminary Concept of Operations.</a:t>
            </a:r>
          </a:p>
          <a:p>
            <a:r>
              <a:t>Validation compares simulated outputs against public benchmarks, theoretical delay calculations, repeated runs, and sensitivity analysis.</a:t>
            </a:r>
          </a:p>
          <a:p>
            <a:r>
              <a:t>The research will not use classified data, develop new algorithms, or build physical hardware.</a:t>
            </a:r>
          </a:p>
          <a:p>
            <a:r>
              <a:t>Session 5 update: current chapter v11; source measurements, synthetic inputs and simulation outputs remain separately qualified. Baseline regression is documented; owner reproduction and extended sensitivity remain next steps.</a:t>
            </a:r>
          </a:p>
        </p:txBody>
      </p:sp>
      <p:sp>
        <p:nvSpPr>
          <p:cNvPr id="165" name="Google Shape;165;p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9" name="Google Shape;179;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Hypothesis wording follows the supplied Session 5 deck. Architecture rows are alternatives, not conclusions about hypothesis rejection. Data path matches SIMEVENTS_README.txt and the implemented Ground/Edge topology. No fictional simulation statistics are used.</a:t>
            </a:r>
          </a:p>
        </p:txBody>
      </p:sp>
      <p:sp>
        <p:nvSpPr>
          <p:cNvPr id="180" name="Google Shape;180;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2" name="Google Shape;192;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dirty="0"/>
              <a:t>FINAL SUBMISSION, SLIDE 9</a:t>
            </a:r>
            <a:endParaRPr dirty="0"/>
          </a:p>
          <a:p>
            <a:pPr marL="0" lvl="0" indent="0" algn="l" rtl="0">
              <a:spcBef>
                <a:spcPts val="0"/>
              </a:spcBef>
              <a:spcAft>
                <a:spcPts val="0"/>
              </a:spcAft>
              <a:buNone/>
            </a:pPr>
            <a:r>
              <a:rPr lang="en-US" sz="1200" dirty="0"/>
              <a:t>Reference | Osoba, O. A., </a:t>
            </a:r>
            <a:r>
              <a:rPr lang="en-US" sz="1200" dirty="0" err="1"/>
              <a:t>Nacouzi</a:t>
            </a:r>
            <a:r>
              <a:rPr lang="en-US" sz="1200" dirty="0"/>
              <a:t>, G., Hagen, J., Tran, J., Zhang, L. A., Herron, M., Lynch, C., Eisman, M., &amp; Barton, C. (2023). The resilience assessment framework: Assessing commercial contributions to U.S. Space Force mission resilience (RR-A980-1). RAND Corporation. https://doi.org/10.7249/RRA980-1</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https://www.rand.org/content/dam/rand/pubs/research_reports/RRA900/RRA980-1/RAND_RRA980-1.pdf</a:t>
            </a:r>
            <a:endParaRPr dirty="0"/>
          </a:p>
          <a:p>
            <a:pPr marL="0" lvl="0" indent="0" algn="l" rtl="0">
              <a:spcBef>
                <a:spcPts val="0"/>
              </a:spcBef>
              <a:spcAft>
                <a:spcPts val="0"/>
              </a:spcAft>
              <a:buNone/>
            </a:pPr>
            <a:r>
              <a:rPr lang="en-US" sz="1200" dirty="0"/>
              <a:t> | NA</a:t>
            </a:r>
            <a:endParaRPr dirty="0"/>
          </a:p>
          <a:p>
            <a:pPr marL="0" lvl="0" indent="0" algn="l" rtl="0">
              <a:spcBef>
                <a:spcPts val="0"/>
              </a:spcBef>
              <a:spcAft>
                <a:spcPts val="0"/>
              </a:spcAft>
              <a:buNone/>
            </a:pPr>
            <a:r>
              <a:rPr lang="en-US" sz="1200" dirty="0"/>
              <a:t>Summary | RAND develops a framework for assessing how architecture changes affect space mission resilience. The framework combines physics-based modeling and statistical systems analysis. | 22</a:t>
            </a:r>
            <a:endParaRPr dirty="0"/>
          </a:p>
          <a:p>
            <a:pPr marL="0" lvl="0" indent="0" algn="l" rtl="0">
              <a:spcBef>
                <a:spcPts val="0"/>
              </a:spcBef>
              <a:spcAft>
                <a:spcPts val="0"/>
              </a:spcAft>
              <a:buNone/>
            </a:pPr>
            <a:r>
              <a:rPr lang="en-US" sz="1200" dirty="0"/>
              <a:t>Methodology | Physics-based modeling and statistical systems analysis. | NA</a:t>
            </a:r>
            <a:endParaRPr dirty="0"/>
          </a:p>
          <a:p>
            <a:pPr marL="0" lvl="0" indent="0" algn="l" rtl="0">
              <a:spcBef>
                <a:spcPts val="0"/>
              </a:spcBef>
              <a:spcAft>
                <a:spcPts val="0"/>
              </a:spcAft>
              <a:buNone/>
            </a:pPr>
            <a:r>
              <a:rPr lang="en-US" sz="1200" dirty="0"/>
              <a:t>Evaluation | The source is reliable because RAND developed it for USSF mission-resilience assessment.</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The limitation is that it evaluates resilience broadly, not orbital edge processing specifically. | 24</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Relevance | This source supports architecture-resilience evaluation and degraded-mission performance comparison for my simulation framework.</a:t>
            </a:r>
            <a:endParaRPr dirty="0"/>
          </a:p>
          <a:p>
            <a:pPr marL="0" lvl="0" indent="0" algn="l" rtl="0">
              <a:spcBef>
                <a:spcPts val="0"/>
              </a:spcBef>
              <a:spcAft>
                <a:spcPts val="0"/>
              </a:spcAft>
              <a:buNone/>
            </a:pPr>
            <a:br>
              <a:rPr lang="en-US" sz="1200" dirty="0"/>
            </a:br>
            <a:r>
              <a:rPr lang="en-US" sz="1200" dirty="0"/>
              <a:t>It helps connect public modeling assumptions to mission-resilience measures without requiring classified data. | 23</a:t>
            </a:r>
            <a:endParaRPr dirty="0"/>
          </a:p>
          <a:p>
            <a:pPr marL="0" lvl="0" indent="0" algn="l" rtl="0">
              <a:spcBef>
                <a:spcPts val="0"/>
              </a:spcBef>
              <a:spcAft>
                <a:spcPts val="0"/>
              </a:spcAft>
              <a:buNone/>
            </a:pPr>
            <a:r>
              <a:rPr lang="en-US" sz="1200" dirty="0"/>
              <a:t>Annotated Bibliography</a:t>
            </a:r>
            <a:endParaRPr dirty="0"/>
          </a:p>
          <a:p>
            <a:pPr marL="0" lvl="0" indent="0" algn="l" rtl="0">
              <a:spcBef>
                <a:spcPts val="0"/>
              </a:spcBef>
              <a:spcAft>
                <a:spcPts val="0"/>
              </a:spcAft>
              <a:buNone/>
            </a:pPr>
            <a:r>
              <a:rPr lang="en-US" sz="1200" dirty="0"/>
              <a:t>RAND Corp</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SPEAKER NOTES</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FINAL SUBMISSION, SLIDE 10</a:t>
            </a:r>
            <a:endParaRPr dirty="0"/>
          </a:p>
          <a:p>
            <a:pPr marL="0" lvl="0" indent="0" algn="l" rtl="0">
              <a:spcBef>
                <a:spcPts val="0"/>
              </a:spcBef>
              <a:spcAft>
                <a:spcPts val="0"/>
              </a:spcAft>
              <a:buNone/>
            </a:pPr>
            <a:r>
              <a:rPr lang="en-US" sz="1200" dirty="0"/>
              <a:t>Reference | National Aeronautics and Space Administration. (2013). Space Communications and Navigation (</a:t>
            </a:r>
            <a:r>
              <a:rPr lang="en-US" sz="1200" dirty="0" err="1"/>
              <a:t>SCaN</a:t>
            </a:r>
            <a:r>
              <a:rPr lang="en-US" sz="1200" dirty="0"/>
              <a:t>) Network Architecture Definition Document (ADD)</a:t>
            </a:r>
            <a:endParaRPr dirty="0"/>
          </a:p>
          <a:p>
            <a:pPr marL="0" lvl="0" indent="0" algn="l" rtl="0">
              <a:spcBef>
                <a:spcPts val="0"/>
              </a:spcBef>
              <a:spcAft>
                <a:spcPts val="0"/>
              </a:spcAft>
              <a:buNone/>
            </a:pPr>
            <a:r>
              <a:rPr lang="en-US" sz="1200" dirty="0"/>
              <a:t>Executive Summary, Volume 1, Revision 4. NASA. (https://www.nasa.gov/wp-content/uploads/2023/09/scan-add-vol1rev4.pdf)</a:t>
            </a:r>
            <a:endParaRPr dirty="0"/>
          </a:p>
          <a:p>
            <a:pPr marL="0" lvl="0" indent="0" algn="l" rtl="0">
              <a:spcBef>
                <a:spcPts val="0"/>
              </a:spcBef>
              <a:spcAft>
                <a:spcPts val="0"/>
              </a:spcAft>
              <a:buNone/>
            </a:pPr>
            <a:r>
              <a:rPr lang="en-US" sz="1200" dirty="0"/>
              <a:t> | NA</a:t>
            </a:r>
            <a:endParaRPr dirty="0"/>
          </a:p>
          <a:p>
            <a:pPr marL="0" lvl="0" indent="0" algn="l" rtl="0">
              <a:spcBef>
                <a:spcPts val="0"/>
              </a:spcBef>
              <a:spcAft>
                <a:spcPts val="0"/>
              </a:spcAft>
              <a:buNone/>
            </a:pPr>
            <a:r>
              <a:rPr lang="en-US" sz="1200" dirty="0"/>
              <a:t>Summary | NASA describes communications architecture assets, options, and network evolution.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The document links architecture decisions to future mission communications requirements. | 19</a:t>
            </a:r>
            <a:endParaRPr dirty="0"/>
          </a:p>
          <a:p>
            <a:pPr marL="0" lvl="0" indent="0" algn="l" rtl="0">
              <a:spcBef>
                <a:spcPts val="0"/>
              </a:spcBef>
              <a:spcAft>
                <a:spcPts val="0"/>
              </a:spcAft>
              <a:buNone/>
            </a:pPr>
            <a:r>
              <a:rPr lang="en-US" sz="1200" dirty="0"/>
              <a:t>Methodology | Architecture definition. | NA</a:t>
            </a:r>
            <a:endParaRPr dirty="0"/>
          </a:p>
          <a:p>
            <a:pPr marL="0" lvl="0" indent="0" algn="l" rtl="0">
              <a:spcBef>
                <a:spcPts val="0"/>
              </a:spcBef>
              <a:spcAft>
                <a:spcPts val="0"/>
              </a:spcAft>
              <a:buNone/>
            </a:pPr>
            <a:r>
              <a:rPr lang="en-US" sz="1200" dirty="0"/>
              <a:t>Evaluation | The advantage is that it is civil-space focused, not DoD-specific.</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The source is reliable because it is a NASA architecture document. | 21</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Relevance | This source supports the ground-station and relay-network portion of my model.</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It helps justify modeling communications paths as architecture trade variables. | 22</a:t>
            </a:r>
            <a:endParaRPr dirty="0"/>
          </a:p>
          <a:p>
            <a:pPr marL="0" lvl="0" indent="0" algn="l" rtl="0">
              <a:spcBef>
                <a:spcPts val="0"/>
              </a:spcBef>
              <a:spcAft>
                <a:spcPts val="0"/>
              </a:spcAft>
              <a:buNone/>
            </a:pPr>
            <a:r>
              <a:rPr lang="en-US" sz="1200" dirty="0"/>
              <a:t>Annotated Bibliography</a:t>
            </a:r>
            <a:endParaRPr dirty="0"/>
          </a:p>
          <a:p>
            <a:pPr marL="0" lvl="0" indent="0" algn="l" rtl="0">
              <a:spcBef>
                <a:spcPts val="0"/>
              </a:spcBef>
              <a:spcAft>
                <a:spcPts val="0"/>
              </a:spcAft>
              <a:buNone/>
            </a:pPr>
            <a:r>
              <a:rPr lang="en-US" sz="1200" dirty="0"/>
              <a:t>NASA </a:t>
            </a:r>
            <a:r>
              <a:rPr lang="en-US" sz="1200" dirty="0" err="1"/>
              <a:t>SCaN</a:t>
            </a:r>
            <a:r>
              <a:rPr lang="en-US" sz="1200" dirty="0"/>
              <a:t> Architecture (Space Communications and Navigation Network )</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SPEAKER NOTES</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FINAL SUBMISSION, SLIDE 11</a:t>
            </a:r>
            <a:endParaRPr dirty="0"/>
          </a:p>
          <a:p>
            <a:pPr marL="0" lvl="0" indent="0" algn="l" rtl="0">
              <a:spcBef>
                <a:spcPts val="0"/>
              </a:spcBef>
              <a:spcAft>
                <a:spcPts val="0"/>
              </a:spcAft>
              <a:buNone/>
            </a:pPr>
            <a:r>
              <a:rPr lang="en-US" sz="1200" dirty="0"/>
              <a:t>Reference | </a:t>
            </a:r>
            <a:r>
              <a:rPr lang="en-US" sz="1200" dirty="0" err="1"/>
              <a:t>Kodheli</a:t>
            </a:r>
            <a:r>
              <a:rPr lang="en-US" sz="1200" dirty="0"/>
              <a:t>, O., Lagunas, E., Maturo, N., et al. (2021). Satellite communications in the new space era: A survey and future challenges. IEEE Communications Surveys &amp; Tutorials, 23, 70–109.</a:t>
            </a:r>
            <a:endParaRPr dirty="0"/>
          </a:p>
          <a:p>
            <a:pPr marL="0" lvl="0" indent="0" algn="l" rtl="0">
              <a:spcBef>
                <a:spcPts val="0"/>
              </a:spcBef>
              <a:spcAft>
                <a:spcPts val="0"/>
              </a:spcAft>
              <a:buNone/>
            </a:pPr>
            <a:r>
              <a:rPr lang="en-US" sz="1200" dirty="0"/>
              <a:t>https://ieeexplore.ieee.org/document/9210567</a:t>
            </a:r>
            <a:endParaRPr dirty="0"/>
          </a:p>
          <a:p>
            <a:pPr marL="0" lvl="0" indent="0" algn="l" rtl="0">
              <a:spcBef>
                <a:spcPts val="0"/>
              </a:spcBef>
              <a:spcAft>
                <a:spcPts val="0"/>
              </a:spcAft>
              <a:buNone/>
            </a:pPr>
            <a:r>
              <a:rPr lang="en-US" sz="1200" dirty="0"/>
              <a:t> | NA</a:t>
            </a:r>
            <a:endParaRPr dirty="0"/>
          </a:p>
          <a:p>
            <a:pPr marL="0" lvl="0" indent="0" algn="l" rtl="0">
              <a:spcBef>
                <a:spcPts val="0"/>
              </a:spcBef>
              <a:spcAft>
                <a:spcPts val="0"/>
              </a:spcAft>
              <a:buNone/>
            </a:pPr>
            <a:r>
              <a:rPr lang="en-US" sz="1200" dirty="0"/>
              <a:t>Summary | The article surveys modern satellite communications and future research challenges.</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It identifies onboard processing and space-based data processing as innovation drivers but provides quality standard baselines to measure from. | 21</a:t>
            </a:r>
            <a:endParaRPr dirty="0"/>
          </a:p>
          <a:p>
            <a:pPr marL="0" lvl="0" indent="0" algn="l" rtl="0">
              <a:spcBef>
                <a:spcPts val="0"/>
              </a:spcBef>
              <a:spcAft>
                <a:spcPts val="0"/>
              </a:spcAft>
              <a:buNone/>
            </a:pPr>
            <a:r>
              <a:rPr lang="en-US" sz="1200" dirty="0"/>
              <a:t>Methodology | Literature Survey | NA</a:t>
            </a:r>
            <a:endParaRPr dirty="0"/>
          </a:p>
          <a:p>
            <a:pPr marL="0" lvl="0" indent="0" algn="l" rtl="0">
              <a:spcBef>
                <a:spcPts val="0"/>
              </a:spcBef>
              <a:spcAft>
                <a:spcPts val="0"/>
              </a:spcAft>
              <a:buNone/>
            </a:pPr>
            <a:r>
              <a:rPr lang="en-US" sz="1200" dirty="0"/>
              <a:t>Evaluation | The source is reliable because it is a highly cited IEEE survey.</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The limitation is that it covers many topics beyond my specific model. | 24</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Relevance | This source supports onboard processing as a legitimate satellite communications research area. </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It helps connect my edge-processing layer to current satellite network research. | 23</a:t>
            </a:r>
            <a:endParaRPr dirty="0"/>
          </a:p>
          <a:p>
            <a:pPr marL="0" lvl="0" indent="0" algn="l" rtl="0">
              <a:spcBef>
                <a:spcPts val="0"/>
              </a:spcBef>
              <a:spcAft>
                <a:spcPts val="0"/>
              </a:spcAft>
              <a:buNone/>
            </a:pPr>
            <a:r>
              <a:rPr lang="en-US" sz="1200" dirty="0"/>
              <a:t>Annotated Bibliography</a:t>
            </a:r>
            <a:endParaRPr dirty="0"/>
          </a:p>
          <a:p>
            <a:pPr marL="0" lvl="0" indent="0" algn="l" rtl="0">
              <a:spcBef>
                <a:spcPts val="0"/>
              </a:spcBef>
              <a:spcAft>
                <a:spcPts val="0"/>
              </a:spcAft>
              <a:buNone/>
            </a:pPr>
            <a:r>
              <a:rPr lang="en-US" sz="1200" dirty="0"/>
              <a:t>IEEE Communications Surveys</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SPEAKER NOTES</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FINAL SUBMISSION, SLIDE 12</a:t>
            </a:r>
            <a:endParaRPr dirty="0"/>
          </a:p>
          <a:p>
            <a:pPr marL="0" lvl="0" indent="0" algn="l" rtl="0">
              <a:spcBef>
                <a:spcPts val="0"/>
              </a:spcBef>
              <a:spcAft>
                <a:spcPts val="0"/>
              </a:spcAft>
              <a:buNone/>
            </a:pPr>
            <a:r>
              <a:rPr lang="en-US" sz="1200" dirty="0"/>
              <a:t>Reference | </a:t>
            </a:r>
            <a:r>
              <a:rPr lang="en-US" sz="1200" dirty="0" err="1"/>
              <a:t>CelesTrak</a:t>
            </a:r>
            <a:r>
              <a:rPr lang="en-US" sz="1200" dirty="0"/>
              <a:t>. (n.d.). NORAD GP element sets: Current data.</a:t>
            </a:r>
            <a:endParaRPr dirty="0"/>
          </a:p>
          <a:p>
            <a:pPr marL="0" lvl="0" indent="0" algn="l" rtl="0">
              <a:spcBef>
                <a:spcPts val="0"/>
              </a:spcBef>
              <a:spcAft>
                <a:spcPts val="0"/>
              </a:spcAft>
              <a:buNone/>
            </a:pPr>
            <a:r>
              <a:rPr lang="en-US" sz="1200" dirty="0"/>
              <a:t>https://celestrak.org/NORAD/elements/?</a:t>
            </a:r>
            <a:endParaRPr dirty="0"/>
          </a:p>
          <a:p>
            <a:pPr marL="0" lvl="0" indent="0" algn="l" rtl="0">
              <a:spcBef>
                <a:spcPts val="0"/>
              </a:spcBef>
              <a:spcAft>
                <a:spcPts val="0"/>
              </a:spcAft>
              <a:buNone/>
            </a:pPr>
            <a:r>
              <a:rPr lang="en-US" sz="1200" dirty="0"/>
              <a:t> | NA</a:t>
            </a:r>
            <a:endParaRPr dirty="0"/>
          </a:p>
          <a:p>
            <a:pPr marL="0" lvl="0" indent="0" algn="l" rtl="0">
              <a:spcBef>
                <a:spcPts val="0"/>
              </a:spcBef>
              <a:spcAft>
                <a:spcPts val="0"/>
              </a:spcAft>
              <a:buNone/>
            </a:pPr>
            <a:r>
              <a:rPr lang="en-US" sz="1200" dirty="0"/>
              <a:t>Summary | </a:t>
            </a:r>
            <a:r>
              <a:rPr lang="en-US" sz="1200" dirty="0" err="1"/>
              <a:t>CelesTrak</a:t>
            </a:r>
            <a:r>
              <a:rPr lang="en-US" sz="1200" dirty="0"/>
              <a:t> provides public General Perturbations data for orbital modeling.</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The data supports repeatable satellite visibility and access assumptions. | 18</a:t>
            </a:r>
            <a:endParaRPr dirty="0"/>
          </a:p>
          <a:p>
            <a:pPr marL="0" lvl="0" indent="0" algn="l" rtl="0">
              <a:spcBef>
                <a:spcPts val="0"/>
              </a:spcBef>
              <a:spcAft>
                <a:spcPts val="0"/>
              </a:spcAft>
              <a:buNone/>
            </a:pPr>
            <a:r>
              <a:rPr lang="en-US" sz="1200" dirty="0"/>
              <a:t>Methodology | Public orbital data publication. | NA</a:t>
            </a:r>
            <a:endParaRPr dirty="0"/>
          </a:p>
          <a:p>
            <a:pPr marL="0" lvl="0" indent="0" algn="l" rtl="0">
              <a:spcBef>
                <a:spcPts val="0"/>
              </a:spcBef>
              <a:spcAft>
                <a:spcPts val="0"/>
              </a:spcAft>
              <a:buNone/>
            </a:pPr>
            <a:r>
              <a:rPr lang="en-US" sz="1200" dirty="0"/>
              <a:t>Evaluation | The limitation is that public GP data supports notional analysis, not operational precision.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The source is useful because it provides open orbital data. | 23</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Relevance | This source provides public orbital context for my MATLAB simulation.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It helps keep the research unclassified, repeatable, and auditable. | 19</a:t>
            </a:r>
            <a:endParaRPr dirty="0"/>
          </a:p>
          <a:p>
            <a:pPr marL="0" lvl="0" indent="0" algn="l" rtl="0">
              <a:spcBef>
                <a:spcPts val="0"/>
              </a:spcBef>
              <a:spcAft>
                <a:spcPts val="0"/>
              </a:spcAft>
              <a:buNone/>
            </a:pPr>
            <a:r>
              <a:rPr lang="en-US" sz="1200" dirty="0"/>
              <a:t>Annotated Bibliography</a:t>
            </a:r>
            <a:endParaRPr dirty="0"/>
          </a:p>
          <a:p>
            <a:pPr marL="0" lvl="0" indent="0" algn="l" rtl="0">
              <a:spcBef>
                <a:spcPts val="0"/>
              </a:spcBef>
              <a:spcAft>
                <a:spcPts val="0"/>
              </a:spcAft>
              <a:buNone/>
            </a:pPr>
            <a:r>
              <a:rPr lang="en-US" sz="1200" dirty="0" err="1"/>
              <a:t>CelesTrak</a:t>
            </a:r>
            <a:r>
              <a:rPr lang="en-US" sz="1200" dirty="0"/>
              <a:t> Public Orbital Data</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SPEAKER NOTES</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FINAL SUBMISSION, SLIDE 13</a:t>
            </a:r>
            <a:endParaRPr dirty="0"/>
          </a:p>
          <a:p>
            <a:pPr marL="0" lvl="0" indent="0" algn="l" rtl="0">
              <a:spcBef>
                <a:spcPts val="0"/>
              </a:spcBef>
              <a:spcAft>
                <a:spcPts val="0"/>
              </a:spcAft>
              <a:buNone/>
            </a:pPr>
            <a:r>
              <a:rPr lang="en-US" sz="1200" dirty="0"/>
              <a:t>Reference | National Oceanic and Atmospheric Administration, Space Weather Prediction Center. (n.d.). Planetary K-index.</a:t>
            </a:r>
            <a:endParaRPr dirty="0"/>
          </a:p>
          <a:p>
            <a:pPr marL="0" lvl="0" indent="0" algn="l" rtl="0">
              <a:spcBef>
                <a:spcPts val="0"/>
              </a:spcBef>
              <a:spcAft>
                <a:spcPts val="0"/>
              </a:spcAft>
              <a:buNone/>
            </a:pPr>
            <a:r>
              <a:rPr lang="en-US" sz="1200" dirty="0"/>
              <a:t>https://www.spaceweather.gov/products/planetary-k-index?</a:t>
            </a:r>
            <a:endParaRPr dirty="0"/>
          </a:p>
          <a:p>
            <a:pPr marL="0" lvl="0" indent="0" algn="l" rtl="0">
              <a:spcBef>
                <a:spcPts val="0"/>
              </a:spcBef>
              <a:spcAft>
                <a:spcPts val="0"/>
              </a:spcAft>
              <a:buNone/>
            </a:pPr>
            <a:r>
              <a:rPr lang="en-US" sz="1200" dirty="0"/>
              <a:t> | NA</a:t>
            </a:r>
            <a:endParaRPr dirty="0"/>
          </a:p>
          <a:p>
            <a:pPr marL="0" lvl="0" indent="0" algn="l" rtl="0">
              <a:spcBef>
                <a:spcPts val="0"/>
              </a:spcBef>
              <a:spcAft>
                <a:spcPts val="0"/>
              </a:spcAft>
              <a:buNone/>
            </a:pPr>
            <a:r>
              <a:rPr lang="en-US" sz="1200" dirty="0"/>
              <a:t>Summary | NOAA provides public space-weather products used to characterize geomagnetic disturbances.</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err="1"/>
              <a:t>Kp</a:t>
            </a:r>
            <a:r>
              <a:rPr lang="en-US" sz="1200" dirty="0"/>
              <a:t> helps represent environmental conditions that can affect space and communications systems. | 22</a:t>
            </a:r>
            <a:endParaRPr dirty="0"/>
          </a:p>
          <a:p>
            <a:pPr marL="0" lvl="0" indent="0" algn="l" rtl="0">
              <a:spcBef>
                <a:spcPts val="0"/>
              </a:spcBef>
              <a:spcAft>
                <a:spcPts val="0"/>
              </a:spcAft>
              <a:buNone/>
            </a:pPr>
            <a:r>
              <a:rPr lang="en-US" sz="1200" dirty="0"/>
              <a:t>Methodology | Operational environmental observation. | NA</a:t>
            </a:r>
            <a:endParaRPr dirty="0"/>
          </a:p>
          <a:p>
            <a:pPr marL="0" lvl="0" indent="0" algn="l" rtl="0">
              <a:spcBef>
                <a:spcPts val="0"/>
              </a:spcBef>
              <a:spcAft>
                <a:spcPts val="0"/>
              </a:spcAft>
              <a:buNone/>
            </a:pPr>
            <a:r>
              <a:rPr lang="en-US" sz="1200" dirty="0"/>
              <a:t>Evaluation | The source is reliable because it is an official NOAA operational product.</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The limitation is that </a:t>
            </a:r>
            <a:r>
              <a:rPr lang="en-US" sz="1200" dirty="0" err="1"/>
              <a:t>Kp</a:t>
            </a:r>
            <a:r>
              <a:rPr lang="en-US" sz="1200" dirty="0"/>
              <a:t> is an environmental proxy, not a direct latency measure. | 25</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Relevance | This source provides public environmental inputs for simulated degradation scenarios.</a:t>
            </a:r>
            <a:endParaRPr dirty="0"/>
          </a:p>
          <a:p>
            <a:pPr marL="0" lvl="0" indent="0" algn="l" rtl="0">
              <a:spcBef>
                <a:spcPts val="0"/>
              </a:spcBef>
              <a:spcAft>
                <a:spcPts val="0"/>
              </a:spcAft>
              <a:buNone/>
            </a:pPr>
            <a:br>
              <a:rPr lang="en-US" sz="1200" dirty="0"/>
            </a:br>
            <a:r>
              <a:rPr lang="en-US" sz="1200" dirty="0"/>
              <a:t>It supports unclassified modeling of space-weather effects without using sensitive disruption assumptions.</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The proxy is that </a:t>
            </a:r>
            <a:r>
              <a:rPr lang="en-US" sz="1200" dirty="0" err="1"/>
              <a:t>Kp</a:t>
            </a:r>
            <a:r>
              <a:rPr lang="en-US" sz="1200" dirty="0"/>
              <a:t> is an environmental proxy, not a direct man-made measure. | 22</a:t>
            </a:r>
            <a:endParaRPr dirty="0"/>
          </a:p>
          <a:p>
            <a:pPr marL="0" lvl="0" indent="0" algn="l" rtl="0">
              <a:spcBef>
                <a:spcPts val="0"/>
              </a:spcBef>
              <a:spcAft>
                <a:spcPts val="0"/>
              </a:spcAft>
              <a:buNone/>
            </a:pPr>
            <a:r>
              <a:rPr lang="en-US" sz="1200" dirty="0"/>
              <a:t>Annotated Bibliography </a:t>
            </a:r>
            <a:endParaRPr dirty="0"/>
          </a:p>
          <a:p>
            <a:pPr marL="0" lvl="0" indent="0" algn="l" rtl="0">
              <a:spcBef>
                <a:spcPts val="0"/>
              </a:spcBef>
              <a:spcAft>
                <a:spcPts val="0"/>
              </a:spcAft>
              <a:buNone/>
            </a:pPr>
            <a:r>
              <a:rPr lang="en-US" sz="1200" dirty="0"/>
              <a:t> NOAA Space Weather / </a:t>
            </a:r>
            <a:r>
              <a:rPr lang="en-US" sz="1200" dirty="0" err="1"/>
              <a:t>Kp</a:t>
            </a:r>
            <a:r>
              <a:rPr lang="en-US" sz="1200" dirty="0"/>
              <a:t> Index</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SPEAKER NOTES</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sz="1200" dirty="0"/>
              <a:t>URLs and author strings are preserved from the final submission. The five entries are a separate snapshot, not added to the 31-work GWU register count.</a:t>
            </a:r>
            <a:endParaRPr dirty="0"/>
          </a:p>
        </p:txBody>
      </p:sp>
      <p:sp>
        <p:nvSpPr>
          <p:cNvPr id="193" name="Google Shape;193;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0" name="Google Shape;200;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SOURCE: International_Research_Data_POC_Register_2026-09-13_v05_Battle_Rhythm.xlsx, POC Register, Research Fit, Source Status and Australia Sources. The snapshot reports prior correspondence, not newly verified public web content.</a:t>
            </a:r>
          </a:p>
          <a:p>
            <a:r>
              <a:t>Germany: https://github.com/sys-uos ; latest dataset referral https://doi.org/10.26249/FK2/YXPS4G ; associated paper referral https://doi.org/10.1145/3789240.3827586 . Distinguish WetLinks from related/newer datasets when selecting actual files; as-is, no extended support.</a:t>
            </a:r>
          </a:p>
          <a:p>
            <a:r>
              <a:t>Canada: https://onlineacademiccommunity.uvic.ca/starlink/ ; specific files/fields pending.</a:t>
            </a:r>
          </a:p>
          <a:p>
            <a:r>
              <a:t>Australia: Cassie Marshall email of 13 Sep 2026; ASWFC@bom.gov.au. Eight links: https://rudimirz.com/flares/ ; https://listserver.ips.gov.au/pipermail/ips-swf-alert/ ; https://www.sws.bom.gov.au/World_Data_Centre/1/3 ; https://listserver.ips.gov.au/pipermail/ips-mag-alert/ ; https://sws-data.sws.bom.gov.au/ ; https://kp.gfz.de/en/ ; https://listserver.ips.gov.au/pipermail/ips-dsgr/ ; https://www.sws.bom.gov.au/Products_and_Services/4/1 . Bureau material: cite ASWFC/Bureau. X-ray flux: cite original source, not Bureau.</a:t>
            </a:r>
          </a:p>
          <a:p>
            <a:r>
              <a:t>SANSA: targeted RFI sent to mtshisaphungo@sansa.org.za cc spaceweather@sansa.org.za at 15:30 Pacific, 13 Sep 2026.</a:t>
            </a:r>
          </a:p>
          <a:p>
            <a:r>
              <a:t>Japan: iono@ml.nict.go.jp .</a:t>
            </a:r>
          </a:p>
          <a:p/>
          <a:p>
            <a:r>
              <a:t>FINAL SUBMISSION, SLIDE 16</a:t>
            </a:r>
          </a:p>
          <a:p>
            <a:r>
              <a:t>ID | Name | Source | Brief Description | Format | Time Span | Num. of records | Access </a:t>
            </a:r>
          </a:p>
          <a:p>
            <a:r>
              <a:t>(Y/N)</a:t>
            </a:r>
          </a:p>
          <a:p>
            <a:r>
              <a:t>1 | Orbital Data | Celestrak NORAD GP Element Sets: Current Data | Public orbital elements support satellite visibility and route availability assumptions. | CSV/JSON | Current Scenario snapshot/sample | 30 records | Y</a:t>
            </a:r>
          </a:p>
          <a:p>
            <a:r>
              <a:t>2 | Space Weather | NOAA SWPC Planetary K-Index | Kp values represent geomagnetic/solar storm severity for degraded communications scenarios. | CSV/HTML | Per 30 day window sample period | 240 intervals | Y</a:t>
            </a:r>
          </a:p>
          <a:p/>
          <a:p>
            <a:r>
              <a:t>3 | Ground Weather | NOAA Local Climate Data | Hourly weather observations support ground-station availability assumptions near a notional antenna for example. | CSV | Per 30 day window sample period | 720 hourly records | Y</a:t>
            </a:r>
          </a:p>
          <a:p/>
          <a:p>
            <a:r>
              <a:t>4 | C2 Architecture Baseline  | NASA SCaN Network Architecture Definition Document, Vol 1, Rev 4 | Architecture descriptions support baseline ground-station and relay network path assumptions. | CSV/PDF | 2013 publication | 1 doc | Y</a:t>
            </a:r>
          </a:p>
          <a:p/>
          <a:p>
            <a:r>
              <a:t>5 | Resilience Metrics | RAND Resilience Assessment Framework | Resilience framework supporting degraded mission performance comparison. | CSV/PDF | 2023 publication</a:t>
            </a:r>
          </a:p>
          <a:p>
            <a:r>
              <a:t> | 1 doc | Y</a:t>
            </a:r>
          </a:p>
          <a:p/>
          <a:p>
            <a:r>
              <a:t>6 | Scenario Vectors | Author created MATLAB scenario table | Simulation vectors control outage duration, bandwidth reduction, processing time, and threshold limits. | CSV/MAT | Simulation period | 10,000 runs | Y</a:t>
            </a:r>
          </a:p>
          <a:p/>
          <a:p>
            <a:r>
              <a:t>Data Sources List</a:t>
            </a:r>
          </a:p>
          <a:p>
            <a:r>
              <a:t>SPEAKER NOTES</a:t>
            </a:r>
          </a:p>
          <a:p>
            <a:r>
              <a:t>Shown up-front, the model does not use classified data, restricted data, or internal program data. </a:t>
            </a:r>
          </a:p>
          <a:p/>
          <a:p>
            <a:r>
              <a:t>The sources either provide public inputs for the simulation or support the assumptions behind the model. </a:t>
            </a:r>
          </a:p>
          <a:p/>
          <a:p>
            <a:r>
              <a:t>The key point is traceability: every input has a sourced and I updated the earlier slides with the hyperlinks per Instructor feedback.</a:t>
            </a:r>
          </a:p>
          <a:p/>
          <a:p>
            <a:r>
              <a:t>FINAL SUBMISSION, SLIDE 17</a:t>
            </a:r>
          </a:p>
          <a:p>
            <a:r>
              <a:t>Use public orbital elements to calculate satellite visibility, access windows, and route availability.</a:t>
            </a:r>
          </a:p>
          <a:p>
            <a:r>
              <a:t>Data Treatment:</a:t>
            </a:r>
          </a:p>
          <a:p>
            <a:r>
              <a:t>Select a limited satellite subset aligned to the notional scenario.</a:t>
            </a:r>
          </a:p>
          <a:p>
            <a:r>
              <a:t>Convert all timestamps to UTC for simulation data normalization across the fields.</a:t>
            </a:r>
          </a:p>
          <a:p>
            <a:r>
              <a:t>Filter records with missing or stale orbital elements.</a:t>
            </a:r>
          </a:p>
          <a:p/>
          <a:p/>
          <a:p/>
          <a:p/>
          <a:p/>
          <a:p>
            <a:r>
              <a:t>CelesTrak Example</a:t>
            </a:r>
          </a:p>
          <a:p>
            <a:r>
              <a:t>ID | Name | Source | Brief Description | Format | Time Span | Num. of records | Access </a:t>
            </a:r>
          </a:p>
          <a:p>
            <a:r>
              <a:t>(Y/N)</a:t>
            </a:r>
          </a:p>
          <a:p>
            <a:r>
              <a:t>1 | Orbital Data | Celestrak NORAD GP Element Sets: Current Data | Public orbital elements support satellite visibility and route availability assumptions. | CSV/JSON | Current Scenario snapshot/sample | 30 records | Y</a:t>
            </a:r>
          </a:p>
          <a:p>
            <a:r>
              <a:t>Object_Name | NORAD_CAT_ID | EPOCH | INCLINATION | MEAN_MOTION</a:t>
            </a:r>
          </a:p>
          <a:p>
            <a:r>
              <a:t>Sat1 | 001 | UTC Timestamp | degrees | rev/day</a:t>
            </a:r>
          </a:p>
          <a:p>
            <a:r>
              <a:t>Sat2 | 002 | UTC Timestamp | degrees | rev/day</a:t>
            </a:r>
          </a:p>
          <a:p>
            <a:r>
              <a:t>Sat3 | 003 | UTC Timestamp | degrees | rev/day</a:t>
            </a:r>
          </a:p>
          <a:p>
            <a:r>
              <a:t>Sample Data:</a:t>
            </a:r>
          </a:p>
          <a:p>
            <a:r>
              <a:t>SPEAKER NOTES</a:t>
            </a:r>
          </a:p>
          <a:p>
            <a:r>
              <a:t>CelesTrak provides public satellite orbital data. I use it to estimate satellite visibility, access windows, and route availability.</a:t>
            </a:r>
          </a:p>
          <a:p/>
          <a:p>
            <a:r>
              <a:t>FINAL SUBMISSION, SLIDE 18</a:t>
            </a:r>
          </a:p>
          <a:p>
            <a:r>
              <a:t>Use Kp values to represent space weather degradation severity during simulated communications scenarios.</a:t>
            </a:r>
          </a:p>
          <a:p>
            <a:r>
              <a:t>Data Treatment:</a:t>
            </a:r>
          </a:p>
          <a:p>
            <a:r>
              <a:t>Convert Kp  readings into normal, degraded, and severe categories</a:t>
            </a:r>
          </a:p>
          <a:p>
            <a:r>
              <a:t>Align three hour Kp intervals to the simulation clock</a:t>
            </a:r>
          </a:p>
          <a:p>
            <a:r>
              <a:t>Flag missing intervals rather than assuming valid conditions</a:t>
            </a:r>
          </a:p>
          <a:p/>
          <a:p/>
          <a:p/>
          <a:p/>
          <a:p>
            <a:r>
              <a:t>NOAA Space Weather Prediction Center (SWPC) Kp Example</a:t>
            </a:r>
          </a:p>
          <a:p>
            <a:r>
              <a:t>ID | Name | Source | Brief Description | Format | Time Span | Num. of records | Access </a:t>
            </a:r>
          </a:p>
          <a:p>
            <a:r>
              <a:t>(Y/N)</a:t>
            </a:r>
          </a:p>
          <a:p>
            <a:r>
              <a:t>2 | Space Weather | NOAA SWPC Planetary K-Index | Kp values represent geomagnetic/solar storm severity for degraded communications scenarios. | CSV/HTML | Per 30 day window sample period | 240 intervals | Y</a:t>
            </a:r>
          </a:p>
          <a:p>
            <a:r>
              <a:t>UTC_Time | KP_INDEX | DEGRADATION_LEVEL</a:t>
            </a:r>
          </a:p>
          <a:p>
            <a:r>
              <a:t>7/1/2026 0:00 | 2 | Normal</a:t>
            </a:r>
          </a:p>
          <a:p>
            <a:r>
              <a:t>7/1/2026 3:00 | 5 | Degraded</a:t>
            </a:r>
          </a:p>
          <a:p>
            <a:r>
              <a:t>7/1/2026 6:00 | 7 | Severe</a:t>
            </a:r>
          </a:p>
          <a:p>
            <a:r>
              <a:t>Sample Data:</a:t>
            </a:r>
          </a:p>
          <a:p>
            <a:r>
              <a:t>SPEAKER NOTES</a:t>
            </a:r>
          </a:p>
          <a:p>
            <a:r>
              <a:t>The NOAA Space Weather Prediction Center provides Kp and related space-weather information. I use this to represent environmental conditions that may degrade communications.</a:t>
            </a:r>
          </a:p>
          <a:p/>
          <a:p>
            <a:r>
              <a:t>FINAL SUBMISSION, SLIDE 19</a:t>
            </a:r>
          </a:p>
          <a:p>
            <a:r>
              <a:t>Use of weather observations to estimate ground station availability representing a notional remote antenna, the Remote Ground Station (RGS).</a:t>
            </a:r>
          </a:p>
          <a:p>
            <a:r>
              <a:t>Data treatment:</a:t>
            </a:r>
          </a:p>
          <a:p>
            <a:r>
              <a:t>Select the nearest public weather station to the notional antenna</a:t>
            </a:r>
          </a:p>
          <a:p>
            <a:r>
              <a:t>Standardize solar, electro-magnetic/polar or gravimetric data </a:t>
            </a:r>
          </a:p>
          <a:p>
            <a:r>
              <a:t>Convert weather values into availability-impact scores.</a:t>
            </a:r>
          </a:p>
          <a:p/>
          <a:p/>
          <a:p/>
          <a:p>
            <a:r>
              <a:t>NOAA National Centers for Environmental Information Weather (NCEI) Example</a:t>
            </a:r>
          </a:p>
          <a:p>
            <a:r>
              <a:t>ID | Name | Source | Brief Description | Format | Time Span | Num. of records | Access </a:t>
            </a:r>
          </a:p>
          <a:p>
            <a:r>
              <a:t>(Y/N)</a:t>
            </a:r>
          </a:p>
          <a:p>
            <a:r>
              <a:t>3 | Ground Weather | NOAA Local Climate Data | Hourly weather observations support ground-station availability assumptions near a notional antenna for example. | CSV | Per 30 day window sample period | 720 hourly records | Y</a:t>
            </a:r>
          </a:p>
          <a:p>
            <a:r>
              <a:t>UTC_TIME | SOURCE | VARIABLE | VALUE | UNIT | DEGRADATION_LEVEL | AVAILABILITY_IMPACT</a:t>
            </a:r>
          </a:p>
          <a:p>
            <a:r>
              <a:t>2026_07_01 00:00 | NOAA NCEI LCD | Visibility | 8 | km | km | Normal</a:t>
            </a:r>
          </a:p>
          <a:p>
            <a:r>
              <a:t>2026_07_01 03:00 | NOAA SWPC Kp | Kp Index | 6 | index | index | Degraded</a:t>
            </a:r>
          </a:p>
          <a:p>
            <a:r>
              <a:t>2026_07_01 04:30 | NOAA GOES X-ray | Radio Blackout | R1 | category | category | Degraded</a:t>
            </a:r>
          </a:p>
          <a:p>
            <a:r>
              <a:t>2026_07_01 06:15 | USGS Earthquake API | Magnitude | 5.6 | Mw | Mw | Severe</a:t>
            </a:r>
          </a:p>
          <a:p>
            <a:r>
              <a:t>Sample Data:</a:t>
            </a:r>
          </a:p>
          <a:p>
            <a:r>
              <a:t>SPEAKER NOTES</a:t>
            </a:r>
          </a:p>
          <a:p>
            <a:r>
              <a:t>The NOAA National Centers for Environmental Information provides historical ground-weather observations near a notional remote ground station.</a:t>
            </a:r>
          </a:p>
          <a:p/>
          <a:p>
            <a:r>
              <a:t>FINAL SUBMISSION, SLIDE 20</a:t>
            </a:r>
          </a:p>
          <a:p>
            <a:r>
              <a:t>Use public architecture descriptions to define baseline ground station and relay network assumptions.</a:t>
            </a:r>
          </a:p>
          <a:p>
            <a:r>
              <a:t>Data treatment:</a:t>
            </a:r>
          </a:p>
          <a:p>
            <a:r>
              <a:t>Extract architecture elements relevant to the ground, relay and user segments for modeling</a:t>
            </a:r>
          </a:p>
          <a:p>
            <a:r>
              <a:t>Convert qualitative architecture descriptions into notional model states.</a:t>
            </a:r>
          </a:p>
          <a:p>
            <a:r>
              <a:t>Cite derived assumptions rather than treating them as measured data.</a:t>
            </a:r>
          </a:p>
          <a:p/>
          <a:p/>
          <a:p/>
          <a:p/>
          <a:p>
            <a:r>
              <a:t>NASA SCaN Example</a:t>
            </a:r>
          </a:p>
          <a:p>
            <a:r>
              <a:t>ID | Name | Source | Brief Description | Format | Time Span | Num. of records | Access </a:t>
            </a:r>
          </a:p>
          <a:p>
            <a:r>
              <a:t>(Y/N)</a:t>
            </a:r>
          </a:p>
          <a:p>
            <a:r>
              <a:t>4 | C2 Architecture Baseline  | NASA SCaN Network Architecture Definition Document, Vol 1, Rev 4 | Architecture descriptions support baseline ground-station and relay network path assumptions. | CSV/PDF | 2013 publication | 1 doc | Y</a:t>
            </a:r>
          </a:p>
          <a:p>
            <a:r>
              <a:t>ARCHITECTURE_ELEMENT | MODEL_VARIABLE | SIMULATION_ROLE</a:t>
            </a:r>
          </a:p>
          <a:p>
            <a:r>
              <a:t>Ground station | RGS Availability | Baseline path gate</a:t>
            </a:r>
          </a:p>
          <a:p>
            <a:r>
              <a:t>Relay network | Route availability | Alternate path support</a:t>
            </a:r>
          </a:p>
          <a:p>
            <a:r>
              <a:t>User segment | Operator receipt | Decision support endpoint</a:t>
            </a:r>
          </a:p>
          <a:p>
            <a:r>
              <a:t>Sample Data:</a:t>
            </a:r>
          </a:p>
          <a:p>
            <a:r>
              <a:t>SPEAKER NOTES</a:t>
            </a:r>
          </a:p>
          <a:p>
            <a:r>
              <a:t>The NASA SCaN architecture document is not a live dataset. It provides the public architecture baseline for ground stations, relay networks, and communications paths.</a:t>
            </a:r>
          </a:p>
          <a:p/>
          <a:p>
            <a:r>
              <a:t>FINAL SUBMISSION, SLIDE 21</a:t>
            </a:r>
          </a:p>
          <a:p>
            <a:r>
              <a:t>Use resilience concepts to define degraded mission performance measures and decision criteria.</a:t>
            </a:r>
          </a:p>
          <a:p>
            <a:r>
              <a:t>Data treatment:</a:t>
            </a:r>
          </a:p>
          <a:p>
            <a:r>
              <a:t>Retrieve resilience concepts and ideas relevant to latency, availability, and degradation</a:t>
            </a:r>
          </a:p>
          <a:p>
            <a:r>
              <a:t>Map the concepts and ideas to a measurable simulation output</a:t>
            </a:r>
          </a:p>
          <a:p>
            <a:r>
              <a:t>Use this for methodology support, not direct operational data</a:t>
            </a:r>
          </a:p>
          <a:p/>
          <a:p/>
          <a:p/>
          <a:p/>
          <a:p>
            <a:r>
              <a:t>RAND Example</a:t>
            </a:r>
          </a:p>
          <a:p>
            <a:r>
              <a:t>ID | Name | Source | Brief Description | Format | Time Span | Num. of records | Access </a:t>
            </a:r>
          </a:p>
          <a:p>
            <a:r>
              <a:t>(Y/N)</a:t>
            </a:r>
          </a:p>
          <a:p>
            <a:r>
              <a:t>5 | Resilience Metrics | RAND Resilience Assessment Framework | Resilience framework supporting degraded mission performance comparison. | CSV/PDF | 2023 publication | 1 doc | Y</a:t>
            </a:r>
          </a:p>
          <a:p>
            <a:r>
              <a:t>RESILIENCE_CONCEPT | MODEL_METRIC | DECISION_CRITERION</a:t>
            </a:r>
          </a:p>
          <a:p>
            <a:r>
              <a:t>Degradation | Path availability (%) | Maintains threshold</a:t>
            </a:r>
          </a:p>
          <a:p>
            <a:r>
              <a:t>Recovery | Recovery time (s) | Restores service</a:t>
            </a:r>
          </a:p>
          <a:p>
            <a:r>
              <a:t>Mission performance | Response latency (s) | Improves baseline</a:t>
            </a:r>
          </a:p>
          <a:p>
            <a:r>
              <a:t>Sample Data:</a:t>
            </a:r>
          </a:p>
          <a:p>
            <a:r>
              <a:t>SPEAKER NOTES</a:t>
            </a:r>
          </a:p>
          <a:p>
            <a:r>
              <a:t>The RAND Resilience Assessment Framework provides resilience concepts and performance measures that help define degradation, recovery, and mission-performance criteria.</a:t>
            </a:r>
          </a:p>
          <a:p/>
          <a:p>
            <a:r>
              <a:t>FINAL SUBMISSION, SLIDE 22</a:t>
            </a:r>
          </a:p>
          <a:p/>
          <a:p>
            <a:r>
              <a:t>Use controlled simulation inputs to vary degradation, routing, processing, and decision thresholds.</a:t>
            </a:r>
          </a:p>
          <a:p>
            <a:r>
              <a:t>Data treatment:</a:t>
            </a:r>
          </a:p>
          <a:p>
            <a:r>
              <a:t>Generate values from documented distributions and fixed random seeds.</a:t>
            </a:r>
          </a:p>
          <a:p>
            <a:r>
              <a:t>Store each run as a reproducible MATLAB input table</a:t>
            </a:r>
          </a:p>
          <a:p>
            <a:r>
              <a:t>Conduct sensitivity analysis by varying one driver at a time</a:t>
            </a:r>
          </a:p>
          <a:p/>
          <a:p/>
          <a:p/>
          <a:p/>
          <a:p>
            <a:r>
              <a:t>Scenario Vectors Example</a:t>
            </a:r>
          </a:p>
          <a:p>
            <a:r>
              <a:t>ID | Name | Source | Brief Description | Format | Time Span | Num. of records | Access </a:t>
            </a:r>
          </a:p>
          <a:p>
            <a:r>
              <a:t>(Y/N)</a:t>
            </a:r>
          </a:p>
          <a:p>
            <a:r>
              <a:t>6 | Scenario Vectors | Author created MATLAB scenario table | Simulation vectors control outage duration, bandwidth reduction, processing time, and threshold limits. | CSV/MAT | Simulation period | 10,000 runs | Y</a:t>
            </a:r>
          </a:p>
          <a:p>
            <a:r>
              <a:t>RUN_ID | CONTROL_MODE | COMM_DELAY | RGS_Available | EDGE_PROCESSING | AI_CONFIDENCE_%</a:t>
            </a:r>
          </a:p>
          <a:p>
            <a:r>
              <a:t>1 | Ground-centric | 7.5 | TRUE | 0 | 0</a:t>
            </a:r>
          </a:p>
          <a:p>
            <a:r>
              <a:t>2 | Edge Enabled | 3.2 | FALSE | 0.8 | 82</a:t>
            </a:r>
          </a:p>
          <a:p>
            <a:r>
              <a:t>3 | Edge Enabled | 4.1 | FALSE | 1.1 | 76</a:t>
            </a:r>
          </a:p>
          <a:p>
            <a:r>
              <a:t>Sample Data:</a:t>
            </a:r>
          </a:p>
          <a:p>
            <a:r>
              <a:t>SPEAKER NOTES</a:t>
            </a:r>
          </a:p>
          <a:p>
            <a:r>
              <a:t>Finally, I create a controlled MATLAB scenario table. This combines the public inputs into repeatable events such as an outage, bandwidth reduction, packet loss, processing delay, and recovery.</a:t>
            </a:r>
          </a:p>
          <a:p>
            <a:r>
              <a:t>Session 5 update: current chapter v11; source measurements, synthetic inputs and simulation outputs remain separately qualified. Baseline regression is documented; owner reproduction and extended sensitivity remain next steps.</a:t>
            </a:r>
          </a:p>
        </p:txBody>
      </p:sp>
      <p:sp>
        <p:nvSpPr>
          <p:cNvPr id="201" name="Google Shape;201;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0" name="Google Shape;210;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FINAL SUBMISSION, SLIDE 2</a:t>
            </a:r>
          </a:p>
          <a:p>
            <a:r>
              <a:t>This Praxis develops a simulation-based systems engineering framework to evaluate autonomous satellite decision support under degraded communications.</a:t>
            </a:r>
          </a:p>
          <a:p>
            <a:r>
              <a:t>The study compares ground-centric routing against an orbital edge-processing path using public orbital data and space-weather indices.</a:t>
            </a:r>
          </a:p>
          <a:p>
            <a:r>
              <a:t>The modeled decisions include onboard filtering, alert prioritization, downlink prioritization, resource allocation, and safe-response recommendations for ground operator review.</a:t>
            </a:r>
          </a:p>
          <a:p>
            <a:r>
              <a:t>The framework evaluates onboard artificial intelligence and machine learning for predictive threat assessment and response.</a:t>
            </a:r>
          </a:p>
          <a:p>
            <a:r>
              <a:t>The model assesses decision latency, operator workload, cognitive burden, and resource utilization through simulation.</a:t>
            </a:r>
          </a:p>
          <a:p>
            <a:r>
              <a:t>The work produces a public-domain feasibility study and a preliminary Concept of Operations.</a:t>
            </a:r>
          </a:p>
          <a:p>
            <a:r>
              <a:t>Validation compares simulated outputs against public benchmarks, theoretical delay calculations, repeated runs, and sensitivity analysis.</a:t>
            </a:r>
          </a:p>
          <a:p>
            <a:r>
              <a:t>The research will not use classified data, develop new algorithms, or build physical hardware.</a:t>
            </a:r>
          </a:p>
          <a:p>
            <a:r>
              <a:t>Scope of Work</a:t>
            </a:r>
          </a:p>
          <a:p>
            <a:r>
              <a:t>SPEAKER NOTES</a:t>
            </a:r>
          </a:p>
          <a:p>
            <a:r>
              <a:t>Modeling Autonomous Satellite Decision-Making in Contested Environments.</a:t>
            </a:r>
          </a:p>
          <a:p/>
          <a:p>
            <a:r>
              <a:t>can an orbital edge-processing layer provide useful information to the operator faster?</a:t>
            </a:r>
            <a:br/>
          </a:p>
          <a:p>
            <a:r>
              <a:t>The model focuses on bounded functions such as filtering, prioritizing, routing, allocating resources, and presenting recommendations. </a:t>
            </a:r>
            <a:br/>
          </a:p>
          <a:p>
            <a:r>
              <a:t>The goal is to measure whether this architecture reduces latency, preserves communications availability, and reduces operator workload using only public, public, non-restricted data.”</a:t>
            </a:r>
          </a:p>
          <a:p/>
          <a:p/>
          <a:p>
            <a:r>
              <a:t>FINAL SUBMISSION, SLIDE 6</a:t>
            </a:r>
          </a:p>
          <a:p>
            <a:r>
              <a:t>(A) Deliverable |  | WC</a:t>
            </a:r>
          </a:p>
          <a:p>
            <a:r>
              <a:t>Thesis Statement | This praxis will deliver a simulation-based systems engineering model demonstrating a bounded onboard decision-making framework under degraded communications. | 18</a:t>
            </a:r>
          </a:p>
          <a:p>
            <a:r>
              <a:t>Research Product | Simulation-Based Evaluation Framework | 4</a:t>
            </a:r>
          </a:p>
          <a:p>
            <a:r>
              <a:t>Format | Python/MATLAB/Simulink Model | 3</a:t>
            </a:r>
          </a:p>
          <a:p>
            <a:r>
              <a:t>Deliverable Usage | Systems engineers will use the framework during early architecture trades for onboard processing under degraded communications. | 16</a:t>
            </a:r>
          </a:p>
          <a:p>
            <a:r>
              <a:t>Tie back to PS | The framework will address decision latency by comparing ground-centric routing with bounded onboard decision support under the same scenarios. | 18</a:t>
            </a:r>
          </a:p>
          <a:p>
            <a:r>
              <a:t>New Contributions | This work will contribute a public, repeatable method for evaluating orbital edge-processing performance without classified data or new algorithms. | 18</a:t>
            </a:r>
          </a:p>
          <a:p/>
          <a:p>
            <a:r>
              <a:t>Scope | The framework will apply to autonomous systems that operate with degraded communications and constrained human oversight. | 16</a:t>
            </a:r>
          </a:p>
          <a:p>
            <a:r>
              <a:t>Main methodology | Discrete-Event Simulation | 3</a:t>
            </a:r>
          </a:p>
          <a:p>
            <a:r>
              <a:t>Inputs | Threat Type (Categorical), Threat Proximity (km), Communication Link Status (Boolean), Satellite Resource Availability (%), AI Confidence Score (%) | NA</a:t>
            </a:r>
          </a:p>
          <a:p>
            <a:r>
              <a:t>Outputs | Response Latency (seconds), Mission Success Probability (%), Resource Consumption (%), Correct Action Taken (Boolean) | NA</a:t>
            </a:r>
          </a:p>
          <a:p>
            <a:r>
              <a:t>Thesis Statement</a:t>
            </a:r>
          </a:p>
          <a:p>
            <a:r>
              <a:t>SPEAKER NOTES</a:t>
            </a:r>
          </a:p>
          <a:p/>
          <a:p/>
          <a:p>
            <a:r>
              <a:t>FINAL SUBMISSION, SLIDE 14</a:t>
            </a:r>
          </a:p>
          <a:p>
            <a:r>
              <a:t>Methodology 1</a:t>
            </a:r>
          </a:p>
          <a:p>
            <a:r>
              <a:t>A) Deliverable | B) Content | C) WC</a:t>
            </a:r>
          </a:p>
          <a:p>
            <a:r>
              <a:t>Methodology | Discrete-Event Simulation |       3</a:t>
            </a:r>
          </a:p>
          <a:p>
            <a:r>
              <a:t>Inputs | The Disruption Event Type (categorical), event start times (s), event duration (min), communication lag, ground station availability (Boolean), satellite visibility window (min), bandwidth capacity (Mbps), data volume (MB), packet loss rate (%), edge processing times, AI confidence score (%), satellite resource availability (%) | NA</a:t>
            </a:r>
          </a:p>
          <a:p>
            <a:r>
              <a:t>Outputs | Response latency, OODA Loop decision cycle times, path availability (%), dropped messages (count), recovery time, operator workflow reduction comparison (%), correct action selection (%). | NA</a:t>
            </a:r>
          </a:p>
          <a:p>
            <a:r>
              <a:t>SPEAKER NOTES</a:t>
            </a:r>
          </a:p>
          <a:p>
            <a:r>
              <a:t>Methodology 1 — Discrete-Event Simulation</a:t>
            </a:r>
          </a:p>
          <a:p>
            <a:r>
              <a:t>Method:</a:t>
            </a:r>
            <a:br/>
            <a:r>
              <a:t>“My first methodology is discrete-event simulation. It follows specific events in order—such as a request arriving, the ground-station path failing, the edge cloud processing the request, and a response reaching the operator.”</a:t>
            </a:r>
          </a:p>
          <a:p>
            <a:r>
              <a:t>Inputs:</a:t>
            </a:r>
            <a:br/>
            <a:r>
              <a:t>“The inputs include the disruption type, when it starts, how long it lasts, communication delay, processing time, and available resources.”</a:t>
            </a:r>
          </a:p>
          <a:p/>
          <a:p>
            <a:r>
              <a:t>Outputs:</a:t>
            </a:r>
            <a:br/>
            <a:r>
              <a:t>“The outputs include response latency, OODA-loop time, path availability, dropped messages, recovery time, workload reduction, and what % of the time the correct response was selected.”</a:t>
            </a:r>
          </a:p>
          <a:p/>
          <a:p>
            <a:r>
              <a:t>Purpose:</a:t>
            </a:r>
            <a:br/>
            <a:r>
              <a:t>“This method shows what happens during each individual disruption and compares the ground-centric path with the edge-enabled path.”</a:t>
            </a:r>
          </a:p>
          <a:p>
            <a:br/>
          </a:p>
          <a:p/>
          <a:p/>
          <a:p>
            <a:r>
              <a:t>FINAL SUBMISSION, SLIDE 15</a:t>
            </a:r>
          </a:p>
          <a:p>
            <a:r>
              <a:t>Methodology 2</a:t>
            </a:r>
          </a:p>
          <a:p>
            <a:r>
              <a:t>A) Deliverable | B) Content | C) WC</a:t>
            </a:r>
          </a:p>
          <a:p>
            <a:r>
              <a:t>Methodology | System Dynamic Simulation |        3</a:t>
            </a:r>
          </a:p>
          <a:p>
            <a:r>
              <a:t>Inputs | Time step(s), simulation duration (hr), path availability (%), bandwidth capacity (Mbps), data volume rate (MB/min), Kp index (0-9), weather severity index (0-1), queue depth (count), edge compute load (%) resource availability (%), AI confidence score (%) | NA</a:t>
            </a:r>
          </a:p>
          <a:p>
            <a:r>
              <a:t>Outputs | Average response latency, 95th percentile latency, OODA loop times, path availability (%), bandwidth demand (Mbps), queue growth rate (messages/min), operator workflow trends (count/hr), resource consumption (%), mission success probability (%). </a:t>
            </a:r>
          </a:p>
          <a:p/>
          <a:p>
            <a:r>
              <a:t>Dropped messages (count), recovery time, operator workflow reduction comparison, correct action selection (%).</a:t>
            </a:r>
          </a:p>
          <a:p>
            <a:r>
              <a:t> | NA</a:t>
            </a:r>
          </a:p>
          <a:p>
            <a:r>
              <a:t>SPEAKER NOTES</a:t>
            </a:r>
          </a:p>
          <a:p>
            <a:r>
              <a:t>Methodology 2 — System Dynamics Simulation</a:t>
            </a:r>
          </a:p>
          <a:p>
            <a:r>
              <a:t>Method:</a:t>
            </a:r>
            <a:br/>
            <a:r>
              <a:t>“My second methodology is system dynamics simulation. It looks at how the entire system behaves and changes over a longer period of time.”</a:t>
            </a:r>
          </a:p>
          <a:p/>
          <a:p>
            <a:r>
              <a:t>Inputs:</a:t>
            </a:r>
            <a:br/>
            <a:r>
              <a:t>“The inputs include simulation time, path availability, incoming data rate, space-weather severity, and available resources.”</a:t>
            </a:r>
          </a:p>
          <a:p/>
          <a:p>
            <a:r>
              <a:t>Outputs:</a:t>
            </a:r>
            <a:br/>
            <a:r>
              <a:t>“The outputs include average latency, 95th-percentile latency, OODA-loop trends, operator workload, resource use, and % mission-success over time.”</a:t>
            </a:r>
          </a:p>
          <a:p/>
          <a:p>
            <a:r>
              <a:t>Purpose:</a:t>
            </a:r>
            <a:br/>
            <a:r>
              <a:t>“This method shows whether the edge-enabled architecture remains effective as degraded conditions continue. </a:t>
            </a:r>
          </a:p>
          <a:p/>
          <a:p>
            <a:r>
              <a:t>What happens during on-going disruption and compares the ground-centric path with the edge-enabled path.”</a:t>
            </a:r>
          </a:p>
          <a:p/>
          <a:p>
            <a:br/>
          </a:p>
          <a:p>
            <a:r>
              <a:t>Transition:</a:t>
            </a:r>
            <a:br/>
            <a:r>
              <a:t>“Methodology 1 shows what happens event by event. Methodology 2 shows how performance changes over time.” </a:t>
            </a:r>
          </a:p>
          <a:p/>
          <a:p/>
          <a:p>
            <a:r>
              <a:t>FINAL SUBMISSION, SLIDE 22</a:t>
            </a:r>
          </a:p>
          <a:p/>
          <a:p>
            <a:r>
              <a:t>Use controlled simulation inputs to vary degradation, routing, processing, and decision thresholds.</a:t>
            </a:r>
          </a:p>
          <a:p>
            <a:r>
              <a:t>Data treatment:</a:t>
            </a:r>
          </a:p>
          <a:p>
            <a:r>
              <a:t>Generate values from documented distributions and fixed random seeds.</a:t>
            </a:r>
          </a:p>
          <a:p>
            <a:r>
              <a:t>Store each run as a reproducible MATLAB input table</a:t>
            </a:r>
          </a:p>
          <a:p>
            <a:r>
              <a:t>Conduct sensitivity analysis by varying one driver at a time</a:t>
            </a:r>
          </a:p>
          <a:p/>
          <a:p/>
          <a:p/>
          <a:p/>
          <a:p>
            <a:r>
              <a:t>Scenario Vectors Example</a:t>
            </a:r>
          </a:p>
          <a:p>
            <a:r>
              <a:t>ID | Name | Source | Brief Description | Format | Time Span | Num. of records | Access </a:t>
            </a:r>
          </a:p>
          <a:p>
            <a:r>
              <a:t>(Y/N)</a:t>
            </a:r>
          </a:p>
          <a:p>
            <a:r>
              <a:t>6 | Scenario Vectors | Author created MATLAB scenario table | Simulation vectors control outage duration, bandwidth reduction, processing time, and threshold limits. | CSV/MAT | Simulation period | 10,000 runs | Y</a:t>
            </a:r>
          </a:p>
          <a:p>
            <a:r>
              <a:t>RUN_ID | CONTROL_MODE | COMM_DELAY | RGS_Available | EDGE_PROCESSING | AI_CONFIDENCE_%</a:t>
            </a:r>
          </a:p>
          <a:p>
            <a:r>
              <a:t>1 | Ground-centric | 7.5 | TRUE | 0 | 0</a:t>
            </a:r>
          </a:p>
          <a:p>
            <a:r>
              <a:t>2 | Edge Enabled | 3.2 | FALSE | 0.8 | 82</a:t>
            </a:r>
          </a:p>
          <a:p>
            <a:r>
              <a:t>3 | Edge Enabled | 4.1 | FALSE | 1.1 | 76</a:t>
            </a:r>
          </a:p>
          <a:p>
            <a:r>
              <a:t>Sample Data:</a:t>
            </a:r>
          </a:p>
          <a:p>
            <a:r>
              <a:t>SPEAKER NOTES</a:t>
            </a:r>
          </a:p>
          <a:p>
            <a:r>
              <a:t>Finally, I create a controlled MATLAB scenario table. This combines the public inputs into repeatable events such as an outage, bandwidth reduction, packet loss, processing delay, and recovery.</a:t>
            </a:r>
          </a:p>
          <a:p/>
          <a:p>
            <a:r>
              <a:t>FINAL SUBMISSION, SLIDE 24</a:t>
            </a:r>
          </a:p>
          <a:p>
            <a:r>
              <a:t>Methodology 1 Map</a:t>
            </a:r>
          </a:p>
          <a:p>
            <a:r>
              <a:t>SPEAKER NOTES</a:t>
            </a:r>
          </a:p>
          <a:p>
            <a:r>
              <a:t>Methodology 1: discrete-event simulation. This method follows individual events in sequence—disruption, routing, edge processing, operator response, and recovery. It helps answer whether the model can credibly measure response latency and path availability during a specific disruption.”</a:t>
            </a:r>
          </a:p>
          <a:p/>
          <a:p>
            <a:r>
              <a:t>Summary combines clearly labeled current scope with inputs and planned analysis in the July source. Complete original DES inputs/outputs, including AI-confidence and operator/action metrics, are retained above as baseline notes; they are not silently asserted as current core measures. No sample figures in the final submission are claimed as downloaded measurements or executed simulation results.</a:t>
            </a:r>
          </a:p>
          <a:p>
            <a:r>
              <a:t>Session 5 update: current chapter v11; source measurements, synthetic inputs and simulation outputs remain separately qualified. Baseline regression is documented; owner reproduction and extended sensitivity remain next steps.</a:t>
            </a:r>
          </a:p>
        </p:txBody>
      </p:sp>
      <p:sp>
        <p:nvSpPr>
          <p:cNvPr id="211" name="Google Shape;211;p1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1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0" name="Google Shape;250;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a:t>Backup figure from draft OV-1 v3, received 28 Sep 2026. The intersection is a shared timestamp window, not proof that environment caused communications behavior. Source labels and field qualification remain subject to review.</a:t>
            </a:r>
            <a:endParaRPr/>
          </a:p>
        </p:txBody>
      </p:sp>
      <p:sp>
        <p:nvSpPr>
          <p:cNvPr id="251" name="Google Shape;251;p1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antt_overview_v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antt_overview_v4:notes"/>
          <p:cNvSpPr txBox="1">
            <a:spLocks noGrp="1"/>
          </p:cNvSpPr>
          <p:nvPr>
            <p:ph type="body" idx="1"/>
          </p:nvPr>
        </p:nvSpPr>
        <p:spPr>
          <a:xfrm>
            <a:off x="0" y="0"/>
            <a:ext cx="3000000" cy="3000000"/>
          </a:xfrm>
          <a:prstGeom prst="rect">
            <a:avLst/>
          </a:prstGeom>
        </p:spPr>
        <p:txBody>
          <a:bodyPr spcFirstLastPara="1" wrap="square" lIns="91425" tIns="45700" rIns="91425" bIns="45700" anchor="t" anchorCtr="0">
            <a:noAutofit/>
          </a:bodyPr>
          <a:lstStyle/>
          <a:p>
            <a:r>
              <a:t>Date-positioned native Gantt. Vertical markers fixed to 2026-10-30 and 2026-11-14 as requested. Planned task intervals are planning targets, not completion claims.</a:t>
            </a:r>
          </a:p>
        </p:txBody>
      </p:sp>
      <p:sp>
        <p:nvSpPr>
          <p:cNvPr id="257" name="Google Shape;257;gantt_overview_v4:notes"/>
          <p:cNvSpPr txBox="1">
            <a:spLocks noGrp="1"/>
          </p:cNvSpPr>
          <p:nvPr>
            <p:ph type="sldNum" idx="12"/>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antt_near_term_v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2" name="Google Shape;262;gantt_near_term_v4:notes"/>
          <p:cNvSpPr txBox="1">
            <a:spLocks noGrp="1"/>
          </p:cNvSpPr>
          <p:nvPr>
            <p:ph type="body" idx="1"/>
          </p:nvPr>
        </p:nvSpPr>
        <p:spPr>
          <a:xfrm>
            <a:off x="0" y="0"/>
            <a:ext cx="3000000" cy="3000000"/>
          </a:xfrm>
          <a:prstGeom prst="rect">
            <a:avLst/>
          </a:prstGeom>
        </p:spPr>
        <p:txBody>
          <a:bodyPr spcFirstLastPara="1" wrap="square" lIns="91425" tIns="45700" rIns="91425" bIns="45700" anchor="t" anchorCtr="0">
            <a:noAutofit/>
          </a:bodyPr>
          <a:lstStyle/>
          <a:p>
            <a:r>
              <a:t>Date-positioned native Gantt. Vertical markers fixed to 2026-10-30 and 2026-11-14 as requested. Planned task intervals are planning targets, not completion claims.</a:t>
            </a:r>
          </a:p>
        </p:txBody>
      </p:sp>
      <p:sp>
        <p:nvSpPr>
          <p:cNvPr id="263" name="Google Shape;263;gantt_near_term_v4:notes"/>
          <p:cNvSpPr txBox="1">
            <a:spLocks noGrp="1"/>
          </p:cNvSpPr>
          <p:nvPr>
            <p:ph type="sldNum" idx="12"/>
          </p:nvPr>
        </p:nvSpPr>
        <p:spPr>
          <a:xfrm>
            <a:off x="0" y="0"/>
            <a:ext cx="3000000" cy="30000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8" name="Google Shape;218;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200"/>
          </a:p>
        </p:txBody>
      </p:sp>
      <p:sp>
        <p:nvSpPr>
          <p:cNvPr id="219" name="Google Shape;219;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6" name="Google Shape;226;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200"/>
          </a:p>
        </p:txBody>
      </p:sp>
      <p:sp>
        <p:nvSpPr>
          <p:cNvPr id="227" name="Google Shape;227;p1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1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2" name="Google Shape;232;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Historical supporting register snapshot retained from the original full deck. Every inherited row is preserved across the continuation slides. Current controlled registers remain on Drive; this historical table is not a fresh technology verification.</a:t>
            </a:r>
          </a:p>
        </p:txBody>
      </p:sp>
      <p:sp>
        <p:nvSpPr>
          <p:cNvPr id="233" name="Google Shape;233;p1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p1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8" name="Google Shape;238;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200"/>
          </a:p>
        </p:txBody>
      </p:sp>
      <p:sp>
        <p:nvSpPr>
          <p:cNvPr id="239" name="Google Shape;239;p1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4" name="Google Shape;244;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Historical supporting register snapshot retained from the original full deck. Every inherited row is preserved across the continuation slides. Current controlled registers remain on Drive; this historical table is not a fresh technology verification.</a:t>
            </a:r>
          </a:p>
        </p:txBody>
      </p:sp>
      <p:sp>
        <p:nvSpPr>
          <p:cNvPr id="245" name="Google Shape;245;p1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Date-positioned native Gantt. Vertical markers fixed to 2026-10-30 and 2026-11-14 as requested. Planned task intervals are planning targets, not completion claims.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Concept illustration retained from the existing full deck. Text updated to preserve neutral architecture comparison and the declared information-delivery endpoint. The image is not a reconstruction of OPS-SAT historical geometry.</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p>
            <a:r>
              <a:t>Session 5 update: current chapter v11; source measurements, synthetic inputs and simulation outputs remain separately qualified. Baseline regression is documented; owner reproduction and extended sensitivity remain next steps.</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Rendered-document accounting. Chapter 2 starts on physical page 11 in v11; References starts on physical page 62, giving 51 narrative pages. v9's recorded narrative length was 32 pages, so the version-to-version increase is 19 pages. The prior 47-page total used mixed line spacing. Correcting the same prose to double spacing yields 51; this four-page component is formatting reflow, not additional authored material. The requested 32-to-51 comparison excludes front matter and References. Current total: 76 = 10 front matter + 51 narrative + 15 References. Historical v8 value 17 retained. The chart's native data and embedded workbook are updated to 17, 32, 51. This slide summarizes the response to the expansion request; it does not invent a new verbatim instruction from the advisor.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Cases follow Carlo's edited section 2.3 in the normalized v11 manuscript. School use case begins at printed p.22; hospital case p.23; municipal case p.25. Related oversight discussions begin at pp.34, 35 and 36 respectively; the bounded interpretation begins at p.38. The selected review passage is pp.22–38. Twenty supporting sources from the expansion are retained and highlighted in the consolidated bibliography. The chapter contains 91 unique reference entries after deduplication: 15 new unique sources beyond v9 plus five existing sources used in the expansion. The simulation endpoint remains information delivery; downstream outcomes require their own evaluation.</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Source: SIMEVENTS_README.txt, Google Drive file 1T3_AuhTFSIC5n8d17GtcVqevxs_HBnT7, modified 24 Oct 2026. 200 comparisons = 100 accepted observations in each architecture, not 200 Monte Carlo trials. Ground mean 1067.6434 s; Edge mean 198.2280 s; zero SimEvents-to-engine latency error; tolerance 1e-6; MATLAB engine approximately 9e-13 vs Excel. This update did not execute MATLAB. Next gate: Carlo's licensed environment, release/version/warnings/PASS log and actual elapsed time. The model uses paired traces and identical FIFO single-resource link rules.</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Historical supporting register snapshot retained from the original full deck. Every inherited row is preserved across the continuation slides. Current controlled registers remain on Drive; this historical table is not a fresh technology verification.</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Historical supporting register snapshot retained from the original full deck. Every inherited row is preserved across the continuation slides. Current controlled registers remain on Drive; this historical table is not a fresh technology verification.</a:t>
            </a:r>
          </a:p>
        </p:txBody>
      </p:sp>
      <p:sp>
        <p:nvSpPr>
          <p:cNvPr id="4" name="Slide Number Placeholder 3"/>
          <p:cNvSpPr>
            <a:spLocks noGrp="1"/>
          </p:cNvSpPr>
          <p:nvPr>
            <p:ph type="sldNum" idx="12"/>
          </p:nvPr>
        </p:nvSpPr>
        <p:spPr/>
      </p:sp>
    </p:spTree>
  </p:cSld>
  <p:clrMapOvr>
    <a:masterClrMapping/>
  </p:clrMapOvr>
</p:notes>
</file>

<file path=ppt/slideLayouts/_rels/carlo_slideLayout1.xml.rels><?xml version='1.0' encoding='UTF-8' standalone='yes'?>
<Relationships xmlns="http://schemas.openxmlformats.org/package/2006/relationships"><Relationship Id="rId1" Type="http://schemas.openxmlformats.org/officeDocument/2006/relationships/slideMaster" Target="../slideMasters/carlo_slideMaster1.xml"/></Relationships>
</file>

<file path=ppt/slideLayouts/_rels/carlo_slideLayout2.xml.rels><?xml version='1.0' encoding='UTF-8' standalone='yes'?>
<Relationships xmlns="http://schemas.openxmlformats.org/package/2006/relationships"><Relationship Id="rId1" Type="http://schemas.openxmlformats.org/officeDocument/2006/relationships/slideMaster" Target="../slideMasters/carlo_slideMaster1.xml"/></Relationships>
</file>

<file path=ppt/slideLayouts/_rels/carlo_slideLayout3.xml.rels><?xml version='1.0' encoding='UTF-8' standalone='yes'?>
<Relationships xmlns="http://schemas.openxmlformats.org/package/2006/relationships"><Relationship Id="rId1" Type="http://schemas.openxmlformats.org/officeDocument/2006/relationships/slideMaster" Target="../slideMasters/carlo_slideMaster1.xml"/></Relationships>
</file>

<file path=ppt/slideLayouts/_rels/carlo_slideLayout4.xml.rels><?xml version='1.0' encoding='UTF-8' standalone='yes'?>
<Relationships xmlns="http://schemas.openxmlformats.org/package/2006/relationships"><Relationship Id="rId1" Type="http://schemas.openxmlformats.org/officeDocument/2006/relationships/slideMaster" Target="../slideMasters/carlo_slideMaster1.xml"/></Relationships>
</file>

<file path=ppt/slideLayouts/_rels/carlo_slideLayout5.xml.rels><?xml version='1.0' encoding='UTF-8' standalone='yes'?>
<Relationships xmlns="http://schemas.openxmlformats.org/package/2006/relationships"><Relationship Id="rId1" Type="http://schemas.openxmlformats.org/officeDocument/2006/relationships/slideMaster" Target="../slideMasters/carlo_slideMaster1.xml"/></Relationships>
</file>

<file path=ppt/slideLayouts/_rels/carlo_slideLayout6.xml.rels><?xml version='1.0' encoding='UTF-8' standalone='yes'?>
<Relationships xmlns="http://schemas.openxmlformats.org/package/2006/relationships"><Relationship Id="rId1" Type="http://schemas.openxmlformats.org/officeDocument/2006/relationships/slideMaster" Target="../slideMasters/carlo_slideMaster1.xml"/></Relationships>
</file>

<file path=ppt/slideLayouts/_rels/carlo_slideLayout7.xml.rels><?xml version='1.0' encoding='UTF-8' standalone='yes'?>
<Relationships xmlns="http://schemas.openxmlformats.org/package/2006/relationships"><Relationship Id="rId1" Type="http://schemas.openxmlformats.org/officeDocument/2006/relationships/slideMaster" Target="../slideMasters/carlo_slideMaster1.xml"/></Relationships>
</file>

<file path=ppt/slideLayouts/_rels/carlo_slideLayout8.xml.rels><?xml version='1.0' encoding='UTF-8' standalone='yes'?>
<Relationships xmlns="http://schemas.openxmlformats.org/package/2006/relationships"><Relationship Id="rId1" Type="http://schemas.openxmlformats.org/officeDocument/2006/relationships/slideMaster" Target="../slideMasters/carlo_slideMaster1.xml"/></Relationships>
</file>

<file path=ppt/slideLayouts/_rels/carlo_slideLayout9.xml.rels><?xml version='1.0' encoding='UTF-8' standalone='yes'?>
<Relationships xmlns="http://schemas.openxmlformats.org/package/2006/relationships"><Relationship Id="rId1" Type="http://schemas.openxmlformats.org/officeDocument/2006/relationships/slideMaster" Target="../slideMasters/carlo_slideMaster1.xml"/></Relationships>
</file>

<file path=ppt/slideLayouts/_rels/carlo_slideLayout10.xml.rels><?xml version='1.0' encoding='UTF-8' standalone='yes'?>
<Relationships xmlns="http://schemas.openxmlformats.org/package/2006/relationships"><Relationship Id="rId1" Type="http://schemas.openxmlformats.org/officeDocument/2006/relationships/slideMaster" Target="../slideMasters/carlo_slideMaster1.xml"/></Relationships>
</file>

<file path=ppt/slideLayouts/_rels/carlo_slideLayout11.xml.rels><?xml version='1.0' encoding='UTF-8' standalone='yes'?>
<Relationships xmlns="http://schemas.openxmlformats.org/package/2006/relationships"><Relationship Id="rId1" Type="http://schemas.openxmlformats.org/officeDocument/2006/relationships/slideMaster" Target="../slideMasters/carlo_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jpg"/></Relationships>
</file>

<file path=ppt/slideLayouts/carlo_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07FAD-62B1-592B-4ADF-E8B86B9607F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719D965-6E09-2B0B-B02D-7FA2FA1EC43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2E6762C-0A41-0D29-39E0-4AC39E2A9693}"/>
              </a:ext>
            </a:extLst>
          </p:cNvPr>
          <p:cNvSpPr>
            <a:spLocks noGrp="1"/>
          </p:cNvSpPr>
          <p:nvPr>
            <p:ph type="dt" sz="half" idx="10"/>
          </p:nvPr>
        </p:nvSpPr>
        <p:spPr/>
        <p:txBody>
          <a:bodyPr/>
          <a:lstStyle/>
          <a:p>
            <a:fld id="{AF3E0CC7-F486-4567-A0CC-76F8D910702D}" type="datetimeFigureOut">
              <a:rPr lang="en-US" smtClean="0"/>
              <a:t>10/29/2026</a:t>
            </a:fld>
            <a:endParaRPr lang="en-US"/>
          </a:p>
        </p:txBody>
      </p:sp>
      <p:sp>
        <p:nvSpPr>
          <p:cNvPr id="5" name="Footer Placeholder 4">
            <a:extLst>
              <a:ext uri="{FF2B5EF4-FFF2-40B4-BE49-F238E27FC236}">
                <a16:creationId xmlns:a16="http://schemas.microsoft.com/office/drawing/2014/main" id="{DA016832-695B-8C5D-FE38-97DE0DCB1C4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E3191-E4C5-1DA0-4F7A-3AE05AE3810C}"/>
              </a:ext>
            </a:extLst>
          </p:cNvPr>
          <p:cNvSpPr>
            <a:spLocks noGrp="1"/>
          </p:cNvSpPr>
          <p:nvPr>
            <p:ph type="sldNum" sz="quarter" idx="12"/>
          </p:nvPr>
        </p:nvSpPr>
        <p:spPr/>
        <p:txBody>
          <a:bodyPr/>
          <a:lstStyle/>
          <a:p>
            <a:fld id="{F2BF79A1-E98E-46EE-B8C7-AEBDEC73F579}" type="slidenum">
              <a:rPr lang="en-US" smtClean="0"/>
              <a:t>‹#›</a:t>
            </a:fld>
            <a:endParaRPr lang="en-US"/>
          </a:p>
        </p:txBody>
      </p:sp>
    </p:spTree>
    <p:extLst>
      <p:ext uri="{BB962C8B-B14F-4D97-AF65-F5344CB8AC3E}">
        <p14:creationId xmlns:p14="http://schemas.microsoft.com/office/powerpoint/2010/main" val="3883823320"/>
      </p:ext>
    </p:extLst>
  </p:cSld>
  <p:clrMapOvr>
    <a:masterClrMapping/>
  </p:clrMapOvr>
</p:sldLayout>
</file>

<file path=ppt/slideLayouts/carlo_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F3B4C-AD2F-F777-0C9A-9ACA9483AF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8FED290-BA21-3E2A-6E81-A116F38D26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B9B409-ACFB-46A6-E662-10127932D236}"/>
              </a:ext>
            </a:extLst>
          </p:cNvPr>
          <p:cNvSpPr>
            <a:spLocks noGrp="1"/>
          </p:cNvSpPr>
          <p:nvPr>
            <p:ph type="dt" sz="half" idx="10"/>
          </p:nvPr>
        </p:nvSpPr>
        <p:spPr/>
        <p:txBody>
          <a:bodyPr/>
          <a:lstStyle/>
          <a:p>
            <a:fld id="{AF3E0CC7-F486-4567-A0CC-76F8D910702D}" type="datetimeFigureOut">
              <a:rPr lang="en-US" smtClean="0"/>
              <a:t>10/29/2026</a:t>
            </a:fld>
            <a:endParaRPr lang="en-US"/>
          </a:p>
        </p:txBody>
      </p:sp>
      <p:sp>
        <p:nvSpPr>
          <p:cNvPr id="5" name="Footer Placeholder 4">
            <a:extLst>
              <a:ext uri="{FF2B5EF4-FFF2-40B4-BE49-F238E27FC236}">
                <a16:creationId xmlns:a16="http://schemas.microsoft.com/office/drawing/2014/main" id="{CA0E426F-2921-2EF2-5112-9F6BCF662A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64CCE8-E339-72B6-03FD-A9C88702687D}"/>
              </a:ext>
            </a:extLst>
          </p:cNvPr>
          <p:cNvSpPr>
            <a:spLocks noGrp="1"/>
          </p:cNvSpPr>
          <p:nvPr>
            <p:ph type="sldNum" sz="quarter" idx="12"/>
          </p:nvPr>
        </p:nvSpPr>
        <p:spPr/>
        <p:txBody>
          <a:bodyPr/>
          <a:lstStyle/>
          <a:p>
            <a:fld id="{F2BF79A1-E98E-46EE-B8C7-AEBDEC73F579}" type="slidenum">
              <a:rPr lang="en-US" smtClean="0"/>
              <a:t>‹#›</a:t>
            </a:fld>
            <a:endParaRPr lang="en-US"/>
          </a:p>
        </p:txBody>
      </p:sp>
    </p:spTree>
    <p:extLst>
      <p:ext uri="{BB962C8B-B14F-4D97-AF65-F5344CB8AC3E}">
        <p14:creationId xmlns:p14="http://schemas.microsoft.com/office/powerpoint/2010/main" val="4249427404"/>
      </p:ext>
    </p:extLst>
  </p:cSld>
  <p:clrMapOvr>
    <a:masterClrMapping/>
  </p:clrMapOvr>
</p:sldLayout>
</file>

<file path=ppt/slideLayouts/carlo_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17D16-30B2-3ED4-0755-B1BA8026486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1CD6CB2-DE52-0114-C3F3-279016989E9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6933759-9D1C-A9A6-B1B3-D76E2F47F1B0}"/>
              </a:ext>
            </a:extLst>
          </p:cNvPr>
          <p:cNvSpPr>
            <a:spLocks noGrp="1"/>
          </p:cNvSpPr>
          <p:nvPr>
            <p:ph type="dt" sz="half" idx="10"/>
          </p:nvPr>
        </p:nvSpPr>
        <p:spPr/>
        <p:txBody>
          <a:bodyPr/>
          <a:lstStyle/>
          <a:p>
            <a:fld id="{AF3E0CC7-F486-4567-A0CC-76F8D910702D}" type="datetimeFigureOut">
              <a:rPr lang="en-US" smtClean="0"/>
              <a:t>10/29/2026</a:t>
            </a:fld>
            <a:endParaRPr lang="en-US"/>
          </a:p>
        </p:txBody>
      </p:sp>
      <p:sp>
        <p:nvSpPr>
          <p:cNvPr id="5" name="Footer Placeholder 4">
            <a:extLst>
              <a:ext uri="{FF2B5EF4-FFF2-40B4-BE49-F238E27FC236}">
                <a16:creationId xmlns:a16="http://schemas.microsoft.com/office/drawing/2014/main" id="{B1A023AE-442A-BD45-D74F-C9DA4C072E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4B446C-8F2D-987F-B05F-225D1ED08F8F}"/>
              </a:ext>
            </a:extLst>
          </p:cNvPr>
          <p:cNvSpPr>
            <a:spLocks noGrp="1"/>
          </p:cNvSpPr>
          <p:nvPr>
            <p:ph type="sldNum" sz="quarter" idx="12"/>
          </p:nvPr>
        </p:nvSpPr>
        <p:spPr/>
        <p:txBody>
          <a:bodyPr/>
          <a:lstStyle/>
          <a:p>
            <a:fld id="{F2BF79A1-E98E-46EE-B8C7-AEBDEC73F579}" type="slidenum">
              <a:rPr lang="en-US" smtClean="0"/>
              <a:t>‹#›</a:t>
            </a:fld>
            <a:endParaRPr lang="en-US"/>
          </a:p>
        </p:txBody>
      </p:sp>
    </p:spTree>
    <p:extLst>
      <p:ext uri="{BB962C8B-B14F-4D97-AF65-F5344CB8AC3E}">
        <p14:creationId xmlns:p14="http://schemas.microsoft.com/office/powerpoint/2010/main" val="2020915476"/>
      </p:ext>
    </p:extLst>
  </p:cSld>
  <p:clrMapOvr>
    <a:masterClrMapping/>
  </p:clrMapOvr>
</p:sldLayout>
</file>

<file path=ppt/slideLayouts/carlo_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FD1E4-9A72-7DA1-AFB6-D256633C3E1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C5B0D12-6A69-CF19-AE4D-BE48235479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6B315DF-F72F-AA30-EE86-A1731100402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AB72238-81D8-E816-15A7-3DC8886F792C}"/>
              </a:ext>
            </a:extLst>
          </p:cNvPr>
          <p:cNvSpPr>
            <a:spLocks noGrp="1"/>
          </p:cNvSpPr>
          <p:nvPr>
            <p:ph type="dt" sz="half" idx="10"/>
          </p:nvPr>
        </p:nvSpPr>
        <p:spPr/>
        <p:txBody>
          <a:bodyPr/>
          <a:lstStyle/>
          <a:p>
            <a:fld id="{AF3E0CC7-F486-4567-A0CC-76F8D910702D}" type="datetimeFigureOut">
              <a:rPr lang="en-US" smtClean="0"/>
              <a:t>10/29/2026</a:t>
            </a:fld>
            <a:endParaRPr lang="en-US"/>
          </a:p>
        </p:txBody>
      </p:sp>
      <p:sp>
        <p:nvSpPr>
          <p:cNvPr id="6" name="Footer Placeholder 5">
            <a:extLst>
              <a:ext uri="{FF2B5EF4-FFF2-40B4-BE49-F238E27FC236}">
                <a16:creationId xmlns:a16="http://schemas.microsoft.com/office/drawing/2014/main" id="{E16EC3EC-960E-D667-A32C-F52E9A00DB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9F0B1E-57B0-5171-037A-F6801797A327}"/>
              </a:ext>
            </a:extLst>
          </p:cNvPr>
          <p:cNvSpPr>
            <a:spLocks noGrp="1"/>
          </p:cNvSpPr>
          <p:nvPr>
            <p:ph type="sldNum" sz="quarter" idx="12"/>
          </p:nvPr>
        </p:nvSpPr>
        <p:spPr/>
        <p:txBody>
          <a:bodyPr/>
          <a:lstStyle/>
          <a:p>
            <a:fld id="{F2BF79A1-E98E-46EE-B8C7-AEBDEC73F579}" type="slidenum">
              <a:rPr lang="en-US" smtClean="0"/>
              <a:t>‹#›</a:t>
            </a:fld>
            <a:endParaRPr lang="en-US"/>
          </a:p>
        </p:txBody>
      </p:sp>
    </p:spTree>
    <p:extLst>
      <p:ext uri="{BB962C8B-B14F-4D97-AF65-F5344CB8AC3E}">
        <p14:creationId xmlns:p14="http://schemas.microsoft.com/office/powerpoint/2010/main" val="3404688300"/>
      </p:ext>
    </p:extLst>
  </p:cSld>
  <p:clrMapOvr>
    <a:masterClrMapping/>
  </p:clrMapOvr>
</p:sldLayout>
</file>

<file path=ppt/slideLayouts/carlo_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56BE9-0EF1-186F-EF34-0CDD1F2F6DD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079657D-A778-8031-333B-EB4FA0B295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DAAD23-4932-4245-7CE5-E71FBC6E483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0227D8-A262-E7ED-A1C0-354C81954EA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D0BBD9-3D47-CE8A-180F-2C8B8FB9AF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7A0AF7-1849-06F1-EFEB-88CFFBD5FC61}"/>
              </a:ext>
            </a:extLst>
          </p:cNvPr>
          <p:cNvSpPr>
            <a:spLocks noGrp="1"/>
          </p:cNvSpPr>
          <p:nvPr>
            <p:ph type="dt" sz="half" idx="10"/>
          </p:nvPr>
        </p:nvSpPr>
        <p:spPr/>
        <p:txBody>
          <a:bodyPr/>
          <a:lstStyle/>
          <a:p>
            <a:fld id="{AF3E0CC7-F486-4567-A0CC-76F8D910702D}" type="datetimeFigureOut">
              <a:rPr lang="en-US" smtClean="0"/>
              <a:t>10/29/2026</a:t>
            </a:fld>
            <a:endParaRPr lang="en-US"/>
          </a:p>
        </p:txBody>
      </p:sp>
      <p:sp>
        <p:nvSpPr>
          <p:cNvPr id="8" name="Footer Placeholder 7">
            <a:extLst>
              <a:ext uri="{FF2B5EF4-FFF2-40B4-BE49-F238E27FC236}">
                <a16:creationId xmlns:a16="http://schemas.microsoft.com/office/drawing/2014/main" id="{3896E358-C99B-2EF2-18FF-024914BFA0A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EFAFE0B-9895-7FF7-DFF5-7F01EE0C500C}"/>
              </a:ext>
            </a:extLst>
          </p:cNvPr>
          <p:cNvSpPr>
            <a:spLocks noGrp="1"/>
          </p:cNvSpPr>
          <p:nvPr>
            <p:ph type="sldNum" sz="quarter" idx="12"/>
          </p:nvPr>
        </p:nvSpPr>
        <p:spPr/>
        <p:txBody>
          <a:bodyPr/>
          <a:lstStyle/>
          <a:p>
            <a:fld id="{F2BF79A1-E98E-46EE-B8C7-AEBDEC73F579}" type="slidenum">
              <a:rPr lang="en-US" smtClean="0"/>
              <a:t>‹#›</a:t>
            </a:fld>
            <a:endParaRPr lang="en-US"/>
          </a:p>
        </p:txBody>
      </p:sp>
    </p:spTree>
    <p:extLst>
      <p:ext uri="{BB962C8B-B14F-4D97-AF65-F5344CB8AC3E}">
        <p14:creationId xmlns:p14="http://schemas.microsoft.com/office/powerpoint/2010/main" val="1847656297"/>
      </p:ext>
    </p:extLst>
  </p:cSld>
  <p:clrMapOvr>
    <a:masterClrMapping/>
  </p:clrMapOvr>
</p:sldLayout>
</file>

<file path=ppt/slideLayouts/carlo_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79AED-73D4-A221-53E0-D0AC8682BAB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A65EFE6-CC05-76A1-5BC8-99558C2767F9}"/>
              </a:ext>
            </a:extLst>
          </p:cNvPr>
          <p:cNvSpPr>
            <a:spLocks noGrp="1"/>
          </p:cNvSpPr>
          <p:nvPr>
            <p:ph type="dt" sz="half" idx="10"/>
          </p:nvPr>
        </p:nvSpPr>
        <p:spPr/>
        <p:txBody>
          <a:bodyPr/>
          <a:lstStyle/>
          <a:p>
            <a:fld id="{AF3E0CC7-F486-4567-A0CC-76F8D910702D}" type="datetimeFigureOut">
              <a:rPr lang="en-US" smtClean="0"/>
              <a:t>10/29/2026</a:t>
            </a:fld>
            <a:endParaRPr lang="en-US"/>
          </a:p>
        </p:txBody>
      </p:sp>
      <p:sp>
        <p:nvSpPr>
          <p:cNvPr id="4" name="Footer Placeholder 3">
            <a:extLst>
              <a:ext uri="{FF2B5EF4-FFF2-40B4-BE49-F238E27FC236}">
                <a16:creationId xmlns:a16="http://schemas.microsoft.com/office/drawing/2014/main" id="{0787CB50-761D-2F10-4355-A24E3B7F9B5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CBA3808-780B-2E2A-2B8A-6F142993CC90}"/>
              </a:ext>
            </a:extLst>
          </p:cNvPr>
          <p:cNvSpPr>
            <a:spLocks noGrp="1"/>
          </p:cNvSpPr>
          <p:nvPr>
            <p:ph type="sldNum" sz="quarter" idx="12"/>
          </p:nvPr>
        </p:nvSpPr>
        <p:spPr/>
        <p:txBody>
          <a:bodyPr/>
          <a:lstStyle/>
          <a:p>
            <a:fld id="{F2BF79A1-E98E-46EE-B8C7-AEBDEC73F579}" type="slidenum">
              <a:rPr lang="en-US" smtClean="0"/>
              <a:t>‹#›</a:t>
            </a:fld>
            <a:endParaRPr lang="en-US"/>
          </a:p>
        </p:txBody>
      </p:sp>
    </p:spTree>
    <p:extLst>
      <p:ext uri="{BB962C8B-B14F-4D97-AF65-F5344CB8AC3E}">
        <p14:creationId xmlns:p14="http://schemas.microsoft.com/office/powerpoint/2010/main" val="4198174886"/>
      </p:ext>
    </p:extLst>
  </p:cSld>
  <p:clrMapOvr>
    <a:masterClrMapping/>
  </p:clrMapOvr>
</p:sldLayout>
</file>

<file path=ppt/slideLayouts/carlo_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4B1C8D-C4FE-07FB-CDBC-10A08769F3F6}"/>
              </a:ext>
            </a:extLst>
          </p:cNvPr>
          <p:cNvSpPr>
            <a:spLocks noGrp="1"/>
          </p:cNvSpPr>
          <p:nvPr>
            <p:ph type="dt" sz="half" idx="10"/>
          </p:nvPr>
        </p:nvSpPr>
        <p:spPr/>
        <p:txBody>
          <a:bodyPr/>
          <a:lstStyle/>
          <a:p>
            <a:fld id="{AF3E0CC7-F486-4567-A0CC-76F8D910702D}" type="datetimeFigureOut">
              <a:rPr lang="en-US" smtClean="0"/>
              <a:t>10/29/2026</a:t>
            </a:fld>
            <a:endParaRPr lang="en-US"/>
          </a:p>
        </p:txBody>
      </p:sp>
      <p:sp>
        <p:nvSpPr>
          <p:cNvPr id="3" name="Footer Placeholder 2">
            <a:extLst>
              <a:ext uri="{FF2B5EF4-FFF2-40B4-BE49-F238E27FC236}">
                <a16:creationId xmlns:a16="http://schemas.microsoft.com/office/drawing/2014/main" id="{872E07C4-8BD2-6F86-5373-420ACA19788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7A9FBB8-5377-E250-FBC7-F743497B12A1}"/>
              </a:ext>
            </a:extLst>
          </p:cNvPr>
          <p:cNvSpPr>
            <a:spLocks noGrp="1"/>
          </p:cNvSpPr>
          <p:nvPr>
            <p:ph type="sldNum" sz="quarter" idx="12"/>
          </p:nvPr>
        </p:nvSpPr>
        <p:spPr/>
        <p:txBody>
          <a:bodyPr/>
          <a:lstStyle/>
          <a:p>
            <a:fld id="{F2BF79A1-E98E-46EE-B8C7-AEBDEC73F579}" type="slidenum">
              <a:rPr lang="en-US" smtClean="0"/>
              <a:t>‹#›</a:t>
            </a:fld>
            <a:endParaRPr lang="en-US"/>
          </a:p>
        </p:txBody>
      </p:sp>
    </p:spTree>
    <p:extLst>
      <p:ext uri="{BB962C8B-B14F-4D97-AF65-F5344CB8AC3E}">
        <p14:creationId xmlns:p14="http://schemas.microsoft.com/office/powerpoint/2010/main" val="4114257582"/>
      </p:ext>
    </p:extLst>
  </p:cSld>
  <p:clrMapOvr>
    <a:masterClrMapping/>
  </p:clrMapOvr>
</p:sldLayout>
</file>

<file path=ppt/slideLayouts/carlo_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4E915-84A6-E7F5-0999-EAF3A26CE1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5FC2B81-5377-70DE-1075-A266E57938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C9814C8-CD01-7379-2F8F-94574BB9A4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8FFB71-7179-2501-16AF-96A55C15648D}"/>
              </a:ext>
            </a:extLst>
          </p:cNvPr>
          <p:cNvSpPr>
            <a:spLocks noGrp="1"/>
          </p:cNvSpPr>
          <p:nvPr>
            <p:ph type="dt" sz="half" idx="10"/>
          </p:nvPr>
        </p:nvSpPr>
        <p:spPr/>
        <p:txBody>
          <a:bodyPr/>
          <a:lstStyle/>
          <a:p>
            <a:fld id="{AF3E0CC7-F486-4567-A0CC-76F8D910702D}" type="datetimeFigureOut">
              <a:rPr lang="en-US" smtClean="0"/>
              <a:t>10/29/2026</a:t>
            </a:fld>
            <a:endParaRPr lang="en-US"/>
          </a:p>
        </p:txBody>
      </p:sp>
      <p:sp>
        <p:nvSpPr>
          <p:cNvPr id="6" name="Footer Placeholder 5">
            <a:extLst>
              <a:ext uri="{FF2B5EF4-FFF2-40B4-BE49-F238E27FC236}">
                <a16:creationId xmlns:a16="http://schemas.microsoft.com/office/drawing/2014/main" id="{E1449C12-157B-7DA4-912F-6BA3DCA1D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241B50-EDD1-382E-DDF4-D018A5184F9D}"/>
              </a:ext>
            </a:extLst>
          </p:cNvPr>
          <p:cNvSpPr>
            <a:spLocks noGrp="1"/>
          </p:cNvSpPr>
          <p:nvPr>
            <p:ph type="sldNum" sz="quarter" idx="12"/>
          </p:nvPr>
        </p:nvSpPr>
        <p:spPr/>
        <p:txBody>
          <a:bodyPr/>
          <a:lstStyle/>
          <a:p>
            <a:fld id="{F2BF79A1-E98E-46EE-B8C7-AEBDEC73F579}" type="slidenum">
              <a:rPr lang="en-US" smtClean="0"/>
              <a:t>‹#›</a:t>
            </a:fld>
            <a:endParaRPr lang="en-US"/>
          </a:p>
        </p:txBody>
      </p:sp>
    </p:spTree>
    <p:extLst>
      <p:ext uri="{BB962C8B-B14F-4D97-AF65-F5344CB8AC3E}">
        <p14:creationId xmlns:p14="http://schemas.microsoft.com/office/powerpoint/2010/main" val="2400618799"/>
      </p:ext>
    </p:extLst>
  </p:cSld>
  <p:clrMapOvr>
    <a:masterClrMapping/>
  </p:clrMapOvr>
</p:sldLayout>
</file>

<file path=ppt/slideLayouts/carlo_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D3A4D-562F-CD3D-3F43-D8F5CC7E4EE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2FF909C-4195-7573-AF43-1927EC592432}"/>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F5D2B3B-C604-AD76-F3CF-E0DC38D5AD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D7DF0E-AFFF-92E4-AFB9-4CC5504779BB}"/>
              </a:ext>
            </a:extLst>
          </p:cNvPr>
          <p:cNvSpPr>
            <a:spLocks noGrp="1"/>
          </p:cNvSpPr>
          <p:nvPr>
            <p:ph type="dt" sz="half" idx="10"/>
          </p:nvPr>
        </p:nvSpPr>
        <p:spPr/>
        <p:txBody>
          <a:bodyPr/>
          <a:lstStyle/>
          <a:p>
            <a:fld id="{AF3E0CC7-F486-4567-A0CC-76F8D910702D}" type="datetimeFigureOut">
              <a:rPr lang="en-US" smtClean="0"/>
              <a:t>10/29/2026</a:t>
            </a:fld>
            <a:endParaRPr lang="en-US"/>
          </a:p>
        </p:txBody>
      </p:sp>
      <p:sp>
        <p:nvSpPr>
          <p:cNvPr id="6" name="Footer Placeholder 5">
            <a:extLst>
              <a:ext uri="{FF2B5EF4-FFF2-40B4-BE49-F238E27FC236}">
                <a16:creationId xmlns:a16="http://schemas.microsoft.com/office/drawing/2014/main" id="{58045B86-BDFE-0474-271D-6946D8CE06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69EB9D-263A-750B-BC58-46A4DDC71B9B}"/>
              </a:ext>
            </a:extLst>
          </p:cNvPr>
          <p:cNvSpPr>
            <a:spLocks noGrp="1"/>
          </p:cNvSpPr>
          <p:nvPr>
            <p:ph type="sldNum" sz="quarter" idx="12"/>
          </p:nvPr>
        </p:nvSpPr>
        <p:spPr/>
        <p:txBody>
          <a:bodyPr/>
          <a:lstStyle/>
          <a:p>
            <a:fld id="{F2BF79A1-E98E-46EE-B8C7-AEBDEC73F579}" type="slidenum">
              <a:rPr lang="en-US" smtClean="0"/>
              <a:t>‹#›</a:t>
            </a:fld>
            <a:endParaRPr lang="en-US"/>
          </a:p>
        </p:txBody>
      </p:sp>
    </p:spTree>
    <p:extLst>
      <p:ext uri="{BB962C8B-B14F-4D97-AF65-F5344CB8AC3E}">
        <p14:creationId xmlns:p14="http://schemas.microsoft.com/office/powerpoint/2010/main" val="3979330765"/>
      </p:ext>
    </p:extLst>
  </p:cSld>
  <p:clrMapOvr>
    <a:masterClrMapping/>
  </p:clrMapOvr>
</p:sldLayout>
</file>

<file path=ppt/slideLayouts/carlo_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4B8D0-6B9C-EE96-86E1-B8D5521D0C2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1957E22-5651-A34F-B115-98770154FD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0CB718-3D9C-369D-C005-CFFDFA8A705F}"/>
              </a:ext>
            </a:extLst>
          </p:cNvPr>
          <p:cNvSpPr>
            <a:spLocks noGrp="1"/>
          </p:cNvSpPr>
          <p:nvPr>
            <p:ph type="dt" sz="half" idx="10"/>
          </p:nvPr>
        </p:nvSpPr>
        <p:spPr/>
        <p:txBody>
          <a:bodyPr/>
          <a:lstStyle/>
          <a:p>
            <a:fld id="{AF3E0CC7-F486-4567-A0CC-76F8D910702D}" type="datetimeFigureOut">
              <a:rPr lang="en-US" smtClean="0"/>
              <a:t>10/29/2026</a:t>
            </a:fld>
            <a:endParaRPr lang="en-US"/>
          </a:p>
        </p:txBody>
      </p:sp>
      <p:sp>
        <p:nvSpPr>
          <p:cNvPr id="5" name="Footer Placeholder 4">
            <a:extLst>
              <a:ext uri="{FF2B5EF4-FFF2-40B4-BE49-F238E27FC236}">
                <a16:creationId xmlns:a16="http://schemas.microsoft.com/office/drawing/2014/main" id="{467CCE91-D24E-AA6A-524D-718988445F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55FD963-BD3D-80A8-A6BC-8F3C4EEC38FB}"/>
              </a:ext>
            </a:extLst>
          </p:cNvPr>
          <p:cNvSpPr>
            <a:spLocks noGrp="1"/>
          </p:cNvSpPr>
          <p:nvPr>
            <p:ph type="sldNum" sz="quarter" idx="12"/>
          </p:nvPr>
        </p:nvSpPr>
        <p:spPr/>
        <p:txBody>
          <a:bodyPr/>
          <a:lstStyle/>
          <a:p>
            <a:fld id="{F2BF79A1-E98E-46EE-B8C7-AEBDEC73F579}" type="slidenum">
              <a:rPr lang="en-US" smtClean="0"/>
              <a:t>‹#›</a:t>
            </a:fld>
            <a:endParaRPr lang="en-US"/>
          </a:p>
        </p:txBody>
      </p:sp>
    </p:spTree>
    <p:extLst>
      <p:ext uri="{BB962C8B-B14F-4D97-AF65-F5344CB8AC3E}">
        <p14:creationId xmlns:p14="http://schemas.microsoft.com/office/powerpoint/2010/main" val="650690722"/>
      </p:ext>
    </p:extLst>
  </p:cSld>
  <p:clrMapOvr>
    <a:masterClrMapping/>
  </p:clrMapOvr>
</p:sldLayout>
</file>

<file path=ppt/slideLayouts/carlo_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E4AD1F2-4F91-B12C-D4E8-84BFF1D5C69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F8BFD26-0659-23A2-C63E-6A439165F7C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51F1BE-5AD0-CBCB-1455-BB3A2708D11A}"/>
              </a:ext>
            </a:extLst>
          </p:cNvPr>
          <p:cNvSpPr>
            <a:spLocks noGrp="1"/>
          </p:cNvSpPr>
          <p:nvPr>
            <p:ph type="dt" sz="half" idx="10"/>
          </p:nvPr>
        </p:nvSpPr>
        <p:spPr/>
        <p:txBody>
          <a:bodyPr/>
          <a:lstStyle/>
          <a:p>
            <a:fld id="{AF3E0CC7-F486-4567-A0CC-76F8D910702D}" type="datetimeFigureOut">
              <a:rPr lang="en-US" smtClean="0"/>
              <a:t>10/29/2026</a:t>
            </a:fld>
            <a:endParaRPr lang="en-US"/>
          </a:p>
        </p:txBody>
      </p:sp>
      <p:sp>
        <p:nvSpPr>
          <p:cNvPr id="5" name="Footer Placeholder 4">
            <a:extLst>
              <a:ext uri="{FF2B5EF4-FFF2-40B4-BE49-F238E27FC236}">
                <a16:creationId xmlns:a16="http://schemas.microsoft.com/office/drawing/2014/main" id="{0276419F-0D10-2758-1172-0FC6325FDE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6C1FE8-4C7F-6C77-A3E9-AFC91DAAFEA9}"/>
              </a:ext>
            </a:extLst>
          </p:cNvPr>
          <p:cNvSpPr>
            <a:spLocks noGrp="1"/>
          </p:cNvSpPr>
          <p:nvPr>
            <p:ph type="sldNum" sz="quarter" idx="12"/>
          </p:nvPr>
        </p:nvSpPr>
        <p:spPr/>
        <p:txBody>
          <a:bodyPr/>
          <a:lstStyle/>
          <a:p>
            <a:fld id="{F2BF79A1-E98E-46EE-B8C7-AEBDEC73F579}" type="slidenum">
              <a:rPr lang="en-US" smtClean="0"/>
              <a:t>‹#›</a:t>
            </a:fld>
            <a:endParaRPr lang="en-US"/>
          </a:p>
        </p:txBody>
      </p:sp>
    </p:spTree>
    <p:extLst>
      <p:ext uri="{BB962C8B-B14F-4D97-AF65-F5344CB8AC3E}">
        <p14:creationId xmlns:p14="http://schemas.microsoft.com/office/powerpoint/2010/main" val="1580615386"/>
      </p:ext>
    </p:extLst>
  </p:cSld>
  <p:clrMapOvr>
    <a:masterClrMapping/>
  </p:clrMapOvr>
</p:sldLayout>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1"/>
        <p:cNvGrpSpPr/>
        <p:nvPr/>
      </p:nvGrpSpPr>
      <p:grpSpPr>
        <a:xfrm>
          <a:off x="0" y="0"/>
          <a:ext cx="0" cy="0"/>
          <a:chOff x="0" y="0"/>
          <a:chExt cx="0" cy="0"/>
        </a:xfrm>
      </p:grpSpPr>
      <p:pic>
        <p:nvPicPr>
          <p:cNvPr id="12" name="Google Shape;12;p2"/>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13" name="Google Shape;13;p2"/>
          <p:cNvSpPr txBox="1">
            <a:spLocks noGrp="1"/>
          </p:cNvSpPr>
          <p:nvPr>
            <p:ph type="ctrTitle"/>
          </p:nvPr>
        </p:nvSpPr>
        <p:spPr>
          <a:xfrm>
            <a:off x="480506" y="601091"/>
            <a:ext cx="5735025" cy="2305339"/>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Clr>
                <a:srgbClr val="FFFFFF"/>
              </a:buClr>
              <a:buSzPts val="4000"/>
              <a:buFont typeface="Arial"/>
              <a:buNone/>
              <a:defRPr sz="4000" b="1" i="0" u="none" strike="noStrike" cap="none">
                <a:solidFill>
                  <a:srgbClr val="FFFFFF"/>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4" name="Google Shape;14;p2"/>
          <p:cNvSpPr txBox="1">
            <a:spLocks noGrp="1"/>
          </p:cNvSpPr>
          <p:nvPr>
            <p:ph type="subTitle" idx="1"/>
          </p:nvPr>
        </p:nvSpPr>
        <p:spPr>
          <a:xfrm>
            <a:off x="480506" y="3137687"/>
            <a:ext cx="5735025" cy="17526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rgbClr val="ECE9C6"/>
              </a:buClr>
              <a:buSzPts val="3200"/>
              <a:buFont typeface="Arial"/>
              <a:buNone/>
              <a:defRPr sz="3200" b="0" i="0" u="none" strike="noStrike" cap="none">
                <a:solidFill>
                  <a:srgbClr val="ECE9C6"/>
                </a:solidFill>
                <a:latin typeface="Arial"/>
                <a:ea typeface="Arial"/>
                <a:cs typeface="Arial"/>
                <a:sym typeface="Arial"/>
              </a:defRPr>
            </a:lvl1pPr>
            <a:lvl2pPr marR="0" lvl="1" algn="ctr" rtl="0">
              <a:spcBef>
                <a:spcPts val="560"/>
              </a:spcBef>
              <a:spcAft>
                <a:spcPts val="0"/>
              </a:spcAft>
              <a:buClr>
                <a:srgbClr val="888888"/>
              </a:buClr>
              <a:buSzPts val="2800"/>
              <a:buFont typeface="Arial"/>
              <a:buNone/>
              <a:defRPr sz="2800" b="0" i="0" u="none" strike="noStrike" cap="none">
                <a:solidFill>
                  <a:srgbClr val="888888"/>
                </a:solidFill>
                <a:latin typeface="Calibri"/>
                <a:ea typeface="Calibri"/>
                <a:cs typeface="Calibri"/>
                <a:sym typeface="Calibri"/>
              </a:defRPr>
            </a:lvl2pPr>
            <a:lvl3pPr marR="0" lvl="2" algn="ctr" rtl="0">
              <a:spcBef>
                <a:spcPts val="48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3pPr>
            <a:lvl4pPr marR="0" lvl="3"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4pPr>
            <a:lvl5pPr marR="0" lvl="4"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5pPr>
            <a:lvl6pPr marR="0" lvl="5"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R="0" lvl="6"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R="0" lvl="7"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R="0" lvl="8"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5"/>
        <p:cNvGrpSpPr/>
        <p:nvPr/>
      </p:nvGrpSpPr>
      <p:grpSpPr>
        <a:xfrm>
          <a:off x="0" y="0"/>
          <a:ext cx="0" cy="0"/>
          <a:chOff x="0" y="0"/>
          <a:chExt cx="0" cy="0"/>
        </a:xfrm>
      </p:grpSpPr>
      <p:sp>
        <p:nvSpPr>
          <p:cNvPr id="16" name="Google Shape;16;p3"/>
          <p:cNvSpPr txBox="1">
            <a:spLocks noGrp="1"/>
          </p:cNvSpPr>
          <p:nvPr>
            <p:ph type="body" idx="1"/>
          </p:nvPr>
        </p:nvSpPr>
        <p:spPr>
          <a:xfrm>
            <a:off x="932331" y="1861441"/>
            <a:ext cx="10327340" cy="3170264"/>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640"/>
              </a:spcBef>
              <a:spcAft>
                <a:spcPts val="0"/>
              </a:spcAft>
              <a:buClr>
                <a:srgbClr val="595959"/>
              </a:buClr>
              <a:buSzPts val="3200"/>
              <a:buFont typeface="Arial"/>
              <a:buNone/>
              <a:defRPr sz="3200" b="0" i="0" u="none" strike="noStrike" cap="none">
                <a:solidFill>
                  <a:srgbClr val="595959"/>
                </a:solidFill>
                <a:latin typeface="Arial"/>
                <a:ea typeface="Arial"/>
                <a:cs typeface="Arial"/>
                <a:sym typeface="Arial"/>
              </a:defRPr>
            </a:lvl1pPr>
            <a:lvl2pPr marL="914400" marR="0" lvl="1" indent="-228600" algn="l" rtl="0">
              <a:spcBef>
                <a:spcPts val="56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L="1371600" marR="0" lvl="2" indent="-228600" algn="l" rtl="0">
              <a:spcBef>
                <a:spcPts val="48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L="1828800" marR="0" lvl="3"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4pPr>
            <a:lvl5pPr marL="2286000" marR="0" lvl="4"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7" name="Google Shape;17;p3"/>
          <p:cNvSpPr txBox="1">
            <a:spLocks noGrp="1"/>
          </p:cNvSpPr>
          <p:nvPr>
            <p:ph type="title"/>
          </p:nvPr>
        </p:nvSpPr>
        <p:spPr>
          <a:xfrm>
            <a:off x="917987" y="570156"/>
            <a:ext cx="10341684" cy="1054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rgbClr val="3F3F3F"/>
              </a:buClr>
              <a:buSzPts val="4000"/>
              <a:buFont typeface="Arial"/>
              <a:buNone/>
              <a:defRPr sz="4000" b="1" i="0" u="none" strike="noStrike" cap="none">
                <a:solidFill>
                  <a:srgbClr val="3F3F3F"/>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920056" y="1204857"/>
            <a:ext cx="10339617" cy="1910716"/>
          </a:xfrm>
          <a:prstGeom prst="rect">
            <a:avLst/>
          </a:prstGeom>
          <a:noFill/>
          <a:ln>
            <a:noFill/>
          </a:ln>
        </p:spPr>
        <p:txBody>
          <a:bodyPr spcFirstLastPara="1" wrap="square" lIns="91425" tIns="45700" rIns="91425" bIns="45700" anchor="b" anchorCtr="0">
            <a:noAutofit/>
          </a:bodyPr>
          <a:lstStyle>
            <a:lvl1pPr marR="0" lvl="0" algn="ctr" rtl="0">
              <a:spcBef>
                <a:spcPts val="0"/>
              </a:spcBef>
              <a:spcAft>
                <a:spcPts val="0"/>
              </a:spcAft>
              <a:buClr>
                <a:srgbClr val="595959"/>
              </a:buClr>
              <a:buSzPts val="5400"/>
              <a:buFont typeface="Arial"/>
              <a:buNone/>
              <a:defRPr sz="5400" b="1" i="0" u="none" strike="noStrike" cap="none">
                <a:solidFill>
                  <a:srgbClr val="595959"/>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0" name="Google Shape;20;p4"/>
          <p:cNvSpPr txBox="1">
            <a:spLocks noGrp="1"/>
          </p:cNvSpPr>
          <p:nvPr>
            <p:ph type="body" idx="1"/>
          </p:nvPr>
        </p:nvSpPr>
        <p:spPr>
          <a:xfrm>
            <a:off x="932331" y="3324434"/>
            <a:ext cx="10312996" cy="1500187"/>
          </a:xfrm>
          <a:prstGeom prst="rect">
            <a:avLst/>
          </a:prstGeom>
          <a:noFill/>
          <a:ln>
            <a:noFill/>
          </a:ln>
        </p:spPr>
        <p:txBody>
          <a:bodyPr spcFirstLastPara="1" wrap="square" lIns="91425" tIns="45700" rIns="91425" bIns="45700" anchor="t" anchorCtr="0">
            <a:noAutofit/>
          </a:bodyPr>
          <a:lstStyle>
            <a:lvl1pPr marL="457200" marR="0" lvl="0" indent="-228600" algn="ctr"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228600" algn="l" rtl="0">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spcBef>
                <a:spcPts val="32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Areas">
  <p:cSld name="Two Content Areas">
    <p:spTree>
      <p:nvGrpSpPr>
        <p:cNvPr id="1" name="Shape 21"/>
        <p:cNvGrpSpPr/>
        <p:nvPr/>
      </p:nvGrpSpPr>
      <p:grpSpPr>
        <a:xfrm>
          <a:off x="0" y="0"/>
          <a:ext cx="0" cy="0"/>
          <a:chOff x="0" y="0"/>
          <a:chExt cx="0" cy="0"/>
        </a:xfrm>
      </p:grpSpPr>
      <p:sp>
        <p:nvSpPr>
          <p:cNvPr id="22" name="Google Shape;22;p5"/>
          <p:cNvSpPr txBox="1">
            <a:spLocks noGrp="1"/>
          </p:cNvSpPr>
          <p:nvPr>
            <p:ph type="title"/>
          </p:nvPr>
        </p:nvSpPr>
        <p:spPr>
          <a:xfrm>
            <a:off x="917987" y="570156"/>
            <a:ext cx="10341684" cy="1054250"/>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Clr>
                <a:srgbClr val="595959"/>
              </a:buClr>
              <a:buSzPts val="4300"/>
              <a:buFont typeface="Arial"/>
              <a:buNone/>
              <a:defRPr sz="4300" b="1" i="0" u="none" strike="noStrike" cap="none">
                <a:solidFill>
                  <a:srgbClr val="595959"/>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5"/>
          <p:cNvSpPr txBox="1">
            <a:spLocks noGrp="1"/>
          </p:cNvSpPr>
          <p:nvPr>
            <p:ph type="body" idx="1"/>
          </p:nvPr>
        </p:nvSpPr>
        <p:spPr>
          <a:xfrm>
            <a:off x="914400" y="1845482"/>
            <a:ext cx="5071872" cy="3434474"/>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4" name="Google Shape;24;p5"/>
          <p:cNvSpPr txBox="1">
            <a:spLocks noGrp="1"/>
          </p:cNvSpPr>
          <p:nvPr>
            <p:ph type="body" idx="2"/>
          </p:nvPr>
        </p:nvSpPr>
        <p:spPr>
          <a:xfrm>
            <a:off x="6193535" y="1845482"/>
            <a:ext cx="5071872" cy="3434474"/>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lumns with Subtitles">
  <p:cSld name="Two Columns with Subtitles">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917987" y="570156"/>
            <a:ext cx="10341684" cy="1054250"/>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Clr>
                <a:srgbClr val="595959"/>
              </a:buClr>
              <a:buSzPts val="4300"/>
              <a:buFont typeface="Arial"/>
              <a:buNone/>
              <a:defRPr sz="4300" b="1" i="0" u="none" strike="noStrike" cap="none">
                <a:solidFill>
                  <a:srgbClr val="595959"/>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7" name="Google Shape;27;p6"/>
          <p:cNvSpPr txBox="1">
            <a:spLocks noGrp="1"/>
          </p:cNvSpPr>
          <p:nvPr>
            <p:ph type="body" idx="1"/>
          </p:nvPr>
        </p:nvSpPr>
        <p:spPr>
          <a:xfrm>
            <a:off x="917989" y="1783601"/>
            <a:ext cx="4829239" cy="658368"/>
          </a:xfrm>
          <a:prstGeom prst="rect">
            <a:avLst/>
          </a:prstGeom>
          <a:noFill/>
          <a:ln>
            <a:noFill/>
          </a:ln>
        </p:spPr>
        <p:txBody>
          <a:bodyPr spcFirstLastPara="1" wrap="square" lIns="91425" tIns="45700" rIns="91425" bIns="45700" anchor="b" anchorCtr="0">
            <a:noAutofit/>
          </a:bodyPr>
          <a:lstStyle>
            <a:lvl1pPr marL="457200" marR="0" lvl="0" indent="-228600" algn="l" rtl="0">
              <a:spcBef>
                <a:spcPts val="500"/>
              </a:spcBef>
              <a:spcAft>
                <a:spcPts val="0"/>
              </a:spcAft>
              <a:buClr>
                <a:srgbClr val="595959"/>
              </a:buClr>
              <a:buSzPts val="2500"/>
              <a:buFont typeface="Arial"/>
              <a:buNone/>
              <a:defRPr sz="2500" b="1" i="0" u="none" strike="noStrike" cap="none">
                <a:solidFill>
                  <a:srgbClr val="595959"/>
                </a:solidFill>
                <a:latin typeface="Arial"/>
                <a:ea typeface="Arial"/>
                <a:cs typeface="Arial"/>
                <a:sym typeface="Arial"/>
              </a:defRPr>
            </a:lvl1pPr>
            <a:lvl2pPr marL="914400" marR="0" lvl="1" indent="-228600" algn="l" rtl="0">
              <a:spcBef>
                <a:spcPts val="4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spcBef>
                <a:spcPts val="36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28" name="Google Shape;28;p6"/>
          <p:cNvSpPr txBox="1">
            <a:spLocks noGrp="1"/>
          </p:cNvSpPr>
          <p:nvPr>
            <p:ph type="body" idx="2"/>
          </p:nvPr>
        </p:nvSpPr>
        <p:spPr>
          <a:xfrm>
            <a:off x="917986" y="2622290"/>
            <a:ext cx="4829241" cy="2595107"/>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2pPr>
            <a:lvl3pPr marL="1371600" marR="0" lvl="2"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3pPr>
            <a:lvl4pPr marL="1828800" marR="0" lvl="3"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4pPr>
            <a:lvl5pPr marL="2286000" marR="0" lvl="4"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5pPr>
            <a:lvl6pPr marL="2743200" marR="0" lvl="5"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L="3200400" marR="0" lvl="6"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L="3657600" marR="0" lvl="7"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L="4114800" marR="0" lvl="8"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29" name="Google Shape;29;p6"/>
          <p:cNvSpPr txBox="1">
            <a:spLocks noGrp="1"/>
          </p:cNvSpPr>
          <p:nvPr>
            <p:ph type="body" idx="3"/>
          </p:nvPr>
        </p:nvSpPr>
        <p:spPr>
          <a:xfrm>
            <a:off x="6381172" y="1783601"/>
            <a:ext cx="4884955" cy="658368"/>
          </a:xfrm>
          <a:prstGeom prst="rect">
            <a:avLst/>
          </a:prstGeom>
          <a:noFill/>
          <a:ln>
            <a:noFill/>
          </a:ln>
        </p:spPr>
        <p:txBody>
          <a:bodyPr spcFirstLastPara="1" wrap="square" lIns="91425" tIns="45700" rIns="91425" bIns="45700" anchor="b" anchorCtr="0">
            <a:noAutofit/>
          </a:bodyPr>
          <a:lstStyle>
            <a:lvl1pPr marL="457200" marR="0" lvl="0" indent="-228600" algn="l" rtl="0">
              <a:spcBef>
                <a:spcPts val="500"/>
              </a:spcBef>
              <a:spcAft>
                <a:spcPts val="0"/>
              </a:spcAft>
              <a:buClr>
                <a:srgbClr val="595959"/>
              </a:buClr>
              <a:buSzPts val="2500"/>
              <a:buFont typeface="Arial"/>
              <a:buNone/>
              <a:defRPr sz="2500" b="1" i="0" u="none" strike="noStrike" cap="none">
                <a:solidFill>
                  <a:srgbClr val="595959"/>
                </a:solidFill>
                <a:latin typeface="Arial"/>
                <a:ea typeface="Arial"/>
                <a:cs typeface="Arial"/>
                <a:sym typeface="Arial"/>
              </a:defRPr>
            </a:lvl1pPr>
            <a:lvl2pPr marL="914400" marR="0" lvl="1" indent="-228600" algn="l" rtl="0">
              <a:spcBef>
                <a:spcPts val="4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spcBef>
                <a:spcPts val="36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30" name="Google Shape;30;p6"/>
          <p:cNvSpPr txBox="1">
            <a:spLocks noGrp="1"/>
          </p:cNvSpPr>
          <p:nvPr>
            <p:ph type="body" idx="4"/>
          </p:nvPr>
        </p:nvSpPr>
        <p:spPr>
          <a:xfrm>
            <a:off x="6381171" y="2619063"/>
            <a:ext cx="4878500" cy="2595107"/>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228600"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L="1371600" marR="0" lvl="2" indent="-228600" algn="l" rtl="0">
              <a:spcBef>
                <a:spcPts val="36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L="1828800" marR="0" lvl="3"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L="2286000" marR="0" lvl="4"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L="2743200" marR="0" lvl="5"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L="3200400" marR="0" lvl="6"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L="3657600" marR="0" lvl="7"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L="4114800" marR="0" lvl="8"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p:cSld name="Content with Caption">
    <p:spTree>
      <p:nvGrpSpPr>
        <p:cNvPr id="1" name="Shape 31"/>
        <p:cNvGrpSpPr/>
        <p:nvPr/>
      </p:nvGrpSpPr>
      <p:grpSpPr>
        <a:xfrm>
          <a:off x="0" y="0"/>
          <a:ext cx="0" cy="0"/>
          <a:chOff x="0" y="0"/>
          <a:chExt cx="0" cy="0"/>
        </a:xfrm>
      </p:grpSpPr>
      <p:sp>
        <p:nvSpPr>
          <p:cNvPr id="32" name="Google Shape;32;p7"/>
          <p:cNvSpPr txBox="1">
            <a:spLocks noGrp="1"/>
          </p:cNvSpPr>
          <p:nvPr>
            <p:ph type="body" idx="1"/>
          </p:nvPr>
        </p:nvSpPr>
        <p:spPr>
          <a:xfrm>
            <a:off x="922671" y="559402"/>
            <a:ext cx="4774509" cy="4414019"/>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2pPr>
            <a:lvl3pPr marL="1371600" marR="0" lvl="2"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3pPr>
            <a:lvl4pPr marL="1828800" marR="0" lvl="3"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4pPr>
            <a:lvl5pPr marL="2286000" marR="0" lvl="4"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5pPr>
            <a:lvl6pPr marL="2743200" marR="0" lvl="5" indent="-228600"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L="3200400" marR="0" lvl="6" indent="-228600"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L="3657600" marR="0" lvl="7" indent="-228600"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L="4114800" marR="0" lvl="8" indent="-228600"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33" name="Google Shape;33;p7"/>
          <p:cNvSpPr txBox="1">
            <a:spLocks noGrp="1"/>
          </p:cNvSpPr>
          <p:nvPr>
            <p:ph type="body" idx="2"/>
          </p:nvPr>
        </p:nvSpPr>
        <p:spPr>
          <a:xfrm>
            <a:off x="6519751" y="562026"/>
            <a:ext cx="4774509" cy="4414018"/>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228600" algn="l" rtl="0">
              <a:spcBef>
                <a:spcPts val="24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spcBef>
                <a:spcPts val="2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3pPr>
            <a:lvl4pPr marL="1828800" marR="0" lvl="3"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4pPr>
            <a:lvl5pPr marL="2286000" marR="0" lvl="4"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5pPr>
            <a:lvl6pPr marL="2743200" marR="0" lvl="5"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hoto with Caption">
  <p:cSld name="Photo with Caption">
    <p:spTree>
      <p:nvGrpSpPr>
        <p:cNvPr id="1" name="Shape 34"/>
        <p:cNvGrpSpPr/>
        <p:nvPr/>
      </p:nvGrpSpPr>
      <p:grpSpPr>
        <a:xfrm>
          <a:off x="0" y="0"/>
          <a:ext cx="0" cy="0"/>
          <a:chOff x="0" y="0"/>
          <a:chExt cx="0" cy="0"/>
        </a:xfrm>
      </p:grpSpPr>
      <p:sp>
        <p:nvSpPr>
          <p:cNvPr id="35" name="Google Shape;35;p8"/>
          <p:cNvSpPr>
            <a:spLocks noGrp="1"/>
          </p:cNvSpPr>
          <p:nvPr>
            <p:ph type="pic" idx="2"/>
          </p:nvPr>
        </p:nvSpPr>
        <p:spPr>
          <a:xfrm rot="344365">
            <a:off x="1031301" y="536675"/>
            <a:ext cx="10104435" cy="3491307"/>
          </a:xfrm>
          <a:prstGeom prst="rect">
            <a:avLst/>
          </a:prstGeom>
          <a:solidFill>
            <a:srgbClr val="ECECEC"/>
          </a:solidFill>
          <a:ln w="190500" cap="flat" cmpd="sng">
            <a:solidFill>
              <a:srgbClr val="FFFFFF"/>
            </a:solidFill>
            <a:prstDash val="solid"/>
            <a:round/>
            <a:headEnd type="none" w="sm" len="sm"/>
            <a:tailEnd type="none" w="sm" len="sm"/>
          </a:ln>
        </p:spPr>
      </p:sp>
      <p:sp>
        <p:nvSpPr>
          <p:cNvPr id="36" name="Google Shape;36;p8"/>
          <p:cNvSpPr txBox="1">
            <a:spLocks noGrp="1"/>
          </p:cNvSpPr>
          <p:nvPr>
            <p:ph type="body" idx="1"/>
          </p:nvPr>
        </p:nvSpPr>
        <p:spPr>
          <a:xfrm>
            <a:off x="917987" y="4486019"/>
            <a:ext cx="10341685" cy="804862"/>
          </a:xfrm>
          <a:prstGeom prst="rect">
            <a:avLst/>
          </a:prstGeom>
          <a:noFill/>
          <a:ln>
            <a:noFill/>
          </a:ln>
        </p:spPr>
        <p:txBody>
          <a:bodyPr spcFirstLastPara="1" wrap="square" lIns="91425" tIns="45700" rIns="91425" bIns="45700" anchor="t" anchorCtr="0">
            <a:normAutofit/>
          </a:bodyPr>
          <a:lstStyle>
            <a:lvl1pPr marL="457200" marR="0" lvl="0" indent="-228600" algn="ctr" rtl="0">
              <a:spcBef>
                <a:spcPts val="320"/>
              </a:spcBef>
              <a:spcAft>
                <a:spcPts val="0"/>
              </a:spcAft>
              <a:buClr>
                <a:srgbClr val="595959"/>
              </a:buClr>
              <a:buSzPts val="1600"/>
              <a:buFont typeface="Arial"/>
              <a:buNone/>
              <a:defRPr sz="1600" b="0" i="0" u="none" strike="noStrike" cap="none">
                <a:solidFill>
                  <a:srgbClr val="595959"/>
                </a:solidFill>
                <a:latin typeface="Arial"/>
                <a:ea typeface="Arial"/>
                <a:cs typeface="Arial"/>
                <a:sym typeface="Arial"/>
              </a:defRPr>
            </a:lvl1pPr>
            <a:lvl2pPr marL="914400" marR="0" lvl="1" indent="-228600" algn="l" rtl="0">
              <a:spcBef>
                <a:spcPts val="24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spcBef>
                <a:spcPts val="2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3pPr>
            <a:lvl4pPr marL="1828800" marR="0" lvl="3"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4pPr>
            <a:lvl5pPr marL="2286000" marR="0" lvl="4"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5pPr>
            <a:lvl6pPr marL="2743200" marR="0" lvl="5"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losing Slide">
  <p:cSld name="Closing Slide">
    <p:spTree>
      <p:nvGrpSpPr>
        <p:cNvPr id="1" name="Shape 37"/>
        <p:cNvGrpSpPr/>
        <p:nvPr/>
      </p:nvGrpSpPr>
      <p:grpSpPr>
        <a:xfrm>
          <a:off x="0" y="0"/>
          <a:ext cx="0" cy="0"/>
          <a:chOff x="0" y="0"/>
          <a:chExt cx="0" cy="0"/>
        </a:xfrm>
      </p:grpSpPr>
      <p:pic>
        <p:nvPicPr>
          <p:cNvPr id="38" name="Google Shape;38;p9"/>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with Custom Photo">
  <p:cSld name="Title with Custom Photo">
    <p:spTree>
      <p:nvGrpSpPr>
        <p:cNvPr id="1" name="Shape 39"/>
        <p:cNvGrpSpPr/>
        <p:nvPr/>
      </p:nvGrpSpPr>
      <p:grpSpPr>
        <a:xfrm>
          <a:off x="0" y="0"/>
          <a:ext cx="0" cy="0"/>
          <a:chOff x="0" y="0"/>
          <a:chExt cx="0" cy="0"/>
        </a:xfrm>
      </p:grpSpPr>
      <p:pic>
        <p:nvPicPr>
          <p:cNvPr id="40" name="Google Shape;40;p10"/>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41" name="Google Shape;41;p10"/>
          <p:cNvSpPr txBox="1">
            <a:spLocks noGrp="1"/>
          </p:cNvSpPr>
          <p:nvPr>
            <p:ph type="subTitle" idx="1"/>
          </p:nvPr>
        </p:nvSpPr>
        <p:spPr>
          <a:xfrm>
            <a:off x="480504" y="3137687"/>
            <a:ext cx="4878397" cy="17526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lt2"/>
              </a:buClr>
              <a:buSzPts val="3200"/>
              <a:buFont typeface="Arial"/>
              <a:buNone/>
              <a:defRPr sz="3200" b="0" i="0" u="none" strike="noStrike" cap="none">
                <a:solidFill>
                  <a:schemeClr val="lt2"/>
                </a:solidFill>
                <a:latin typeface="Arial"/>
                <a:ea typeface="Arial"/>
                <a:cs typeface="Arial"/>
                <a:sym typeface="Arial"/>
              </a:defRPr>
            </a:lvl1pPr>
            <a:lvl2pPr marR="0" lvl="1" algn="ctr" rtl="0">
              <a:spcBef>
                <a:spcPts val="560"/>
              </a:spcBef>
              <a:spcAft>
                <a:spcPts val="0"/>
              </a:spcAft>
              <a:buClr>
                <a:srgbClr val="888888"/>
              </a:buClr>
              <a:buSzPts val="2800"/>
              <a:buFont typeface="Arial"/>
              <a:buNone/>
              <a:defRPr sz="2800" b="0" i="0" u="none" strike="noStrike" cap="none">
                <a:solidFill>
                  <a:srgbClr val="888888"/>
                </a:solidFill>
                <a:latin typeface="Calibri"/>
                <a:ea typeface="Calibri"/>
                <a:cs typeface="Calibri"/>
                <a:sym typeface="Calibri"/>
              </a:defRPr>
            </a:lvl2pPr>
            <a:lvl3pPr marR="0" lvl="2" algn="ctr" rtl="0">
              <a:spcBef>
                <a:spcPts val="48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3pPr>
            <a:lvl4pPr marR="0" lvl="3"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4pPr>
            <a:lvl5pPr marR="0" lvl="4"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5pPr>
            <a:lvl6pPr marR="0" lvl="5"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R="0" lvl="6"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R="0" lvl="7"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R="0" lvl="8"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42" name="Google Shape;42;p10"/>
          <p:cNvSpPr txBox="1">
            <a:spLocks noGrp="1"/>
          </p:cNvSpPr>
          <p:nvPr>
            <p:ph type="ctrTitle"/>
          </p:nvPr>
        </p:nvSpPr>
        <p:spPr>
          <a:xfrm>
            <a:off x="480506" y="601091"/>
            <a:ext cx="5974084" cy="2305339"/>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Clr>
                <a:srgbClr val="FFFFFF"/>
              </a:buClr>
              <a:buSzPts val="4000"/>
              <a:buFont typeface="Arial"/>
              <a:buNone/>
              <a:defRPr sz="4000" b="1" i="0" u="none" strike="noStrike" cap="none">
                <a:solidFill>
                  <a:srgbClr val="FFFFFF"/>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3" name="Google Shape;43;p10"/>
          <p:cNvSpPr>
            <a:spLocks noGrp="1"/>
          </p:cNvSpPr>
          <p:nvPr>
            <p:ph type="pic" idx="2"/>
          </p:nvPr>
        </p:nvSpPr>
        <p:spPr>
          <a:xfrm>
            <a:off x="2606493" y="0"/>
            <a:ext cx="9602107" cy="6858000"/>
          </a:xfrm>
          <a:prstGeom prst="rect">
            <a:avLst/>
          </a:prstGeom>
          <a:no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F8A3-0BCE-EEF3-9702-1ED5AE8DAEC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276FB8A-906B-63A3-82E3-1824BA49282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05D2237-08D3-C1A5-8C80-8808E9D42894}"/>
              </a:ext>
            </a:extLst>
          </p:cNvPr>
          <p:cNvSpPr>
            <a:spLocks noGrp="1"/>
          </p:cNvSpPr>
          <p:nvPr>
            <p:ph type="dt" sz="half" idx="10"/>
          </p:nvPr>
        </p:nvSpPr>
        <p:spPr/>
        <p:txBody>
          <a:bodyPr/>
          <a:lstStyle/>
          <a:p>
            <a:fld id="{CA226CB3-9231-4EF9-8F54-04FEBCEF8C2F}" type="datetimeFigureOut">
              <a:rPr lang="en-US" smtClean="0"/>
              <a:t>10/1/2026</a:t>
            </a:fld>
            <a:endParaRPr lang="en-US"/>
          </a:p>
        </p:txBody>
      </p:sp>
      <p:sp>
        <p:nvSpPr>
          <p:cNvPr id="5" name="Footer Placeholder 4">
            <a:extLst>
              <a:ext uri="{FF2B5EF4-FFF2-40B4-BE49-F238E27FC236}">
                <a16:creationId xmlns:a16="http://schemas.microsoft.com/office/drawing/2014/main" id="{154EBECE-FBE5-0A22-3E6C-13E54B17E1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A140B7-8D68-51F2-C041-2F0720DF5470}"/>
              </a:ext>
            </a:extLst>
          </p:cNvPr>
          <p:cNvSpPr>
            <a:spLocks noGrp="1"/>
          </p:cNvSpPr>
          <p:nvPr>
            <p:ph type="sldNum" sz="quarter" idx="12"/>
          </p:nvPr>
        </p:nvSpPr>
        <p:spPr/>
        <p:txBody>
          <a:bodyPr/>
          <a:lstStyle/>
          <a:p>
            <a:fld id="{B79208BB-2DFD-40AA-973E-A3388C5B0329}" type="slidenum">
              <a:rPr lang="en-US" smtClean="0"/>
              <a:t>‹#›</a:t>
            </a:fld>
            <a:endParaRPr lang="en-US"/>
          </a:p>
        </p:txBody>
      </p:sp>
    </p:spTree>
    <p:extLst>
      <p:ext uri="{BB962C8B-B14F-4D97-AF65-F5344CB8AC3E}">
        <p14:creationId xmlns:p14="http://schemas.microsoft.com/office/powerpoint/2010/main" val="25432698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47"/>
        <p:cNvGrpSpPr/>
        <p:nvPr/>
      </p:nvGrpSpPr>
      <p:grpSpPr>
        <a:xfrm>
          <a:off x="0" y="0"/>
          <a:ext cx="0" cy="0"/>
          <a:chOff x="0" y="0"/>
          <a:chExt cx="0" cy="0"/>
        </a:xfrm>
      </p:grpSpPr>
      <p:pic>
        <p:nvPicPr>
          <p:cNvPr id="48" name="Google Shape;48;p13"/>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49" name="Google Shape;49;p13"/>
          <p:cNvSpPr txBox="1">
            <a:spLocks noGrp="1"/>
          </p:cNvSpPr>
          <p:nvPr>
            <p:ph type="ctrTitle"/>
          </p:nvPr>
        </p:nvSpPr>
        <p:spPr>
          <a:xfrm>
            <a:off x="480506" y="601091"/>
            <a:ext cx="5735025" cy="2305339"/>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Clr>
                <a:srgbClr val="FFFFFF"/>
              </a:buClr>
              <a:buSzPts val="4000"/>
              <a:buFont typeface="Arial"/>
              <a:buNone/>
              <a:defRPr sz="4000" b="1" i="0" u="none" strike="noStrike" cap="none">
                <a:solidFill>
                  <a:srgbClr val="FFFFFF"/>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0" name="Google Shape;50;p13"/>
          <p:cNvSpPr txBox="1">
            <a:spLocks noGrp="1"/>
          </p:cNvSpPr>
          <p:nvPr>
            <p:ph type="subTitle" idx="1"/>
          </p:nvPr>
        </p:nvSpPr>
        <p:spPr>
          <a:xfrm>
            <a:off x="480506" y="3137687"/>
            <a:ext cx="5735025" cy="17526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rgbClr val="ECE9C6"/>
              </a:buClr>
              <a:buSzPts val="3200"/>
              <a:buFont typeface="Arial"/>
              <a:buNone/>
              <a:defRPr sz="3200" b="0" i="0" u="none" strike="noStrike" cap="none">
                <a:solidFill>
                  <a:srgbClr val="ECE9C6"/>
                </a:solidFill>
                <a:latin typeface="Arial"/>
                <a:ea typeface="Arial"/>
                <a:cs typeface="Arial"/>
                <a:sym typeface="Arial"/>
              </a:defRPr>
            </a:lvl1pPr>
            <a:lvl2pPr marR="0" lvl="1" algn="ctr" rtl="0">
              <a:spcBef>
                <a:spcPts val="560"/>
              </a:spcBef>
              <a:spcAft>
                <a:spcPts val="0"/>
              </a:spcAft>
              <a:buClr>
                <a:srgbClr val="888888"/>
              </a:buClr>
              <a:buSzPts val="2800"/>
              <a:buFont typeface="Arial"/>
              <a:buNone/>
              <a:defRPr sz="2800" b="0" i="0" u="none" strike="noStrike" cap="none">
                <a:solidFill>
                  <a:srgbClr val="888888"/>
                </a:solidFill>
                <a:latin typeface="Calibri"/>
                <a:ea typeface="Calibri"/>
                <a:cs typeface="Calibri"/>
                <a:sym typeface="Calibri"/>
              </a:defRPr>
            </a:lvl2pPr>
            <a:lvl3pPr marR="0" lvl="2" algn="ctr" rtl="0">
              <a:spcBef>
                <a:spcPts val="48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3pPr>
            <a:lvl4pPr marR="0" lvl="3"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4pPr>
            <a:lvl5pPr marR="0" lvl="4"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5pPr>
            <a:lvl6pPr marR="0" lvl="5"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R="0" lvl="6"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R="0" lvl="7"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R="0" lvl="8"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51"/>
        <p:cNvGrpSpPr/>
        <p:nvPr/>
      </p:nvGrpSpPr>
      <p:grpSpPr>
        <a:xfrm>
          <a:off x="0" y="0"/>
          <a:ext cx="0" cy="0"/>
          <a:chOff x="0" y="0"/>
          <a:chExt cx="0" cy="0"/>
        </a:xfrm>
      </p:grpSpPr>
      <p:sp>
        <p:nvSpPr>
          <p:cNvPr id="52" name="Google Shape;52;p14"/>
          <p:cNvSpPr txBox="1">
            <a:spLocks noGrp="1"/>
          </p:cNvSpPr>
          <p:nvPr>
            <p:ph type="body" idx="1"/>
          </p:nvPr>
        </p:nvSpPr>
        <p:spPr>
          <a:xfrm>
            <a:off x="932331" y="1264359"/>
            <a:ext cx="10327340" cy="4007555"/>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640"/>
              </a:spcBef>
              <a:spcAft>
                <a:spcPts val="0"/>
              </a:spcAft>
              <a:buClr>
                <a:srgbClr val="595959"/>
              </a:buClr>
              <a:buSzPts val="3200"/>
              <a:buFont typeface="Arial"/>
              <a:buNone/>
              <a:defRPr sz="3200" b="0" i="0" u="none" strike="noStrike" cap="none">
                <a:solidFill>
                  <a:srgbClr val="595959"/>
                </a:solidFill>
                <a:latin typeface="Arial"/>
                <a:ea typeface="Arial"/>
                <a:cs typeface="Arial"/>
                <a:sym typeface="Arial"/>
              </a:defRPr>
            </a:lvl1pPr>
            <a:lvl2pPr marL="914400" marR="0" lvl="1" indent="-228600" algn="l" rtl="0">
              <a:spcBef>
                <a:spcPts val="56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L="1371600" marR="0" lvl="2" indent="-228600" algn="l" rtl="0">
              <a:spcBef>
                <a:spcPts val="48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3pPr>
            <a:lvl4pPr marL="1828800" marR="0" lvl="3"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4pPr>
            <a:lvl5pPr marL="2286000" marR="0" lvl="4"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53" name="Google Shape;53;p14"/>
          <p:cNvSpPr txBox="1">
            <a:spLocks noGrp="1"/>
          </p:cNvSpPr>
          <p:nvPr>
            <p:ph type="title"/>
          </p:nvPr>
        </p:nvSpPr>
        <p:spPr>
          <a:xfrm>
            <a:off x="917987" y="366959"/>
            <a:ext cx="10341684" cy="73935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rgbClr val="3F3F3F"/>
              </a:buClr>
              <a:buSzPts val="4000"/>
              <a:buFont typeface="Arial"/>
              <a:buNone/>
              <a:defRPr sz="4000" b="1" i="0" u="none" strike="noStrike" cap="none">
                <a:solidFill>
                  <a:srgbClr val="3F3F3F"/>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54"/>
        <p:cNvGrpSpPr/>
        <p:nvPr/>
      </p:nvGrpSpPr>
      <p:grpSpPr>
        <a:xfrm>
          <a:off x="0" y="0"/>
          <a:ext cx="0" cy="0"/>
          <a:chOff x="0" y="0"/>
          <a:chExt cx="0" cy="0"/>
        </a:xfrm>
      </p:grpSpPr>
      <p:sp>
        <p:nvSpPr>
          <p:cNvPr id="55" name="Google Shape;55;p15"/>
          <p:cNvSpPr txBox="1">
            <a:spLocks noGrp="1"/>
          </p:cNvSpPr>
          <p:nvPr>
            <p:ph type="title"/>
          </p:nvPr>
        </p:nvSpPr>
        <p:spPr>
          <a:xfrm>
            <a:off x="920056" y="1204857"/>
            <a:ext cx="10339617" cy="1910716"/>
          </a:xfrm>
          <a:prstGeom prst="rect">
            <a:avLst/>
          </a:prstGeom>
          <a:noFill/>
          <a:ln>
            <a:noFill/>
          </a:ln>
        </p:spPr>
        <p:txBody>
          <a:bodyPr spcFirstLastPara="1" wrap="square" lIns="91425" tIns="45700" rIns="91425" bIns="45700" anchor="b" anchorCtr="0">
            <a:noAutofit/>
          </a:bodyPr>
          <a:lstStyle>
            <a:lvl1pPr marR="0" lvl="0" algn="ctr" rtl="0">
              <a:spcBef>
                <a:spcPts val="0"/>
              </a:spcBef>
              <a:spcAft>
                <a:spcPts val="0"/>
              </a:spcAft>
              <a:buClr>
                <a:srgbClr val="595959"/>
              </a:buClr>
              <a:buSzPts val="5400"/>
              <a:buFont typeface="Arial"/>
              <a:buNone/>
              <a:defRPr sz="5400" b="1" i="0" u="none" strike="noStrike" cap="none">
                <a:solidFill>
                  <a:srgbClr val="595959"/>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6" name="Google Shape;56;p15"/>
          <p:cNvSpPr txBox="1">
            <a:spLocks noGrp="1"/>
          </p:cNvSpPr>
          <p:nvPr>
            <p:ph type="body" idx="1"/>
          </p:nvPr>
        </p:nvSpPr>
        <p:spPr>
          <a:xfrm>
            <a:off x="932331" y="3324434"/>
            <a:ext cx="10312996" cy="1500187"/>
          </a:xfrm>
          <a:prstGeom prst="rect">
            <a:avLst/>
          </a:prstGeom>
          <a:noFill/>
          <a:ln>
            <a:noFill/>
          </a:ln>
        </p:spPr>
        <p:txBody>
          <a:bodyPr spcFirstLastPara="1" wrap="square" lIns="91425" tIns="45700" rIns="91425" bIns="45700" anchor="t" anchorCtr="0">
            <a:noAutofit/>
          </a:bodyPr>
          <a:lstStyle>
            <a:lvl1pPr marL="457200" marR="0" lvl="0" indent="-228600" algn="ctr"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228600" algn="l" rtl="0">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spcBef>
                <a:spcPts val="32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wo Content Areas">
  <p:cSld name="Two Content Areas">
    <p:spTree>
      <p:nvGrpSpPr>
        <p:cNvPr id="1" name="Shape 57"/>
        <p:cNvGrpSpPr/>
        <p:nvPr/>
      </p:nvGrpSpPr>
      <p:grpSpPr>
        <a:xfrm>
          <a:off x="0" y="0"/>
          <a:ext cx="0" cy="0"/>
          <a:chOff x="0" y="0"/>
          <a:chExt cx="0" cy="0"/>
        </a:xfrm>
      </p:grpSpPr>
      <p:sp>
        <p:nvSpPr>
          <p:cNvPr id="58" name="Google Shape;58;p16"/>
          <p:cNvSpPr txBox="1">
            <a:spLocks noGrp="1"/>
          </p:cNvSpPr>
          <p:nvPr>
            <p:ph type="title"/>
          </p:nvPr>
        </p:nvSpPr>
        <p:spPr>
          <a:xfrm>
            <a:off x="917987" y="570156"/>
            <a:ext cx="10341684" cy="1054250"/>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Clr>
                <a:srgbClr val="595959"/>
              </a:buClr>
              <a:buSzPts val="4300"/>
              <a:buFont typeface="Arial"/>
              <a:buNone/>
              <a:defRPr sz="4300" b="1" i="0" u="none" strike="noStrike" cap="none">
                <a:solidFill>
                  <a:srgbClr val="595959"/>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9" name="Google Shape;59;p16"/>
          <p:cNvSpPr txBox="1">
            <a:spLocks noGrp="1"/>
          </p:cNvSpPr>
          <p:nvPr>
            <p:ph type="body" idx="1"/>
          </p:nvPr>
        </p:nvSpPr>
        <p:spPr>
          <a:xfrm>
            <a:off x="914400" y="1845482"/>
            <a:ext cx="5071872" cy="3434474"/>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0" name="Google Shape;60;p16"/>
          <p:cNvSpPr txBox="1">
            <a:spLocks noGrp="1"/>
          </p:cNvSpPr>
          <p:nvPr>
            <p:ph type="body" idx="2"/>
          </p:nvPr>
        </p:nvSpPr>
        <p:spPr>
          <a:xfrm>
            <a:off x="6193535" y="1845482"/>
            <a:ext cx="5071872" cy="3434474"/>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wo Columns with Subtitles">
  <p:cSld name="Two Columns with Subtitles">
    <p:spTree>
      <p:nvGrpSpPr>
        <p:cNvPr id="1" name="Shape 61"/>
        <p:cNvGrpSpPr/>
        <p:nvPr/>
      </p:nvGrpSpPr>
      <p:grpSpPr>
        <a:xfrm>
          <a:off x="0" y="0"/>
          <a:ext cx="0" cy="0"/>
          <a:chOff x="0" y="0"/>
          <a:chExt cx="0" cy="0"/>
        </a:xfrm>
      </p:grpSpPr>
      <p:sp>
        <p:nvSpPr>
          <p:cNvPr id="62" name="Google Shape;62;p17"/>
          <p:cNvSpPr txBox="1">
            <a:spLocks noGrp="1"/>
          </p:cNvSpPr>
          <p:nvPr>
            <p:ph type="title"/>
          </p:nvPr>
        </p:nvSpPr>
        <p:spPr>
          <a:xfrm>
            <a:off x="917987" y="570156"/>
            <a:ext cx="10341684" cy="1054250"/>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Clr>
                <a:srgbClr val="595959"/>
              </a:buClr>
              <a:buSzPts val="4300"/>
              <a:buFont typeface="Arial"/>
              <a:buNone/>
              <a:defRPr sz="4300" b="1" i="0" u="none" strike="noStrike" cap="none">
                <a:solidFill>
                  <a:srgbClr val="595959"/>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3" name="Google Shape;63;p17"/>
          <p:cNvSpPr txBox="1">
            <a:spLocks noGrp="1"/>
          </p:cNvSpPr>
          <p:nvPr>
            <p:ph type="body" idx="1"/>
          </p:nvPr>
        </p:nvSpPr>
        <p:spPr>
          <a:xfrm>
            <a:off x="917989" y="1783601"/>
            <a:ext cx="4829239" cy="658368"/>
          </a:xfrm>
          <a:prstGeom prst="rect">
            <a:avLst/>
          </a:prstGeom>
          <a:noFill/>
          <a:ln>
            <a:noFill/>
          </a:ln>
        </p:spPr>
        <p:txBody>
          <a:bodyPr spcFirstLastPara="1" wrap="square" lIns="91425" tIns="45700" rIns="91425" bIns="45700" anchor="b" anchorCtr="0">
            <a:noAutofit/>
          </a:bodyPr>
          <a:lstStyle>
            <a:lvl1pPr marL="457200" marR="0" lvl="0" indent="-228600" algn="l" rtl="0">
              <a:spcBef>
                <a:spcPts val="500"/>
              </a:spcBef>
              <a:spcAft>
                <a:spcPts val="0"/>
              </a:spcAft>
              <a:buClr>
                <a:srgbClr val="595959"/>
              </a:buClr>
              <a:buSzPts val="2500"/>
              <a:buFont typeface="Arial"/>
              <a:buNone/>
              <a:defRPr sz="2500" b="1" i="0" u="none" strike="noStrike" cap="none">
                <a:solidFill>
                  <a:srgbClr val="595959"/>
                </a:solidFill>
                <a:latin typeface="Arial"/>
                <a:ea typeface="Arial"/>
                <a:cs typeface="Arial"/>
                <a:sym typeface="Arial"/>
              </a:defRPr>
            </a:lvl1pPr>
            <a:lvl2pPr marL="914400" marR="0" lvl="1" indent="-228600" algn="l" rtl="0">
              <a:spcBef>
                <a:spcPts val="4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spcBef>
                <a:spcPts val="36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4" name="Google Shape;64;p17"/>
          <p:cNvSpPr txBox="1">
            <a:spLocks noGrp="1"/>
          </p:cNvSpPr>
          <p:nvPr>
            <p:ph type="body" idx="2"/>
          </p:nvPr>
        </p:nvSpPr>
        <p:spPr>
          <a:xfrm>
            <a:off x="917986" y="2622290"/>
            <a:ext cx="4829241" cy="2595107"/>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2pPr>
            <a:lvl3pPr marL="1371600" marR="0" lvl="2"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3pPr>
            <a:lvl4pPr marL="1828800" marR="0" lvl="3"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4pPr>
            <a:lvl5pPr marL="2286000" marR="0" lvl="4"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5pPr>
            <a:lvl6pPr marL="2743200" marR="0" lvl="5"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L="3200400" marR="0" lvl="6"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L="3657600" marR="0" lvl="7"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L="4114800" marR="0" lvl="8"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65" name="Google Shape;65;p17"/>
          <p:cNvSpPr txBox="1">
            <a:spLocks noGrp="1"/>
          </p:cNvSpPr>
          <p:nvPr>
            <p:ph type="body" idx="3"/>
          </p:nvPr>
        </p:nvSpPr>
        <p:spPr>
          <a:xfrm>
            <a:off x="6381172" y="1783601"/>
            <a:ext cx="4884955" cy="658368"/>
          </a:xfrm>
          <a:prstGeom prst="rect">
            <a:avLst/>
          </a:prstGeom>
          <a:noFill/>
          <a:ln>
            <a:noFill/>
          </a:ln>
        </p:spPr>
        <p:txBody>
          <a:bodyPr spcFirstLastPara="1" wrap="square" lIns="91425" tIns="45700" rIns="91425" bIns="45700" anchor="b" anchorCtr="0">
            <a:noAutofit/>
          </a:bodyPr>
          <a:lstStyle>
            <a:lvl1pPr marL="457200" marR="0" lvl="0" indent="-228600" algn="l" rtl="0">
              <a:spcBef>
                <a:spcPts val="500"/>
              </a:spcBef>
              <a:spcAft>
                <a:spcPts val="0"/>
              </a:spcAft>
              <a:buClr>
                <a:srgbClr val="595959"/>
              </a:buClr>
              <a:buSzPts val="2500"/>
              <a:buFont typeface="Arial"/>
              <a:buNone/>
              <a:defRPr sz="2500" b="1" i="0" u="none" strike="noStrike" cap="none">
                <a:solidFill>
                  <a:srgbClr val="595959"/>
                </a:solidFill>
                <a:latin typeface="Arial"/>
                <a:ea typeface="Arial"/>
                <a:cs typeface="Arial"/>
                <a:sym typeface="Arial"/>
              </a:defRPr>
            </a:lvl1pPr>
            <a:lvl2pPr marL="914400" marR="0" lvl="1" indent="-228600" algn="l" rtl="0">
              <a:spcBef>
                <a:spcPts val="4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spcBef>
                <a:spcPts val="36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6" name="Google Shape;66;p17"/>
          <p:cNvSpPr txBox="1">
            <a:spLocks noGrp="1"/>
          </p:cNvSpPr>
          <p:nvPr>
            <p:ph type="body" idx="4"/>
          </p:nvPr>
        </p:nvSpPr>
        <p:spPr>
          <a:xfrm>
            <a:off x="6381171" y="2619063"/>
            <a:ext cx="4878500" cy="2595107"/>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228600"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L="1371600" marR="0" lvl="2" indent="-228600" algn="l" rtl="0">
              <a:spcBef>
                <a:spcPts val="36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L="1828800" marR="0" lvl="3"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L="2286000" marR="0" lvl="4"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L="2743200" marR="0" lvl="5"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L="3200400" marR="0" lvl="6"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L="3657600" marR="0" lvl="7"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L="4114800" marR="0" lvl="8" indent="-228600" algn="l" rtl="0">
              <a:spcBef>
                <a:spcPts val="32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ntent with Caption">
  <p:cSld name="Content with Caption">
    <p:spTree>
      <p:nvGrpSpPr>
        <p:cNvPr id="1" name="Shape 67"/>
        <p:cNvGrpSpPr/>
        <p:nvPr/>
      </p:nvGrpSpPr>
      <p:grpSpPr>
        <a:xfrm>
          <a:off x="0" y="0"/>
          <a:ext cx="0" cy="0"/>
          <a:chOff x="0" y="0"/>
          <a:chExt cx="0" cy="0"/>
        </a:xfrm>
      </p:grpSpPr>
      <p:sp>
        <p:nvSpPr>
          <p:cNvPr id="68" name="Google Shape;68;p18"/>
          <p:cNvSpPr txBox="1">
            <a:spLocks noGrp="1"/>
          </p:cNvSpPr>
          <p:nvPr>
            <p:ph type="body" idx="1"/>
          </p:nvPr>
        </p:nvSpPr>
        <p:spPr>
          <a:xfrm>
            <a:off x="922671" y="559402"/>
            <a:ext cx="4774509" cy="4414019"/>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2pPr>
            <a:lvl3pPr marL="1371600" marR="0" lvl="2"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3pPr>
            <a:lvl4pPr marL="1828800" marR="0" lvl="3"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4pPr>
            <a:lvl5pPr marL="2286000" marR="0" lvl="4" indent="-228600" algn="l" rtl="0">
              <a:spcBef>
                <a:spcPts val="4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5pPr>
            <a:lvl6pPr marL="2743200" marR="0" lvl="5" indent="-228600"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L="3200400" marR="0" lvl="6" indent="-228600"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L="3657600" marR="0" lvl="7" indent="-228600"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L="4114800" marR="0" lvl="8" indent="-228600"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9" name="Google Shape;69;p18"/>
          <p:cNvSpPr txBox="1">
            <a:spLocks noGrp="1"/>
          </p:cNvSpPr>
          <p:nvPr>
            <p:ph type="body" idx="2"/>
          </p:nvPr>
        </p:nvSpPr>
        <p:spPr>
          <a:xfrm>
            <a:off x="6519751" y="562026"/>
            <a:ext cx="4774509" cy="4414018"/>
          </a:xfrm>
          <a:prstGeom prst="rect">
            <a:avLst/>
          </a:prstGeom>
          <a:noFill/>
          <a:ln>
            <a:noFill/>
          </a:ln>
        </p:spPr>
        <p:txBody>
          <a:bodyPr spcFirstLastPara="1" wrap="square" lIns="91425" tIns="45700" rIns="91425" bIns="45700" anchor="t" anchorCtr="0">
            <a:normAutofit/>
          </a:bodyPr>
          <a:lstStyle>
            <a:lvl1pPr marL="457200" marR="0" lvl="0" indent="-228600" algn="l" rtl="0">
              <a:spcBef>
                <a:spcPts val="400"/>
              </a:spcBef>
              <a:spcAft>
                <a:spcPts val="0"/>
              </a:spcAft>
              <a:buClr>
                <a:srgbClr val="595959"/>
              </a:buClr>
              <a:buSzPts val="2000"/>
              <a:buFont typeface="Arial"/>
              <a:buNone/>
              <a:defRPr sz="2000" b="0" i="0" u="none" strike="noStrike" cap="none">
                <a:solidFill>
                  <a:srgbClr val="595959"/>
                </a:solidFill>
                <a:latin typeface="Arial"/>
                <a:ea typeface="Arial"/>
                <a:cs typeface="Arial"/>
                <a:sym typeface="Arial"/>
              </a:defRPr>
            </a:lvl1pPr>
            <a:lvl2pPr marL="914400" marR="0" lvl="1" indent="-228600" algn="l" rtl="0">
              <a:spcBef>
                <a:spcPts val="24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spcBef>
                <a:spcPts val="2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3pPr>
            <a:lvl4pPr marL="1828800" marR="0" lvl="3"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4pPr>
            <a:lvl5pPr marL="2286000" marR="0" lvl="4"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5pPr>
            <a:lvl6pPr marL="2743200" marR="0" lvl="5"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Photo with Caption">
  <p:cSld name="Photo with Caption">
    <p:spTree>
      <p:nvGrpSpPr>
        <p:cNvPr id="1" name="Shape 70"/>
        <p:cNvGrpSpPr/>
        <p:nvPr/>
      </p:nvGrpSpPr>
      <p:grpSpPr>
        <a:xfrm>
          <a:off x="0" y="0"/>
          <a:ext cx="0" cy="0"/>
          <a:chOff x="0" y="0"/>
          <a:chExt cx="0" cy="0"/>
        </a:xfrm>
      </p:grpSpPr>
      <p:sp>
        <p:nvSpPr>
          <p:cNvPr id="71" name="Google Shape;71;p19"/>
          <p:cNvSpPr>
            <a:spLocks noGrp="1"/>
          </p:cNvSpPr>
          <p:nvPr>
            <p:ph type="pic" idx="2"/>
          </p:nvPr>
        </p:nvSpPr>
        <p:spPr>
          <a:xfrm rot="344365">
            <a:off x="1031301" y="536675"/>
            <a:ext cx="10104435" cy="3491307"/>
          </a:xfrm>
          <a:prstGeom prst="rect">
            <a:avLst/>
          </a:prstGeom>
          <a:solidFill>
            <a:srgbClr val="ECECEC"/>
          </a:solidFill>
          <a:ln w="190500" cap="flat" cmpd="sng">
            <a:solidFill>
              <a:srgbClr val="FFFFFF"/>
            </a:solidFill>
            <a:prstDash val="solid"/>
            <a:round/>
            <a:headEnd type="none" w="sm" len="sm"/>
            <a:tailEnd type="none" w="sm" len="sm"/>
          </a:ln>
        </p:spPr>
      </p:sp>
      <p:sp>
        <p:nvSpPr>
          <p:cNvPr id="72" name="Google Shape;72;p19"/>
          <p:cNvSpPr txBox="1">
            <a:spLocks noGrp="1"/>
          </p:cNvSpPr>
          <p:nvPr>
            <p:ph type="body" idx="1"/>
          </p:nvPr>
        </p:nvSpPr>
        <p:spPr>
          <a:xfrm>
            <a:off x="917987" y="4486019"/>
            <a:ext cx="10341685" cy="804862"/>
          </a:xfrm>
          <a:prstGeom prst="rect">
            <a:avLst/>
          </a:prstGeom>
          <a:noFill/>
          <a:ln>
            <a:noFill/>
          </a:ln>
        </p:spPr>
        <p:txBody>
          <a:bodyPr spcFirstLastPara="1" wrap="square" lIns="91425" tIns="45700" rIns="91425" bIns="45700" anchor="t" anchorCtr="0">
            <a:normAutofit/>
          </a:bodyPr>
          <a:lstStyle>
            <a:lvl1pPr marL="457200" marR="0" lvl="0" indent="-228600" algn="ctr" rtl="0">
              <a:spcBef>
                <a:spcPts val="320"/>
              </a:spcBef>
              <a:spcAft>
                <a:spcPts val="0"/>
              </a:spcAft>
              <a:buClr>
                <a:srgbClr val="595959"/>
              </a:buClr>
              <a:buSzPts val="1600"/>
              <a:buFont typeface="Arial"/>
              <a:buNone/>
              <a:defRPr sz="1600" b="0" i="0" u="none" strike="noStrike" cap="none">
                <a:solidFill>
                  <a:srgbClr val="595959"/>
                </a:solidFill>
                <a:latin typeface="Arial"/>
                <a:ea typeface="Arial"/>
                <a:cs typeface="Arial"/>
                <a:sym typeface="Arial"/>
              </a:defRPr>
            </a:lvl1pPr>
            <a:lvl2pPr marL="914400" marR="0" lvl="1" indent="-228600" algn="l" rtl="0">
              <a:spcBef>
                <a:spcPts val="24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spcBef>
                <a:spcPts val="2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3pPr>
            <a:lvl4pPr marL="1828800" marR="0" lvl="3"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4pPr>
            <a:lvl5pPr marL="2286000" marR="0" lvl="4"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5pPr>
            <a:lvl6pPr marL="2743200" marR="0" lvl="5"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losing Slide">
  <p:cSld name="Closing Slide">
    <p:spTree>
      <p:nvGrpSpPr>
        <p:cNvPr id="1" name="Shape 73"/>
        <p:cNvGrpSpPr/>
        <p:nvPr/>
      </p:nvGrpSpPr>
      <p:grpSpPr>
        <a:xfrm>
          <a:off x="0" y="0"/>
          <a:ext cx="0" cy="0"/>
          <a:chOff x="0" y="0"/>
          <a:chExt cx="0" cy="0"/>
        </a:xfrm>
      </p:grpSpPr>
      <p:pic>
        <p:nvPicPr>
          <p:cNvPr id="74" name="Google Shape;74;p20"/>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with Custom Photo">
  <p:cSld name="Title with Custom Photo">
    <p:spTree>
      <p:nvGrpSpPr>
        <p:cNvPr id="1" name="Shape 75"/>
        <p:cNvGrpSpPr/>
        <p:nvPr/>
      </p:nvGrpSpPr>
      <p:grpSpPr>
        <a:xfrm>
          <a:off x="0" y="0"/>
          <a:ext cx="0" cy="0"/>
          <a:chOff x="0" y="0"/>
          <a:chExt cx="0" cy="0"/>
        </a:xfrm>
      </p:grpSpPr>
      <p:pic>
        <p:nvPicPr>
          <p:cNvPr id="76" name="Google Shape;76;p21"/>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77" name="Google Shape;77;p21"/>
          <p:cNvSpPr txBox="1">
            <a:spLocks noGrp="1"/>
          </p:cNvSpPr>
          <p:nvPr>
            <p:ph type="subTitle" idx="1"/>
          </p:nvPr>
        </p:nvSpPr>
        <p:spPr>
          <a:xfrm>
            <a:off x="480504" y="3137687"/>
            <a:ext cx="4878397" cy="17526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lt2"/>
              </a:buClr>
              <a:buSzPts val="3200"/>
              <a:buFont typeface="Arial"/>
              <a:buNone/>
              <a:defRPr sz="3200" b="0" i="0" u="none" strike="noStrike" cap="none">
                <a:solidFill>
                  <a:schemeClr val="lt2"/>
                </a:solidFill>
                <a:latin typeface="Arial"/>
                <a:ea typeface="Arial"/>
                <a:cs typeface="Arial"/>
                <a:sym typeface="Arial"/>
              </a:defRPr>
            </a:lvl1pPr>
            <a:lvl2pPr marR="0" lvl="1" algn="ctr" rtl="0">
              <a:spcBef>
                <a:spcPts val="560"/>
              </a:spcBef>
              <a:spcAft>
                <a:spcPts val="0"/>
              </a:spcAft>
              <a:buClr>
                <a:srgbClr val="888888"/>
              </a:buClr>
              <a:buSzPts val="2800"/>
              <a:buFont typeface="Arial"/>
              <a:buNone/>
              <a:defRPr sz="2800" b="0" i="0" u="none" strike="noStrike" cap="none">
                <a:solidFill>
                  <a:srgbClr val="888888"/>
                </a:solidFill>
                <a:latin typeface="Calibri"/>
                <a:ea typeface="Calibri"/>
                <a:cs typeface="Calibri"/>
                <a:sym typeface="Calibri"/>
              </a:defRPr>
            </a:lvl2pPr>
            <a:lvl3pPr marR="0" lvl="2" algn="ctr" rtl="0">
              <a:spcBef>
                <a:spcPts val="48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3pPr>
            <a:lvl4pPr marR="0" lvl="3"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4pPr>
            <a:lvl5pPr marR="0" lvl="4"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5pPr>
            <a:lvl6pPr marR="0" lvl="5"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R="0" lvl="6"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R="0" lvl="7"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R="0" lvl="8"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78" name="Google Shape;78;p21"/>
          <p:cNvSpPr txBox="1">
            <a:spLocks noGrp="1"/>
          </p:cNvSpPr>
          <p:nvPr>
            <p:ph type="ctrTitle"/>
          </p:nvPr>
        </p:nvSpPr>
        <p:spPr>
          <a:xfrm>
            <a:off x="480506" y="601091"/>
            <a:ext cx="5974084" cy="2305339"/>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Clr>
                <a:srgbClr val="FFFFFF"/>
              </a:buClr>
              <a:buSzPts val="4000"/>
              <a:buFont typeface="Arial"/>
              <a:buNone/>
              <a:defRPr sz="4000" b="1" i="0" u="none" strike="noStrike" cap="none">
                <a:solidFill>
                  <a:srgbClr val="FFFFFF"/>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9" name="Google Shape;79;p21"/>
          <p:cNvSpPr>
            <a:spLocks noGrp="1"/>
          </p:cNvSpPr>
          <p:nvPr>
            <p:ph type="pic" idx="2"/>
          </p:nvPr>
        </p:nvSpPr>
        <p:spPr>
          <a:xfrm>
            <a:off x="2606493" y="0"/>
            <a:ext cx="9602107" cy="6858000"/>
          </a:xfrm>
          <a:prstGeom prst="rect">
            <a:avLst/>
          </a:prstGeom>
          <a:noFill/>
          <a:ln>
            <a:noFill/>
          </a:ln>
        </p:spPr>
      </p:sp>
    </p:spTree>
  </p:cSld>
  <p:clrMapOvr>
    <a:masterClrMapping/>
  </p:clrMapOvr>
</p:sldLayout>
</file>

<file path=ppt/slideMasters/_rels/carlo_slideMaster1.xml.rels><?xml version='1.0' encoding='UTF-8' standalone='yes'?>
<Relationships xmlns="http://schemas.openxmlformats.org/package/2006/relationships"><Relationship Id="rId8" Type="http://schemas.openxmlformats.org/officeDocument/2006/relationships/slideLayout" Target="../slideLayouts/carlo_slideLayout8.xml"/><Relationship Id="rId3" Type="http://schemas.openxmlformats.org/officeDocument/2006/relationships/slideLayout" Target="../slideLayouts/carlo_slideLayout3.xml"/><Relationship Id="rId7" Type="http://schemas.openxmlformats.org/officeDocument/2006/relationships/slideLayout" Target="../slideLayouts/carlo_slideLayout7.xml"/><Relationship Id="rId12" Type="http://schemas.openxmlformats.org/officeDocument/2006/relationships/theme" Target="../theme/carlo_theme1.xml"/><Relationship Id="rId2" Type="http://schemas.openxmlformats.org/officeDocument/2006/relationships/slideLayout" Target="../slideLayouts/carlo_slideLayout2.xml"/><Relationship Id="rId1" Type="http://schemas.openxmlformats.org/officeDocument/2006/relationships/slideLayout" Target="../slideLayouts/carlo_slideLayout1.xml"/><Relationship Id="rId6" Type="http://schemas.openxmlformats.org/officeDocument/2006/relationships/slideLayout" Target="../slideLayouts/carlo_slideLayout6.xml"/><Relationship Id="rId11" Type="http://schemas.openxmlformats.org/officeDocument/2006/relationships/slideLayout" Target="../slideLayouts/carlo_slideLayout11.xml"/><Relationship Id="rId5" Type="http://schemas.openxmlformats.org/officeDocument/2006/relationships/slideLayout" Target="../slideLayouts/carlo_slideLayout5.xml"/><Relationship Id="rId10" Type="http://schemas.openxmlformats.org/officeDocument/2006/relationships/slideLayout" Target="../slideLayouts/carlo_slideLayout10.xml"/><Relationship Id="rId4" Type="http://schemas.openxmlformats.org/officeDocument/2006/relationships/slideLayout" Target="../slideLayouts/carlo_slideLayout4.xml"/><Relationship Id="rId9" Type="http://schemas.openxmlformats.org/officeDocument/2006/relationships/slideLayout" Target="../slideLayouts/carlo_slideLayout9.xml"/></Relationships>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theme" Target="../theme/theme2.xml"/><Relationship Id="rId11" Type="http://schemas.openxmlformats.org/officeDocument/2006/relationships/image" Target="../media/image1.jpg"/></Relationships>
</file>

<file path=ppt/slideMasters/carlo_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2A4FD00-87CD-9236-8DA7-62C8D88D536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81C69A9-5AA8-00F3-B914-43DA714695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FC0F831-23D7-7C48-02D8-84342BD44E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3E0CC7-F486-4567-A0CC-76F8D910702D}" type="datetimeFigureOut">
              <a:rPr lang="en-US" smtClean="0"/>
              <a:t>10/29/2026</a:t>
            </a:fld>
            <a:endParaRPr lang="en-US"/>
          </a:p>
        </p:txBody>
      </p:sp>
      <p:sp>
        <p:nvSpPr>
          <p:cNvPr id="5" name="Footer Placeholder 4">
            <a:extLst>
              <a:ext uri="{FF2B5EF4-FFF2-40B4-BE49-F238E27FC236}">
                <a16:creationId xmlns:a16="http://schemas.microsoft.com/office/drawing/2014/main" id="{4FE9AE64-2123-C520-CD5F-8A8D12E8AB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800CDBE-BDF8-802F-43C3-EB19E939D2D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BF79A1-E98E-46EE-B8C7-AEBDEC73F579}" type="slidenum">
              <a:rPr lang="en-US" smtClean="0"/>
              <a:t>‹#›</a:t>
            </a:fld>
            <a:endParaRPr lang="en-US"/>
          </a:p>
        </p:txBody>
      </p:sp>
    </p:spTree>
    <p:extLst>
      <p:ext uri="{BB962C8B-B14F-4D97-AF65-F5344CB8AC3E}">
        <p14:creationId xmlns:p14="http://schemas.microsoft.com/office/powerpoint/2010/main" val="25405813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1"/>
          <p:cNvPicPr preferRelativeResize="0"/>
          <p:nvPr/>
        </p:nvPicPr>
        <p:blipFill rotWithShape="1">
          <a:blip r:embed="rId13">
            <a:alphaModFix/>
          </a:blip>
          <a:srcRect/>
          <a:stretch/>
        </p:blipFill>
        <p:spPr>
          <a:xfrm>
            <a:off x="0" y="0"/>
            <a:ext cx="12192000" cy="6858000"/>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5"/>
        <p:cNvGrpSpPr/>
        <p:nvPr/>
      </p:nvGrpSpPr>
      <p:grpSpPr>
        <a:xfrm>
          <a:off x="0" y="0"/>
          <a:ext cx="0" cy="0"/>
          <a:chOff x="0" y="0"/>
          <a:chExt cx="0" cy="0"/>
        </a:xfrm>
      </p:grpSpPr>
      <p:pic>
        <p:nvPicPr>
          <p:cNvPr id="46" name="Google Shape;46;p12"/>
          <p:cNvPicPr preferRelativeResize="0"/>
          <p:nvPr/>
        </p:nvPicPr>
        <p:blipFill rotWithShape="1">
          <a:blip r:embed="rId11">
            <a:alphaModFix/>
          </a:blip>
          <a:srcRect/>
          <a:stretch/>
        </p:blipFill>
        <p:spPr>
          <a:xfrm>
            <a:off x="0" y="0"/>
            <a:ext cx="12192000" cy="6858000"/>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carlo_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7.jpg"/><Relationship Id="rId3" Type="http://schemas.openxmlformats.org/officeDocument/2006/relationships/customXml" Target="../ink/ink1.xml"/><Relationship Id="rId4" Type="http://schemas.openxmlformats.org/officeDocument/2006/relationships/image" Target="../media/image8.png"/><Relationship Id="rId5" Type="http://schemas.openxmlformats.org/officeDocument/2006/relationships/customXml" Target="../ink/ink2.xml"/><Relationship Id="rId6" Type="http://schemas.openxmlformats.org/officeDocument/2006/relationships/image" Target="../media/image9.png"/><Relationship Id="rId7" Type="http://schemas.openxmlformats.org/officeDocument/2006/relationships/customXml" Target="../ink/ink3.xml"/><Relationship Id="rId8" Type="http://schemas.openxmlformats.org/officeDocument/2006/relationships/image" Target="../media/image10.png"/><Relationship Id="rId9" Type="http://schemas.openxmlformats.org/officeDocument/2006/relationships/customXml" Target="../ink/ink4.xml"/><Relationship Id="rId10" Type="http://schemas.openxmlformats.org/officeDocument/2006/relationships/image" Target="../media/image11.png"/><Relationship Id="rId11" Type="http://schemas.openxmlformats.org/officeDocument/2006/relationships/customXml" Target="../ink/ink5.xml"/><Relationship Id="rId12" Type="http://schemas.openxmlformats.org/officeDocument/2006/relationships/image" Target="../media/image12.png"/><Relationship Id="rId13" Type="http://schemas.openxmlformats.org/officeDocument/2006/relationships/customXml" Target="../ink/ink6.xml"/><Relationship Id="rId14" Type="http://schemas.openxmlformats.org/officeDocument/2006/relationships/image" Target="../media/image13.png"/><Relationship Id="rId15" Type="http://schemas.openxmlformats.org/officeDocument/2006/relationships/customXml" Target="../ink/ink7.xml"/><Relationship Id="rId16" Type="http://schemas.openxmlformats.org/officeDocument/2006/relationships/image" Target="../media/image14.png"/><Relationship Id="rId17" Type="http://schemas.openxmlformats.org/officeDocument/2006/relationships/customXml" Target="../ink/ink8.xml"/><Relationship Id="rId18" Type="http://schemas.openxmlformats.org/officeDocument/2006/relationships/image" Target="../media/image15.png"/><Relationship Id="rId19" Type="http://schemas.openxmlformats.org/officeDocument/2006/relationships/customXml" Target="../ink/ink9.xml"/><Relationship Id="rId20" Type="http://schemas.openxmlformats.org/officeDocument/2006/relationships/image" Target="../media/image16.png"/><Relationship Id="rId21" Type="http://schemas.openxmlformats.org/officeDocument/2006/relationships/customXml" Target="../ink/ink10.xml"/><Relationship Id="rId22" Type="http://schemas.openxmlformats.org/officeDocument/2006/relationships/image" Target="../media/image17.png"/><Relationship Id="rId23" Type="http://schemas.openxmlformats.org/officeDocument/2006/relationships/customXml" Target="../ink/ink11.xml"/><Relationship Id="rId24" Type="http://schemas.openxmlformats.org/officeDocument/2006/relationships/image" Target="../media/image18.png"/><Relationship Id="rId25" Type="http://schemas.openxmlformats.org/officeDocument/2006/relationships/customXml" Target="../ink/ink12.xml"/><Relationship Id="rId26" Type="http://schemas.openxmlformats.org/officeDocument/2006/relationships/image" Target="../media/image19.png"/><Relationship Id="rId27" Type="http://schemas.openxmlformats.org/officeDocument/2006/relationships/customXml" Target="../ink/ink13.xml"/><Relationship Id="rId28" Type="http://schemas.openxmlformats.org/officeDocument/2006/relationships/image" Target="../media/image20.png"/><Relationship Id="rId29" Type="http://schemas.openxmlformats.org/officeDocument/2006/relationships/customXml" Target="../ink/ink14.xml"/><Relationship Id="rId30" Type="http://schemas.openxmlformats.org/officeDocument/2006/relationships/image" Target="../media/image21.png"/><Relationship Id="rId31"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22"/>
          <p:cNvSpPr txBox="1">
            <a:spLocks noGrp="1"/>
          </p:cNvSpPr>
          <p:nvPr>
            <p:ph type="ctrTitle"/>
          </p:nvPr>
        </p:nvSpPr>
        <p:spPr>
          <a:xfrm>
            <a:off x="447888" y="1611357"/>
            <a:ext cx="5320839" cy="600115"/>
          </a:xfrm>
          <a:prstGeom prst="rect">
            <a:avLst/>
          </a:prstGeom>
          <a:noFill/>
          <a:ln>
            <a:noFill/>
          </a:ln>
        </p:spPr>
        <p:txBody>
          <a:bodyPr spcFirstLastPara="1" wrap="square" lIns="91425" tIns="45700" rIns="91425" bIns="45700" anchor="b" anchorCtr="0">
            <a:noAutofit/>
          </a:bodyPr>
          <a:lstStyle/>
          <a:p>
            <a:pPr marL="0" lvl="0" indent="0" algn="l" rtl="0">
              <a:spcBef>
                <a:spcPts val="0"/>
              </a:spcBef>
              <a:spcAft>
                <a:spcPts val="300"/>
              </a:spcAft>
              <a:buClr>
                <a:srgbClr val="FFFFFF"/>
              </a:buClr>
              <a:buSzPts val="2000"/>
              <a:buFont typeface="Arial"/>
              <a:buNone/>
            </a:pPr>
            <a:r>
              <a:rPr sz="1900" b="1">
                <a:solidFill>
                  <a:srgbClr val="FFFFFF"/>
                </a:solidFill>
                <a:latin typeface="Calibri"/>
              </a:rPr>
              <a:t>Modeling Orbital Edge Processing in Contested Environments</a:t>
            </a:r>
            <a:endParaRPr sz="2000" dirty="0">
              <a:latin typeface="Arial"/>
              <a:ea typeface="Arial"/>
              <a:cs typeface="Arial"/>
              <a:sym typeface="Arial"/>
            </a:endParaRPr>
          </a:p>
        </p:txBody>
      </p:sp>
      <p:sp>
        <p:nvSpPr>
          <p:cNvPr id="86" name="Google Shape;86;p22"/>
          <p:cNvSpPr txBox="1">
            <a:spLocks noGrp="1"/>
          </p:cNvSpPr>
          <p:nvPr>
            <p:ph type="subTitle" idx="1"/>
          </p:nvPr>
        </p:nvSpPr>
        <p:spPr>
          <a:xfrm>
            <a:off x="422294" y="2360317"/>
            <a:ext cx="4058106" cy="6858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300"/>
              </a:spcAft>
              <a:buClr>
                <a:srgbClr val="ECE9C6"/>
              </a:buClr>
              <a:buSzPts val="1800"/>
              <a:buNone/>
            </a:pPr>
            <a:r>
              <a:rPr sz="1550" b="0">
                <a:solidFill>
                  <a:srgbClr val="FFFFFF"/>
                </a:solidFill>
                <a:latin typeface="Calibri"/>
              </a:rPr>
              <a:t>Carlo Antonio Nino
October 30, 2026 | 4:00 PM PT | Session 5</a:t>
            </a:r>
            <a:endParaRPr dirty="0"/>
          </a:p>
        </p:txBody>
      </p:sp>
      <p:sp>
        <p:nvSpPr>
          <p:cNvPr id="87" name="Google Shape;87;p22"/>
          <p:cNvSpPr/>
          <p:nvPr/>
        </p:nvSpPr>
        <p:spPr>
          <a:xfrm>
            <a:off x="2647718" y="4851"/>
            <a:ext cx="5886682" cy="1200230"/>
          </a:xfrm>
          <a:prstGeom prst="rect">
            <a:avLst/>
          </a:prstGeom>
          <a:noFill/>
          <a:ln>
            <a:noFill/>
          </a:ln>
        </p:spPr>
        <p:txBody>
          <a:bodyPr spcFirstLastPara="1" wrap="square" lIns="91425" tIns="45700" rIns="91425" bIns="45700" anchor="b" anchorCtr="0">
            <a:noAutofit/>
          </a:bodyPr>
          <a:lstStyle/>
          <a:p>
            <a:pPr marL="0" marR="0" lvl="0" indent="0" algn="l" rtl="0">
              <a:spcBef>
                <a:spcPts val="0"/>
              </a:spcBef>
              <a:spcAft>
                <a:spcPts val="0"/>
              </a:spcAft>
              <a:buClr>
                <a:srgbClr val="FFFFFF"/>
              </a:buClr>
              <a:buSzPts val="3200"/>
              <a:buFont typeface="Arial"/>
              <a:buNone/>
            </a:pPr>
            <a:r>
              <a:rPr lang="en-US" sz="3200" b="1" cap="none">
                <a:solidFill>
                  <a:srgbClr val="FFFFFF"/>
                </a:solidFill>
                <a:latin typeface="Arial"/>
                <a:ea typeface="Arial"/>
                <a:cs typeface="Arial"/>
                <a:sym typeface="Arial"/>
              </a:rPr>
              <a:t>Student Biweekly Progress Presentation to Advisor</a:t>
            </a:r>
            <a:endParaRPr/>
          </a:p>
        </p:txBody>
      </p:sp>
      <p:sp>
        <p:nvSpPr>
          <p:cNvPr id="89" name="Google Shape;89;p22"/>
          <p:cNvSpPr/>
          <p:nvPr/>
        </p:nvSpPr>
        <p:spPr>
          <a:xfrm>
            <a:off x="422294" y="3291840"/>
            <a:ext cx="4892040" cy="2240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300"/>
              </a:spcAft>
              <a:buClr>
                <a:srgbClr val="FFFFFF"/>
              </a:buClr>
              <a:buSzPts val="1150"/>
              <a:buFont typeface="Calibri"/>
              <a:buNone/>
            </a:pPr>
            <a:r>
              <a:rPr sz="1300">
                <a:solidFill>
                  <a:srgbClr val="FFFFFF"/>
                </a:solidFill>
                <a:latin typeface="Calibri"/>
              </a:rPr>
              <a:t>Chapter 2 v11 | working copy dated October 28</a:t>
            </a:r>
            <a:endParaRPr dirty="0"/>
          </a:p>
          <a:p>
            <a:pPr>
              <a:spcAft>
                <a:spcPts val="300"/>
              </a:spcAft>
            </a:pPr>
            <a:r>
              <a:rPr sz="1300" b="1">
                <a:solidFill>
                  <a:srgbClr val="FFFFFF"/>
                </a:solidFill>
                <a:latin typeface="Calibri"/>
              </a:rPr>
              <a:t>51 narrative pages</a:t>
            </a:r>
            <a:r>
              <a:rPr sz="1300">
                <a:solidFill>
                  <a:srgbClr val="FFFFFF"/>
                </a:solidFill>
                <a:latin typeface="Calibri"/>
              </a:rPr>
              <a:t>: </a:t>
            </a:r>
            <a:r>
              <a:rPr sz="1300" b="1">
                <a:solidFill>
                  <a:srgbClr val="FFFFFF"/>
                </a:solidFill>
                <a:latin typeface="Calibri"/>
              </a:rPr>
              <a:t>32 → 51 (+19 pages)</a:t>
            </a:r>
            <a:r>
              <a:rPr sz="1300">
                <a:solidFill>
                  <a:srgbClr val="FFFFFF"/>
                </a:solidFill>
                <a:latin typeface="Calibri"/>
              </a:rPr>
              <a:t> since v9.</a:t>
            </a:r>
          </a:p>
          <a:p>
            <a:pPr>
              <a:spcAft>
                <a:spcPts val="300"/>
              </a:spcAft>
            </a:pPr>
            <a:r>
              <a:rPr sz="1300" b="1">
                <a:solidFill>
                  <a:srgbClr val="FFFFFF"/>
                </a:solidFill>
                <a:latin typeface="Calibri"/>
              </a:rPr>
              <a:t>3 USE CASES: School | Medical | Municipal.</a:t>
            </a:r>
          </a:p>
          <a:p>
            <a:pPr>
              <a:spcAft>
                <a:spcPts val="300"/>
              </a:spcAft>
            </a:pPr>
            <a:r>
              <a:rPr sz="1300" b="1">
                <a:solidFill>
                  <a:srgbClr val="FFFFFF"/>
                </a:solidFill>
                <a:latin typeface="Calibri"/>
              </a:rPr>
              <a:t>20 expansion-support sources</a:t>
            </a:r>
            <a:r>
              <a:rPr sz="1300">
                <a:solidFill>
                  <a:srgbClr val="FFFFFF"/>
                </a:solidFill>
                <a:latin typeface="Calibri"/>
              </a:rPr>
              <a:t>; </a:t>
            </a:r>
            <a:r>
              <a:rPr sz="1300" b="1">
                <a:solidFill>
                  <a:srgbClr val="FFFFFF"/>
                </a:solidFill>
                <a:latin typeface="Calibri"/>
              </a:rPr>
              <a:t>91 unique references</a:t>
            </a:r>
            <a:r>
              <a:rPr sz="1300">
                <a:solidFill>
                  <a:srgbClr val="FFFFFF"/>
                </a:solidFill>
                <a:latin typeface="Calibri"/>
              </a:rPr>
              <a:t>.</a:t>
            </a:r>
          </a:p>
          <a:p>
            <a:pPr>
              <a:spcAft>
                <a:spcPts val="300"/>
              </a:spcAft>
            </a:pPr>
            <a:r>
              <a:rPr sz="1300">
                <a:solidFill>
                  <a:srgbClr val="FFFFFF"/>
                </a:solidFill>
                <a:latin typeface="Calibri"/>
              </a:rPr>
              <a:t>ACE regression PASS recorded; owner reproduction next.</a:t>
            </a:r>
          </a:p>
        </p:txBody>
      </p:sp>
      <p:sp>
        <p:nvSpPr>
          <p:cNvPr id="90" name="TextBox 89"/>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1 of 29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23"/>
          <p:cNvSpPr txBox="1">
            <a:spLocks noGrp="1"/>
          </p:cNvSpPr>
          <p:nvPr>
            <p:ph type="title"/>
          </p:nvPr>
        </p:nvSpPr>
        <p:spPr>
          <a:xfrm>
            <a:off x="483495" y="316733"/>
            <a:ext cx="11525951" cy="593766"/>
          </a:xfrm>
          <a:prstGeom prst="rect">
            <a:avLst/>
          </a:prstGeom>
          <a:noFill/>
          <a:ln>
            <a:noFill/>
          </a:ln>
        </p:spPr>
        <p:txBody>
          <a:bodyPr spcFirstLastPara="1" wrap="square" lIns="91425" tIns="45700" rIns="91425" bIns="45700" anchor="t" anchorCtr="0">
            <a:normAutofit fontScale="90000"/>
          </a:bodyPr>
          <a:lstStyle/>
          <a:p>
            <a:pPr marL="0" lvl="0" indent="0" algn="l" rtl="0">
              <a:spcBef>
                <a:spcPts val="0"/>
              </a:spcBef>
              <a:spcAft>
                <a:spcPts val="300"/>
              </a:spcAft>
              <a:buClr>
                <a:srgbClr val="3F3F3F"/>
              </a:buClr>
              <a:buSzPct val="100000"/>
              <a:buFont typeface="Arial"/>
              <a:buNone/>
            </a:pPr>
            <a:r>
              <a:rPr sz="2700" b="1">
                <a:solidFill>
                  <a:srgbClr val="002B49"/>
                </a:solidFill>
                <a:latin typeface="Calibri"/>
              </a:rPr>
              <a:t>Response to Dr. Hao’s Chapter 2 Feedback</a:t>
            </a:r>
            <a:endParaRPr/>
          </a:p>
        </p:txBody>
      </p:sp>
      <p:sp>
        <p:nvSpPr>
          <p:cNvPr id="106" name="TextBox 105"/>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2 of 29</a:t>
            </a:r>
          </a:p>
        </p:txBody>
      </p:sp>
      <p:sp>
        <p:nvSpPr>
          <p:cNvPr id="107" name="TextBox 106"/>
          <p:cNvSpPr txBox="1"/>
          <p:nvPr/>
        </p:nvSpPr>
        <p:spPr>
          <a:xfrm>
            <a:off x="594360" y="960120"/>
            <a:ext cx="10972800" cy="256032"/>
          </a:xfrm>
          <a:prstGeom prst="rect">
            <a:avLst/>
          </a:prstGeom>
          <a:noFill/>
        </p:spPr>
        <p:txBody>
          <a:bodyPr wrap="square" lIns="64008" rIns="64008" tIns="64008" bIns="64008" anchor="t">
            <a:spAutoFit/>
          </a:bodyPr>
          <a:lstStyle/>
          <a:p>
            <a:pPr algn="l"/>
            <a:r>
              <a:rPr sz="1000" b="1">
                <a:solidFill>
                  <a:srgbClr val="C00000"/>
                </a:solidFill>
                <a:latin typeface="Times New Roman"/>
              </a:rPr>
              <a:t>“Can we quantify any of this?” — 19 Oct 2026</a:t>
            </a:r>
          </a:p>
        </p:txBody>
      </p:sp>
      <p:sp>
        <p:nvSpPr>
          <p:cNvPr id="108" name="TextBox 107"/>
          <p:cNvSpPr txBox="1"/>
          <p:nvPr/>
        </p:nvSpPr>
        <p:spPr>
          <a:xfrm>
            <a:off x="612648" y="1225296"/>
            <a:ext cx="10927080" cy="694944"/>
          </a:xfrm>
          <a:prstGeom prst="rect">
            <a:avLst/>
          </a:prstGeom>
          <a:noFill/>
        </p:spPr>
        <p:txBody>
          <a:bodyPr wrap="square" lIns="64008" rIns="64008" tIns="64008" bIns="64008" anchor="t">
            <a:spAutoFit/>
          </a:bodyPr>
          <a:lstStyle/>
          <a:p>
            <a:pPr algn="l"/>
            <a:r>
              <a:rPr sz="1000" b="0">
                <a:solidFill>
                  <a:srgbClr val="202020"/>
                </a:solidFill>
                <a:latin typeface="Times New Roman"/>
              </a:rPr>
              <a:t>v11 adds published inference-time, power/energy, memory and throughput measurements plus numerical contact-window examples in §2.3. — 29 Oct 2026</a:t>
            </a:r>
          </a:p>
        </p:txBody>
      </p:sp>
      <p:sp>
        <p:nvSpPr>
          <p:cNvPr id="109" name="TextBox 108"/>
          <p:cNvSpPr txBox="1"/>
          <p:nvPr/>
        </p:nvSpPr>
        <p:spPr>
          <a:xfrm>
            <a:off x="594360" y="2130552"/>
            <a:ext cx="10972800" cy="256032"/>
          </a:xfrm>
          <a:prstGeom prst="rect">
            <a:avLst/>
          </a:prstGeom>
          <a:noFill/>
        </p:spPr>
        <p:txBody>
          <a:bodyPr wrap="square" lIns="64008" rIns="64008" tIns="64008" bIns="64008" anchor="t">
            <a:spAutoFit/>
          </a:bodyPr>
          <a:lstStyle/>
          <a:p>
            <a:pPr algn="l"/>
            <a:r>
              <a:rPr sz="1000" b="1">
                <a:solidFill>
                  <a:srgbClr val="C00000"/>
                </a:solidFill>
                <a:latin typeface="Times New Roman"/>
              </a:rPr>
              <a:t>“Is loosing a human in-the-loop a challenge? Is there a fear of too much automation?” — 19 Oct 2026</a:t>
            </a:r>
          </a:p>
        </p:txBody>
      </p:sp>
      <p:sp>
        <p:nvSpPr>
          <p:cNvPr id="110" name="TextBox 109"/>
          <p:cNvSpPr txBox="1"/>
          <p:nvPr/>
        </p:nvSpPr>
        <p:spPr>
          <a:xfrm>
            <a:off x="612648" y="2395728"/>
            <a:ext cx="10927080" cy="694944"/>
          </a:xfrm>
          <a:prstGeom prst="rect">
            <a:avLst/>
          </a:prstGeom>
          <a:noFill/>
        </p:spPr>
        <p:txBody>
          <a:bodyPr wrap="square" lIns="64008" rIns="64008" tIns="64008" bIns="64008" anchor="t">
            <a:spAutoFit/>
          </a:bodyPr>
          <a:lstStyle/>
          <a:p>
            <a:pPr algn="l"/>
            <a:r>
              <a:rPr sz="1000" b="0">
                <a:solidFill>
                  <a:srgbClr val="202020"/>
                </a:solidFill>
                <a:latin typeface="Times New Roman"/>
              </a:rPr>
              <a:t>v11 adds human authority, situation awareness, reliance/confidence and referral workload, with </a:t>
            </a:r>
            <a:r>
              <a:rPr sz="1000" b="1">
                <a:solidFill>
                  <a:srgbClr val="202020"/>
                </a:solidFill>
                <a:latin typeface="Times New Roman"/>
              </a:rPr>
              <a:t>3 CIVILIAN USE CASES: SCHOOL, MEDICAL and MUNICIPAL</a:t>
            </a:r>
            <a:r>
              <a:rPr sz="1000" b="0">
                <a:solidFill>
                  <a:srgbClr val="202020"/>
                </a:solidFill>
                <a:latin typeface="Times New Roman"/>
              </a:rPr>
              <a:t>, retaining human decisions. — 29 Oct 2026</a:t>
            </a:r>
          </a:p>
        </p:txBody>
      </p:sp>
      <p:sp>
        <p:nvSpPr>
          <p:cNvPr id="111" name="TextBox 110"/>
          <p:cNvSpPr txBox="1"/>
          <p:nvPr/>
        </p:nvSpPr>
        <p:spPr>
          <a:xfrm>
            <a:off x="594360" y="3300984"/>
            <a:ext cx="10972800" cy="256032"/>
          </a:xfrm>
          <a:prstGeom prst="rect">
            <a:avLst/>
          </a:prstGeom>
          <a:noFill/>
        </p:spPr>
        <p:txBody>
          <a:bodyPr wrap="square" lIns="64008" rIns="64008" tIns="64008" bIns="64008" anchor="t">
            <a:spAutoFit/>
          </a:bodyPr>
          <a:lstStyle/>
          <a:p>
            <a:pPr algn="l"/>
            <a:r>
              <a:rPr sz="1000" b="1">
                <a:solidFill>
                  <a:srgbClr val="C00000"/>
                </a:solidFill>
                <a:latin typeface="Times New Roman"/>
              </a:rPr>
              <a:t>“We’ll need to revisit this after you complete the paper (through chapter 5) with the results and discussion” — 19 Oct 2026</a:t>
            </a:r>
          </a:p>
        </p:txBody>
      </p:sp>
      <p:sp>
        <p:nvSpPr>
          <p:cNvPr id="112" name="TextBox 111"/>
          <p:cNvSpPr txBox="1"/>
          <p:nvPr/>
        </p:nvSpPr>
        <p:spPr>
          <a:xfrm>
            <a:off x="612648" y="3566160"/>
            <a:ext cx="10927080" cy="694944"/>
          </a:xfrm>
          <a:prstGeom prst="rect">
            <a:avLst/>
          </a:prstGeom>
          <a:noFill/>
        </p:spPr>
        <p:txBody>
          <a:bodyPr wrap="square" lIns="64008" rIns="64008" tIns="64008" bIns="64008" anchor="t">
            <a:spAutoFit/>
          </a:bodyPr>
          <a:lstStyle/>
          <a:p>
            <a:pPr algn="l"/>
            <a:r>
              <a:rPr sz="1000" b="0">
                <a:solidFill>
                  <a:srgbClr val="202020"/>
                </a:solidFill>
                <a:latin typeface="Times New Roman"/>
              </a:rPr>
              <a:t>The abstract remains provisional and is deferred until the methods, results and discussion are complete. — 29 Oct 2026</a:t>
            </a:r>
          </a:p>
        </p:txBody>
      </p:sp>
      <p:sp>
        <p:nvSpPr>
          <p:cNvPr id="113" name="TextBox 112"/>
          <p:cNvSpPr txBox="1"/>
          <p:nvPr/>
        </p:nvSpPr>
        <p:spPr>
          <a:xfrm>
            <a:off x="594360" y="4471416"/>
            <a:ext cx="10972800" cy="256032"/>
          </a:xfrm>
          <a:prstGeom prst="rect">
            <a:avLst/>
          </a:prstGeom>
          <a:noFill/>
        </p:spPr>
        <p:txBody>
          <a:bodyPr wrap="square" lIns="64008" rIns="64008" tIns="64008" bIns="64008" anchor="t">
            <a:spAutoFit/>
          </a:bodyPr>
          <a:lstStyle/>
          <a:p>
            <a:pPr algn="l"/>
            <a:r>
              <a:rPr sz="1000" b="1">
                <a:solidFill>
                  <a:srgbClr val="C00000"/>
                </a:solidFill>
                <a:latin typeface="Times New Roman"/>
              </a:rPr>
              <a:t>“We’re on a good track to get the first draft out by early November.” / “we’ll want to edit for conciseness later on when we have more content.” — 19 Oct 2026</a:t>
            </a:r>
          </a:p>
        </p:txBody>
      </p:sp>
      <p:sp>
        <p:nvSpPr>
          <p:cNvPr id="114" name="TextBox 113"/>
          <p:cNvSpPr txBox="1"/>
          <p:nvPr/>
        </p:nvSpPr>
        <p:spPr>
          <a:xfrm>
            <a:off x="612648" y="4736592"/>
            <a:ext cx="10927080" cy="694944"/>
          </a:xfrm>
          <a:prstGeom prst="rect">
            <a:avLst/>
          </a:prstGeom>
          <a:noFill/>
        </p:spPr>
        <p:txBody>
          <a:bodyPr wrap="square" lIns="64008" rIns="64008" tIns="64008" bIns="64008" anchor="t">
            <a:spAutoFit/>
          </a:bodyPr>
          <a:lstStyle/>
          <a:p>
            <a:pPr algn="l"/>
            <a:r>
              <a:rPr sz="1000" b="0">
                <a:solidFill>
                  <a:srgbClr val="202020"/>
                </a:solidFill>
                <a:latin typeface="Times New Roman"/>
              </a:rPr>
              <a:t>v11 contains </a:t>
            </a:r>
            <a:r>
              <a:rPr sz="1000" b="1">
                <a:solidFill>
                  <a:srgbClr val="202020"/>
                </a:solidFill>
                <a:latin typeface="Times New Roman"/>
              </a:rPr>
              <a:t>51 Chapter 2 narrative pages</a:t>
            </a:r>
            <a:r>
              <a:rPr sz="1000" b="0">
                <a:solidFill>
                  <a:srgbClr val="202020"/>
                </a:solidFill>
                <a:latin typeface="Times New Roman"/>
              </a:rPr>
              <a:t>: </a:t>
            </a:r>
            <a:r>
              <a:rPr sz="1000" b="1">
                <a:solidFill>
                  <a:srgbClr val="202020"/>
                </a:solidFill>
                <a:latin typeface="Times New Roman"/>
              </a:rPr>
              <a:t>32 → 51 (+19 pages)</a:t>
            </a:r>
            <a:r>
              <a:rPr sz="1000" b="0">
                <a:solidFill>
                  <a:srgbClr val="202020"/>
                </a:solidFill>
                <a:latin typeface="Times New Roman"/>
              </a:rPr>
              <a:t>, addressing the requested expansion. Next: Dr. Hao comments incorporated + final revisions by 14 Nov, including concision and source/figure checks. — 29 Oct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4"/>
          <p:cNvSpPr txBox="1">
            <a:spLocks noGrp="1"/>
          </p:cNvSpPr>
          <p:nvPr>
            <p:ph type="title"/>
          </p:nvPr>
        </p:nvSpPr>
        <p:spPr>
          <a:xfrm>
            <a:off x="483495" y="316733"/>
            <a:ext cx="7756263" cy="593766"/>
          </a:xfrm>
          <a:prstGeom prst="rect">
            <a:avLst/>
          </a:prstGeom>
          <a:noFill/>
          <a:ln>
            <a:noFill/>
          </a:ln>
        </p:spPr>
        <p:txBody>
          <a:bodyPr spcFirstLastPara="1" wrap="square" lIns="91425" tIns="45700" rIns="91425" bIns="45700" anchor="t" anchorCtr="0">
            <a:normAutofit fontScale="90000"/>
          </a:bodyPr>
          <a:lstStyle/>
          <a:p>
            <a:pPr marL="0" lvl="0" indent="0" algn="l" rtl="0">
              <a:spcBef>
                <a:spcPts val="0"/>
              </a:spcBef>
              <a:spcAft>
                <a:spcPts val="300"/>
              </a:spcAft>
              <a:buClr>
                <a:srgbClr val="3F3F3F"/>
              </a:buClr>
              <a:buSzPct val="100000"/>
              <a:buFont typeface="Arial"/>
              <a:buNone/>
            </a:pPr>
            <a:r>
              <a:rPr sz="2700" b="1">
                <a:solidFill>
                  <a:srgbClr val="002B49"/>
                </a:solidFill>
                <a:latin typeface="Calibri"/>
              </a:rPr>
              <a:t>Chapter 2 Expansion Since v9</a:t>
            </a:r>
            <a:endParaRPr/>
          </a:p>
        </p:txBody>
      </p:sp>
      <p:sp>
        <p:nvSpPr>
          <p:cNvPr id="110" name="Rounded Rectangle 109"/>
          <p:cNvSpPr/>
          <p:nvPr/>
        </p:nvSpPr>
        <p:spPr>
          <a:xfrm>
            <a:off x="594360" y="1170432"/>
            <a:ext cx="2606040" cy="987552"/>
          </a:xfrm>
          <a:prstGeom prst="roundRect">
            <a:avLst/>
          </a:prstGeom>
          <a:solidFill>
            <a:srgbClr val="E8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04088" y="1243584"/>
            <a:ext cx="2386584" cy="429768"/>
          </a:xfrm>
          <a:prstGeom prst="rect">
            <a:avLst/>
          </a:prstGeom>
          <a:noFill/>
        </p:spPr>
        <p:txBody>
          <a:bodyPr wrap="square" lIns="18288" rIns="18288" tIns="18288" bIns="18288">
            <a:spAutoFit/>
          </a:bodyPr>
          <a:lstStyle/>
          <a:p>
            <a:pPr algn="l">
              <a:lnSpc>
                <a:spcPct val="105000"/>
              </a:lnSpc>
              <a:spcBef>
                <a:spcPts val="0"/>
              </a:spcBef>
              <a:spcAft>
                <a:spcPts val="200"/>
              </a:spcAft>
            </a:pPr>
            <a:r>
              <a:rPr sz="2900" b="1">
                <a:solidFill>
                  <a:srgbClr val="002B49"/>
                </a:solidFill>
                <a:latin typeface="Calibri"/>
              </a:rPr>
              <a:t>51</a:t>
            </a:r>
          </a:p>
        </p:txBody>
      </p:sp>
      <p:sp>
        <p:nvSpPr>
          <p:cNvPr id="112" name="TextBox 111"/>
          <p:cNvSpPr txBox="1"/>
          <p:nvPr/>
        </p:nvSpPr>
        <p:spPr>
          <a:xfrm>
            <a:off x="704088" y="1764792"/>
            <a:ext cx="2386584" cy="237744"/>
          </a:xfrm>
          <a:prstGeom prst="rect">
            <a:avLst/>
          </a:prstGeom>
          <a:noFill/>
        </p:spPr>
        <p:txBody>
          <a:bodyPr wrap="square" lIns="18288" rIns="18288" tIns="18288" bIns="18288">
            <a:spAutoFit/>
          </a:bodyPr>
          <a:lstStyle/>
          <a:p>
            <a:pPr algn="l">
              <a:lnSpc>
                <a:spcPct val="105000"/>
              </a:lnSpc>
              <a:spcBef>
                <a:spcPts val="0"/>
              </a:spcBef>
              <a:spcAft>
                <a:spcPts val="200"/>
              </a:spcAft>
            </a:pPr>
            <a:r>
              <a:rPr sz="1300" b="1">
                <a:solidFill>
                  <a:srgbClr val="263746"/>
                </a:solidFill>
                <a:latin typeface="Calibri"/>
              </a:rPr>
              <a:t>Chapter 2 narrative pages</a:t>
            </a:r>
          </a:p>
        </p:txBody>
      </p:sp>
      <p:sp>
        <p:nvSpPr>
          <p:cNvPr id="113" name="Rounded Rectangle 112"/>
          <p:cNvSpPr/>
          <p:nvPr/>
        </p:nvSpPr>
        <p:spPr>
          <a:xfrm>
            <a:off x="3383280" y="1170432"/>
            <a:ext cx="2606040" cy="987552"/>
          </a:xfrm>
          <a:prstGeom prst="roundRect">
            <a:avLst/>
          </a:prstGeom>
          <a:solidFill>
            <a:srgbClr val="E5F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493008" y="1243584"/>
            <a:ext cx="2386584" cy="429768"/>
          </a:xfrm>
          <a:prstGeom prst="rect">
            <a:avLst/>
          </a:prstGeom>
          <a:noFill/>
        </p:spPr>
        <p:txBody>
          <a:bodyPr wrap="square" lIns="18288" rIns="18288" tIns="18288" bIns="18288">
            <a:spAutoFit/>
          </a:bodyPr>
          <a:lstStyle/>
          <a:p>
            <a:pPr algn="l">
              <a:lnSpc>
                <a:spcPct val="105000"/>
              </a:lnSpc>
              <a:spcBef>
                <a:spcPts val="0"/>
              </a:spcBef>
              <a:spcAft>
                <a:spcPts val="200"/>
              </a:spcAft>
            </a:pPr>
            <a:r>
              <a:rPr sz="2900" b="1">
                <a:solidFill>
                  <a:srgbClr val="002B49"/>
                </a:solidFill>
                <a:latin typeface="Calibri"/>
              </a:rPr>
              <a:t>+19</a:t>
            </a:r>
          </a:p>
        </p:txBody>
      </p:sp>
      <p:sp>
        <p:nvSpPr>
          <p:cNvPr id="115" name="TextBox 114"/>
          <p:cNvSpPr txBox="1"/>
          <p:nvPr/>
        </p:nvSpPr>
        <p:spPr>
          <a:xfrm>
            <a:off x="3493008" y="1764792"/>
            <a:ext cx="2386584" cy="237744"/>
          </a:xfrm>
          <a:prstGeom prst="rect">
            <a:avLst/>
          </a:prstGeom>
          <a:noFill/>
        </p:spPr>
        <p:txBody>
          <a:bodyPr wrap="square" lIns="18288" rIns="18288" tIns="18288" bIns="18288">
            <a:spAutoFit/>
          </a:bodyPr>
          <a:lstStyle/>
          <a:p>
            <a:pPr algn="l">
              <a:lnSpc>
                <a:spcPct val="105000"/>
              </a:lnSpc>
              <a:spcBef>
                <a:spcPts val="0"/>
              </a:spcBef>
              <a:spcAft>
                <a:spcPts val="200"/>
              </a:spcAft>
            </a:pPr>
            <a:r>
              <a:rPr sz="1300" b="1">
                <a:solidFill>
                  <a:srgbClr val="263746"/>
                </a:solidFill>
                <a:latin typeface="Calibri"/>
              </a:rPr>
              <a:t>From 32-page v9 baseline</a:t>
            </a:r>
          </a:p>
        </p:txBody>
      </p:sp>
      <p:sp>
        <p:nvSpPr>
          <p:cNvPr id="116" name="Rounded Rectangle 115"/>
          <p:cNvSpPr/>
          <p:nvPr/>
        </p:nvSpPr>
        <p:spPr>
          <a:xfrm>
            <a:off x="6172200" y="1170432"/>
            <a:ext cx="2606040" cy="987552"/>
          </a:xfrm>
          <a:prstGeom prst="roundRect">
            <a:avLst/>
          </a:prstGeom>
          <a:solidFill>
            <a:srgbClr val="F2E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81928" y="1243584"/>
            <a:ext cx="2386584" cy="429768"/>
          </a:xfrm>
          <a:prstGeom prst="rect">
            <a:avLst/>
          </a:prstGeom>
          <a:noFill/>
        </p:spPr>
        <p:txBody>
          <a:bodyPr wrap="square" lIns="18288" rIns="18288" tIns="18288" bIns="18288">
            <a:spAutoFit/>
          </a:bodyPr>
          <a:lstStyle/>
          <a:p>
            <a:pPr algn="l">
              <a:lnSpc>
                <a:spcPct val="105000"/>
              </a:lnSpc>
              <a:spcBef>
                <a:spcPts val="0"/>
              </a:spcBef>
              <a:spcAft>
                <a:spcPts val="200"/>
              </a:spcAft>
            </a:pPr>
            <a:r>
              <a:rPr sz="2900" b="1">
                <a:solidFill>
                  <a:srgbClr val="002B49"/>
                </a:solidFill>
                <a:latin typeface="Calibri"/>
              </a:rPr>
              <a:t>3</a:t>
            </a:r>
          </a:p>
        </p:txBody>
      </p:sp>
      <p:sp>
        <p:nvSpPr>
          <p:cNvPr id="118" name="TextBox 117"/>
          <p:cNvSpPr txBox="1"/>
          <p:nvPr/>
        </p:nvSpPr>
        <p:spPr>
          <a:xfrm>
            <a:off x="6281928" y="1764792"/>
            <a:ext cx="2386584" cy="237744"/>
          </a:xfrm>
          <a:prstGeom prst="rect">
            <a:avLst/>
          </a:prstGeom>
          <a:noFill/>
        </p:spPr>
        <p:txBody>
          <a:bodyPr wrap="square" lIns="18288" rIns="18288" tIns="18288" bIns="18288">
            <a:spAutoFit/>
          </a:bodyPr>
          <a:lstStyle/>
          <a:p>
            <a:pPr algn="l">
              <a:lnSpc>
                <a:spcPct val="105000"/>
              </a:lnSpc>
              <a:spcBef>
                <a:spcPts val="0"/>
              </a:spcBef>
              <a:spcAft>
                <a:spcPts val="200"/>
              </a:spcAft>
            </a:pPr>
            <a:r>
              <a:rPr sz="1300" b="1">
                <a:solidFill>
                  <a:srgbClr val="263746"/>
                </a:solidFill>
                <a:latin typeface="Calibri"/>
              </a:rPr>
              <a:t>CIVILIAN USE CASES</a:t>
            </a:r>
          </a:p>
        </p:txBody>
      </p:sp>
      <p:sp>
        <p:nvSpPr>
          <p:cNvPr id="119" name="Rounded Rectangle 118"/>
          <p:cNvSpPr/>
          <p:nvPr/>
        </p:nvSpPr>
        <p:spPr>
          <a:xfrm>
            <a:off x="8961120" y="1170432"/>
            <a:ext cx="2606040" cy="987552"/>
          </a:xfrm>
          <a:prstGeom prst="roundRect">
            <a:avLst/>
          </a:prstGeom>
          <a:solidFill>
            <a:srgbClr val="EEE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9070848" y="1243584"/>
            <a:ext cx="2386584" cy="429768"/>
          </a:xfrm>
          <a:prstGeom prst="rect">
            <a:avLst/>
          </a:prstGeom>
          <a:noFill/>
        </p:spPr>
        <p:txBody>
          <a:bodyPr wrap="square" lIns="18288" rIns="18288" tIns="18288" bIns="18288">
            <a:spAutoFit/>
          </a:bodyPr>
          <a:lstStyle/>
          <a:p>
            <a:pPr algn="l">
              <a:lnSpc>
                <a:spcPct val="105000"/>
              </a:lnSpc>
              <a:spcBef>
                <a:spcPts val="0"/>
              </a:spcBef>
              <a:spcAft>
                <a:spcPts val="200"/>
              </a:spcAft>
            </a:pPr>
            <a:r>
              <a:rPr sz="2900" b="1">
                <a:solidFill>
                  <a:srgbClr val="002B49"/>
                </a:solidFill>
                <a:latin typeface="Calibri"/>
              </a:rPr>
              <a:t>91</a:t>
            </a:r>
          </a:p>
        </p:txBody>
      </p:sp>
      <p:sp>
        <p:nvSpPr>
          <p:cNvPr id="121" name="TextBox 120"/>
          <p:cNvSpPr txBox="1"/>
          <p:nvPr/>
        </p:nvSpPr>
        <p:spPr>
          <a:xfrm>
            <a:off x="9070848" y="1764792"/>
            <a:ext cx="2386584" cy="237744"/>
          </a:xfrm>
          <a:prstGeom prst="rect">
            <a:avLst/>
          </a:prstGeom>
          <a:noFill/>
        </p:spPr>
        <p:txBody>
          <a:bodyPr wrap="square" lIns="18288" rIns="18288" tIns="18288" bIns="18288">
            <a:spAutoFit/>
          </a:bodyPr>
          <a:lstStyle/>
          <a:p>
            <a:pPr algn="l">
              <a:lnSpc>
                <a:spcPct val="105000"/>
              </a:lnSpc>
              <a:spcBef>
                <a:spcPts val="0"/>
              </a:spcBef>
              <a:spcAft>
                <a:spcPts val="200"/>
              </a:spcAft>
            </a:pPr>
            <a:r>
              <a:rPr sz="1300" b="1">
                <a:solidFill>
                  <a:srgbClr val="263746"/>
                </a:solidFill>
                <a:latin typeface="Calibri"/>
              </a:rPr>
              <a:t>Unique reference entries</a:t>
            </a:r>
          </a:p>
        </p:txBody>
      </p:sp>
      <p:sp>
        <p:nvSpPr>
          <p:cNvPr id="122" name="TextBox 121"/>
          <p:cNvSpPr txBox="1"/>
          <p:nvPr/>
        </p:nvSpPr>
        <p:spPr>
          <a:xfrm>
            <a:off x="594360" y="2331720"/>
            <a:ext cx="10972800" cy="594360"/>
          </a:xfrm>
          <a:prstGeom prst="rect">
            <a:avLst/>
          </a:prstGeom>
          <a:noFill/>
        </p:spPr>
        <p:txBody>
          <a:bodyPr wrap="square" lIns="18288" rIns="18288" tIns="18288" bIns="18288">
            <a:spAutoFit/>
          </a:bodyPr>
          <a:lstStyle/>
          <a:p>
            <a:pPr algn="l">
              <a:lnSpc>
                <a:spcPct val="105000"/>
              </a:lnSpc>
              <a:spcBef>
                <a:spcPts val="0"/>
              </a:spcBef>
              <a:spcAft>
                <a:spcPts val="200"/>
              </a:spcAft>
            </a:pPr>
            <a:r>
              <a:rPr sz="1600" b="1">
                <a:solidFill>
                  <a:srgbClr val="263746"/>
                </a:solidFill>
                <a:latin typeface="Calibri"/>
              </a:rPr>
              <a:t>3 USE CASES: School wildfire | Medical / hospital access | Municipal water monitoring.</a:t>
            </a:r>
          </a:p>
          <a:p>
            <a:pPr algn="l">
              <a:lnSpc>
                <a:spcPct val="105000"/>
              </a:lnSpc>
              <a:spcBef>
                <a:spcPts val="0"/>
              </a:spcBef>
              <a:spcAft>
                <a:spcPts val="200"/>
              </a:spcAft>
            </a:pPr>
            <a:r>
              <a:rPr sz="1600" b="1">
                <a:solidFill>
                  <a:srgbClr val="263746"/>
                </a:solidFill>
                <a:latin typeface="Calibri"/>
              </a:rPr>
              <a:t>20 expansion-support sources integrated; 91 unique references after consolidation.</a:t>
            </a:r>
          </a:p>
        </p:txBody>
      </p:sp>
      <p:sp>
        <p:nvSpPr>
          <p:cNvPr id="123" name="TextBox 122"/>
          <p:cNvSpPr txBox="1"/>
          <p:nvPr/>
        </p:nvSpPr>
        <p:spPr>
          <a:xfrm>
            <a:off x="594360" y="3035808"/>
            <a:ext cx="10972800" cy="256032"/>
          </a:xfrm>
          <a:prstGeom prst="rect">
            <a:avLst/>
          </a:prstGeom>
          <a:noFill/>
        </p:spPr>
        <p:txBody>
          <a:bodyPr wrap="square" lIns="18288" rIns="18288" tIns="18288" bIns="18288">
            <a:spAutoFit/>
          </a:bodyPr>
          <a:lstStyle/>
          <a:p>
            <a:pPr algn="l">
              <a:lnSpc>
                <a:spcPct val="105000"/>
              </a:lnSpc>
              <a:spcBef>
                <a:spcPts val="0"/>
              </a:spcBef>
              <a:spcAft>
                <a:spcPts val="200"/>
              </a:spcAft>
            </a:pPr>
            <a:r>
              <a:rPr sz="1200" b="1">
                <a:solidFill>
                  <a:srgbClr val="576573"/>
                </a:solidFill>
                <a:latin typeface="Calibri"/>
              </a:rPr>
              <a:t>METHOD PRECEDENTS RETAINED IN THE LITERATURE REVIEW</a:t>
            </a:r>
          </a:p>
        </p:txBody>
      </p:sp>
      <p:graphicFrame>
        <p:nvGraphicFramePr>
          <p:cNvPr id="114" name="Google Shape;114;p24"/>
          <p:cNvGraphicFramePr/>
          <p:nvPr/>
        </p:nvGraphicFramePr>
        <p:xfrm>
          <a:off x="585216" y="3346704"/>
          <a:ext cx="10991100" cy="1901952"/>
        </p:xfrm>
        <a:graphic>
          <a:graphicData uri="http://schemas.openxmlformats.org/drawingml/2006/table">
            <a:tbl>
              <a:tblPr firstRow="1" bandRow="1">
                <a:noFill/>
                <a:tableStyleId>{3C1EB017-BC45-4DEE-9ABB-B4D90C79D28D}</a:tableStyleId>
              </a:tblPr>
              <a:tblGrid>
                <a:gridCol w="1828800">
                  <a:extLst>
                    <a:ext uri="{9D8B030D-6E8A-4147-A177-3AD203B41FA5}">
                      <a16:colId xmlns:a16="http://schemas.microsoft.com/office/drawing/2014/main" val="20000"/>
                    </a:ext>
                  </a:extLst>
                </a:gridCol>
                <a:gridCol w="4663450">
                  <a:extLst>
                    <a:ext uri="{9D8B030D-6E8A-4147-A177-3AD203B41FA5}">
                      <a16:colId xmlns:a16="http://schemas.microsoft.com/office/drawing/2014/main" val="20001"/>
                    </a:ext>
                  </a:extLst>
                </a:gridCol>
                <a:gridCol w="4498850">
                  <a:extLst>
                    <a:ext uri="{9D8B030D-6E8A-4147-A177-3AD203B41FA5}">
                      <a16:colId xmlns:a16="http://schemas.microsoft.com/office/drawing/2014/main" val="20002"/>
                    </a:ext>
                  </a:extLst>
                </a:gridCol>
              </a:tblGrid>
              <a:tr h="274325">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1" u="none" strike="noStrike" cap="none">
                          <a:solidFill>
                            <a:srgbClr val="000000"/>
                          </a:solidFill>
                          <a:latin typeface="Times New Roman"/>
                          <a:ea typeface="Times New Roman"/>
                          <a:cs typeface="Times New Roman"/>
                          <a:sym typeface="Times New Roman"/>
                        </a:rPr>
                        <a:t>Author / year</a:t>
                      </a:r>
                      <a:endParaRPr/>
                    </a:p>
                  </a:txBody>
                  <a:tcPr marL="68575" marR="68575" marT="36575" marB="22850" anchor="ctr">
                    <a:solidFill>
                      <a:srgbClr val="E7EEF3"/>
                    </a:solidFill>
                  </a:tcPr>
                </a:tc>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1" u="none" strike="noStrike" cap="none">
                          <a:solidFill>
                            <a:srgbClr val="000000"/>
                          </a:solidFill>
                          <a:latin typeface="Times New Roman"/>
                          <a:ea typeface="Times New Roman"/>
                          <a:cs typeface="Times New Roman"/>
                          <a:sym typeface="Times New Roman"/>
                        </a:rPr>
                        <a:t>Registered work — short title</a:t>
                      </a:r>
                      <a:endParaRPr/>
                    </a:p>
                  </a:txBody>
                  <a:tcPr marL="68575" marR="68575" marT="36575" marB="22850" anchor="ctr">
                    <a:solidFill>
                      <a:srgbClr val="E7EEF3"/>
                    </a:solidFill>
                  </a:tcPr>
                </a:tc>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1" u="none" strike="noStrike" cap="none">
                          <a:solidFill>
                            <a:srgbClr val="000000"/>
                          </a:solidFill>
                          <a:latin typeface="Times New Roman"/>
                          <a:ea typeface="Times New Roman"/>
                          <a:cs typeface="Times New Roman"/>
                          <a:sym typeface="Times New Roman"/>
                        </a:rPr>
                        <a:t>Method / relevance recorded</a:t>
                      </a:r>
                      <a:endParaRPr/>
                    </a:p>
                  </a:txBody>
                  <a:tcPr marL="68575" marR="68575" marT="36575" marB="22850" anchor="ctr">
                    <a:solidFill>
                      <a:srgbClr val="E7EEF3"/>
                    </a:solidFill>
                  </a:tcPr>
                </a:tc>
                <a:extLst>
                  <a:ext uri="{0D108BD9-81ED-4DB2-BD59-A6C34878D82A}">
                    <a16:rowId xmlns:a16="http://schemas.microsoft.com/office/drawing/2014/main" val="10000"/>
                  </a:ext>
                </a:extLst>
              </a:tr>
              <a:tr h="329175">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Browne (2024)</a:t>
                      </a:r>
                      <a:endParaRPr/>
                    </a:p>
                  </a:txBody>
                  <a:tcPr marL="68575" marR="68575" marT="36575" marB="22850" anchor="ctr">
                    <a:solidFill>
                      <a:srgbClr val="FFFFFF"/>
                    </a:solidFill>
                  </a:tcPr>
                </a:tc>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EV charging: arrivals, utilization and wait times</a:t>
                      </a:r>
                      <a:endParaRPr/>
                    </a:p>
                  </a:txBody>
                  <a:tcPr marL="68575" marR="68575" marT="36575" marB="22850" anchor="ctr">
                    <a:solidFill>
                      <a:srgbClr val="FFFFFF"/>
                    </a:solidFill>
                  </a:tcPr>
                </a:tc>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DES / Monte Carlo; queueing and congestion</a:t>
                      </a:r>
                      <a:endParaRPr/>
                    </a:p>
                  </a:txBody>
                  <a:tcPr marL="68575" marR="68575" marT="36575" marB="22850" anchor="ctr">
                    <a:solidFill>
                      <a:srgbClr val="FFFFFF"/>
                    </a:solidFill>
                  </a:tcPr>
                </a:tc>
                <a:extLst>
                  <a:ext uri="{0D108BD9-81ED-4DB2-BD59-A6C34878D82A}">
                    <a16:rowId xmlns:a16="http://schemas.microsoft.com/office/drawing/2014/main" val="10001"/>
                  </a:ext>
                </a:extLst>
              </a:tr>
              <a:tr h="329175">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Littlefield (2017)</a:t>
                      </a:r>
                      <a:endParaRPr/>
                    </a:p>
                  </a:txBody>
                  <a:tcPr marL="68575" marR="68575" marT="36575" marB="22850" anchor="ctr">
                    <a:solidFill>
                      <a:srgbClr val="F6F8FA"/>
                    </a:solidFill>
                  </a:tcPr>
                </a:tc>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Reliability of highly parallel systems</a:t>
                      </a:r>
                      <a:endParaRPr/>
                    </a:p>
                  </a:txBody>
                  <a:tcPr marL="68575" marR="68575" marT="36575" marB="22850" anchor="ctr">
                    <a:solidFill>
                      <a:srgbClr val="F6F8FA"/>
                    </a:solidFill>
                  </a:tcPr>
                </a:tc>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DES; failures, redundancy and reliability</a:t>
                      </a:r>
                      <a:endParaRPr/>
                    </a:p>
                  </a:txBody>
                  <a:tcPr marL="68575" marR="68575" marT="36575" marB="22850" anchor="ctr">
                    <a:solidFill>
                      <a:srgbClr val="F6F8FA"/>
                    </a:solidFill>
                  </a:tcPr>
                </a:tc>
                <a:extLst>
                  <a:ext uri="{0D108BD9-81ED-4DB2-BD59-A6C34878D82A}">
                    <a16:rowId xmlns:a16="http://schemas.microsoft.com/office/drawing/2014/main" val="10002"/>
                  </a:ext>
                </a:extLst>
              </a:tr>
              <a:tr h="329175">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Shanbhag (2021)</a:t>
                      </a:r>
                      <a:endParaRPr/>
                    </a:p>
                  </a:txBody>
                  <a:tcPr marL="68575" marR="68575" marT="36575" marB="22850" anchor="ctr">
                    <a:solidFill>
                      <a:srgbClr val="FFFFFF"/>
                    </a:solidFill>
                  </a:tcPr>
                </a:tc>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Overcommitment on cloud-computing workloads</a:t>
                      </a:r>
                      <a:endParaRPr/>
                    </a:p>
                  </a:txBody>
                  <a:tcPr marL="68575" marR="68575" marT="36575" marB="22850" anchor="ctr">
                    <a:solidFill>
                      <a:srgbClr val="FFFFFF"/>
                    </a:solidFill>
                  </a:tcPr>
                </a:tc>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DES; finite compute resources and overload</a:t>
                      </a:r>
                      <a:endParaRPr/>
                    </a:p>
                  </a:txBody>
                  <a:tcPr marL="68575" marR="68575" marT="36575" marB="22850" anchor="ctr">
                    <a:solidFill>
                      <a:srgbClr val="FFFFFF"/>
                    </a:solidFill>
                  </a:tcPr>
                </a:tc>
                <a:extLst>
                  <a:ext uri="{0D108BD9-81ED-4DB2-BD59-A6C34878D82A}">
                    <a16:rowId xmlns:a16="http://schemas.microsoft.com/office/drawing/2014/main" val="10003"/>
                  </a:ext>
                </a:extLst>
              </a:tr>
              <a:tr h="329175">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Newell (2023)</a:t>
                      </a:r>
                      <a:endParaRPr/>
                    </a:p>
                  </a:txBody>
                  <a:tcPr marL="68575" marR="68575" marT="36575" marB="22850" anchor="ctr">
                    <a:solidFill>
                      <a:srgbClr val="F6F8FA"/>
                    </a:solidFill>
                  </a:tcPr>
                </a:tc>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Spare-part quantities and obsolescence cycles</a:t>
                      </a:r>
                      <a:endParaRPr/>
                    </a:p>
                  </a:txBody>
                  <a:tcPr marL="68575" marR="68575" marT="36575" marB="22850" anchor="ctr">
                    <a:solidFill>
                      <a:srgbClr val="F6F8FA"/>
                    </a:solidFill>
                  </a:tcPr>
                </a:tc>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DES; failures, repair and operational availability</a:t>
                      </a:r>
                      <a:endParaRPr/>
                    </a:p>
                  </a:txBody>
                  <a:tcPr marL="68575" marR="68575" marT="36575" marB="22850" anchor="ctr">
                    <a:solidFill>
                      <a:srgbClr val="F6F8FA"/>
                    </a:solidFill>
                  </a:tcPr>
                </a:tc>
                <a:extLst>
                  <a:ext uri="{0D108BD9-81ED-4DB2-BD59-A6C34878D82A}">
                    <a16:rowId xmlns:a16="http://schemas.microsoft.com/office/drawing/2014/main" val="10004"/>
                  </a:ext>
                </a:extLst>
              </a:tr>
              <a:tr h="329175">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Devineni (2023)</a:t>
                      </a:r>
                      <a:endParaRPr/>
                    </a:p>
                  </a:txBody>
                  <a:tcPr marL="68575" marR="68575" marT="36575" marB="22850" anchor="ctr">
                    <a:solidFill>
                      <a:srgbClr val="FFFFFF"/>
                    </a:solidFill>
                  </a:tcPr>
                </a:tc>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IT service incident resolution times</a:t>
                      </a:r>
                      <a:endParaRPr/>
                    </a:p>
                  </a:txBody>
                  <a:tcPr marL="68575" marR="68575" marT="36575" marB="22850" anchor="ctr">
                    <a:solidFill>
                      <a:srgbClr val="FFFFFF"/>
                    </a:solidFill>
                  </a:tcPr>
                </a:tc>
                <a:tc>
                  <a:txBody>
                    <a:bodyPr/>
                    <a:lstStyle/>
                    <a:p>
                      <a:pPr marL="0" marR="0" lvl="0" indent="0" algn="l" rtl="0">
                        <a:lnSpc>
                          <a:spcPct val="103000"/>
                        </a:lnSpc>
                        <a:spcBef>
                          <a:spcPts val="0"/>
                        </a:spcBef>
                        <a:spcAft>
                          <a:spcPts val="0"/>
                        </a:spcAft>
                        <a:buClr>
                          <a:srgbClr val="000000"/>
                        </a:buClr>
                        <a:buSzPts val="1000"/>
                        <a:buFont typeface="Times New Roman"/>
                        <a:buNone/>
                      </a:pPr>
                      <a:r>
                        <a:rPr lang="en-US" sz="1000" b="0" u="none" strike="noStrike" cap="none">
                          <a:solidFill>
                            <a:srgbClr val="000000"/>
                          </a:solidFill>
                          <a:latin typeface="Times New Roman"/>
                          <a:ea typeface="Times New Roman"/>
                          <a:cs typeface="Times New Roman"/>
                          <a:sym typeface="Times New Roman"/>
                        </a:rPr>
                        <a:t>DES / Monte Carlo; waiting and resolution time</a:t>
                      </a:r>
                      <a:endParaRPr/>
                    </a:p>
                  </a:txBody>
                  <a:tcPr marL="68575" marR="68575" marT="36575" marB="22850" anchor="ctr">
                    <a:solidFill>
                      <a:srgbClr val="FFFFFF"/>
                    </a:solidFill>
                  </a:tcPr>
                </a:tc>
                <a:extLst>
                  <a:ext uri="{0D108BD9-81ED-4DB2-BD59-A6C34878D82A}">
                    <a16:rowId xmlns:a16="http://schemas.microsoft.com/office/drawing/2014/main" val="10005"/>
                  </a:ext>
                </a:extLst>
              </a:tr>
            </a:tbl>
          </a:graphicData>
        </a:graphic>
      </p:graphicFrame>
      <p:sp>
        <p:nvSpPr>
          <p:cNvPr id="124" name="TextBox 123"/>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3 of 29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5"/>
          <p:cNvSpPr txBox="1">
            <a:spLocks noGrp="1"/>
          </p:cNvSpPr>
          <p:nvPr>
            <p:ph type="title"/>
          </p:nvPr>
        </p:nvSpPr>
        <p:spPr>
          <a:xfrm>
            <a:off x="483495" y="316733"/>
            <a:ext cx="7756263" cy="593766"/>
          </a:xfrm>
          <a:prstGeom prst="rect">
            <a:avLst/>
          </a:prstGeom>
          <a:noFill/>
          <a:ln>
            <a:noFill/>
          </a:ln>
        </p:spPr>
        <p:txBody>
          <a:bodyPr spcFirstLastPara="1" wrap="square" lIns="91425" tIns="45700" rIns="91425" bIns="45700" anchor="t" anchorCtr="0">
            <a:normAutofit fontScale="90000"/>
          </a:bodyPr>
          <a:lstStyle/>
          <a:p>
            <a:pPr marL="0" lvl="0" indent="0" algn="l" rtl="0">
              <a:spcBef>
                <a:spcPts val="0"/>
              </a:spcBef>
              <a:spcAft>
                <a:spcPts val="300"/>
              </a:spcAft>
              <a:buClr>
                <a:srgbClr val="3F3F3F"/>
              </a:buClr>
              <a:buSzPct val="100000"/>
              <a:buFont typeface="Arial"/>
              <a:buNone/>
            </a:pPr>
            <a:r>
              <a:rPr sz="2700" b="1">
                <a:solidFill>
                  <a:srgbClr val="002B49"/>
                </a:solidFill>
                <a:latin typeface="Calibri"/>
              </a:rPr>
              <a:t>Open Items and Submission Controls</a:t>
            </a:r>
            <a:endParaRPr/>
          </a:p>
        </p:txBody>
      </p:sp>
      <p:sp>
        <p:nvSpPr>
          <p:cNvPr id="123" name="Rectangle 122"/>
          <p:cNvSpPr/>
          <p:nvPr/>
        </p:nvSpPr>
        <p:spPr>
          <a:xfrm>
            <a:off x="566928" y="1188720"/>
            <a:ext cx="10991088" cy="905256"/>
          </a:xfrm>
          <a:prstGeom prst="rect">
            <a:avLst/>
          </a:prstGeom>
          <a:solidFill>
            <a:srgbClr val="F2E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731520" y="1261872"/>
            <a:ext cx="2148840" cy="685800"/>
          </a:xfrm>
          <a:prstGeom prst="rect">
            <a:avLst/>
          </a:prstGeom>
          <a:noFill/>
        </p:spPr>
        <p:txBody>
          <a:bodyPr wrap="square" lIns="18288" rIns="18288" tIns="18288" bIns="18288">
            <a:spAutoFit/>
          </a:bodyPr>
          <a:lstStyle/>
          <a:p>
            <a:pPr algn="l">
              <a:lnSpc>
                <a:spcPct val="105000"/>
              </a:lnSpc>
              <a:spcBef>
                <a:spcPts val="0"/>
              </a:spcBef>
              <a:spcAft>
                <a:spcPts val="200"/>
              </a:spcAft>
            </a:pPr>
            <a:r>
              <a:rPr sz="1800" b="1">
                <a:solidFill>
                  <a:srgbClr val="002B49"/>
                </a:solidFill>
                <a:latin typeface="Calibri"/>
              </a:rPr>
              <a:t>Chapter 2 editing</a:t>
            </a:r>
          </a:p>
        </p:txBody>
      </p:sp>
      <p:sp>
        <p:nvSpPr>
          <p:cNvPr id="125" name="TextBox 124"/>
          <p:cNvSpPr txBox="1"/>
          <p:nvPr/>
        </p:nvSpPr>
        <p:spPr>
          <a:xfrm>
            <a:off x="2971800" y="1261872"/>
            <a:ext cx="8366760" cy="722376"/>
          </a:xfrm>
          <a:prstGeom prst="rect">
            <a:avLst/>
          </a:prstGeom>
          <a:noFill/>
        </p:spPr>
        <p:txBody>
          <a:bodyPr wrap="square" lIns="18288" rIns="18288" tIns="18288" bIns="18288">
            <a:spAutoFit/>
          </a:bodyPr>
          <a:lstStyle/>
          <a:p>
            <a:pPr algn="l">
              <a:lnSpc>
                <a:spcPct val="105000"/>
              </a:lnSpc>
              <a:spcBef>
                <a:spcPts val="0"/>
              </a:spcBef>
              <a:spcAft>
                <a:spcPts val="200"/>
              </a:spcAft>
            </a:pPr>
            <a:r>
              <a:rPr sz="1700" b="0">
                <a:solidFill>
                  <a:srgbClr val="263746"/>
                </a:solidFill>
                <a:latin typeface="Calibri"/>
              </a:rPr>
              <a:t>Content is expanded. Next: shorten repetitive passages, resolve grammar and retain Carlo’s wording, technical boundaries and inline citations.</a:t>
            </a:r>
          </a:p>
        </p:txBody>
      </p:sp>
      <p:sp>
        <p:nvSpPr>
          <p:cNvPr id="126" name="Rectangle 125"/>
          <p:cNvSpPr/>
          <p:nvPr/>
        </p:nvSpPr>
        <p:spPr>
          <a:xfrm>
            <a:off x="566928" y="2286000"/>
            <a:ext cx="10991088" cy="905256"/>
          </a:xfrm>
          <a:prstGeom prst="rect">
            <a:avLst/>
          </a:prstGeom>
          <a:solidFill>
            <a:srgbClr val="E8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731520" y="2359152"/>
            <a:ext cx="2148840" cy="685800"/>
          </a:xfrm>
          <a:prstGeom prst="rect">
            <a:avLst/>
          </a:prstGeom>
          <a:noFill/>
        </p:spPr>
        <p:txBody>
          <a:bodyPr wrap="square" lIns="18288" rIns="18288" tIns="18288" bIns="18288">
            <a:spAutoFit/>
          </a:bodyPr>
          <a:lstStyle/>
          <a:p>
            <a:pPr algn="l">
              <a:lnSpc>
                <a:spcPct val="105000"/>
              </a:lnSpc>
              <a:spcBef>
                <a:spcPts val="0"/>
              </a:spcBef>
              <a:spcAft>
                <a:spcPts val="200"/>
              </a:spcAft>
            </a:pPr>
            <a:r>
              <a:rPr sz="1800" b="1">
                <a:solidFill>
                  <a:srgbClr val="002B49"/>
                </a:solidFill>
                <a:latin typeface="Calibri"/>
              </a:rPr>
              <a:t>Advisor disposition</a:t>
            </a:r>
          </a:p>
        </p:txBody>
      </p:sp>
      <p:sp>
        <p:nvSpPr>
          <p:cNvPr id="128" name="TextBox 127"/>
          <p:cNvSpPr txBox="1"/>
          <p:nvPr/>
        </p:nvSpPr>
        <p:spPr>
          <a:xfrm>
            <a:off x="2971800" y="2359152"/>
            <a:ext cx="8366760" cy="722376"/>
          </a:xfrm>
          <a:prstGeom prst="rect">
            <a:avLst/>
          </a:prstGeom>
          <a:noFill/>
        </p:spPr>
        <p:txBody>
          <a:bodyPr wrap="square" lIns="18288" rIns="18288" tIns="18288" bIns="18288">
            <a:spAutoFit/>
          </a:bodyPr>
          <a:lstStyle/>
          <a:p>
            <a:pPr algn="l">
              <a:lnSpc>
                <a:spcPct val="105000"/>
              </a:lnSpc>
              <a:spcBef>
                <a:spcPts val="0"/>
              </a:spcBef>
              <a:spcAft>
                <a:spcPts val="200"/>
              </a:spcAft>
            </a:pPr>
            <a:r>
              <a:rPr sz="1700" b="0">
                <a:solidFill>
                  <a:srgbClr val="263746"/>
                </a:solidFill>
                <a:latin typeface="Calibri"/>
              </a:rPr>
              <a:t>Quantification and oversight additions are ready for review. The abstract revision is deferred until Chapter 5; approval remains with Dr. Hao.</a:t>
            </a:r>
          </a:p>
        </p:txBody>
      </p:sp>
      <p:sp>
        <p:nvSpPr>
          <p:cNvPr id="129" name="Rectangle 128"/>
          <p:cNvSpPr/>
          <p:nvPr/>
        </p:nvSpPr>
        <p:spPr>
          <a:xfrm>
            <a:off x="566928" y="3383280"/>
            <a:ext cx="10991088" cy="905256"/>
          </a:xfrm>
          <a:prstGeom prst="rect">
            <a:avLst/>
          </a:prstGeom>
          <a:solidFill>
            <a:srgbClr val="E8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731520" y="3456432"/>
            <a:ext cx="2148840" cy="685800"/>
          </a:xfrm>
          <a:prstGeom prst="rect">
            <a:avLst/>
          </a:prstGeom>
          <a:noFill/>
        </p:spPr>
        <p:txBody>
          <a:bodyPr wrap="square" lIns="18288" rIns="18288" tIns="18288" bIns="18288">
            <a:spAutoFit/>
          </a:bodyPr>
          <a:lstStyle/>
          <a:p>
            <a:pPr algn="l">
              <a:lnSpc>
                <a:spcPct val="105000"/>
              </a:lnSpc>
              <a:spcBef>
                <a:spcPts val="0"/>
              </a:spcBef>
              <a:spcAft>
                <a:spcPts val="200"/>
              </a:spcAft>
            </a:pPr>
            <a:r>
              <a:rPr sz="1800" b="1">
                <a:solidFill>
                  <a:srgbClr val="002B49"/>
                </a:solidFill>
                <a:latin typeface="Calibri"/>
              </a:rPr>
              <a:t>Model evidence</a:t>
            </a:r>
          </a:p>
        </p:txBody>
      </p:sp>
      <p:sp>
        <p:nvSpPr>
          <p:cNvPr id="131" name="TextBox 130"/>
          <p:cNvSpPr txBox="1"/>
          <p:nvPr/>
        </p:nvSpPr>
        <p:spPr>
          <a:xfrm>
            <a:off x="2971800" y="3456432"/>
            <a:ext cx="8366760" cy="722376"/>
          </a:xfrm>
          <a:prstGeom prst="rect">
            <a:avLst/>
          </a:prstGeom>
          <a:noFill/>
        </p:spPr>
        <p:txBody>
          <a:bodyPr wrap="square" lIns="18288" rIns="18288" tIns="18288" bIns="18288">
            <a:spAutoFit/>
          </a:bodyPr>
          <a:lstStyle/>
          <a:p>
            <a:pPr algn="l">
              <a:lnSpc>
                <a:spcPct val="105000"/>
              </a:lnSpc>
              <a:spcBef>
                <a:spcPts val="0"/>
              </a:spcBef>
              <a:spcAft>
                <a:spcPts val="200"/>
              </a:spcAft>
            </a:pPr>
            <a:r>
              <a:rPr sz="1700" b="0">
                <a:solidFill>
                  <a:srgbClr val="263746"/>
                </a:solidFill>
                <a:latin typeface="Calibri"/>
              </a:rPr>
              <a:t>The saved regression reports PASS. Carlo’s licensed-environment reproduction, warnings and wall-clock log remain to be recorded.</a:t>
            </a:r>
          </a:p>
        </p:txBody>
      </p:sp>
      <p:sp>
        <p:nvSpPr>
          <p:cNvPr id="132" name="Rectangle 131"/>
          <p:cNvSpPr/>
          <p:nvPr/>
        </p:nvSpPr>
        <p:spPr>
          <a:xfrm>
            <a:off x="566928" y="4480560"/>
            <a:ext cx="10991088" cy="905256"/>
          </a:xfrm>
          <a:prstGeom prst="rect">
            <a:avLst/>
          </a:prstGeom>
          <a:solidFill>
            <a:srgbClr val="E8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731520" y="4553712"/>
            <a:ext cx="2148840" cy="685800"/>
          </a:xfrm>
          <a:prstGeom prst="rect">
            <a:avLst/>
          </a:prstGeom>
          <a:noFill/>
        </p:spPr>
        <p:txBody>
          <a:bodyPr wrap="square" lIns="18288" rIns="18288" tIns="18288" bIns="18288">
            <a:spAutoFit/>
          </a:bodyPr>
          <a:lstStyle/>
          <a:p>
            <a:pPr algn="l">
              <a:lnSpc>
                <a:spcPct val="105000"/>
              </a:lnSpc>
              <a:spcBef>
                <a:spcPts val="0"/>
              </a:spcBef>
              <a:spcAft>
                <a:spcPts val="200"/>
              </a:spcAft>
            </a:pPr>
            <a:r>
              <a:rPr sz="1800" b="1">
                <a:solidFill>
                  <a:srgbClr val="002B49"/>
                </a:solidFill>
                <a:latin typeface="Calibri"/>
              </a:rPr>
              <a:t>Geometry and provenance</a:t>
            </a:r>
          </a:p>
        </p:txBody>
      </p:sp>
      <p:sp>
        <p:nvSpPr>
          <p:cNvPr id="134" name="TextBox 133"/>
          <p:cNvSpPr txBox="1"/>
          <p:nvPr/>
        </p:nvSpPr>
        <p:spPr>
          <a:xfrm>
            <a:off x="2971800" y="4553712"/>
            <a:ext cx="8366760" cy="722376"/>
          </a:xfrm>
          <a:prstGeom prst="rect">
            <a:avLst/>
          </a:prstGeom>
          <a:noFill/>
        </p:spPr>
        <p:txBody>
          <a:bodyPr wrap="square" lIns="18288" rIns="18288" tIns="18288" bIns="18288">
            <a:spAutoFit/>
          </a:bodyPr>
          <a:lstStyle/>
          <a:p>
            <a:pPr algn="l">
              <a:lnSpc>
                <a:spcPct val="105000"/>
              </a:lnSpc>
              <a:spcBef>
                <a:spcPts val="0"/>
              </a:spcBef>
              <a:spcAft>
                <a:spcPts val="200"/>
              </a:spcAft>
            </a:pPr>
            <a:r>
              <a:rPr sz="1700" b="0">
                <a:solidFill>
                  <a:srgbClr val="263746"/>
                </a:solidFill>
                <a:latin typeface="Calibri"/>
              </a:rPr>
              <a:t>Historical OPS-SAT orbital inputs remain pending verification. The current 600 s up / 120 s down schedule remains a declared synthetic scenario.</a:t>
            </a:r>
          </a:p>
        </p:txBody>
      </p:sp>
      <p:sp>
        <p:nvSpPr>
          <p:cNvPr id="135" name="TextBox 134"/>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4 of 29</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6"/>
          <p:cNvSpPr txBox="1">
            <a:spLocks noGrp="1"/>
          </p:cNvSpPr>
          <p:nvPr>
            <p:ph type="title"/>
          </p:nvPr>
        </p:nvSpPr>
        <p:spPr>
          <a:xfrm>
            <a:off x="483495" y="316733"/>
            <a:ext cx="7756263" cy="593766"/>
          </a:xfrm>
          <a:prstGeom prst="rect">
            <a:avLst/>
          </a:prstGeom>
          <a:noFill/>
          <a:ln>
            <a:noFill/>
          </a:ln>
        </p:spPr>
        <p:txBody>
          <a:bodyPr spcFirstLastPara="1" wrap="square" lIns="91425" tIns="45700" rIns="91425" bIns="45700" anchor="t" anchorCtr="0">
            <a:normAutofit fontScale="90000"/>
          </a:bodyPr>
          <a:lstStyle/>
          <a:p>
            <a:pPr marL="0" lvl="0" indent="0" algn="l" rtl="0">
              <a:spcBef>
                <a:spcPts val="0"/>
              </a:spcBef>
              <a:spcAft>
                <a:spcPts val="300"/>
              </a:spcAft>
              <a:buClr>
                <a:srgbClr val="3F3F3F"/>
              </a:buClr>
              <a:buSzPct val="100000"/>
              <a:buFont typeface="Arial"/>
              <a:buNone/>
            </a:pPr>
            <a:r>
              <a:rPr sz="2700" b="1">
                <a:solidFill>
                  <a:srgbClr val="002B49"/>
                </a:solidFill>
                <a:latin typeface="Calibri"/>
              </a:rPr>
              <a:t>Next Steps: Chapter 2 First</a:t>
            </a:r>
            <a:endParaRPr/>
          </a:p>
        </p:txBody>
      </p:sp>
      <p:sp>
        <p:nvSpPr>
          <p:cNvPr id="134" name="Rectangle 133"/>
          <p:cNvSpPr/>
          <p:nvPr/>
        </p:nvSpPr>
        <p:spPr>
          <a:xfrm>
            <a:off x="566928" y="1143000"/>
            <a:ext cx="438912" cy="438912"/>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594360" y="1170432"/>
            <a:ext cx="384048" cy="338328"/>
          </a:xfrm>
          <a:prstGeom prst="rect">
            <a:avLst/>
          </a:prstGeom>
          <a:noFill/>
        </p:spPr>
        <p:txBody>
          <a:bodyPr wrap="square" lIns="18288" rIns="18288" tIns="18288" bIns="18288">
            <a:spAutoFit/>
          </a:bodyPr>
          <a:lstStyle/>
          <a:p>
            <a:pPr algn="ctr">
              <a:lnSpc>
                <a:spcPct val="105000"/>
              </a:lnSpc>
              <a:spcBef>
                <a:spcPts val="0"/>
              </a:spcBef>
              <a:spcAft>
                <a:spcPts val="200"/>
              </a:spcAft>
            </a:pPr>
            <a:r>
              <a:rPr sz="1600" b="1">
                <a:solidFill>
                  <a:srgbClr val="FFFFFF"/>
                </a:solidFill>
                <a:latin typeface="Calibri"/>
              </a:rPr>
              <a:t>01</a:t>
            </a:r>
          </a:p>
        </p:txBody>
      </p:sp>
      <p:sp>
        <p:nvSpPr>
          <p:cNvPr id="136" name="TextBox 135"/>
          <p:cNvSpPr txBox="1"/>
          <p:nvPr/>
        </p:nvSpPr>
        <p:spPr>
          <a:xfrm>
            <a:off x="1161288" y="1143000"/>
            <a:ext cx="10424160" cy="283464"/>
          </a:xfrm>
          <a:prstGeom prst="rect">
            <a:avLst/>
          </a:prstGeom>
          <a:noFill/>
        </p:spPr>
        <p:txBody>
          <a:bodyPr wrap="square" lIns="18288" rIns="18288" tIns="18288" bIns="18288">
            <a:spAutoFit/>
          </a:bodyPr>
          <a:lstStyle/>
          <a:p>
            <a:pPr algn="l">
              <a:lnSpc>
                <a:spcPct val="105000"/>
              </a:lnSpc>
              <a:spcBef>
                <a:spcPts val="0"/>
              </a:spcBef>
              <a:spcAft>
                <a:spcPts val="200"/>
              </a:spcAft>
            </a:pPr>
            <a:r>
              <a:rPr sz="1900" b="1">
                <a:solidFill>
                  <a:srgbClr val="002B49"/>
                </a:solidFill>
                <a:latin typeface="Calibri"/>
              </a:rPr>
              <a:t>Reduce and edit Chapter 2</a:t>
            </a:r>
          </a:p>
        </p:txBody>
      </p:sp>
      <p:sp>
        <p:nvSpPr>
          <p:cNvPr id="137" name="TextBox 136"/>
          <p:cNvSpPr txBox="1"/>
          <p:nvPr/>
        </p:nvSpPr>
        <p:spPr>
          <a:xfrm>
            <a:off x="1161288" y="1463040"/>
            <a:ext cx="10424160" cy="438912"/>
          </a:xfrm>
          <a:prstGeom prst="rect">
            <a:avLst/>
          </a:prstGeom>
          <a:noFill/>
        </p:spPr>
        <p:txBody>
          <a:bodyPr wrap="square" lIns="18288" rIns="18288" tIns="18288" bIns="18288">
            <a:spAutoFit/>
          </a:bodyPr>
          <a:lstStyle/>
          <a:p>
            <a:pPr algn="l">
              <a:lnSpc>
                <a:spcPct val="105000"/>
              </a:lnSpc>
              <a:spcBef>
                <a:spcPts val="0"/>
              </a:spcBef>
              <a:spcAft>
                <a:spcPts val="200"/>
              </a:spcAft>
            </a:pPr>
            <a:r>
              <a:rPr sz="1600" b="0">
                <a:solidFill>
                  <a:srgbClr val="263746"/>
                </a:solidFill>
                <a:latin typeface="Calibri"/>
              </a:rPr>
              <a:t>Apply Hao’s guidance on concision; consolidate repetitive explanation while retaining the quantified examples and three civilian cases.</a:t>
            </a:r>
          </a:p>
        </p:txBody>
      </p:sp>
      <p:sp>
        <p:nvSpPr>
          <p:cNvPr id="138" name="Rectangle 137"/>
          <p:cNvSpPr/>
          <p:nvPr/>
        </p:nvSpPr>
        <p:spPr>
          <a:xfrm>
            <a:off x="566928" y="2029968"/>
            <a:ext cx="438912" cy="438912"/>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94360" y="2057400"/>
            <a:ext cx="384048" cy="338328"/>
          </a:xfrm>
          <a:prstGeom prst="rect">
            <a:avLst/>
          </a:prstGeom>
          <a:noFill/>
        </p:spPr>
        <p:txBody>
          <a:bodyPr wrap="square" lIns="18288" rIns="18288" tIns="18288" bIns="18288">
            <a:spAutoFit/>
          </a:bodyPr>
          <a:lstStyle/>
          <a:p>
            <a:pPr algn="ctr">
              <a:lnSpc>
                <a:spcPct val="105000"/>
              </a:lnSpc>
              <a:spcBef>
                <a:spcPts val="0"/>
              </a:spcBef>
              <a:spcAft>
                <a:spcPts val="200"/>
              </a:spcAft>
            </a:pPr>
            <a:r>
              <a:rPr sz="1600" b="1">
                <a:solidFill>
                  <a:srgbClr val="FFFFFF"/>
                </a:solidFill>
                <a:latin typeface="Calibri"/>
              </a:rPr>
              <a:t>02</a:t>
            </a:r>
          </a:p>
        </p:txBody>
      </p:sp>
      <p:sp>
        <p:nvSpPr>
          <p:cNvPr id="140" name="TextBox 139"/>
          <p:cNvSpPr txBox="1"/>
          <p:nvPr/>
        </p:nvSpPr>
        <p:spPr>
          <a:xfrm>
            <a:off x="1161288" y="2029968"/>
            <a:ext cx="10424160" cy="283464"/>
          </a:xfrm>
          <a:prstGeom prst="rect">
            <a:avLst/>
          </a:prstGeom>
          <a:noFill/>
        </p:spPr>
        <p:txBody>
          <a:bodyPr wrap="square" lIns="18288" rIns="18288" tIns="18288" bIns="18288">
            <a:spAutoFit/>
          </a:bodyPr>
          <a:lstStyle/>
          <a:p>
            <a:pPr algn="l">
              <a:lnSpc>
                <a:spcPct val="105000"/>
              </a:lnSpc>
              <a:spcBef>
                <a:spcPts val="0"/>
              </a:spcBef>
              <a:spcAft>
                <a:spcPts val="200"/>
              </a:spcAft>
            </a:pPr>
            <a:r>
              <a:rPr sz="1900" b="1">
                <a:solidFill>
                  <a:srgbClr val="002B49"/>
                </a:solidFill>
                <a:latin typeface="Calibri"/>
              </a:rPr>
              <a:t>Prepare the advisor submission</a:t>
            </a:r>
          </a:p>
        </p:txBody>
      </p:sp>
      <p:sp>
        <p:nvSpPr>
          <p:cNvPr id="141" name="TextBox 140"/>
          <p:cNvSpPr txBox="1"/>
          <p:nvPr/>
        </p:nvSpPr>
        <p:spPr>
          <a:xfrm>
            <a:off x="1161288" y="2350008"/>
            <a:ext cx="10424160" cy="438912"/>
          </a:xfrm>
          <a:prstGeom prst="rect">
            <a:avLst/>
          </a:prstGeom>
          <a:noFill/>
        </p:spPr>
        <p:txBody>
          <a:bodyPr wrap="square" lIns="18288" rIns="18288" tIns="18288" bIns="18288">
            <a:spAutoFit/>
          </a:bodyPr>
          <a:lstStyle/>
          <a:p>
            <a:pPr algn="l">
              <a:lnSpc>
                <a:spcPct val="105000"/>
              </a:lnSpc>
              <a:spcBef>
                <a:spcPts val="0"/>
              </a:spcBef>
              <a:spcAft>
                <a:spcPts val="200"/>
              </a:spcAft>
            </a:pPr>
            <a:r>
              <a:rPr sz="1600" b="0">
                <a:solidFill>
                  <a:srgbClr val="263746"/>
                </a:solidFill>
                <a:latin typeface="Calibri"/>
              </a:rPr>
              <a:t>Review prose, citations, References, captions and front matter. Preserve the highlighted working copy as the change record.</a:t>
            </a:r>
          </a:p>
        </p:txBody>
      </p:sp>
      <p:sp>
        <p:nvSpPr>
          <p:cNvPr id="142" name="Rectangle 141"/>
          <p:cNvSpPr/>
          <p:nvPr/>
        </p:nvSpPr>
        <p:spPr>
          <a:xfrm>
            <a:off x="566928" y="2916936"/>
            <a:ext cx="438912" cy="438912"/>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594360" y="2944368"/>
            <a:ext cx="384048" cy="338328"/>
          </a:xfrm>
          <a:prstGeom prst="rect">
            <a:avLst/>
          </a:prstGeom>
          <a:noFill/>
        </p:spPr>
        <p:txBody>
          <a:bodyPr wrap="square" lIns="18288" rIns="18288" tIns="18288" bIns="18288">
            <a:spAutoFit/>
          </a:bodyPr>
          <a:lstStyle/>
          <a:p>
            <a:pPr algn="ctr">
              <a:lnSpc>
                <a:spcPct val="105000"/>
              </a:lnSpc>
              <a:spcBef>
                <a:spcPts val="0"/>
              </a:spcBef>
              <a:spcAft>
                <a:spcPts val="200"/>
              </a:spcAft>
            </a:pPr>
            <a:r>
              <a:rPr sz="1600" b="1">
                <a:solidFill>
                  <a:srgbClr val="FFFFFF"/>
                </a:solidFill>
                <a:latin typeface="Calibri"/>
              </a:rPr>
              <a:t>03</a:t>
            </a:r>
          </a:p>
        </p:txBody>
      </p:sp>
      <p:sp>
        <p:nvSpPr>
          <p:cNvPr id="144" name="TextBox 143"/>
          <p:cNvSpPr txBox="1"/>
          <p:nvPr/>
        </p:nvSpPr>
        <p:spPr>
          <a:xfrm>
            <a:off x="1161288" y="2916936"/>
            <a:ext cx="10424160" cy="283464"/>
          </a:xfrm>
          <a:prstGeom prst="rect">
            <a:avLst/>
          </a:prstGeom>
          <a:noFill/>
        </p:spPr>
        <p:txBody>
          <a:bodyPr wrap="square" lIns="18288" rIns="18288" tIns="18288" bIns="18288">
            <a:spAutoFit/>
          </a:bodyPr>
          <a:lstStyle/>
          <a:p>
            <a:pPr algn="l">
              <a:lnSpc>
                <a:spcPct val="105000"/>
              </a:lnSpc>
              <a:spcBef>
                <a:spcPts val="0"/>
              </a:spcBef>
              <a:spcAft>
                <a:spcPts val="200"/>
              </a:spcAft>
            </a:pPr>
            <a:r>
              <a:rPr sz="1900" b="1">
                <a:solidFill>
                  <a:srgbClr val="002B49"/>
                </a:solidFill>
                <a:latin typeface="Calibri"/>
              </a:rPr>
              <a:t>Reproduce and document the model</a:t>
            </a:r>
          </a:p>
        </p:txBody>
      </p:sp>
      <p:sp>
        <p:nvSpPr>
          <p:cNvPr id="145" name="TextBox 144"/>
          <p:cNvSpPr txBox="1"/>
          <p:nvPr/>
        </p:nvSpPr>
        <p:spPr>
          <a:xfrm>
            <a:off x="1161288" y="3236976"/>
            <a:ext cx="10424160" cy="438912"/>
          </a:xfrm>
          <a:prstGeom prst="rect">
            <a:avLst/>
          </a:prstGeom>
          <a:noFill/>
        </p:spPr>
        <p:txBody>
          <a:bodyPr wrap="square" lIns="18288" rIns="18288" tIns="18288" bIns="18288">
            <a:spAutoFit/>
          </a:bodyPr>
          <a:lstStyle/>
          <a:p>
            <a:pPr algn="l">
              <a:lnSpc>
                <a:spcPct val="105000"/>
              </a:lnSpc>
              <a:spcBef>
                <a:spcPts val="0"/>
              </a:spcBef>
              <a:spcAft>
                <a:spcPts val="200"/>
              </a:spcAft>
            </a:pPr>
            <a:r>
              <a:rPr sz="1600" b="0">
                <a:solidFill>
                  <a:srgbClr val="263746"/>
                </a:solidFill>
                <a:latin typeface="Calibri"/>
              </a:rPr>
              <a:t>Run the bounded ACE case on Carlo’s licensed installation; capture release, PASS/FAIL, errors, warnings and elapsed time.</a:t>
            </a:r>
          </a:p>
        </p:txBody>
      </p:sp>
      <p:sp>
        <p:nvSpPr>
          <p:cNvPr id="146" name="Rectangle 145"/>
          <p:cNvSpPr/>
          <p:nvPr/>
        </p:nvSpPr>
        <p:spPr>
          <a:xfrm>
            <a:off x="566928" y="3803904"/>
            <a:ext cx="438912" cy="438912"/>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594360" y="3831336"/>
            <a:ext cx="384048" cy="338328"/>
          </a:xfrm>
          <a:prstGeom prst="rect">
            <a:avLst/>
          </a:prstGeom>
          <a:noFill/>
        </p:spPr>
        <p:txBody>
          <a:bodyPr wrap="square" lIns="18288" rIns="18288" tIns="18288" bIns="18288">
            <a:spAutoFit/>
          </a:bodyPr>
          <a:lstStyle/>
          <a:p>
            <a:pPr algn="ctr">
              <a:lnSpc>
                <a:spcPct val="105000"/>
              </a:lnSpc>
              <a:spcBef>
                <a:spcPts val="0"/>
              </a:spcBef>
              <a:spcAft>
                <a:spcPts val="200"/>
              </a:spcAft>
            </a:pPr>
            <a:r>
              <a:rPr sz="1600" b="1">
                <a:solidFill>
                  <a:srgbClr val="FFFFFF"/>
                </a:solidFill>
                <a:latin typeface="Calibri"/>
              </a:rPr>
              <a:t>04</a:t>
            </a:r>
          </a:p>
        </p:txBody>
      </p:sp>
      <p:sp>
        <p:nvSpPr>
          <p:cNvPr id="148" name="TextBox 147"/>
          <p:cNvSpPr txBox="1"/>
          <p:nvPr/>
        </p:nvSpPr>
        <p:spPr>
          <a:xfrm>
            <a:off x="1161288" y="3803904"/>
            <a:ext cx="10424160" cy="283464"/>
          </a:xfrm>
          <a:prstGeom prst="rect">
            <a:avLst/>
          </a:prstGeom>
          <a:noFill/>
        </p:spPr>
        <p:txBody>
          <a:bodyPr wrap="square" lIns="18288" rIns="18288" tIns="18288" bIns="18288">
            <a:spAutoFit/>
          </a:bodyPr>
          <a:lstStyle/>
          <a:p>
            <a:pPr algn="l">
              <a:lnSpc>
                <a:spcPct val="105000"/>
              </a:lnSpc>
              <a:spcBef>
                <a:spcPts val="0"/>
              </a:spcBef>
              <a:spcAft>
                <a:spcPts val="200"/>
              </a:spcAft>
            </a:pPr>
            <a:r>
              <a:rPr sz="1900" b="1">
                <a:solidFill>
                  <a:srgbClr val="002B49"/>
                </a:solidFill>
                <a:latin typeface="Calibri"/>
              </a:rPr>
              <a:t>Plan bounded extensions</a:t>
            </a:r>
          </a:p>
        </p:txBody>
      </p:sp>
      <p:sp>
        <p:nvSpPr>
          <p:cNvPr id="149" name="TextBox 148"/>
          <p:cNvSpPr txBox="1"/>
          <p:nvPr/>
        </p:nvSpPr>
        <p:spPr>
          <a:xfrm>
            <a:off x="1161288" y="4123944"/>
            <a:ext cx="10424160" cy="438912"/>
          </a:xfrm>
          <a:prstGeom prst="rect">
            <a:avLst/>
          </a:prstGeom>
          <a:noFill/>
        </p:spPr>
        <p:txBody>
          <a:bodyPr wrap="square" lIns="18288" rIns="18288" tIns="18288" bIns="18288">
            <a:spAutoFit/>
          </a:bodyPr>
          <a:lstStyle/>
          <a:p>
            <a:pPr algn="l">
              <a:lnSpc>
                <a:spcPct val="105000"/>
              </a:lnSpc>
              <a:spcBef>
                <a:spcPts val="0"/>
              </a:spcBef>
              <a:spcAft>
                <a:spcPts val="200"/>
              </a:spcAft>
            </a:pPr>
            <a:r>
              <a:rPr sz="1600" b="0">
                <a:solidFill>
                  <a:srgbClr val="263746"/>
                </a:solidFill>
                <a:latin typeface="Calibri"/>
              </a:rPr>
              <a:t>Benchmark small replication batches; define sensitivity factors. Aerospace geometry / visualization remains a separately verified next capability.</a:t>
            </a:r>
          </a:p>
        </p:txBody>
      </p:sp>
      <p:sp>
        <p:nvSpPr>
          <p:cNvPr id="150" name="Rectangle 149"/>
          <p:cNvSpPr/>
          <p:nvPr/>
        </p:nvSpPr>
        <p:spPr>
          <a:xfrm>
            <a:off x="566928" y="4690872"/>
            <a:ext cx="438912" cy="438912"/>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94360" y="4718304"/>
            <a:ext cx="384048" cy="338328"/>
          </a:xfrm>
          <a:prstGeom prst="rect">
            <a:avLst/>
          </a:prstGeom>
          <a:noFill/>
        </p:spPr>
        <p:txBody>
          <a:bodyPr wrap="square" lIns="18288" rIns="18288" tIns="18288" bIns="18288">
            <a:spAutoFit/>
          </a:bodyPr>
          <a:lstStyle/>
          <a:p>
            <a:pPr algn="ctr">
              <a:lnSpc>
                <a:spcPct val="105000"/>
              </a:lnSpc>
              <a:spcBef>
                <a:spcPts val="0"/>
              </a:spcBef>
              <a:spcAft>
                <a:spcPts val="200"/>
              </a:spcAft>
            </a:pPr>
            <a:r>
              <a:rPr sz="1600" b="1">
                <a:solidFill>
                  <a:srgbClr val="FFFFFF"/>
                </a:solidFill>
                <a:latin typeface="Calibri"/>
              </a:rPr>
              <a:t>05</a:t>
            </a:r>
          </a:p>
        </p:txBody>
      </p:sp>
      <p:sp>
        <p:nvSpPr>
          <p:cNvPr id="152" name="TextBox 151"/>
          <p:cNvSpPr txBox="1"/>
          <p:nvPr/>
        </p:nvSpPr>
        <p:spPr>
          <a:xfrm>
            <a:off x="1161288" y="4690872"/>
            <a:ext cx="10424160" cy="283464"/>
          </a:xfrm>
          <a:prstGeom prst="rect">
            <a:avLst/>
          </a:prstGeom>
          <a:noFill/>
        </p:spPr>
        <p:txBody>
          <a:bodyPr wrap="square" lIns="18288" rIns="18288" tIns="18288" bIns="18288">
            <a:spAutoFit/>
          </a:bodyPr>
          <a:lstStyle/>
          <a:p>
            <a:pPr algn="l">
              <a:lnSpc>
                <a:spcPct val="105000"/>
              </a:lnSpc>
              <a:spcBef>
                <a:spcPts val="0"/>
              </a:spcBef>
              <a:spcAft>
                <a:spcPts val="200"/>
              </a:spcAft>
            </a:pPr>
            <a:r>
              <a:rPr sz="1900" b="1">
                <a:solidFill>
                  <a:srgbClr val="002B49"/>
                </a:solidFill>
                <a:latin typeface="Calibri"/>
              </a:rPr>
              <a:t>Session 6 • November 14 suspense</a:t>
            </a:r>
          </a:p>
        </p:txBody>
      </p:sp>
      <p:sp>
        <p:nvSpPr>
          <p:cNvPr id="153" name="TextBox 152"/>
          <p:cNvSpPr txBox="1"/>
          <p:nvPr/>
        </p:nvSpPr>
        <p:spPr>
          <a:xfrm>
            <a:off x="1161288" y="5010912"/>
            <a:ext cx="10424160" cy="438912"/>
          </a:xfrm>
          <a:prstGeom prst="rect">
            <a:avLst/>
          </a:prstGeom>
          <a:noFill/>
        </p:spPr>
        <p:txBody>
          <a:bodyPr wrap="square" lIns="18288" rIns="18288" tIns="18288" bIns="18288">
            <a:spAutoFit/>
          </a:bodyPr>
          <a:lstStyle/>
          <a:p>
            <a:pPr algn="l">
              <a:lnSpc>
                <a:spcPct val="105000"/>
              </a:lnSpc>
              <a:spcBef>
                <a:spcPts val="0"/>
              </a:spcBef>
              <a:spcAft>
                <a:spcPts val="200"/>
              </a:spcAft>
            </a:pPr>
            <a:r>
              <a:rPr sz="1520" b="0">
                <a:solidFill>
                  <a:srgbClr val="202020"/>
                </a:solidFill>
                <a:latin typeface="Calibri"/>
              </a:rPr>
              <a:t>Due: Dr. Hao comments incorporated + final Chapter 2 revisions; assemble the evidence package and carry forward any remaining model actions.</a:t>
            </a:r>
          </a:p>
        </p:txBody>
      </p:sp>
      <p:sp>
        <p:nvSpPr>
          <p:cNvPr id="154" name="TextBox 153"/>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5 of 29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2"/>
        <p:cNvGrpSpPr/>
        <p:nvPr/>
      </p:nvGrpSpPr>
      <p:grpSpPr>
        <a:xfrm>
          <a:off x="0" y="0"/>
          <a:ext cx="0" cy="0"/>
          <a:chOff x="0" y="0"/>
          <a:chExt cx="0" cy="0"/>
        </a:xfrm>
      </p:grpSpPr>
      <p:sp>
        <p:nvSpPr>
          <p:cNvPr id="2" name="TextBox 1"/>
          <p:cNvSpPr txBox="1"/>
          <p:nvPr/>
        </p:nvSpPr>
        <p:spPr>
          <a:xfrm>
            <a:off x="438912" y="256032"/>
            <a:ext cx="11201400" cy="502920"/>
          </a:xfrm>
          <a:prstGeom prst="rect">
            <a:avLst/>
          </a:prstGeom>
          <a:noFill/>
        </p:spPr>
        <p:txBody>
          <a:bodyPr wrap="square" lIns="18288" rIns="18288" tIns="18288" bIns="18288">
            <a:spAutoFit/>
          </a:bodyPr>
          <a:lstStyle/>
          <a:p>
            <a:pPr algn="l">
              <a:lnSpc>
                <a:spcPct val="105000"/>
              </a:lnSpc>
              <a:spcBef>
                <a:spcPts val="0"/>
              </a:spcBef>
              <a:spcAft>
                <a:spcPts val="200"/>
              </a:spcAft>
            </a:pPr>
            <a:r>
              <a:rPr sz="2700" b="1">
                <a:solidFill>
                  <a:srgbClr val="002B49"/>
                </a:solidFill>
                <a:latin typeface="Calibri"/>
              </a:rPr>
              <a:t>Work Package: Meeting 4 to Session 6</a:t>
            </a:r>
          </a:p>
        </p:txBody>
      </p:sp>
      <p:sp>
        <p:nvSpPr>
          <p:cNvPr id="3" name="TextBox 2"/>
          <p:cNvSpPr txBox="1"/>
          <p:nvPr/>
        </p:nvSpPr>
        <p:spPr>
          <a:xfrm>
            <a:off x="457200" y="822960"/>
            <a:ext cx="11155680" cy="457200"/>
          </a:xfrm>
          <a:prstGeom prst="rect">
            <a:avLst/>
          </a:prstGeom>
          <a:noFill/>
        </p:spPr>
        <p:txBody>
          <a:bodyPr wrap="square" lIns="18288" rIns="18288" tIns="18288" bIns="18288">
            <a:spAutoFit/>
          </a:bodyPr>
          <a:lstStyle/>
          <a:p>
            <a:pPr algn="l">
              <a:lnSpc>
                <a:spcPct val="105000"/>
              </a:lnSpc>
              <a:spcBef>
                <a:spcPts val="0"/>
              </a:spcBef>
              <a:spcAft>
                <a:spcPts val="200"/>
              </a:spcAft>
            </a:pPr>
            <a:r>
              <a:rPr sz="1400">
                <a:solidFill>
                  <a:srgbClr val="202020"/>
                </a:solidFill>
                <a:latin typeface="Calibri"/>
              </a:rPr>
              <a:t>Completed work is left of the green TODAY line; the red line is the next advisor suspense.</a:t>
            </a:r>
          </a:p>
        </p:txBody>
      </p:sp>
      <p:cxnSp>
        <p:nvCxnSpPr>
          <p:cNvPr id="4" name="Connector 3"/>
          <p:cNvCxnSpPr/>
          <p:nvPr/>
        </p:nvCxnSpPr>
        <p:spPr>
          <a:xfrm>
            <a:off x="3520440" y="1645920"/>
            <a:ext cx="0" cy="3730752"/>
          </a:xfrm>
          <a:prstGeom prst="line">
            <a:avLst/>
          </a:prstGeom>
          <a:ln w="7620">
            <a:solidFill>
              <a:srgbClr val="D6DEE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200400"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576573"/>
                </a:solidFill>
                <a:latin typeface="Calibri"/>
              </a:rPr>
              <a:t>17 Oct</a:t>
            </a:r>
          </a:p>
        </p:txBody>
      </p:sp>
      <p:cxnSp>
        <p:nvCxnSpPr>
          <p:cNvPr id="6" name="Connector 5"/>
          <p:cNvCxnSpPr/>
          <p:nvPr/>
        </p:nvCxnSpPr>
        <p:spPr>
          <a:xfrm>
            <a:off x="5509260" y="1645920"/>
            <a:ext cx="0" cy="3730752"/>
          </a:xfrm>
          <a:prstGeom prst="line">
            <a:avLst/>
          </a:prstGeom>
          <a:ln w="7620">
            <a:solidFill>
              <a:srgbClr val="D6DE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89220"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576573"/>
                </a:solidFill>
                <a:latin typeface="Calibri"/>
              </a:rPr>
              <a:t>24 Oct</a:t>
            </a:r>
          </a:p>
        </p:txBody>
      </p:sp>
      <p:cxnSp>
        <p:nvCxnSpPr>
          <p:cNvPr id="8" name="Connector 7"/>
          <p:cNvCxnSpPr/>
          <p:nvPr/>
        </p:nvCxnSpPr>
        <p:spPr>
          <a:xfrm>
            <a:off x="7213962" y="1645920"/>
            <a:ext cx="0" cy="3730752"/>
          </a:xfrm>
          <a:prstGeom prst="line">
            <a:avLst/>
          </a:prstGeom>
          <a:ln w="7620">
            <a:solidFill>
              <a:srgbClr val="D6DE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93922"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576573"/>
                </a:solidFill>
                <a:latin typeface="Calibri"/>
              </a:rPr>
              <a:t>30 Oct</a:t>
            </a:r>
          </a:p>
        </p:txBody>
      </p:sp>
      <p:cxnSp>
        <p:nvCxnSpPr>
          <p:cNvPr id="10" name="Connector 9"/>
          <p:cNvCxnSpPr/>
          <p:nvPr/>
        </p:nvCxnSpPr>
        <p:spPr>
          <a:xfrm>
            <a:off x="9486900" y="1645920"/>
            <a:ext cx="0" cy="3730752"/>
          </a:xfrm>
          <a:prstGeom prst="line">
            <a:avLst/>
          </a:prstGeom>
          <a:ln w="7620">
            <a:solidFill>
              <a:srgbClr val="D6DE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66860"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576573"/>
                </a:solidFill>
                <a:latin typeface="Calibri"/>
              </a:rPr>
              <a:t>7 Nov</a:t>
            </a:r>
          </a:p>
        </p:txBody>
      </p:sp>
      <p:cxnSp>
        <p:nvCxnSpPr>
          <p:cNvPr id="12" name="Connector 11"/>
          <p:cNvCxnSpPr/>
          <p:nvPr/>
        </p:nvCxnSpPr>
        <p:spPr>
          <a:xfrm>
            <a:off x="11475720" y="1645920"/>
            <a:ext cx="0" cy="3730752"/>
          </a:xfrm>
          <a:prstGeom prst="line">
            <a:avLst/>
          </a:prstGeom>
          <a:ln w="7620">
            <a:solidFill>
              <a:srgbClr val="D6DE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1155680"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576573"/>
                </a:solidFill>
                <a:latin typeface="Calibri"/>
              </a:rPr>
              <a:t>14 Nov</a:t>
            </a:r>
          </a:p>
        </p:txBody>
      </p:sp>
      <p:sp>
        <p:nvSpPr>
          <p:cNvPr id="14" name="TextBox 13"/>
          <p:cNvSpPr txBox="1"/>
          <p:nvPr/>
        </p:nvSpPr>
        <p:spPr>
          <a:xfrm>
            <a:off x="502920" y="1892808"/>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a:solidFill>
                  <a:srgbClr val="202020"/>
                </a:solidFill>
                <a:latin typeface="Calibri"/>
              </a:rPr>
              <a:t>v9 literature expansion</a:t>
            </a:r>
          </a:p>
        </p:txBody>
      </p:sp>
      <p:sp>
        <p:nvSpPr>
          <p:cNvPr id="15" name="Rectangle 14"/>
          <p:cNvSpPr/>
          <p:nvPr/>
        </p:nvSpPr>
        <p:spPr>
          <a:xfrm>
            <a:off x="3520440" y="1984248"/>
            <a:ext cx="1988820" cy="201168"/>
          </a:xfrm>
          <a:prstGeom prst="rect">
            <a:avLst/>
          </a:prstGeom>
          <a:solidFill>
            <a:srgbClr val="286B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7016" y="2194560"/>
            <a:ext cx="4389120"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1">
                <a:solidFill>
                  <a:srgbClr val="286B98"/>
                </a:solidFill>
                <a:latin typeface="Calibri"/>
              </a:rPr>
              <a:t>DONE · 24 Oct</a:t>
            </a:r>
          </a:p>
        </p:txBody>
      </p:sp>
      <p:sp>
        <p:nvSpPr>
          <p:cNvPr id="17" name="TextBox 16"/>
          <p:cNvSpPr txBox="1"/>
          <p:nvPr/>
        </p:nvSpPr>
        <p:spPr>
          <a:xfrm>
            <a:off x="502920" y="2569464"/>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420">
                <a:solidFill>
                  <a:srgbClr val="202020"/>
                </a:solidFill>
                <a:latin typeface="Calibri"/>
              </a:rPr>
              <a:t>§2.3 quantification + oversight + reference merge</a:t>
            </a:r>
          </a:p>
        </p:txBody>
      </p:sp>
      <p:sp>
        <p:nvSpPr>
          <p:cNvPr id="18" name="Rectangle 17"/>
          <p:cNvSpPr/>
          <p:nvPr/>
        </p:nvSpPr>
        <p:spPr>
          <a:xfrm>
            <a:off x="5509260" y="2660903"/>
            <a:ext cx="1136468" cy="201168"/>
          </a:xfrm>
          <a:prstGeom prst="rect">
            <a:avLst/>
          </a:prstGeom>
          <a:solidFill>
            <a:srgbClr val="167E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5836" y="2871215"/>
            <a:ext cx="4389120"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1">
                <a:solidFill>
                  <a:srgbClr val="167E86"/>
                </a:solidFill>
                <a:latin typeface="Calibri"/>
              </a:rPr>
              <a:t>DONE · 28 Oct</a:t>
            </a:r>
          </a:p>
        </p:txBody>
      </p:sp>
      <p:sp>
        <p:nvSpPr>
          <p:cNvPr id="20" name="TextBox 19"/>
          <p:cNvSpPr txBox="1"/>
          <p:nvPr/>
        </p:nvSpPr>
        <p:spPr>
          <a:xfrm>
            <a:off x="502920" y="3246120"/>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450">
                <a:solidFill>
                  <a:srgbClr val="202020"/>
                </a:solidFill>
                <a:latin typeface="Calibri"/>
              </a:rPr>
              <a:t>Session 5 brief + MATLAB evidence</a:t>
            </a:r>
          </a:p>
        </p:txBody>
      </p:sp>
      <p:sp>
        <p:nvSpPr>
          <p:cNvPr id="21" name="Rectangle 20"/>
          <p:cNvSpPr/>
          <p:nvPr/>
        </p:nvSpPr>
        <p:spPr>
          <a:xfrm>
            <a:off x="6645728" y="3337560"/>
            <a:ext cx="568234" cy="201168"/>
          </a:xfrm>
          <a:prstGeom prst="rect">
            <a:avLst/>
          </a:prstGeom>
          <a:solidFill>
            <a:srgbClr val="BD8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82304" y="3547872"/>
            <a:ext cx="4389120"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1">
                <a:solidFill>
                  <a:srgbClr val="BD8E36"/>
                </a:solidFill>
                <a:latin typeface="Calibri"/>
              </a:rPr>
              <a:t>DONE · 29 Oct</a:t>
            </a:r>
          </a:p>
        </p:txBody>
      </p:sp>
      <p:sp>
        <p:nvSpPr>
          <p:cNvPr id="23" name="TextBox 22"/>
          <p:cNvSpPr txBox="1"/>
          <p:nvPr/>
        </p:nvSpPr>
        <p:spPr>
          <a:xfrm>
            <a:off x="502920" y="3922776"/>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450">
                <a:solidFill>
                  <a:srgbClr val="202020"/>
                </a:solidFill>
                <a:latin typeface="Calibri"/>
              </a:rPr>
              <a:t>Dr. Hao comments + final revisions</a:t>
            </a:r>
          </a:p>
        </p:txBody>
      </p:sp>
      <p:sp>
        <p:nvSpPr>
          <p:cNvPr id="24" name="Rectangle 23"/>
          <p:cNvSpPr/>
          <p:nvPr/>
        </p:nvSpPr>
        <p:spPr>
          <a:xfrm>
            <a:off x="7213962" y="4014216"/>
            <a:ext cx="4261104" cy="201168"/>
          </a:xfrm>
          <a:prstGeom prst="rect">
            <a:avLst/>
          </a:prstGeom>
          <a:solidFill>
            <a:srgbClr val="7155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50538" y="4224528"/>
            <a:ext cx="4261757"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1">
                <a:solidFill>
                  <a:srgbClr val="71559F"/>
                </a:solidFill>
                <a:latin typeface="Calibri"/>
              </a:rPr>
              <a:t>PRIMARY SUSPENSE · 14 Nov</a:t>
            </a:r>
          </a:p>
        </p:txBody>
      </p:sp>
      <p:sp>
        <p:nvSpPr>
          <p:cNvPr id="26" name="TextBox 25"/>
          <p:cNvSpPr txBox="1"/>
          <p:nvPr/>
        </p:nvSpPr>
        <p:spPr>
          <a:xfrm>
            <a:off x="502920" y="4599432"/>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a:solidFill>
                  <a:srgbClr val="202020"/>
                </a:solidFill>
                <a:latin typeface="Calibri"/>
              </a:rPr>
              <a:t>Session 6 evidence package</a:t>
            </a:r>
          </a:p>
        </p:txBody>
      </p:sp>
      <p:sp>
        <p:nvSpPr>
          <p:cNvPr id="27" name="Rectangle 26"/>
          <p:cNvSpPr/>
          <p:nvPr/>
        </p:nvSpPr>
        <p:spPr>
          <a:xfrm>
            <a:off x="10907485" y="4690872"/>
            <a:ext cx="568234" cy="201168"/>
          </a:xfrm>
          <a:prstGeom prst="rect">
            <a:avLst/>
          </a:prstGeom>
          <a:solidFill>
            <a:srgbClr val="286B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21240" y="4901184"/>
            <a:ext cx="1554480"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1">
                <a:solidFill>
                  <a:srgbClr val="286B98"/>
                </a:solidFill>
                <a:latin typeface="Calibri"/>
              </a:rPr>
              <a:t>Briefing gate</a:t>
            </a:r>
          </a:p>
        </p:txBody>
      </p:sp>
      <p:cxnSp>
        <p:nvCxnSpPr>
          <p:cNvPr id="29" name="Connector 28"/>
          <p:cNvCxnSpPr/>
          <p:nvPr/>
        </p:nvCxnSpPr>
        <p:spPr>
          <a:xfrm>
            <a:off x="7213962" y="1627632"/>
            <a:ext cx="0" cy="3776472"/>
          </a:xfrm>
          <a:prstGeom prst="line">
            <a:avLst/>
          </a:prstGeom>
          <a:ln w="27940">
            <a:solidFill>
              <a:srgbClr val="29864D"/>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446520" y="1097280"/>
            <a:ext cx="1554480" cy="24688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1">
                <a:solidFill>
                  <a:srgbClr val="2E7D32"/>
                </a:solidFill>
                <a:latin typeface="Calibri"/>
              </a:rPr>
              <a:t>30 OCT · TODAY</a:t>
            </a:r>
          </a:p>
        </p:txBody>
      </p:sp>
      <p:cxnSp>
        <p:nvCxnSpPr>
          <p:cNvPr id="31" name="Connector 30"/>
          <p:cNvCxnSpPr/>
          <p:nvPr/>
        </p:nvCxnSpPr>
        <p:spPr>
          <a:xfrm>
            <a:off x="11475720" y="1627632"/>
            <a:ext cx="0" cy="3776472"/>
          </a:xfrm>
          <a:prstGeom prst="line">
            <a:avLst/>
          </a:prstGeom>
          <a:ln w="27940">
            <a:solidFill>
              <a:srgbClr val="B12C37"/>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555480" y="1097280"/>
            <a:ext cx="2148840" cy="246888"/>
          </a:xfrm>
          <a:prstGeom prst="rect">
            <a:avLst/>
          </a:prstGeom>
          <a:noFill/>
        </p:spPr>
        <p:txBody>
          <a:bodyPr wrap="square" lIns="18288" rIns="18288" tIns="18288" bIns="18288">
            <a:spAutoFit/>
          </a:bodyPr>
          <a:lstStyle/>
          <a:p>
            <a:pPr algn="ctr">
              <a:lnSpc>
                <a:spcPct val="105000"/>
              </a:lnSpc>
              <a:spcBef>
                <a:spcPts val="0"/>
              </a:spcBef>
              <a:spcAft>
                <a:spcPts val="200"/>
              </a:spcAft>
            </a:pPr>
            <a:r>
              <a:rPr sz="930" b="1">
                <a:solidFill>
                  <a:srgbClr val="C00000"/>
                </a:solidFill>
                <a:latin typeface="Calibri"/>
              </a:rPr>
              <a:t>14 NOV · FINAL REVISIONS</a:t>
            </a:r>
          </a:p>
        </p:txBody>
      </p:sp>
      <p:sp>
        <p:nvSpPr>
          <p:cNvPr id="33" name="TextBox 32"/>
          <p:cNvSpPr txBox="1"/>
          <p:nvPr/>
        </p:nvSpPr>
        <p:spPr>
          <a:xfrm>
            <a:off x="502920" y="5239512"/>
            <a:ext cx="10972800" cy="228600"/>
          </a:xfrm>
          <a:prstGeom prst="rect">
            <a:avLst/>
          </a:prstGeom>
          <a:noFill/>
        </p:spPr>
        <p:txBody>
          <a:bodyPr wrap="square" lIns="18288" rIns="18288" tIns="18288" bIns="18288">
            <a:spAutoFit/>
          </a:bodyPr>
          <a:lstStyle/>
          <a:p>
            <a:pPr algn="l">
              <a:lnSpc>
                <a:spcPct val="105000"/>
              </a:lnSpc>
              <a:spcBef>
                <a:spcPts val="0"/>
              </a:spcBef>
              <a:spcAft>
                <a:spcPts val="200"/>
              </a:spcAft>
            </a:pPr>
            <a:r>
              <a:rPr sz="1000">
                <a:solidFill>
                  <a:srgbClr val="202020"/>
                </a:solidFill>
                <a:latin typeface="Calibri"/>
              </a:rPr>
              <a:t>Green = October 30 briefing.  Red suspense = November 14: Dr. Hao comments incorporated + final revisions.</a:t>
            </a:r>
          </a:p>
        </p:txBody>
      </p:sp>
      <p:sp>
        <p:nvSpPr>
          <p:cNvPr id="34" name="TextBox 33"/>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6 of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38912" y="256032"/>
            <a:ext cx="11201400" cy="502920"/>
          </a:xfrm>
          <a:prstGeom prst="rect">
            <a:avLst/>
          </a:prstGeom>
          <a:noFill/>
        </p:spPr>
        <p:txBody>
          <a:bodyPr wrap="square" lIns="18288" rIns="18288" tIns="18288" bIns="18288">
            <a:spAutoFit/>
          </a:bodyPr>
          <a:lstStyle/>
          <a:p>
            <a:pPr algn="l">
              <a:lnSpc>
                <a:spcPct val="105000"/>
              </a:lnSpc>
              <a:spcBef>
                <a:spcPts val="0"/>
              </a:spcBef>
              <a:spcAft>
                <a:spcPts val="200"/>
              </a:spcAft>
            </a:pPr>
            <a:r>
              <a:rPr sz="2700" b="1">
                <a:solidFill>
                  <a:srgbClr val="002B49"/>
                </a:solidFill>
                <a:latin typeface="Calibri"/>
              </a:rPr>
              <a:t>Next Work Period: October 30–November 14</a:t>
            </a:r>
          </a:p>
        </p:txBody>
      </p:sp>
      <p:sp>
        <p:nvSpPr>
          <p:cNvPr id="3" name="TextBox 2"/>
          <p:cNvSpPr txBox="1"/>
          <p:nvPr/>
        </p:nvSpPr>
        <p:spPr>
          <a:xfrm>
            <a:off x="457200" y="822960"/>
            <a:ext cx="11155680" cy="457200"/>
          </a:xfrm>
          <a:prstGeom prst="rect">
            <a:avLst/>
          </a:prstGeom>
          <a:noFill/>
        </p:spPr>
        <p:txBody>
          <a:bodyPr wrap="square" lIns="18288" rIns="18288" tIns="18288" bIns="18288">
            <a:spAutoFit/>
          </a:bodyPr>
          <a:lstStyle/>
          <a:p>
            <a:pPr algn="l">
              <a:lnSpc>
                <a:spcPct val="105000"/>
              </a:lnSpc>
              <a:spcBef>
                <a:spcPts val="0"/>
              </a:spcBef>
              <a:spcAft>
                <a:spcPts val="200"/>
              </a:spcAft>
            </a:pPr>
            <a:r>
              <a:rPr sz="1400">
                <a:solidFill>
                  <a:srgbClr val="202020"/>
                </a:solidFill>
                <a:latin typeface="Calibri"/>
              </a:rPr>
              <a:t>Primary writing task: incorporate Session 5 guidance and close Chapter 2; model reproduction supports the evidence package.</a:t>
            </a:r>
          </a:p>
        </p:txBody>
      </p:sp>
      <p:cxnSp>
        <p:nvCxnSpPr>
          <p:cNvPr id="4" name="Connector 3"/>
          <p:cNvCxnSpPr/>
          <p:nvPr/>
        </p:nvCxnSpPr>
        <p:spPr>
          <a:xfrm>
            <a:off x="3520440" y="1645920"/>
            <a:ext cx="0" cy="3694176"/>
          </a:xfrm>
          <a:prstGeom prst="line">
            <a:avLst/>
          </a:prstGeom>
          <a:ln w="7620">
            <a:solidFill>
              <a:srgbClr val="D6DEE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3200400"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576573"/>
                </a:solidFill>
                <a:latin typeface="Calibri"/>
              </a:rPr>
              <a:t>30 Oct</a:t>
            </a:r>
          </a:p>
        </p:txBody>
      </p:sp>
      <p:cxnSp>
        <p:nvCxnSpPr>
          <p:cNvPr id="6" name="Connector 5"/>
          <p:cNvCxnSpPr/>
          <p:nvPr/>
        </p:nvCxnSpPr>
        <p:spPr>
          <a:xfrm>
            <a:off x="5111496" y="1645920"/>
            <a:ext cx="0" cy="3694176"/>
          </a:xfrm>
          <a:prstGeom prst="line">
            <a:avLst/>
          </a:prstGeom>
          <a:ln w="7620">
            <a:solidFill>
              <a:srgbClr val="D6DEE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791456"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576573"/>
                </a:solidFill>
                <a:latin typeface="Calibri"/>
              </a:rPr>
              <a:t>2 Nov</a:t>
            </a:r>
          </a:p>
        </p:txBody>
      </p:sp>
      <p:cxnSp>
        <p:nvCxnSpPr>
          <p:cNvPr id="8" name="Connector 7"/>
          <p:cNvCxnSpPr/>
          <p:nvPr/>
        </p:nvCxnSpPr>
        <p:spPr>
          <a:xfrm>
            <a:off x="7232904" y="1645920"/>
            <a:ext cx="0" cy="3694176"/>
          </a:xfrm>
          <a:prstGeom prst="line">
            <a:avLst/>
          </a:prstGeom>
          <a:ln w="7620">
            <a:solidFill>
              <a:srgbClr val="D6DE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912864"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576573"/>
                </a:solidFill>
                <a:latin typeface="Calibri"/>
              </a:rPr>
              <a:t>6 Nov</a:t>
            </a:r>
          </a:p>
        </p:txBody>
      </p:sp>
      <p:cxnSp>
        <p:nvCxnSpPr>
          <p:cNvPr id="10" name="Connector 9"/>
          <p:cNvCxnSpPr/>
          <p:nvPr/>
        </p:nvCxnSpPr>
        <p:spPr>
          <a:xfrm>
            <a:off x="9354312" y="1645920"/>
            <a:ext cx="0" cy="3694176"/>
          </a:xfrm>
          <a:prstGeom prst="line">
            <a:avLst/>
          </a:prstGeom>
          <a:ln w="7620">
            <a:solidFill>
              <a:srgbClr val="D6DEE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034272"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576573"/>
                </a:solidFill>
                <a:latin typeface="Calibri"/>
              </a:rPr>
              <a:t>10 Nov</a:t>
            </a:r>
          </a:p>
        </p:txBody>
      </p:sp>
      <p:cxnSp>
        <p:nvCxnSpPr>
          <p:cNvPr id="12" name="Connector 11"/>
          <p:cNvCxnSpPr/>
          <p:nvPr/>
        </p:nvCxnSpPr>
        <p:spPr>
          <a:xfrm>
            <a:off x="11475720" y="1645920"/>
            <a:ext cx="0" cy="3694176"/>
          </a:xfrm>
          <a:prstGeom prst="line">
            <a:avLst/>
          </a:prstGeom>
          <a:ln w="7620">
            <a:solidFill>
              <a:srgbClr val="D6DE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1155680"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576573"/>
                </a:solidFill>
                <a:latin typeface="Calibri"/>
              </a:rPr>
              <a:t>14 Nov</a:t>
            </a:r>
          </a:p>
        </p:txBody>
      </p:sp>
      <p:sp>
        <p:nvSpPr>
          <p:cNvPr id="14" name="TextBox 13"/>
          <p:cNvSpPr txBox="1"/>
          <p:nvPr/>
        </p:nvSpPr>
        <p:spPr>
          <a:xfrm>
            <a:off x="502920" y="1892808"/>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263746"/>
                </a:solidFill>
                <a:latin typeface="Calibri"/>
              </a:rPr>
              <a:t>Capture Session 5 guidance</a:t>
            </a:r>
          </a:p>
        </p:txBody>
      </p:sp>
      <p:sp>
        <p:nvSpPr>
          <p:cNvPr id="15" name="Rectangle 14"/>
          <p:cNvSpPr/>
          <p:nvPr/>
        </p:nvSpPr>
        <p:spPr>
          <a:xfrm>
            <a:off x="3520440" y="1984248"/>
            <a:ext cx="1591055" cy="201168"/>
          </a:xfrm>
          <a:prstGeom prst="rect">
            <a:avLst/>
          </a:prstGeom>
          <a:solidFill>
            <a:srgbClr val="167E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7016" y="2194560"/>
            <a:ext cx="4389120"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0">
                <a:solidFill>
                  <a:srgbClr val="576573"/>
                </a:solidFill>
                <a:latin typeface="Calibri"/>
              </a:rPr>
              <a:t>Planned</a:t>
            </a:r>
          </a:p>
        </p:txBody>
      </p:sp>
      <p:sp>
        <p:nvSpPr>
          <p:cNvPr id="17" name="TextBox 16"/>
          <p:cNvSpPr txBox="1"/>
          <p:nvPr/>
        </p:nvSpPr>
        <p:spPr>
          <a:xfrm>
            <a:off x="502920" y="2450592"/>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430">
                <a:solidFill>
                  <a:srgbClr val="202020"/>
                </a:solidFill>
                <a:latin typeface="Calibri"/>
              </a:rPr>
              <a:t>Dr. Hao comments + final Chapter 2 revisions</a:t>
            </a:r>
          </a:p>
        </p:txBody>
      </p:sp>
      <p:sp>
        <p:nvSpPr>
          <p:cNvPr id="18" name="Rectangle 17"/>
          <p:cNvSpPr/>
          <p:nvPr/>
        </p:nvSpPr>
        <p:spPr>
          <a:xfrm>
            <a:off x="3520440" y="2542032"/>
            <a:ext cx="7955280" cy="201168"/>
          </a:xfrm>
          <a:prstGeom prst="rect">
            <a:avLst/>
          </a:prstGeom>
          <a:solidFill>
            <a:srgbClr val="BD8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7016" y="2752344"/>
            <a:ext cx="4389120"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1">
                <a:solidFill>
                  <a:srgbClr val="BD8E36"/>
                </a:solidFill>
                <a:latin typeface="Calibri"/>
              </a:rPr>
              <a:t>PRIMARY SUSPENSE · 14 Nov</a:t>
            </a:r>
          </a:p>
        </p:txBody>
      </p:sp>
      <p:sp>
        <p:nvSpPr>
          <p:cNvPr id="20" name="TextBox 19"/>
          <p:cNvSpPr txBox="1"/>
          <p:nvPr/>
        </p:nvSpPr>
        <p:spPr>
          <a:xfrm>
            <a:off x="502920" y="3008376"/>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430">
                <a:solidFill>
                  <a:srgbClr val="202020"/>
                </a:solidFill>
                <a:latin typeface="Calibri"/>
              </a:rPr>
              <a:t>Concision, citations, figures and formatting</a:t>
            </a:r>
          </a:p>
        </p:txBody>
      </p:sp>
      <p:sp>
        <p:nvSpPr>
          <p:cNvPr id="21" name="Rectangle 20"/>
          <p:cNvSpPr/>
          <p:nvPr/>
        </p:nvSpPr>
        <p:spPr>
          <a:xfrm>
            <a:off x="6702552" y="3099816"/>
            <a:ext cx="3182112" cy="201168"/>
          </a:xfrm>
          <a:prstGeom prst="rect">
            <a:avLst/>
          </a:prstGeom>
          <a:solidFill>
            <a:srgbClr val="7155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9128" y="3310128"/>
            <a:ext cx="4389120"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1">
                <a:solidFill>
                  <a:srgbClr val="71559F"/>
                </a:solidFill>
                <a:latin typeface="Calibri"/>
              </a:rPr>
              <a:t>Controlled final revision</a:t>
            </a:r>
          </a:p>
        </p:txBody>
      </p:sp>
      <p:sp>
        <p:nvSpPr>
          <p:cNvPr id="23" name="TextBox 22"/>
          <p:cNvSpPr txBox="1"/>
          <p:nvPr/>
        </p:nvSpPr>
        <p:spPr>
          <a:xfrm>
            <a:off x="502920" y="3566160"/>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263746"/>
                </a:solidFill>
                <a:latin typeface="Calibri"/>
              </a:rPr>
              <a:t>Owner MATLAB reproduction</a:t>
            </a:r>
          </a:p>
        </p:txBody>
      </p:sp>
      <p:sp>
        <p:nvSpPr>
          <p:cNvPr id="24" name="Rectangle 23"/>
          <p:cNvSpPr/>
          <p:nvPr/>
        </p:nvSpPr>
        <p:spPr>
          <a:xfrm>
            <a:off x="5111496" y="3657600"/>
            <a:ext cx="3182112" cy="201168"/>
          </a:xfrm>
          <a:prstGeom prst="rect">
            <a:avLst/>
          </a:prstGeom>
          <a:solidFill>
            <a:srgbClr val="286B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48072" y="3867912"/>
            <a:ext cx="4389120"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0">
                <a:solidFill>
                  <a:srgbClr val="576573"/>
                </a:solidFill>
                <a:latin typeface="Calibri"/>
              </a:rPr>
              <a:t>PASS log + elapsed time</a:t>
            </a:r>
          </a:p>
        </p:txBody>
      </p:sp>
      <p:sp>
        <p:nvSpPr>
          <p:cNvPr id="26" name="TextBox 25"/>
          <p:cNvSpPr txBox="1"/>
          <p:nvPr/>
        </p:nvSpPr>
        <p:spPr>
          <a:xfrm>
            <a:off x="502920" y="4123944"/>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263746"/>
                </a:solidFill>
                <a:latin typeface="Calibri"/>
              </a:rPr>
              <a:t>V&amp;V / sensitivity plan</a:t>
            </a:r>
          </a:p>
        </p:txBody>
      </p:sp>
      <p:sp>
        <p:nvSpPr>
          <p:cNvPr id="27" name="Rectangle 26"/>
          <p:cNvSpPr/>
          <p:nvPr/>
        </p:nvSpPr>
        <p:spPr>
          <a:xfrm>
            <a:off x="7232904" y="4215384"/>
            <a:ext cx="3182112" cy="201168"/>
          </a:xfrm>
          <a:prstGeom prst="rect">
            <a:avLst/>
          </a:prstGeom>
          <a:solidFill>
            <a:srgbClr val="167E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69480" y="4425696"/>
            <a:ext cx="4242816"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0">
                <a:solidFill>
                  <a:srgbClr val="576573"/>
                </a:solidFill>
                <a:latin typeface="Calibri"/>
              </a:rPr>
              <a:t>Bounded test design</a:t>
            </a:r>
          </a:p>
        </p:txBody>
      </p:sp>
      <p:sp>
        <p:nvSpPr>
          <p:cNvPr id="29" name="TextBox 28"/>
          <p:cNvSpPr txBox="1"/>
          <p:nvPr/>
        </p:nvSpPr>
        <p:spPr>
          <a:xfrm>
            <a:off x="502920" y="4681728"/>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a:solidFill>
                  <a:srgbClr val="202020"/>
                </a:solidFill>
                <a:latin typeface="Calibri"/>
              </a:rPr>
              <a:t>Session 6 review package</a:t>
            </a:r>
          </a:p>
        </p:txBody>
      </p:sp>
      <p:sp>
        <p:nvSpPr>
          <p:cNvPr id="30" name="Rectangle 29"/>
          <p:cNvSpPr/>
          <p:nvPr/>
        </p:nvSpPr>
        <p:spPr>
          <a:xfrm>
            <a:off x="9354312" y="4773168"/>
            <a:ext cx="2121408" cy="201168"/>
          </a:xfrm>
          <a:prstGeom prst="rect">
            <a:avLst/>
          </a:prstGeom>
          <a:solidFill>
            <a:srgbClr val="BD8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90888" y="4983480"/>
            <a:ext cx="2121408"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1">
                <a:solidFill>
                  <a:srgbClr val="BD8E36"/>
                </a:solidFill>
                <a:latin typeface="Calibri"/>
              </a:rPr>
              <a:t>Final revisions + evidence</a:t>
            </a:r>
          </a:p>
        </p:txBody>
      </p:sp>
      <p:cxnSp>
        <p:nvCxnSpPr>
          <p:cNvPr id="32" name="Connector 31"/>
          <p:cNvCxnSpPr/>
          <p:nvPr/>
        </p:nvCxnSpPr>
        <p:spPr>
          <a:xfrm>
            <a:off x="3520440" y="1627632"/>
            <a:ext cx="0" cy="3739896"/>
          </a:xfrm>
          <a:prstGeom prst="line">
            <a:avLst/>
          </a:prstGeom>
          <a:ln w="27940">
            <a:solidFill>
              <a:srgbClr val="29864D"/>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88920" y="1097280"/>
            <a:ext cx="1600200" cy="24688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1">
                <a:solidFill>
                  <a:srgbClr val="2E7D32"/>
                </a:solidFill>
                <a:latin typeface="Calibri"/>
              </a:rPr>
              <a:t>30 OCT · TODAY</a:t>
            </a:r>
          </a:p>
        </p:txBody>
      </p:sp>
      <p:cxnSp>
        <p:nvCxnSpPr>
          <p:cNvPr id="34" name="Connector 33"/>
          <p:cNvCxnSpPr/>
          <p:nvPr/>
        </p:nvCxnSpPr>
        <p:spPr>
          <a:xfrm>
            <a:off x="11475720" y="1627632"/>
            <a:ext cx="0" cy="3739896"/>
          </a:xfrm>
          <a:prstGeom prst="line">
            <a:avLst/>
          </a:prstGeom>
          <a:ln w="27940">
            <a:solidFill>
              <a:srgbClr val="B12C37"/>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555480" y="1097280"/>
            <a:ext cx="2148840" cy="246888"/>
          </a:xfrm>
          <a:prstGeom prst="rect">
            <a:avLst/>
          </a:prstGeom>
          <a:noFill/>
        </p:spPr>
        <p:txBody>
          <a:bodyPr wrap="square" lIns="18288" rIns="18288" tIns="18288" bIns="18288">
            <a:spAutoFit/>
          </a:bodyPr>
          <a:lstStyle/>
          <a:p>
            <a:pPr algn="ctr">
              <a:lnSpc>
                <a:spcPct val="105000"/>
              </a:lnSpc>
              <a:spcBef>
                <a:spcPts val="0"/>
              </a:spcBef>
              <a:spcAft>
                <a:spcPts val="200"/>
              </a:spcAft>
            </a:pPr>
            <a:r>
              <a:rPr sz="930" b="1">
                <a:solidFill>
                  <a:srgbClr val="C00000"/>
                </a:solidFill>
                <a:latin typeface="Calibri"/>
              </a:rPr>
              <a:t>14 NOV · FINAL REVISIONS</a:t>
            </a:r>
          </a:p>
        </p:txBody>
      </p:sp>
      <p:sp>
        <p:nvSpPr>
          <p:cNvPr id="36" name="TextBox 35"/>
          <p:cNvSpPr txBox="1"/>
          <p:nvPr/>
        </p:nvSpPr>
        <p:spPr>
          <a:xfrm>
            <a:off x="502920" y="5239512"/>
            <a:ext cx="10972800" cy="228600"/>
          </a:xfrm>
          <a:prstGeom prst="rect">
            <a:avLst/>
          </a:prstGeom>
          <a:noFill/>
        </p:spPr>
        <p:txBody>
          <a:bodyPr wrap="square" lIns="18288" rIns="18288" tIns="18288" bIns="18288">
            <a:spAutoFit/>
          </a:bodyPr>
          <a:lstStyle/>
          <a:p>
            <a:pPr algn="l">
              <a:lnSpc>
                <a:spcPct val="105000"/>
              </a:lnSpc>
              <a:spcBef>
                <a:spcPts val="0"/>
              </a:spcBef>
              <a:spcAft>
                <a:spcPts val="200"/>
              </a:spcAft>
            </a:pPr>
            <a:r>
              <a:rPr sz="1000">
                <a:solidFill>
                  <a:srgbClr val="202020"/>
                </a:solidFill>
                <a:latin typeface="Calibri"/>
              </a:rPr>
              <a:t>Green = October 30 briefing.  Red suspense = November 14: Dr. Hao comments incorporated + final revisions.</a:t>
            </a:r>
          </a:p>
        </p:txBody>
      </p:sp>
      <p:sp>
        <p:nvSpPr>
          <p:cNvPr id="37" name="TextBox 36"/>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7 of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256032"/>
            <a:ext cx="11201400" cy="502920"/>
          </a:xfrm>
          <a:prstGeom prst="rect">
            <a:avLst/>
          </a:prstGeom>
          <a:noFill/>
        </p:spPr>
        <p:txBody>
          <a:bodyPr wrap="square" lIns="18288" rIns="18288" tIns="18288" bIns="18288">
            <a:spAutoFit/>
          </a:bodyPr>
          <a:lstStyle/>
          <a:p>
            <a:pPr algn="l">
              <a:lnSpc>
                <a:spcPct val="105000"/>
              </a:lnSpc>
              <a:spcBef>
                <a:spcPts val="0"/>
              </a:spcBef>
              <a:spcAft>
                <a:spcPts val="200"/>
              </a:spcAft>
            </a:pPr>
            <a:r>
              <a:rPr sz="2700" b="1">
                <a:solidFill>
                  <a:srgbClr val="002B49"/>
                </a:solidFill>
                <a:latin typeface="Calibri"/>
              </a:rPr>
              <a:t>Chapter 2 Narrative: 32 → 51 Pages (+19)</a:t>
            </a:r>
          </a:p>
        </p:txBody>
      </p:sp>
      <p:sp>
        <p:nvSpPr>
          <p:cNvPr id="3" name="TextBox 2"/>
          <p:cNvSpPr txBox="1"/>
          <p:nvPr/>
        </p:nvSpPr>
        <p:spPr>
          <a:xfrm>
            <a:off x="457200" y="822960"/>
            <a:ext cx="11155680" cy="457200"/>
          </a:xfrm>
          <a:prstGeom prst="rect">
            <a:avLst/>
          </a:prstGeom>
          <a:noFill/>
        </p:spPr>
        <p:txBody>
          <a:bodyPr wrap="square" lIns="18288" rIns="18288" tIns="18288" bIns="18288">
            <a:spAutoFit/>
          </a:bodyPr>
          <a:lstStyle/>
          <a:p>
            <a:pPr algn="l">
              <a:lnSpc>
                <a:spcPct val="105000"/>
              </a:lnSpc>
              <a:spcBef>
                <a:spcPts val="0"/>
              </a:spcBef>
              <a:spcAft>
                <a:spcPts val="200"/>
              </a:spcAft>
            </a:pPr>
            <a:r>
              <a:rPr sz="1400" b="0">
                <a:solidFill>
                  <a:srgbClr val="576573"/>
                </a:solidFill>
                <a:latin typeface="Calibri"/>
              </a:rPr>
              <a:t>Expansion response: </a:t>
            </a:r>
            <a:r>
              <a:rPr sz="1400" b="1">
                <a:solidFill>
                  <a:srgbClr val="576573"/>
                </a:solidFill>
                <a:latin typeface="Calibri"/>
              </a:rPr>
              <a:t>+19 pages beyond v9</a:t>
            </a:r>
            <a:r>
              <a:rPr sz="1400" b="0">
                <a:solidFill>
                  <a:srgbClr val="576573"/>
                </a:solidFill>
                <a:latin typeface="Calibri"/>
              </a:rPr>
              <a:t> (approximately 18–20).</a:t>
            </a:r>
          </a:p>
          <a:p>
            <a:pPr algn="l">
              <a:lnSpc>
                <a:spcPct val="105000"/>
              </a:lnSpc>
              <a:spcBef>
                <a:spcPts val="0"/>
              </a:spcBef>
              <a:spcAft>
                <a:spcPts val="200"/>
              </a:spcAft>
            </a:pPr>
            <a:r>
              <a:rPr sz="1400" b="0">
                <a:solidFill>
                  <a:srgbClr val="576573"/>
                </a:solidFill>
                <a:latin typeface="Calibri"/>
              </a:rPr>
              <a:t>Narrative only; final count includes added content and normalized double spacing.</a:t>
            </a:r>
          </a:p>
        </p:txBody>
      </p:sp>
      <p:graphicFrame>
        <p:nvGraphicFramePr>
          <p:cNvPr id="4" name="Chart 3"/>
          <p:cNvGraphicFramePr>
            <a:graphicFrameLocks noGrp="1"/>
          </p:cNvGraphicFramePr>
          <p:nvPr/>
        </p:nvGraphicFramePr>
        <p:xfrm>
          <a:off x="658368" y="1417320"/>
          <a:ext cx="6949440" cy="3986784"/>
        </p:xfrm>
        <a:graphic>
          <a:graphicData uri="http://schemas.openxmlformats.org/drawingml/2006/chart">
            <c:chart xmlns:c="http://schemas.openxmlformats.org/drawingml/2006/chart" r:id="rId2"/>
          </a:graphicData>
        </a:graphic>
      </p:graphicFrame>
      <p:sp>
        <p:nvSpPr>
          <p:cNvPr id="5" name="Rounded Rectangle 4"/>
          <p:cNvSpPr/>
          <p:nvPr/>
        </p:nvSpPr>
        <p:spPr>
          <a:xfrm>
            <a:off x="8001000" y="1508760"/>
            <a:ext cx="3474720" cy="1325880"/>
          </a:xfrm>
          <a:prstGeom prst="roundRect">
            <a:avLst/>
          </a:prstGeom>
          <a:solidFill>
            <a:srgbClr val="E5F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11312" y="1627632"/>
            <a:ext cx="3108960" cy="548640"/>
          </a:xfrm>
          <a:prstGeom prst="rect">
            <a:avLst/>
          </a:prstGeom>
          <a:noFill/>
        </p:spPr>
        <p:txBody>
          <a:bodyPr wrap="square" lIns="18288" rIns="18288" tIns="18288" bIns="18288">
            <a:spAutoFit/>
          </a:bodyPr>
          <a:lstStyle/>
          <a:p>
            <a:pPr algn="l">
              <a:lnSpc>
                <a:spcPct val="105000"/>
              </a:lnSpc>
              <a:spcBef>
                <a:spcPts val="0"/>
              </a:spcBef>
              <a:spcAft>
                <a:spcPts val="200"/>
              </a:spcAft>
            </a:pPr>
            <a:r>
              <a:rPr sz="3200" b="1">
                <a:solidFill>
                  <a:srgbClr val="29864D"/>
                </a:solidFill>
                <a:latin typeface="Calibri"/>
              </a:rPr>
              <a:t>51 pages</a:t>
            </a:r>
          </a:p>
        </p:txBody>
      </p:sp>
      <p:sp>
        <p:nvSpPr>
          <p:cNvPr id="7" name="TextBox 6"/>
          <p:cNvSpPr txBox="1"/>
          <p:nvPr/>
        </p:nvSpPr>
        <p:spPr>
          <a:xfrm>
            <a:off x="8211312" y="2258568"/>
            <a:ext cx="3063240" cy="338328"/>
          </a:xfrm>
          <a:prstGeom prst="rect">
            <a:avLst/>
          </a:prstGeom>
          <a:noFill/>
        </p:spPr>
        <p:txBody>
          <a:bodyPr wrap="square" lIns="18288" rIns="18288" tIns="18288" bIns="18288">
            <a:spAutoFit/>
          </a:bodyPr>
          <a:lstStyle/>
          <a:p>
            <a:pPr algn="l">
              <a:lnSpc>
                <a:spcPct val="105000"/>
              </a:lnSpc>
              <a:spcBef>
                <a:spcPts val="0"/>
              </a:spcBef>
              <a:spcAft>
                <a:spcPts val="200"/>
              </a:spcAft>
            </a:pPr>
            <a:r>
              <a:rPr sz="1700" b="1">
                <a:solidFill>
                  <a:srgbClr val="263746"/>
                </a:solidFill>
                <a:latin typeface="Calibri"/>
              </a:rPr>
              <a:t>Chapter 2 narrative only</a:t>
            </a:r>
          </a:p>
        </p:txBody>
      </p:sp>
      <p:sp>
        <p:nvSpPr>
          <p:cNvPr id="8" name="Rounded Rectangle 7"/>
          <p:cNvSpPr/>
          <p:nvPr/>
        </p:nvSpPr>
        <p:spPr>
          <a:xfrm>
            <a:off x="8001000" y="3090672"/>
            <a:ext cx="3474720" cy="1188720"/>
          </a:xfrm>
          <a:prstGeom prst="roundRect">
            <a:avLst/>
          </a:prstGeom>
          <a:solidFill>
            <a:srgbClr val="F2E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11312" y="3227832"/>
            <a:ext cx="3108960" cy="438912"/>
          </a:xfrm>
          <a:prstGeom prst="rect">
            <a:avLst/>
          </a:prstGeom>
          <a:noFill/>
        </p:spPr>
        <p:txBody>
          <a:bodyPr wrap="square" lIns="18288" rIns="18288" tIns="18288" bIns="18288">
            <a:spAutoFit/>
          </a:bodyPr>
          <a:lstStyle/>
          <a:p>
            <a:pPr algn="l">
              <a:lnSpc>
                <a:spcPct val="105000"/>
              </a:lnSpc>
              <a:spcBef>
                <a:spcPts val="0"/>
              </a:spcBef>
              <a:spcAft>
                <a:spcPts val="200"/>
              </a:spcAft>
            </a:pPr>
            <a:r>
              <a:rPr sz="2500" b="1">
                <a:solidFill>
                  <a:srgbClr val="002B49"/>
                </a:solidFill>
                <a:latin typeface="Calibri"/>
              </a:rPr>
              <a:t>+19 beyond v9</a:t>
            </a:r>
          </a:p>
        </p:txBody>
      </p:sp>
      <p:sp>
        <p:nvSpPr>
          <p:cNvPr id="10" name="TextBox 9"/>
          <p:cNvSpPr txBox="1"/>
          <p:nvPr/>
        </p:nvSpPr>
        <p:spPr>
          <a:xfrm>
            <a:off x="8211312" y="3739896"/>
            <a:ext cx="3063240" cy="274320"/>
          </a:xfrm>
          <a:prstGeom prst="rect">
            <a:avLst/>
          </a:prstGeom>
          <a:noFill/>
        </p:spPr>
        <p:txBody>
          <a:bodyPr wrap="square" lIns="18288" rIns="18288" tIns="18288" bIns="18288">
            <a:spAutoFit/>
          </a:bodyPr>
          <a:lstStyle/>
          <a:p>
            <a:pPr algn="l">
              <a:lnSpc>
                <a:spcPct val="105000"/>
              </a:lnSpc>
              <a:spcBef>
                <a:spcPts val="0"/>
              </a:spcBef>
              <a:spcAft>
                <a:spcPts val="200"/>
              </a:spcAft>
            </a:pPr>
            <a:r>
              <a:rPr sz="1700" b="1">
                <a:solidFill>
                  <a:srgbClr val="263746"/>
                </a:solidFill>
                <a:latin typeface="Calibri"/>
              </a:rPr>
              <a:t>32 → 51 narrative pages</a:t>
            </a:r>
          </a:p>
        </p:txBody>
      </p:sp>
      <p:sp>
        <p:nvSpPr>
          <p:cNvPr id="11" name="TextBox 10"/>
          <p:cNvSpPr txBox="1"/>
          <p:nvPr/>
        </p:nvSpPr>
        <p:spPr>
          <a:xfrm>
            <a:off x="8092440" y="4617720"/>
            <a:ext cx="3383280" cy="822960"/>
          </a:xfrm>
          <a:prstGeom prst="rect">
            <a:avLst/>
          </a:prstGeom>
          <a:noFill/>
        </p:spPr>
        <p:txBody>
          <a:bodyPr wrap="square" lIns="18288" rIns="18288" tIns="18288" bIns="18288">
            <a:spAutoFit/>
          </a:bodyPr>
          <a:lstStyle/>
          <a:p>
            <a:pPr algn="l">
              <a:lnSpc>
                <a:spcPct val="105000"/>
              </a:lnSpc>
              <a:spcBef>
                <a:spcPts val="0"/>
              </a:spcBef>
              <a:spcAft>
                <a:spcPts val="200"/>
              </a:spcAft>
            </a:pPr>
            <a:r>
              <a:rPr sz="1600" b="0">
                <a:solidFill>
                  <a:srgbClr val="263746"/>
                </a:solidFill>
                <a:latin typeface="Calibri"/>
              </a:rPr>
              <a:t>v11 total: 76 pages</a:t>
            </a:r>
          </a:p>
          <a:p>
            <a:pPr algn="l">
              <a:lnSpc>
                <a:spcPct val="105000"/>
              </a:lnSpc>
              <a:spcBef>
                <a:spcPts val="0"/>
              </a:spcBef>
              <a:spcAft>
                <a:spcPts val="200"/>
              </a:spcAft>
            </a:pPr>
            <a:r>
              <a:rPr sz="1600" b="0">
                <a:solidFill>
                  <a:srgbClr val="263746"/>
                </a:solidFill>
                <a:latin typeface="Calibri"/>
              </a:rPr>
              <a:t>10 front matter + </a:t>
            </a:r>
            <a:r>
              <a:rPr sz="1600" b="1">
                <a:solidFill>
                  <a:srgbClr val="263746"/>
                </a:solidFill>
                <a:latin typeface="Calibri"/>
              </a:rPr>
              <a:t>51 narrative</a:t>
            </a:r>
          </a:p>
          <a:p>
            <a:pPr algn="l">
              <a:lnSpc>
                <a:spcPct val="105000"/>
              </a:lnSpc>
              <a:spcBef>
                <a:spcPts val="0"/>
              </a:spcBef>
              <a:spcAft>
                <a:spcPts val="200"/>
              </a:spcAft>
            </a:pPr>
            <a:r>
              <a:rPr sz="1600" b="0">
                <a:solidFill>
                  <a:srgbClr val="263746"/>
                </a:solidFill>
                <a:latin typeface="Calibri"/>
              </a:rPr>
              <a:t>+ 15 References</a:t>
            </a:r>
          </a:p>
        </p:txBody>
      </p:sp>
      <p:sp>
        <p:nvSpPr>
          <p:cNvPr id="12" name="TextBox 11"/>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8 of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256032"/>
            <a:ext cx="11201400" cy="502920"/>
          </a:xfrm>
          <a:prstGeom prst="rect">
            <a:avLst/>
          </a:prstGeom>
          <a:noFill/>
        </p:spPr>
        <p:txBody>
          <a:bodyPr wrap="square" lIns="18288" rIns="18288" tIns="18288" bIns="18288">
            <a:spAutoFit/>
          </a:bodyPr>
          <a:lstStyle/>
          <a:p>
            <a:pPr algn="l">
              <a:lnSpc>
                <a:spcPct val="105000"/>
              </a:lnSpc>
              <a:spcBef>
                <a:spcPts val="0"/>
              </a:spcBef>
              <a:spcAft>
                <a:spcPts val="200"/>
              </a:spcAft>
            </a:pPr>
            <a:r>
              <a:rPr sz="2700" b="1">
                <a:solidFill>
                  <a:srgbClr val="002B49"/>
                </a:solidFill>
                <a:latin typeface="Calibri"/>
              </a:rPr>
              <a:t>3 CIVILIAN USE CASES — §2.3</a:t>
            </a:r>
          </a:p>
        </p:txBody>
      </p:sp>
      <p:sp>
        <p:nvSpPr>
          <p:cNvPr id="3" name="TextBox 2"/>
          <p:cNvSpPr txBox="1"/>
          <p:nvPr/>
        </p:nvSpPr>
        <p:spPr>
          <a:xfrm>
            <a:off x="457200" y="822960"/>
            <a:ext cx="11155680" cy="457200"/>
          </a:xfrm>
          <a:prstGeom prst="rect">
            <a:avLst/>
          </a:prstGeom>
          <a:noFill/>
        </p:spPr>
        <p:txBody>
          <a:bodyPr wrap="square" lIns="18288" rIns="18288" tIns="18288" bIns="18288">
            <a:spAutoFit/>
          </a:bodyPr>
          <a:lstStyle/>
          <a:p>
            <a:pPr algn="l">
              <a:lnSpc>
                <a:spcPct val="105000"/>
              </a:lnSpc>
              <a:spcBef>
                <a:spcPts val="0"/>
              </a:spcBef>
              <a:spcAft>
                <a:spcPts val="200"/>
              </a:spcAft>
            </a:pPr>
            <a:r>
              <a:rPr sz="1400" b="1">
                <a:solidFill>
                  <a:srgbClr val="576573"/>
                </a:solidFill>
                <a:latin typeface="Calibri"/>
              </a:rPr>
              <a:t>20 expansion-support sources integrated; 91 unique references in Chapter 2.</a:t>
            </a:r>
          </a:p>
        </p:txBody>
      </p:sp>
      <p:sp>
        <p:nvSpPr>
          <p:cNvPr id="4" name="Rounded Rectangle 3"/>
          <p:cNvSpPr/>
          <p:nvPr/>
        </p:nvSpPr>
        <p:spPr>
          <a:xfrm>
            <a:off x="548640" y="1371600"/>
            <a:ext cx="3474720" cy="3904487"/>
          </a:xfrm>
          <a:prstGeom prst="roundRect">
            <a:avLst/>
          </a:prstGeom>
          <a:solidFill>
            <a:srgbClr val="E8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508760"/>
            <a:ext cx="3163824" cy="274320"/>
          </a:xfrm>
          <a:prstGeom prst="rect">
            <a:avLst/>
          </a:prstGeom>
          <a:noFill/>
        </p:spPr>
        <p:txBody>
          <a:bodyPr wrap="square" lIns="18288" rIns="18288" tIns="18288" bIns="18288">
            <a:spAutoFit/>
          </a:bodyPr>
          <a:lstStyle/>
          <a:p>
            <a:pPr algn="l">
              <a:lnSpc>
                <a:spcPct val="105000"/>
              </a:lnSpc>
              <a:spcBef>
                <a:spcPts val="0"/>
              </a:spcBef>
              <a:spcAft>
                <a:spcPts val="200"/>
              </a:spcAft>
            </a:pPr>
            <a:r>
              <a:rPr sz="1600" b="1">
                <a:solidFill>
                  <a:srgbClr val="002B49"/>
                </a:solidFill>
                <a:latin typeface="Calibri"/>
              </a:rPr>
              <a:t>USE CASE 1: SCHOOL</a:t>
            </a:r>
          </a:p>
        </p:txBody>
      </p:sp>
      <p:sp>
        <p:nvSpPr>
          <p:cNvPr id="6" name="TextBox 5"/>
          <p:cNvSpPr txBox="1"/>
          <p:nvPr/>
        </p:nvSpPr>
        <p:spPr>
          <a:xfrm>
            <a:off x="704088" y="1901952"/>
            <a:ext cx="3163824" cy="722376"/>
          </a:xfrm>
          <a:prstGeom prst="rect">
            <a:avLst/>
          </a:prstGeom>
          <a:noFill/>
        </p:spPr>
        <p:txBody>
          <a:bodyPr wrap="square" lIns="18288" rIns="18288" tIns="18288" bIns="18288">
            <a:spAutoFit/>
          </a:bodyPr>
          <a:lstStyle/>
          <a:p>
            <a:pPr algn="l">
              <a:lnSpc>
                <a:spcPct val="105000"/>
              </a:lnSpc>
              <a:spcBef>
                <a:spcPts val="0"/>
              </a:spcBef>
              <a:spcAft>
                <a:spcPts val="200"/>
              </a:spcAft>
            </a:pPr>
            <a:r>
              <a:rPr sz="2300" b="1">
                <a:solidFill>
                  <a:srgbClr val="002B49"/>
                </a:solidFill>
                <a:latin typeface="Calibri"/>
              </a:rPr>
              <a:t>Wildfire situational awareness</a:t>
            </a:r>
          </a:p>
        </p:txBody>
      </p:sp>
      <p:sp>
        <p:nvSpPr>
          <p:cNvPr id="7" name="TextBox 6"/>
          <p:cNvSpPr txBox="1"/>
          <p:nvPr/>
        </p:nvSpPr>
        <p:spPr>
          <a:xfrm>
            <a:off x="704088" y="2752344"/>
            <a:ext cx="3163824" cy="1298448"/>
          </a:xfrm>
          <a:prstGeom prst="rect">
            <a:avLst/>
          </a:prstGeom>
          <a:noFill/>
        </p:spPr>
        <p:txBody>
          <a:bodyPr wrap="square" lIns="18288" rIns="18288" tIns="18288" bIns="18288">
            <a:spAutoFit/>
          </a:bodyPr>
          <a:lstStyle/>
          <a:p>
            <a:pPr algn="l">
              <a:lnSpc>
                <a:spcPct val="105000"/>
              </a:lnSpc>
              <a:spcBef>
                <a:spcPts val="0"/>
              </a:spcBef>
              <a:spcAft>
                <a:spcPts val="200"/>
              </a:spcAft>
            </a:pPr>
            <a:r>
              <a:rPr sz="1700" b="0">
                <a:solidFill>
                  <a:srgbClr val="263746"/>
                </a:solidFill>
                <a:latin typeface="Calibri"/>
              </a:rPr>
              <a:t>Thermal-event location, timestamp and quality / image context support district review. Staff retain activity and emergency decisions.</a:t>
            </a:r>
          </a:p>
        </p:txBody>
      </p:sp>
      <p:sp>
        <p:nvSpPr>
          <p:cNvPr id="8" name="TextBox 7"/>
          <p:cNvSpPr txBox="1"/>
          <p:nvPr/>
        </p:nvSpPr>
        <p:spPr>
          <a:xfrm>
            <a:off x="704088" y="4206240"/>
            <a:ext cx="3163824" cy="320040"/>
          </a:xfrm>
          <a:prstGeom prst="rect">
            <a:avLst/>
          </a:prstGeom>
          <a:noFill/>
        </p:spPr>
        <p:txBody>
          <a:bodyPr wrap="square" lIns="18288" rIns="18288" tIns="18288" bIns="18288">
            <a:spAutoFit/>
          </a:bodyPr>
          <a:lstStyle/>
          <a:p>
            <a:pPr algn="l">
              <a:lnSpc>
                <a:spcPct val="105000"/>
              </a:lnSpc>
              <a:spcBef>
                <a:spcPts val="0"/>
              </a:spcBef>
              <a:spcAft>
                <a:spcPts val="200"/>
              </a:spcAft>
            </a:pPr>
            <a:r>
              <a:rPr sz="1400" b="1">
                <a:solidFill>
                  <a:srgbClr val="002B49"/>
                </a:solidFill>
                <a:latin typeface="Calibri"/>
              </a:rPr>
              <a:t>pp. 22–23 and 34–35</a:t>
            </a:r>
          </a:p>
        </p:txBody>
      </p:sp>
      <p:sp>
        <p:nvSpPr>
          <p:cNvPr id="9" name="TextBox 8"/>
          <p:cNvSpPr txBox="1"/>
          <p:nvPr/>
        </p:nvSpPr>
        <p:spPr>
          <a:xfrm>
            <a:off x="704088" y="4645152"/>
            <a:ext cx="3163824" cy="438912"/>
          </a:xfrm>
          <a:prstGeom prst="rect">
            <a:avLst/>
          </a:prstGeom>
          <a:noFill/>
        </p:spPr>
        <p:txBody>
          <a:bodyPr wrap="square" lIns="18288" rIns="18288" tIns="18288" bIns="18288">
            <a:spAutoFit/>
          </a:bodyPr>
          <a:lstStyle/>
          <a:p>
            <a:pPr algn="l">
              <a:lnSpc>
                <a:spcPct val="105000"/>
              </a:lnSpc>
              <a:spcBef>
                <a:spcPts val="0"/>
              </a:spcBef>
              <a:spcAft>
                <a:spcPts val="200"/>
              </a:spcAft>
            </a:pPr>
            <a:r>
              <a:rPr sz="1200" b="0">
                <a:solidFill>
                  <a:srgbClr val="576573"/>
                </a:solidFill>
                <a:latin typeface="Calibri"/>
              </a:rPr>
              <a:t>Schroeder et al. (2014); EPA &amp; CDC (2014)</a:t>
            </a:r>
          </a:p>
        </p:txBody>
      </p:sp>
      <p:sp>
        <p:nvSpPr>
          <p:cNvPr id="10" name="Rounded Rectangle 9"/>
          <p:cNvSpPr/>
          <p:nvPr/>
        </p:nvSpPr>
        <p:spPr>
          <a:xfrm>
            <a:off x="4361688" y="1371600"/>
            <a:ext cx="3474720" cy="3904487"/>
          </a:xfrm>
          <a:prstGeom prst="roundRect">
            <a:avLst/>
          </a:prstGeom>
          <a:solidFill>
            <a:srgbClr val="EEE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7136" y="1508760"/>
            <a:ext cx="3163824" cy="274320"/>
          </a:xfrm>
          <a:prstGeom prst="rect">
            <a:avLst/>
          </a:prstGeom>
          <a:noFill/>
        </p:spPr>
        <p:txBody>
          <a:bodyPr wrap="square" lIns="18288" rIns="18288" tIns="18288" bIns="18288">
            <a:spAutoFit/>
          </a:bodyPr>
          <a:lstStyle/>
          <a:p>
            <a:pPr algn="l">
              <a:lnSpc>
                <a:spcPct val="105000"/>
              </a:lnSpc>
              <a:spcBef>
                <a:spcPts val="0"/>
              </a:spcBef>
              <a:spcAft>
                <a:spcPts val="200"/>
              </a:spcAft>
            </a:pPr>
            <a:r>
              <a:rPr sz="1600" b="1">
                <a:solidFill>
                  <a:srgbClr val="002B49"/>
                </a:solidFill>
                <a:latin typeface="Calibri"/>
              </a:rPr>
              <a:t>USE CASE 2: MEDICAL</a:t>
            </a:r>
          </a:p>
        </p:txBody>
      </p:sp>
      <p:sp>
        <p:nvSpPr>
          <p:cNvPr id="12" name="TextBox 11"/>
          <p:cNvSpPr txBox="1"/>
          <p:nvPr/>
        </p:nvSpPr>
        <p:spPr>
          <a:xfrm>
            <a:off x="4517136" y="1901952"/>
            <a:ext cx="3163824" cy="722376"/>
          </a:xfrm>
          <a:prstGeom prst="rect">
            <a:avLst/>
          </a:prstGeom>
          <a:noFill/>
        </p:spPr>
        <p:txBody>
          <a:bodyPr wrap="square" lIns="18288" rIns="18288" tIns="18288" bIns="18288">
            <a:spAutoFit/>
          </a:bodyPr>
          <a:lstStyle/>
          <a:p>
            <a:pPr algn="l">
              <a:lnSpc>
                <a:spcPct val="105000"/>
              </a:lnSpc>
              <a:spcBef>
                <a:spcPts val="0"/>
              </a:spcBef>
              <a:spcAft>
                <a:spcPts val="200"/>
              </a:spcAft>
            </a:pPr>
            <a:r>
              <a:rPr sz="2300" b="1">
                <a:solidFill>
                  <a:srgbClr val="002B49"/>
                </a:solidFill>
                <a:latin typeface="Calibri"/>
              </a:rPr>
              <a:t>Flood information for hospital access</a:t>
            </a:r>
          </a:p>
        </p:txBody>
      </p:sp>
      <p:sp>
        <p:nvSpPr>
          <p:cNvPr id="13" name="TextBox 12"/>
          <p:cNvSpPr txBox="1"/>
          <p:nvPr/>
        </p:nvSpPr>
        <p:spPr>
          <a:xfrm>
            <a:off x="4517136" y="2752344"/>
            <a:ext cx="3163824" cy="1298448"/>
          </a:xfrm>
          <a:prstGeom prst="rect">
            <a:avLst/>
          </a:prstGeom>
          <a:noFill/>
        </p:spPr>
        <p:txBody>
          <a:bodyPr wrap="square" lIns="18288" rIns="18288" tIns="18288" bIns="18288">
            <a:spAutoFit/>
          </a:bodyPr>
          <a:lstStyle/>
          <a:p>
            <a:pPr algn="l">
              <a:lnSpc>
                <a:spcPct val="105000"/>
              </a:lnSpc>
              <a:spcBef>
                <a:spcPts val="0"/>
              </a:spcBef>
              <a:spcAft>
                <a:spcPts val="200"/>
              </a:spcAft>
            </a:pPr>
            <a:r>
              <a:rPr sz="1700" b="0">
                <a:solidFill>
                  <a:srgbClr val="263746"/>
                </a:solidFill>
                <a:latin typeface="Calibri"/>
              </a:rPr>
              <a:t>Flood / access information supports transport and healthcare coordination. On-the-ground staff retain route confirmation and clinical judgment.</a:t>
            </a:r>
          </a:p>
        </p:txBody>
      </p:sp>
      <p:sp>
        <p:nvSpPr>
          <p:cNvPr id="14" name="TextBox 13"/>
          <p:cNvSpPr txBox="1"/>
          <p:nvPr/>
        </p:nvSpPr>
        <p:spPr>
          <a:xfrm>
            <a:off x="4517136" y="4206240"/>
            <a:ext cx="3163824" cy="320040"/>
          </a:xfrm>
          <a:prstGeom prst="rect">
            <a:avLst/>
          </a:prstGeom>
          <a:noFill/>
        </p:spPr>
        <p:txBody>
          <a:bodyPr wrap="square" lIns="18288" rIns="18288" tIns="18288" bIns="18288">
            <a:spAutoFit/>
          </a:bodyPr>
          <a:lstStyle/>
          <a:p>
            <a:pPr algn="l">
              <a:lnSpc>
                <a:spcPct val="105000"/>
              </a:lnSpc>
              <a:spcBef>
                <a:spcPts val="0"/>
              </a:spcBef>
              <a:spcAft>
                <a:spcPts val="200"/>
              </a:spcAft>
            </a:pPr>
            <a:r>
              <a:rPr sz="1400" b="1">
                <a:solidFill>
                  <a:srgbClr val="002B49"/>
                </a:solidFill>
                <a:latin typeface="Calibri"/>
              </a:rPr>
              <a:t>pp. 23–25 and 35–36</a:t>
            </a:r>
          </a:p>
        </p:txBody>
      </p:sp>
      <p:sp>
        <p:nvSpPr>
          <p:cNvPr id="15" name="TextBox 14"/>
          <p:cNvSpPr txBox="1"/>
          <p:nvPr/>
        </p:nvSpPr>
        <p:spPr>
          <a:xfrm>
            <a:off x="4517136" y="4645152"/>
            <a:ext cx="3163824" cy="438912"/>
          </a:xfrm>
          <a:prstGeom prst="rect">
            <a:avLst/>
          </a:prstGeom>
          <a:noFill/>
        </p:spPr>
        <p:txBody>
          <a:bodyPr wrap="square" lIns="18288" rIns="18288" tIns="18288" bIns="18288">
            <a:spAutoFit/>
          </a:bodyPr>
          <a:lstStyle/>
          <a:p>
            <a:pPr algn="l">
              <a:lnSpc>
                <a:spcPct val="105000"/>
              </a:lnSpc>
              <a:spcBef>
                <a:spcPts val="0"/>
              </a:spcBef>
              <a:spcAft>
                <a:spcPts val="200"/>
              </a:spcAft>
            </a:pPr>
            <a:r>
              <a:rPr sz="1200" b="0">
                <a:solidFill>
                  <a:srgbClr val="576573"/>
                </a:solidFill>
                <a:latin typeface="Calibri"/>
              </a:rPr>
              <a:t>Petricola et al. (2022); Twele et al. (2016)</a:t>
            </a:r>
          </a:p>
        </p:txBody>
      </p:sp>
      <p:sp>
        <p:nvSpPr>
          <p:cNvPr id="16" name="Rounded Rectangle 15"/>
          <p:cNvSpPr/>
          <p:nvPr/>
        </p:nvSpPr>
        <p:spPr>
          <a:xfrm>
            <a:off x="8174736" y="1371600"/>
            <a:ext cx="3474720" cy="3904487"/>
          </a:xfrm>
          <a:prstGeom prst="roundRect">
            <a:avLst/>
          </a:prstGeom>
          <a:solidFill>
            <a:srgbClr val="E5F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0183" y="1508760"/>
            <a:ext cx="3163824" cy="274320"/>
          </a:xfrm>
          <a:prstGeom prst="rect">
            <a:avLst/>
          </a:prstGeom>
          <a:noFill/>
        </p:spPr>
        <p:txBody>
          <a:bodyPr wrap="square" lIns="18288" rIns="18288" tIns="18288" bIns="18288">
            <a:spAutoFit/>
          </a:bodyPr>
          <a:lstStyle/>
          <a:p>
            <a:pPr algn="l">
              <a:lnSpc>
                <a:spcPct val="105000"/>
              </a:lnSpc>
              <a:spcBef>
                <a:spcPts val="0"/>
              </a:spcBef>
              <a:spcAft>
                <a:spcPts val="200"/>
              </a:spcAft>
            </a:pPr>
            <a:r>
              <a:rPr sz="1600" b="1">
                <a:solidFill>
                  <a:srgbClr val="002B49"/>
                </a:solidFill>
                <a:latin typeface="Calibri"/>
              </a:rPr>
              <a:t>USE CASE 3: MUNICIPAL</a:t>
            </a:r>
          </a:p>
        </p:txBody>
      </p:sp>
      <p:sp>
        <p:nvSpPr>
          <p:cNvPr id="18" name="TextBox 17"/>
          <p:cNvSpPr txBox="1"/>
          <p:nvPr/>
        </p:nvSpPr>
        <p:spPr>
          <a:xfrm>
            <a:off x="8330183" y="1901952"/>
            <a:ext cx="3163824" cy="722376"/>
          </a:xfrm>
          <a:prstGeom prst="rect">
            <a:avLst/>
          </a:prstGeom>
          <a:noFill/>
        </p:spPr>
        <p:txBody>
          <a:bodyPr wrap="square" lIns="18288" rIns="18288" tIns="18288" bIns="18288">
            <a:spAutoFit/>
          </a:bodyPr>
          <a:lstStyle/>
          <a:p>
            <a:pPr algn="l">
              <a:lnSpc>
                <a:spcPct val="105000"/>
              </a:lnSpc>
              <a:spcBef>
                <a:spcPts val="0"/>
              </a:spcBef>
              <a:spcAft>
                <a:spcPts val="200"/>
              </a:spcAft>
            </a:pPr>
            <a:r>
              <a:rPr sz="2300" b="1">
                <a:solidFill>
                  <a:srgbClr val="002B49"/>
                </a:solidFill>
                <a:latin typeface="Calibri"/>
              </a:rPr>
              <a:t>Reservoir and bloom monitoring</a:t>
            </a:r>
          </a:p>
        </p:txBody>
      </p:sp>
      <p:sp>
        <p:nvSpPr>
          <p:cNvPr id="19" name="TextBox 18"/>
          <p:cNvSpPr txBox="1"/>
          <p:nvPr/>
        </p:nvSpPr>
        <p:spPr>
          <a:xfrm>
            <a:off x="8330183" y="2752344"/>
            <a:ext cx="3163824" cy="1298448"/>
          </a:xfrm>
          <a:prstGeom prst="rect">
            <a:avLst/>
          </a:prstGeom>
          <a:noFill/>
        </p:spPr>
        <p:txBody>
          <a:bodyPr wrap="square" lIns="18288" rIns="18288" tIns="18288" bIns="18288">
            <a:spAutoFit/>
          </a:bodyPr>
          <a:lstStyle/>
          <a:p>
            <a:pPr algn="l">
              <a:lnSpc>
                <a:spcPct val="105000"/>
              </a:lnSpc>
              <a:spcBef>
                <a:spcPts val="0"/>
              </a:spcBef>
              <a:spcAft>
                <a:spcPts val="200"/>
              </a:spcAft>
            </a:pPr>
            <a:r>
              <a:rPr sz="1700" b="0">
                <a:solidFill>
                  <a:srgbClr val="263746"/>
                </a:solidFill>
                <a:latin typeface="Calibri"/>
              </a:rPr>
              <a:t>Compact waterbody-screening reports guide sampling attention. Municipal personnel retain field verification and public-authority decisions.</a:t>
            </a:r>
          </a:p>
        </p:txBody>
      </p:sp>
      <p:sp>
        <p:nvSpPr>
          <p:cNvPr id="20" name="TextBox 19"/>
          <p:cNvSpPr txBox="1"/>
          <p:nvPr/>
        </p:nvSpPr>
        <p:spPr>
          <a:xfrm>
            <a:off x="8330183" y="4206240"/>
            <a:ext cx="3163824" cy="320040"/>
          </a:xfrm>
          <a:prstGeom prst="rect">
            <a:avLst/>
          </a:prstGeom>
          <a:noFill/>
        </p:spPr>
        <p:txBody>
          <a:bodyPr wrap="square" lIns="18288" rIns="18288" tIns="18288" bIns="18288">
            <a:spAutoFit/>
          </a:bodyPr>
          <a:lstStyle/>
          <a:p>
            <a:pPr algn="l">
              <a:lnSpc>
                <a:spcPct val="105000"/>
              </a:lnSpc>
              <a:spcBef>
                <a:spcPts val="0"/>
              </a:spcBef>
              <a:spcAft>
                <a:spcPts val="200"/>
              </a:spcAft>
            </a:pPr>
            <a:r>
              <a:rPr sz="1400" b="1">
                <a:solidFill>
                  <a:srgbClr val="002B49"/>
                </a:solidFill>
                <a:latin typeface="Calibri"/>
              </a:rPr>
              <a:t>pp. 25–26 and 36–38</a:t>
            </a:r>
          </a:p>
        </p:txBody>
      </p:sp>
      <p:sp>
        <p:nvSpPr>
          <p:cNvPr id="21" name="TextBox 20"/>
          <p:cNvSpPr txBox="1"/>
          <p:nvPr/>
        </p:nvSpPr>
        <p:spPr>
          <a:xfrm>
            <a:off x="8330183" y="4645152"/>
            <a:ext cx="3163824" cy="438912"/>
          </a:xfrm>
          <a:prstGeom prst="rect">
            <a:avLst/>
          </a:prstGeom>
          <a:noFill/>
        </p:spPr>
        <p:txBody>
          <a:bodyPr wrap="square" lIns="18288" rIns="18288" tIns="18288" bIns="18288">
            <a:spAutoFit/>
          </a:bodyPr>
          <a:lstStyle/>
          <a:p>
            <a:pPr algn="l">
              <a:lnSpc>
                <a:spcPct val="105000"/>
              </a:lnSpc>
              <a:spcBef>
                <a:spcPts val="0"/>
              </a:spcBef>
              <a:spcAft>
                <a:spcPts val="200"/>
              </a:spcAft>
            </a:pPr>
            <a:r>
              <a:rPr sz="1200" b="0">
                <a:solidFill>
                  <a:srgbClr val="576573"/>
                </a:solidFill>
                <a:latin typeface="Calibri"/>
              </a:rPr>
              <a:t>Schaeffer et al. (2018); EPA (2026); California Water Board (n.d.)</a:t>
            </a:r>
          </a:p>
        </p:txBody>
      </p:sp>
      <p:sp>
        <p:nvSpPr>
          <p:cNvPr id="22" name="TextBox 21"/>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9 of 29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517A4F0-E62A-5A61-6F09-D08F0F48884A}"/>
              </a:ext>
            </a:extLst>
          </p:cNvPr>
          <p:cNvSpPr txBox="1"/>
          <p:nvPr/>
        </p:nvSpPr>
        <p:spPr>
          <a:xfrm>
            <a:off x="3041072" y="172318"/>
            <a:ext cx="5590309" cy="369332"/>
          </a:xfrm>
          <a:prstGeom prst="rect">
            <a:avLst/>
          </a:prstGeom>
          <a:solidFill>
            <a:schemeClr val="accent3">
              <a:lumMod val="20000"/>
              <a:lumOff val="80000"/>
            </a:schemeClr>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t>ACE MATLAB / </a:t>
            </a:r>
            <a:r>
              <a:rPr lang="en-US" b="1" dirty="0" err="1"/>
              <a:t>SimEvents</a:t>
            </a:r>
            <a:r>
              <a:rPr lang="en-US" b="1" dirty="0"/>
              <a:t> -  Session 5 - Methodology</a:t>
            </a:r>
          </a:p>
        </p:txBody>
      </p:sp>
      <p:sp>
        <p:nvSpPr>
          <p:cNvPr id="6" name="TextBox 5">
            <a:extLst>
              <a:ext uri="{FF2B5EF4-FFF2-40B4-BE49-F238E27FC236}">
                <a16:creationId xmlns:a16="http://schemas.microsoft.com/office/drawing/2014/main" id="{366B9CFE-129F-18C3-E065-977C2B9867C5}"/>
              </a:ext>
            </a:extLst>
          </p:cNvPr>
          <p:cNvSpPr txBox="1"/>
          <p:nvPr/>
        </p:nvSpPr>
        <p:spPr>
          <a:xfrm>
            <a:off x="262832" y="589146"/>
            <a:ext cx="8486313" cy="83099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b="1" dirty="0"/>
              <a:t>Purpose</a:t>
            </a:r>
            <a:r>
              <a:rPr lang="en-US" sz="1600" dirty="0"/>
              <a:t>: </a:t>
            </a:r>
            <a:r>
              <a:rPr lang="en-US" sz="1600" i="1" dirty="0"/>
              <a:t>replay</a:t>
            </a:r>
            <a:r>
              <a:rPr lang="en-US" sz="1600" dirty="0"/>
              <a:t> the </a:t>
            </a:r>
            <a:r>
              <a:rPr lang="en-US" sz="1600" i="1" dirty="0"/>
              <a:t>same</a:t>
            </a:r>
            <a:r>
              <a:rPr lang="en-US" sz="1600" dirty="0"/>
              <a:t> ACE observations through a </a:t>
            </a:r>
            <a:r>
              <a:rPr lang="en-US" sz="1600" dirty="0">
                <a:solidFill>
                  <a:srgbClr val="FF0000"/>
                </a:solidFill>
              </a:rPr>
              <a:t>ground-centric</a:t>
            </a:r>
            <a:r>
              <a:rPr lang="en-US" sz="1600" dirty="0"/>
              <a:t> </a:t>
            </a:r>
            <a:r>
              <a:rPr lang="en-US" sz="1600" dirty="0">
                <a:solidFill>
                  <a:srgbClr val="FF0000"/>
                </a:solidFill>
              </a:rPr>
              <a:t>path</a:t>
            </a:r>
            <a:r>
              <a:rPr lang="en-US" sz="1600" dirty="0"/>
              <a:t> and a </a:t>
            </a:r>
            <a:r>
              <a:rPr lang="en-US" sz="1600" dirty="0">
                <a:solidFill>
                  <a:schemeClr val="accent6"/>
                </a:solidFill>
              </a:rPr>
              <a:t>bounded orbital-edge path </a:t>
            </a:r>
            <a:r>
              <a:rPr lang="en-US" sz="1600" dirty="0"/>
              <a:t>under the same link rules, then check the </a:t>
            </a:r>
            <a:r>
              <a:rPr lang="en-US" sz="1600" dirty="0" err="1">
                <a:solidFill>
                  <a:schemeClr val="accent5"/>
                </a:solidFill>
              </a:rPr>
              <a:t>SimEvents</a:t>
            </a:r>
            <a:r>
              <a:rPr lang="en-US" sz="1600" dirty="0"/>
              <a:t> </a:t>
            </a:r>
            <a:r>
              <a:rPr lang="en-US" sz="1600" i="1" dirty="0"/>
              <a:t>output</a:t>
            </a:r>
          </a:p>
          <a:p>
            <a:r>
              <a:rPr lang="en-US" sz="1600" dirty="0"/>
              <a:t>against the stored Excel/MATLAB reference.</a:t>
            </a:r>
          </a:p>
        </p:txBody>
      </p:sp>
      <p:sp>
        <p:nvSpPr>
          <p:cNvPr id="8" name="TextBox 7">
            <a:extLst>
              <a:ext uri="{FF2B5EF4-FFF2-40B4-BE49-F238E27FC236}">
                <a16:creationId xmlns:a16="http://schemas.microsoft.com/office/drawing/2014/main" id="{D4414C2C-AB68-91A9-A2FE-7E8B920093A7}"/>
              </a:ext>
            </a:extLst>
          </p:cNvPr>
          <p:cNvSpPr txBox="1"/>
          <p:nvPr/>
        </p:nvSpPr>
        <p:spPr>
          <a:xfrm>
            <a:off x="199527" y="1755807"/>
            <a:ext cx="2385971" cy="646331"/>
          </a:xfrm>
          <a:prstGeom prst="rect">
            <a:avLst/>
          </a:prstGeom>
          <a:solidFill>
            <a:schemeClr val="accent1">
              <a:lumMod val="20000"/>
              <a:lumOff val="80000"/>
            </a:schemeClr>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b="1" dirty="0"/>
              <a:t>1 · SAME INPUT</a:t>
            </a:r>
          </a:p>
          <a:p>
            <a:r>
              <a:rPr lang="en-US" sz="1200" dirty="0"/>
              <a:t>100 accepted ACE observations</a:t>
            </a:r>
          </a:p>
          <a:p>
            <a:r>
              <a:rPr lang="en-US" sz="1200" dirty="0"/>
              <a:t>Same arrivals and link schedule</a:t>
            </a:r>
          </a:p>
        </p:txBody>
      </p:sp>
      <p:sp>
        <p:nvSpPr>
          <p:cNvPr id="10" name="TextBox 9">
            <a:extLst>
              <a:ext uri="{FF2B5EF4-FFF2-40B4-BE49-F238E27FC236}">
                <a16:creationId xmlns:a16="http://schemas.microsoft.com/office/drawing/2014/main" id="{6377984B-18EC-058B-8BCB-D6429D2B25D2}"/>
              </a:ext>
            </a:extLst>
          </p:cNvPr>
          <p:cNvSpPr txBox="1"/>
          <p:nvPr/>
        </p:nvSpPr>
        <p:spPr>
          <a:xfrm>
            <a:off x="2211425" y="2341912"/>
            <a:ext cx="2531918" cy="646331"/>
          </a:xfrm>
          <a:prstGeom prst="rect">
            <a:avLst/>
          </a:prstGeom>
          <a:solidFill>
            <a:schemeClr val="accent5">
              <a:lumMod val="20000"/>
              <a:lumOff val="80000"/>
            </a:schemeClr>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b="1" dirty="0"/>
              <a:t>2 · TWO PATHS</a:t>
            </a:r>
          </a:p>
          <a:p>
            <a:r>
              <a:rPr lang="en-US" sz="1200" dirty="0"/>
              <a:t>Ground: downlink → compute</a:t>
            </a:r>
          </a:p>
          <a:p>
            <a:r>
              <a:rPr lang="en-US" sz="1200" dirty="0"/>
              <a:t>Edge: compute → reduced downlink</a:t>
            </a:r>
          </a:p>
        </p:txBody>
      </p:sp>
      <p:sp>
        <p:nvSpPr>
          <p:cNvPr id="12" name="TextBox 11">
            <a:extLst>
              <a:ext uri="{FF2B5EF4-FFF2-40B4-BE49-F238E27FC236}">
                <a16:creationId xmlns:a16="http://schemas.microsoft.com/office/drawing/2014/main" id="{289F1704-7551-09A8-6CF8-C4D753940452}"/>
              </a:ext>
            </a:extLst>
          </p:cNvPr>
          <p:cNvSpPr txBox="1"/>
          <p:nvPr/>
        </p:nvSpPr>
        <p:spPr>
          <a:xfrm>
            <a:off x="4693628" y="2918811"/>
            <a:ext cx="2285195" cy="830997"/>
          </a:xfrm>
          <a:prstGeom prst="rect">
            <a:avLst/>
          </a:prstGeom>
          <a:solidFill>
            <a:schemeClr val="accent2">
              <a:lumMod val="20000"/>
              <a:lumOff val="80000"/>
            </a:schemeClr>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b="1" dirty="0"/>
              <a:t>3 · CONTACT WINDOWS</a:t>
            </a:r>
          </a:p>
          <a:p>
            <a:r>
              <a:rPr lang="en-US" sz="1200" dirty="0"/>
              <a:t>Single server</a:t>
            </a:r>
          </a:p>
          <a:p>
            <a:r>
              <a:rPr lang="en-US" sz="1200" dirty="0"/>
              <a:t>600 s up / 120 s down</a:t>
            </a:r>
          </a:p>
          <a:p>
            <a:r>
              <a:rPr lang="en-US" sz="1200" dirty="0"/>
              <a:t>Wait if transmission will not fit</a:t>
            </a:r>
          </a:p>
        </p:txBody>
      </p:sp>
      <p:sp>
        <p:nvSpPr>
          <p:cNvPr id="14" name="TextBox 13">
            <a:extLst>
              <a:ext uri="{FF2B5EF4-FFF2-40B4-BE49-F238E27FC236}">
                <a16:creationId xmlns:a16="http://schemas.microsoft.com/office/drawing/2014/main" id="{24D58F8C-E858-A76E-0E92-86D7B54C6288}"/>
              </a:ext>
            </a:extLst>
          </p:cNvPr>
          <p:cNvSpPr txBox="1"/>
          <p:nvPr/>
        </p:nvSpPr>
        <p:spPr>
          <a:xfrm>
            <a:off x="6903848" y="3429000"/>
            <a:ext cx="2285195" cy="646331"/>
          </a:xfrm>
          <a:prstGeom prst="rect">
            <a:avLst/>
          </a:prstGeom>
          <a:solidFill>
            <a:schemeClr val="accent3">
              <a:lumMod val="20000"/>
              <a:lumOff val="80000"/>
            </a:schemeClr>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b="1" dirty="0"/>
              <a:t>4 · REGRESSION CHECK</a:t>
            </a:r>
          </a:p>
          <a:p>
            <a:r>
              <a:rPr lang="en-US" sz="1200" dirty="0"/>
              <a:t>Compare every latency</a:t>
            </a:r>
          </a:p>
          <a:p>
            <a:r>
              <a:rPr lang="en-US" sz="1200" dirty="0"/>
              <a:t>PASS only if max error ≤ 1×10−6</a:t>
            </a:r>
          </a:p>
        </p:txBody>
      </p:sp>
      <p:sp>
        <p:nvSpPr>
          <p:cNvPr id="16" name="TextBox 15">
            <a:extLst>
              <a:ext uri="{FF2B5EF4-FFF2-40B4-BE49-F238E27FC236}">
                <a16:creationId xmlns:a16="http://schemas.microsoft.com/office/drawing/2014/main" id="{C391D7E7-046C-38BF-27C3-E59596E2A702}"/>
              </a:ext>
            </a:extLst>
          </p:cNvPr>
          <p:cNvSpPr txBox="1"/>
          <p:nvPr/>
        </p:nvSpPr>
        <p:spPr>
          <a:xfrm>
            <a:off x="97437" y="3177260"/>
            <a:ext cx="2385971" cy="1384995"/>
          </a:xfrm>
          <a:prstGeom prst="rect">
            <a:avLst/>
          </a:prstGeom>
          <a:solidFill>
            <a:schemeClr val="tx2">
              <a:lumMod val="25000"/>
              <a:lumOff val="75000"/>
            </a:schemeClr>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200" b="1" dirty="0"/>
              <a:t>ONE COMMAND</a:t>
            </a:r>
          </a:p>
          <a:p>
            <a:endParaRPr lang="en-US" sz="1200" dirty="0"/>
          </a:p>
          <a:p>
            <a:r>
              <a:rPr lang="en-US" sz="1200" dirty="0" err="1"/>
              <a:t>run_simevents</a:t>
            </a:r>
            <a:endParaRPr lang="en-US" sz="1200" dirty="0"/>
          </a:p>
          <a:p>
            <a:r>
              <a:rPr lang="en-US" sz="1200" dirty="0"/>
              <a:t>- export ACE inputs</a:t>
            </a:r>
          </a:p>
          <a:p>
            <a:r>
              <a:rPr lang="en-US" sz="1200" dirty="0"/>
              <a:t>- build Ground / Edge model</a:t>
            </a:r>
          </a:p>
          <a:p>
            <a:r>
              <a:rPr lang="en-US" sz="1200" dirty="0"/>
              <a:t>- simulate both paths</a:t>
            </a:r>
          </a:p>
          <a:p>
            <a:r>
              <a:rPr lang="en-US" sz="1200" dirty="0"/>
              <a:t>- compare every result</a:t>
            </a:r>
          </a:p>
        </p:txBody>
      </p:sp>
      <p:sp>
        <p:nvSpPr>
          <p:cNvPr id="18" name="TextBox 17">
            <a:extLst>
              <a:ext uri="{FF2B5EF4-FFF2-40B4-BE49-F238E27FC236}">
                <a16:creationId xmlns:a16="http://schemas.microsoft.com/office/drawing/2014/main" id="{2528E1D2-7401-3BDB-1552-CC81AA3D7759}"/>
              </a:ext>
            </a:extLst>
          </p:cNvPr>
          <p:cNvSpPr txBox="1"/>
          <p:nvPr/>
        </p:nvSpPr>
        <p:spPr>
          <a:xfrm>
            <a:off x="9433344" y="541650"/>
            <a:ext cx="2385971" cy="1938992"/>
          </a:xfrm>
          <a:prstGeom prst="rect">
            <a:avLst/>
          </a:prstGeom>
          <a:solidFill>
            <a:schemeClr val="bg2">
              <a:lumMod val="75000"/>
            </a:schemeClr>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STORED BASELINE RESULT</a:t>
            </a:r>
          </a:p>
          <a:p>
            <a:r>
              <a:rPr lang="en-US" sz="1200" dirty="0"/>
              <a:t>(Initial Seed Extracted from Data to test the DES Model, will scale to 10,000 runs)</a:t>
            </a:r>
          </a:p>
          <a:p>
            <a:endParaRPr lang="en-US" sz="1200" dirty="0"/>
          </a:p>
          <a:p>
            <a:r>
              <a:rPr lang="en-US" sz="1200" dirty="0"/>
              <a:t>PASS</a:t>
            </a:r>
          </a:p>
          <a:p>
            <a:r>
              <a:rPr lang="en-US" sz="1200" dirty="0"/>
              <a:t>200 entity-level comparisons</a:t>
            </a:r>
          </a:p>
          <a:p>
            <a:r>
              <a:rPr lang="en-US" sz="1200" dirty="0"/>
              <a:t>reported max latency error: 0</a:t>
            </a:r>
          </a:p>
          <a:p>
            <a:r>
              <a:rPr lang="en-US" sz="1200" dirty="0"/>
              <a:t>Ground mean: 1067.6434 s</a:t>
            </a:r>
          </a:p>
          <a:p>
            <a:r>
              <a:rPr lang="en-US" sz="1200" dirty="0"/>
              <a:t>Edge mean: </a:t>
            </a:r>
            <a:r>
              <a:rPr lang="en-US" sz="1200" dirty="0">
                <a:highlight>
                  <a:srgbClr val="FFFF00"/>
                </a:highlight>
              </a:rPr>
              <a:t>198.2280 s</a:t>
            </a:r>
          </a:p>
        </p:txBody>
      </p:sp>
      <p:sp>
        <p:nvSpPr>
          <p:cNvPr id="20" name="TextBox 19">
            <a:extLst>
              <a:ext uri="{FF2B5EF4-FFF2-40B4-BE49-F238E27FC236}">
                <a16:creationId xmlns:a16="http://schemas.microsoft.com/office/drawing/2014/main" id="{97D3ED21-0A74-76C5-3BF6-DA8ECE8CEC2E}"/>
              </a:ext>
            </a:extLst>
          </p:cNvPr>
          <p:cNvSpPr txBox="1"/>
          <p:nvPr/>
        </p:nvSpPr>
        <p:spPr>
          <a:xfrm>
            <a:off x="2211425" y="4472180"/>
            <a:ext cx="2385971" cy="1938992"/>
          </a:xfrm>
          <a:prstGeom prst="rect">
            <a:avLst/>
          </a:prstGeom>
          <a:solidFill>
            <a:schemeClr val="accent3">
              <a:lumMod val="20000"/>
              <a:lumOff val="80000"/>
            </a:schemeClr>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WHAT </a:t>
            </a:r>
            <a:r>
              <a:rPr lang="en-US" sz="1200" b="1" dirty="0"/>
              <a:t>PASS</a:t>
            </a:r>
            <a:r>
              <a:rPr lang="en-US" sz="1200" dirty="0"/>
              <a:t> MEANS</a:t>
            </a:r>
          </a:p>
          <a:p>
            <a:endParaRPr lang="en-US" sz="1200" dirty="0"/>
          </a:p>
          <a:p>
            <a:r>
              <a:rPr lang="en-US" sz="1200" dirty="0"/>
              <a:t>Model consistency was demonstrated in the stored package.</a:t>
            </a:r>
          </a:p>
          <a:p>
            <a:r>
              <a:rPr lang="en-US" sz="1200" dirty="0"/>
              <a:t>It hasn’t established measured satellite performance yet.</a:t>
            </a:r>
          </a:p>
          <a:p>
            <a:r>
              <a:rPr lang="en-US" sz="1200" dirty="0"/>
              <a:t>It does not yet establish H1 as a research finding.</a:t>
            </a:r>
          </a:p>
          <a:p>
            <a:r>
              <a:rPr lang="en-US" sz="1200"/>
              <a:t>Reproduction is  </a:t>
            </a:r>
            <a:r>
              <a:rPr lang="en-US" sz="1200" dirty="0"/>
              <a:t>the next gate.</a:t>
            </a:r>
          </a:p>
        </p:txBody>
      </p:sp>
    </p:spTree>
    <p:extLst>
      <p:ext uri="{BB962C8B-B14F-4D97-AF65-F5344CB8AC3E}">
        <p14:creationId xmlns:p14="http://schemas.microsoft.com/office/powerpoint/2010/main" val="26600685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8"/>
          <p:cNvSpPr txBox="1">
            <a:spLocks noGrp="1"/>
          </p:cNvSpPr>
          <p:nvPr>
            <p:ph type="body" idx="1"/>
          </p:nvPr>
        </p:nvSpPr>
        <p:spPr>
          <a:xfrm>
            <a:off x="564204" y="2081719"/>
            <a:ext cx="10695467" cy="2949986"/>
          </a:xfrm>
          <a:prstGeom prst="rect">
            <a:avLst/>
          </a:prstGeom>
          <a:noFill/>
          <a:ln>
            <a:noFill/>
          </a:ln>
        </p:spPr>
        <p:txBody>
          <a:bodyPr spcFirstLastPara="1" wrap="square" lIns="91425" tIns="45700" rIns="91425" bIns="45700" anchor="t" anchorCtr="0">
            <a:noAutofit/>
          </a:bodyPr>
          <a:lstStyle/>
          <a:p>
            <a:pPr marL="0" lvl="0" indent="0" algn="ctr" rtl="0">
              <a:spcBef>
                <a:spcPts val="0"/>
              </a:spcBef>
              <a:spcAft>
                <a:spcPts val="0"/>
              </a:spcAft>
              <a:buClr>
                <a:schemeClr val="dk1"/>
              </a:buClr>
              <a:buSzPts val="6000"/>
              <a:buNone/>
            </a:pPr>
            <a:r>
              <a:rPr lang="en-US" sz="6000" b="1">
                <a:solidFill>
                  <a:schemeClr val="dk1"/>
                </a:solidFill>
              </a:rPr>
              <a:t>Appendix</a:t>
            </a:r>
            <a:endParaRPr sz="3600" b="1">
              <a:solidFill>
                <a:schemeClr val="dk1"/>
              </a:solidFill>
            </a:endParaRPr>
          </a:p>
        </p:txBody>
      </p:sp>
      <p:sp>
        <p:nvSpPr>
          <p:cNvPr id="150" name="TextBox 149"/>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11 of 29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9"/>
          <p:cNvSpPr txBox="1">
            <a:spLocks noGrp="1"/>
          </p:cNvSpPr>
          <p:nvPr>
            <p:ph type="title"/>
          </p:nvPr>
        </p:nvSpPr>
        <p:spPr>
          <a:xfrm>
            <a:off x="483495" y="316733"/>
            <a:ext cx="7756263" cy="593766"/>
          </a:xfrm>
          <a:prstGeom prst="rect">
            <a:avLst/>
          </a:prstGeom>
          <a:noFill/>
          <a:ln>
            <a:noFill/>
          </a:ln>
        </p:spPr>
        <p:txBody>
          <a:bodyPr spcFirstLastPara="1" wrap="square" lIns="91425" tIns="45700" rIns="91425" bIns="45700" anchor="t" anchorCtr="0">
            <a:normAutofit fontScale="90000"/>
          </a:bodyPr>
          <a:lstStyle/>
          <a:p>
            <a:pPr marL="0" lvl="0" indent="0" algn="l" rtl="0">
              <a:spcBef>
                <a:spcPts val="0"/>
              </a:spcBef>
              <a:spcAft>
                <a:spcPts val="0"/>
              </a:spcAft>
              <a:buClr>
                <a:srgbClr val="3F3F3F"/>
              </a:buClr>
              <a:buSzPct val="100000"/>
              <a:buFont typeface="Arial"/>
              <a:buNone/>
            </a:pPr>
            <a:r>
              <a:rPr lang="en-US" sz="3600"/>
              <a:t>Problem and Thesis Statements</a:t>
            </a:r>
            <a:endParaRPr/>
          </a:p>
        </p:txBody>
      </p:sp>
      <p:sp>
        <p:nvSpPr>
          <p:cNvPr id="156" name="Google Shape;156;p29"/>
          <p:cNvSpPr/>
          <p:nvPr/>
        </p:nvSpPr>
        <p:spPr>
          <a:xfrm>
            <a:off x="621792" y="1444752"/>
            <a:ext cx="10927080" cy="199927"/>
          </a:xfrm>
          <a:prstGeom prst="rect">
            <a:avLst/>
          </a:prstGeom>
          <a:no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000000"/>
              </a:buClr>
              <a:buSzPts val="1200"/>
              <a:buFont typeface="Times New Roman"/>
              <a:buNone/>
            </a:pPr>
            <a:r>
              <a:rPr lang="en-US" sz="1200" b="1">
                <a:solidFill>
                  <a:srgbClr val="000000"/>
                </a:solidFill>
                <a:latin typeface="Times New Roman"/>
                <a:ea typeface="Times New Roman"/>
                <a:cs typeface="Times New Roman"/>
                <a:sym typeface="Times New Roman"/>
              </a:rPr>
              <a:t>Problem statement</a:t>
            </a:r>
            <a:endParaRPr/>
          </a:p>
        </p:txBody>
      </p:sp>
      <p:sp>
        <p:nvSpPr>
          <p:cNvPr id="157" name="Google Shape;157;p29"/>
          <p:cNvSpPr/>
          <p:nvPr/>
        </p:nvSpPr>
        <p:spPr>
          <a:xfrm>
            <a:off x="621792" y="1728216"/>
            <a:ext cx="10899648" cy="393826"/>
          </a:xfrm>
          <a:prstGeom prst="rect">
            <a:avLst/>
          </a:prstGeom>
          <a:solidFill>
            <a:schemeClr val="dk1"/>
          </a:solid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FFFF00"/>
              </a:buClr>
              <a:buSzPts val="1200"/>
              <a:buFont typeface="Times New Roman"/>
              <a:buNone/>
            </a:pPr>
            <a:r>
              <a:rPr lang="en-US" sz="1200" b="1">
                <a:solidFill>
                  <a:srgbClr val="FFFF00"/>
                </a:solidFill>
                <a:latin typeface="Times New Roman"/>
                <a:ea typeface="Times New Roman"/>
                <a:cs typeface="Times New Roman"/>
                <a:sym typeface="Times New Roman"/>
              </a:rPr>
              <a:t>Ground-dependent satellite data-processing architectures can create decision-support latency, bandwidth bottlenecks and operator workload when communications are degraded or intermittent.</a:t>
            </a:r>
            <a:endParaRPr/>
          </a:p>
        </p:txBody>
      </p:sp>
      <p:sp>
        <p:nvSpPr>
          <p:cNvPr id="158" name="Google Shape;158;p29"/>
          <p:cNvSpPr/>
          <p:nvPr/>
        </p:nvSpPr>
        <p:spPr>
          <a:xfrm>
            <a:off x="621792" y="2432304"/>
            <a:ext cx="10899648" cy="199927"/>
          </a:xfrm>
          <a:prstGeom prst="rect">
            <a:avLst/>
          </a:prstGeom>
          <a:no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000000"/>
              </a:buClr>
              <a:buSzPts val="1200"/>
              <a:buFont typeface="Times New Roman"/>
              <a:buNone/>
            </a:pPr>
            <a:r>
              <a:rPr lang="en-US" sz="1200" b="1">
                <a:solidFill>
                  <a:srgbClr val="000000"/>
                </a:solidFill>
                <a:latin typeface="Times New Roman"/>
                <a:ea typeface="Times New Roman"/>
                <a:cs typeface="Times New Roman"/>
                <a:sym typeface="Times New Roman"/>
              </a:rPr>
              <a:t>Thesis statement</a:t>
            </a:r>
            <a:endParaRPr/>
          </a:p>
        </p:txBody>
      </p:sp>
      <p:sp>
        <p:nvSpPr>
          <p:cNvPr id="159" name="Google Shape;159;p29"/>
          <p:cNvSpPr/>
          <p:nvPr/>
        </p:nvSpPr>
        <p:spPr>
          <a:xfrm>
            <a:off x="621792" y="2715768"/>
            <a:ext cx="10899648" cy="393826"/>
          </a:xfrm>
          <a:prstGeom prst="rect">
            <a:avLst/>
          </a:prstGeom>
          <a:solidFill>
            <a:schemeClr val="dk1"/>
          </a:solid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FFFF00"/>
              </a:buClr>
              <a:buSzPts val="1200"/>
              <a:buFont typeface="Times New Roman"/>
              <a:buNone/>
            </a:pPr>
            <a:r>
              <a:rPr lang="en-US" sz="1200" b="1">
                <a:solidFill>
                  <a:srgbClr val="FFFF00"/>
                </a:solidFill>
                <a:latin typeface="Times New Roman"/>
                <a:ea typeface="Times New Roman"/>
                <a:cs typeface="Times New Roman"/>
                <a:sym typeface="Times New Roman"/>
              </a:rPr>
              <a:t>This Praxis will deliver a simulation-based systems engineering model comparing ground-centric processing with bounded orbital edge processing under degraded communications.</a:t>
            </a:r>
            <a:endParaRPr/>
          </a:p>
        </p:txBody>
      </p:sp>
      <p:graphicFrame>
        <p:nvGraphicFramePr>
          <p:cNvPr id="160" name="Google Shape;160;p29"/>
          <p:cNvGraphicFramePr/>
          <p:nvPr>
            <p:extLst>
              <p:ext uri="{D42A27DB-BD31-4B8C-83A1-F6EECF244321}">
                <p14:modId xmlns:p14="http://schemas.microsoft.com/office/powerpoint/2010/main" val="484890876"/>
              </p:ext>
            </p:extLst>
          </p:nvPr>
        </p:nvGraphicFramePr>
        <p:xfrm>
          <a:off x="621792" y="3410712"/>
          <a:ext cx="10917950" cy="1298450"/>
        </p:xfrm>
        <a:graphic>
          <a:graphicData uri="http://schemas.openxmlformats.org/drawingml/2006/table">
            <a:tbl>
              <a:tblPr firstRow="1" bandRow="1">
                <a:noFill/>
                <a:tableStyleId>{3C1EB017-BC45-4DEE-9ABB-B4D90C79D28D}</a:tableStyleId>
              </a:tblPr>
              <a:tblGrid>
                <a:gridCol w="1920250">
                  <a:extLst>
                    <a:ext uri="{9D8B030D-6E8A-4147-A177-3AD203B41FA5}">
                      <a16:colId xmlns:a16="http://schemas.microsoft.com/office/drawing/2014/main" val="20000"/>
                    </a:ext>
                  </a:extLst>
                </a:gridCol>
                <a:gridCol w="8997700">
                  <a:extLst>
                    <a:ext uri="{9D8B030D-6E8A-4147-A177-3AD203B41FA5}">
                      <a16:colId xmlns:a16="http://schemas.microsoft.com/office/drawing/2014/main" val="20001"/>
                    </a:ext>
                  </a:extLst>
                </a:gridCol>
              </a:tblGrid>
              <a:tr h="301750">
                <a:tc>
                  <a:txBody>
                    <a:bodyPr/>
                    <a:lstStyle/>
                    <a:p>
                      <a:pPr marL="0" marR="0" lvl="0" indent="0" algn="l" rtl="0">
                        <a:lnSpc>
                          <a:spcPct val="103000"/>
                        </a:lnSpc>
                        <a:spcBef>
                          <a:spcPts val="0"/>
                        </a:spcBef>
                        <a:spcAft>
                          <a:spcPts val="0"/>
                        </a:spcAft>
                        <a:buClr>
                          <a:srgbClr val="000000"/>
                        </a:buClr>
                        <a:buSzPts val="1100"/>
                        <a:buFont typeface="Times New Roman"/>
                        <a:buNone/>
                      </a:pPr>
                      <a:r>
                        <a:rPr lang="en-US" sz="1100" b="1" u="none" strike="noStrike" cap="none">
                          <a:solidFill>
                            <a:srgbClr val="000000"/>
                          </a:solidFill>
                          <a:latin typeface="Times New Roman"/>
                          <a:ea typeface="Times New Roman"/>
                          <a:cs typeface="Times New Roman"/>
                          <a:sym typeface="Times New Roman"/>
                        </a:rPr>
                        <a:t>Research product</a:t>
                      </a:r>
                      <a:endParaRPr/>
                    </a:p>
                  </a:txBody>
                  <a:tcPr marL="68575" marR="68575" marT="36575" marB="22850" anchor="ctr">
                    <a:solidFill>
                      <a:srgbClr val="E7EEF3"/>
                    </a:solidFill>
                  </a:tcPr>
                </a:tc>
                <a:tc>
                  <a:txBody>
                    <a:bodyPr/>
                    <a:lstStyle/>
                    <a:p>
                      <a:pPr marL="0" marR="0" lvl="0" indent="0" algn="l" rtl="0">
                        <a:lnSpc>
                          <a:spcPct val="103000"/>
                        </a:lnSpc>
                        <a:spcBef>
                          <a:spcPts val="0"/>
                        </a:spcBef>
                        <a:spcAft>
                          <a:spcPts val="0"/>
                        </a:spcAft>
                        <a:buClr>
                          <a:srgbClr val="000000"/>
                        </a:buClr>
                        <a:buSzPts val="1100"/>
                        <a:buFont typeface="Times New Roman"/>
                        <a:buNone/>
                      </a:pPr>
                      <a:r>
                        <a:rPr lang="en-US" sz="1100" b="1" u="none" strike="noStrike" cap="none">
                          <a:solidFill>
                            <a:srgbClr val="000000"/>
                          </a:solidFill>
                          <a:latin typeface="Times New Roman"/>
                          <a:ea typeface="Times New Roman"/>
                          <a:cs typeface="Times New Roman"/>
                          <a:sym typeface="Times New Roman"/>
                        </a:rPr>
                        <a:t>Intended use / contribution</a:t>
                      </a:r>
                      <a:endParaRPr/>
                    </a:p>
                  </a:txBody>
                  <a:tcPr marL="68575" marR="68575" marT="36575" marB="22850" anchor="ctr">
                    <a:solidFill>
                      <a:srgbClr val="E7EEF3"/>
                    </a:solidFill>
                  </a:tcPr>
                </a:tc>
                <a:extLst>
                  <a:ext uri="{0D108BD9-81ED-4DB2-BD59-A6C34878D82A}">
                    <a16:rowId xmlns:a16="http://schemas.microsoft.com/office/drawing/2014/main" val="10000"/>
                  </a:ext>
                </a:extLst>
              </a:tr>
              <a:tr h="493775">
                <a:tc>
                  <a:txBody>
                    <a:bodyPr/>
                    <a:lstStyle/>
                    <a:p>
                      <a:pPr marL="0" marR="0" lvl="0" indent="0" algn="l" rtl="0">
                        <a:lnSpc>
                          <a:spcPct val="103000"/>
                        </a:lnSpc>
                        <a:spcBef>
                          <a:spcPts val="0"/>
                        </a:spcBef>
                        <a:spcAft>
                          <a:spcPts val="0"/>
                        </a:spcAft>
                        <a:buClr>
                          <a:srgbClr val="000000"/>
                        </a:buClr>
                        <a:buSzPts val="1100"/>
                        <a:buFont typeface="Times New Roman"/>
                        <a:buNone/>
                      </a:pPr>
                      <a:r>
                        <a:rPr lang="en-US" sz="1100" b="0" u="none" strike="noStrike" cap="none">
                          <a:solidFill>
                            <a:srgbClr val="000000"/>
                          </a:solidFill>
                          <a:latin typeface="Times New Roman"/>
                          <a:ea typeface="Times New Roman"/>
                          <a:cs typeface="Times New Roman"/>
                          <a:sym typeface="Times New Roman"/>
                        </a:rPr>
                        <a:t>Simulation-Based Evaluation Framework</a:t>
                      </a:r>
                      <a:endParaRPr/>
                    </a:p>
                  </a:txBody>
                  <a:tcPr marL="68575" marR="68575" marT="36575" marB="22850" anchor="ctr">
                    <a:solidFill>
                      <a:srgbClr val="FFFFFF"/>
                    </a:solidFill>
                  </a:tcPr>
                </a:tc>
                <a:tc>
                  <a:txBody>
                    <a:bodyPr/>
                    <a:lstStyle/>
                    <a:p>
                      <a:pPr marL="0" marR="0" lvl="0" indent="0" algn="l" rtl="0">
                        <a:lnSpc>
                          <a:spcPct val="103000"/>
                        </a:lnSpc>
                        <a:spcBef>
                          <a:spcPts val="0"/>
                        </a:spcBef>
                        <a:spcAft>
                          <a:spcPts val="0"/>
                        </a:spcAft>
                        <a:buClr>
                          <a:srgbClr val="000000"/>
                        </a:buClr>
                        <a:buSzPts val="1100"/>
                        <a:buFont typeface="Times New Roman"/>
                        <a:buNone/>
                      </a:pPr>
                      <a:r>
                        <a:rPr lang="en-US" sz="1200" b="1" u="sng" strike="noStrike" cap="none" dirty="0">
                          <a:solidFill>
                            <a:srgbClr val="000000"/>
                          </a:solidFill>
                          <a:latin typeface="Times New Roman"/>
                          <a:ea typeface="Times New Roman"/>
                          <a:cs typeface="Times New Roman"/>
                          <a:sym typeface="Times New Roman"/>
                        </a:rPr>
                        <a:t>Systems engineers will use the framework during early architecture trades </a:t>
                      </a:r>
                      <a:r>
                        <a:rPr lang="en-US" sz="1200" b="0" u="none" strike="noStrike" cap="none" dirty="0">
                          <a:solidFill>
                            <a:srgbClr val="000000"/>
                          </a:solidFill>
                          <a:latin typeface="Times New Roman"/>
                          <a:ea typeface="Times New Roman"/>
                          <a:cs typeface="Times New Roman"/>
                          <a:sym typeface="Times New Roman"/>
                        </a:rPr>
                        <a:t>for onboard processing under degraded communications.</a:t>
                      </a:r>
                      <a:endParaRPr sz="1600" dirty="0"/>
                    </a:p>
                  </a:txBody>
                  <a:tcPr marL="68575" marR="68575" marT="36575" marB="22850" anchor="ctr">
                    <a:solidFill>
                      <a:srgbClr val="FFFFFF"/>
                    </a:solidFill>
                  </a:tcPr>
                </a:tc>
                <a:extLst>
                  <a:ext uri="{0D108BD9-81ED-4DB2-BD59-A6C34878D82A}">
                    <a16:rowId xmlns:a16="http://schemas.microsoft.com/office/drawing/2014/main" val="10001"/>
                  </a:ext>
                </a:extLst>
              </a:tr>
              <a:tr h="502925">
                <a:tc>
                  <a:txBody>
                    <a:bodyPr/>
                    <a:lstStyle/>
                    <a:p>
                      <a:pPr marL="0" marR="0" lvl="0" indent="0" algn="l" rtl="0">
                        <a:lnSpc>
                          <a:spcPct val="103000"/>
                        </a:lnSpc>
                        <a:spcBef>
                          <a:spcPts val="0"/>
                        </a:spcBef>
                        <a:spcAft>
                          <a:spcPts val="0"/>
                        </a:spcAft>
                        <a:buClr>
                          <a:srgbClr val="000000"/>
                        </a:buClr>
                        <a:buSzPts val="700"/>
                        <a:buFont typeface="Times New Roman"/>
                        <a:buNone/>
                      </a:pPr>
                      <a:r>
                        <a:rPr lang="en-US" sz="1000" b="1" u="none" strike="noStrike" cap="none" dirty="0">
                          <a:solidFill>
                            <a:srgbClr val="000000"/>
                          </a:solidFill>
                          <a:latin typeface="Times New Roman"/>
                          <a:ea typeface="Times New Roman"/>
                          <a:cs typeface="Times New Roman"/>
                          <a:sym typeface="Times New Roman"/>
                        </a:rPr>
                        <a:t>MATLAB/</a:t>
                      </a:r>
                      <a:r>
                        <a:rPr lang="en-US" sz="1000" b="1" u="none" strike="noStrike" cap="none" dirty="0" err="1">
                          <a:solidFill>
                            <a:srgbClr val="000000"/>
                          </a:solidFill>
                          <a:latin typeface="Times New Roman"/>
                          <a:ea typeface="Times New Roman"/>
                          <a:cs typeface="Times New Roman"/>
                          <a:sym typeface="Times New Roman"/>
                        </a:rPr>
                        <a:t>SimEvents</a:t>
                      </a:r>
                      <a:r>
                        <a:rPr lang="en-US" sz="1000" b="1" u="none" strike="noStrike" cap="none" dirty="0">
                          <a:solidFill>
                            <a:srgbClr val="000000"/>
                          </a:solidFill>
                          <a:latin typeface="Times New Roman"/>
                          <a:ea typeface="Times New Roman"/>
                          <a:cs typeface="Times New Roman"/>
                          <a:sym typeface="Times New Roman"/>
                        </a:rPr>
                        <a:t> Model</a:t>
                      </a:r>
                      <a:endParaRPr sz="2000" dirty="0"/>
                    </a:p>
                  </a:txBody>
                  <a:tcPr marL="68575" marR="68575" marT="36575" marB="22850" anchor="ctr">
                    <a:solidFill>
                      <a:srgbClr val="F6F8FA"/>
                    </a:solidFill>
                  </a:tcPr>
                </a:tc>
                <a:tc>
                  <a:txBody>
                    <a:bodyPr/>
                    <a:lstStyle/>
                    <a:p>
                      <a:pPr marL="0" marR="0" lvl="0" indent="0" algn="l" rtl="0">
                        <a:lnSpc>
                          <a:spcPct val="103000"/>
                        </a:lnSpc>
                        <a:spcBef>
                          <a:spcPts val="0"/>
                        </a:spcBef>
                        <a:spcAft>
                          <a:spcPts val="0"/>
                        </a:spcAft>
                        <a:buClr>
                          <a:srgbClr val="000000"/>
                        </a:buClr>
                        <a:buSzPts val="700"/>
                        <a:buFont typeface="Times New Roman"/>
                        <a:buNone/>
                      </a:pPr>
                      <a:r>
                        <a:rPr lang="en-US" sz="1050" b="0" u="none" strike="noStrike" cap="none" dirty="0">
                          <a:solidFill>
                            <a:srgbClr val="000000"/>
                          </a:solidFill>
                          <a:latin typeface="Times New Roman"/>
                          <a:ea typeface="Times New Roman"/>
                          <a:cs typeface="Times New Roman"/>
                          <a:sym typeface="Times New Roman"/>
                        </a:rPr>
                        <a:t>This work contributes a public, repeatable method for evaluating orbital edge-processing performance without classified data, restricted data, or new algorithms.</a:t>
                      </a:r>
                      <a:endParaRPr sz="2400" dirty="0"/>
                    </a:p>
                  </a:txBody>
                  <a:tcPr marL="68575" marR="68575" marT="36575" marB="22850" anchor="ctr">
                    <a:solidFill>
                      <a:srgbClr val="F6F8FA"/>
                    </a:solidFill>
                  </a:tcPr>
                </a:tc>
                <a:extLst>
                  <a:ext uri="{0D108BD9-81ED-4DB2-BD59-A6C34878D82A}">
                    <a16:rowId xmlns:a16="http://schemas.microsoft.com/office/drawing/2014/main" val="10002"/>
                  </a:ext>
                </a:extLst>
              </a:tr>
            </a:tbl>
          </a:graphicData>
        </a:graphic>
      </p:graphicFrame>
      <p:sp>
        <p:nvSpPr>
          <p:cNvPr id="161" name="Google Shape;161;p29"/>
          <p:cNvSpPr/>
          <p:nvPr/>
        </p:nvSpPr>
        <p:spPr>
          <a:xfrm>
            <a:off x="621791" y="4919472"/>
            <a:ext cx="11284863" cy="456472"/>
          </a:xfrm>
          <a:prstGeom prst="rect">
            <a:avLst/>
          </a:prstGeom>
          <a:solidFill>
            <a:schemeClr val="dk1"/>
          </a:solid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FFFF00"/>
              </a:buClr>
              <a:buSzPts val="1200"/>
              <a:buFont typeface="Times New Roman"/>
              <a:buNone/>
            </a:pPr>
            <a:r>
              <a:rPr lang="en-US" sz="1200" b="1">
                <a:solidFill>
                  <a:srgbClr val="FFFF00"/>
                </a:solidFill>
                <a:latin typeface="Times New Roman"/>
                <a:ea typeface="Times New Roman"/>
                <a:cs typeface="Times New Roman"/>
                <a:sym typeface="Times New Roman"/>
              </a:rPr>
              <a:t>Current working direction: civil ground-centric versus orbital-edge processing under matched degradation using DES, with core measures of uptime/service availability, downtime/recovery, latency, packet loss and queueing delay.</a:t>
            </a:r>
            <a:endParaRPr sz="1400" b="1">
              <a:solidFill>
                <a:srgbClr val="FFFF00"/>
              </a:solidFill>
              <a:latin typeface="Times New Roman"/>
              <a:ea typeface="Times New Roman"/>
              <a:cs typeface="Times New Roman"/>
              <a:sym typeface="Times New Roman"/>
            </a:endParaRPr>
          </a:p>
        </p:txBody>
      </p:sp>
      <p:sp>
        <p:nvSpPr>
          <p:cNvPr id="162" name="TextBox 161"/>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12 of 29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30"/>
          <p:cNvSpPr txBox="1">
            <a:spLocks noGrp="1"/>
          </p:cNvSpPr>
          <p:nvPr>
            <p:ph type="title"/>
          </p:nvPr>
        </p:nvSpPr>
        <p:spPr>
          <a:xfrm>
            <a:off x="483495" y="316733"/>
            <a:ext cx="7756263" cy="593766"/>
          </a:xfrm>
          <a:prstGeom prst="rect">
            <a:avLst/>
          </a:prstGeom>
          <a:noFill/>
          <a:ln>
            <a:noFill/>
          </a:ln>
        </p:spPr>
        <p:txBody>
          <a:bodyPr spcFirstLastPara="1" wrap="square" lIns="91425" tIns="45700" rIns="91425" bIns="45700" anchor="t" anchorCtr="0">
            <a:normAutofit fontScale="90000"/>
          </a:bodyPr>
          <a:lstStyle/>
          <a:p>
            <a:pPr marL="0" lvl="0" indent="0" algn="l" rtl="0">
              <a:spcBef>
                <a:spcPts val="0"/>
              </a:spcBef>
              <a:spcAft>
                <a:spcPts val="0"/>
              </a:spcAft>
              <a:buClr>
                <a:srgbClr val="3F3F3F"/>
              </a:buClr>
              <a:buSzPct val="100000"/>
              <a:buFont typeface="Arial"/>
              <a:buNone/>
            </a:pPr>
            <a:r>
              <a:rPr lang="en-US" sz="3600"/>
              <a:t>Research Objectives and Questions</a:t>
            </a:r>
            <a:endParaRPr/>
          </a:p>
        </p:txBody>
      </p:sp>
      <p:sp>
        <p:nvSpPr>
          <p:cNvPr id="169" name="Google Shape;169;p30"/>
          <p:cNvSpPr/>
          <p:nvPr/>
        </p:nvSpPr>
        <p:spPr>
          <a:xfrm>
            <a:off x="621792" y="1517904"/>
            <a:ext cx="502920" cy="301752"/>
          </a:xfrm>
          <a:prstGeom prst="rect">
            <a:avLst/>
          </a:prstGeom>
          <a:no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000000"/>
              </a:buClr>
              <a:buSzPts val="1200"/>
              <a:buFont typeface="Times New Roman"/>
              <a:buNone/>
            </a:pPr>
            <a:r>
              <a:rPr lang="en-US" sz="1200" b="1">
                <a:solidFill>
                  <a:srgbClr val="000000"/>
                </a:solidFill>
                <a:latin typeface="Times New Roman"/>
                <a:ea typeface="Times New Roman"/>
                <a:cs typeface="Times New Roman"/>
                <a:sym typeface="Times New Roman"/>
              </a:rPr>
              <a:t>RQ1</a:t>
            </a:r>
            <a:endParaRPr/>
          </a:p>
        </p:txBody>
      </p:sp>
      <p:sp>
        <p:nvSpPr>
          <p:cNvPr id="170" name="Google Shape;170;p30"/>
          <p:cNvSpPr/>
          <p:nvPr/>
        </p:nvSpPr>
        <p:spPr>
          <a:xfrm>
            <a:off x="1207008" y="1517904"/>
            <a:ext cx="10195560" cy="518988"/>
          </a:xfrm>
          <a:prstGeom prst="rect">
            <a:avLst/>
          </a:prstGeom>
          <a:solidFill>
            <a:schemeClr val="dk1"/>
          </a:solid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FFFF00"/>
              </a:buClr>
              <a:buSzPts val="1600"/>
              <a:buFont typeface="Times New Roman"/>
              <a:buNone/>
            </a:pPr>
            <a:r>
              <a:rPr lang="en-US" sz="1600" b="1">
                <a:solidFill>
                  <a:srgbClr val="FFFF00"/>
                </a:solidFill>
                <a:latin typeface="Times New Roman"/>
                <a:ea typeface="Times New Roman"/>
                <a:cs typeface="Times New Roman"/>
                <a:sym typeface="Times New Roman"/>
              </a:rPr>
              <a:t>Can a discrete-event systems engineering model represent satellite data-processing latency and service availability under degraded communications?</a:t>
            </a:r>
            <a:endParaRPr/>
          </a:p>
        </p:txBody>
      </p:sp>
      <p:sp>
        <p:nvSpPr>
          <p:cNvPr id="171" name="Google Shape;171;p30"/>
          <p:cNvSpPr/>
          <p:nvPr/>
        </p:nvSpPr>
        <p:spPr>
          <a:xfrm>
            <a:off x="621792" y="2295144"/>
            <a:ext cx="502920" cy="301752"/>
          </a:xfrm>
          <a:prstGeom prst="rect">
            <a:avLst/>
          </a:prstGeom>
          <a:no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000000"/>
              </a:buClr>
              <a:buSzPts val="1200"/>
              <a:buFont typeface="Times New Roman"/>
              <a:buNone/>
            </a:pPr>
            <a:r>
              <a:rPr lang="en-US" sz="1200" b="1">
                <a:solidFill>
                  <a:srgbClr val="000000"/>
                </a:solidFill>
                <a:latin typeface="Times New Roman"/>
                <a:ea typeface="Times New Roman"/>
                <a:cs typeface="Times New Roman"/>
                <a:sym typeface="Times New Roman"/>
              </a:rPr>
              <a:t>RQ2</a:t>
            </a:r>
            <a:endParaRPr/>
          </a:p>
        </p:txBody>
      </p:sp>
      <p:sp>
        <p:nvSpPr>
          <p:cNvPr id="172" name="Google Shape;172;p30"/>
          <p:cNvSpPr/>
          <p:nvPr/>
        </p:nvSpPr>
        <p:spPr>
          <a:xfrm>
            <a:off x="1207008" y="2295144"/>
            <a:ext cx="10195560" cy="456472"/>
          </a:xfrm>
          <a:prstGeom prst="rect">
            <a:avLst/>
          </a:prstGeom>
          <a:solidFill>
            <a:schemeClr val="dk1"/>
          </a:solid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FFFF00"/>
              </a:buClr>
              <a:buSzPts val="1400"/>
              <a:buFont typeface="Times New Roman"/>
              <a:buNone/>
            </a:pPr>
            <a:r>
              <a:rPr lang="en-US" sz="1400" b="1">
                <a:solidFill>
                  <a:srgbClr val="FFFF00"/>
                </a:solidFill>
                <a:latin typeface="Times New Roman"/>
                <a:ea typeface="Times New Roman"/>
                <a:cs typeface="Times New Roman"/>
                <a:sym typeface="Times New Roman"/>
              </a:rPr>
              <a:t>Does bounded orbital edge processing reduce end-to-end decision-support latency and preserve service compared with a ground-centric architecture under matched degradation?</a:t>
            </a:r>
            <a:endParaRPr/>
          </a:p>
        </p:txBody>
      </p:sp>
      <p:sp>
        <p:nvSpPr>
          <p:cNvPr id="173" name="Google Shape;173;p30"/>
          <p:cNvSpPr/>
          <p:nvPr/>
        </p:nvSpPr>
        <p:spPr>
          <a:xfrm>
            <a:off x="621792" y="3072384"/>
            <a:ext cx="502920" cy="301752"/>
          </a:xfrm>
          <a:prstGeom prst="rect">
            <a:avLst/>
          </a:prstGeom>
          <a:no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000000"/>
              </a:buClr>
              <a:buSzPts val="1200"/>
              <a:buFont typeface="Times New Roman"/>
              <a:buNone/>
            </a:pPr>
            <a:r>
              <a:rPr lang="en-US" sz="1200" b="1">
                <a:solidFill>
                  <a:srgbClr val="000000"/>
                </a:solidFill>
                <a:latin typeface="Times New Roman"/>
                <a:ea typeface="Times New Roman"/>
                <a:cs typeface="Times New Roman"/>
                <a:sym typeface="Times New Roman"/>
              </a:rPr>
              <a:t>RQ3</a:t>
            </a:r>
            <a:endParaRPr/>
          </a:p>
        </p:txBody>
      </p:sp>
      <p:sp>
        <p:nvSpPr>
          <p:cNvPr id="174" name="Google Shape;174;p30"/>
          <p:cNvSpPr/>
          <p:nvPr/>
        </p:nvSpPr>
        <p:spPr>
          <a:xfrm>
            <a:off x="1207008" y="3072384"/>
            <a:ext cx="10195560" cy="456472"/>
          </a:xfrm>
          <a:prstGeom prst="rect">
            <a:avLst/>
          </a:prstGeom>
          <a:solidFill>
            <a:schemeClr val="dk1"/>
          </a:solid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FFFF00"/>
              </a:buClr>
              <a:buSzPts val="1400"/>
              <a:buFont typeface="Times New Roman"/>
              <a:buNone/>
            </a:pPr>
            <a:r>
              <a:rPr lang="en-US" sz="1400" b="1">
                <a:solidFill>
                  <a:srgbClr val="FFFF00"/>
                </a:solidFill>
                <a:latin typeface="Times New Roman"/>
                <a:ea typeface="Times New Roman"/>
                <a:cs typeface="Times New Roman"/>
                <a:sym typeface="Times New Roman"/>
              </a:rPr>
              <a:t>Which parameters most affect performance: communications delay/loss, bandwidth, outage duration, processing time and alert/data priority?</a:t>
            </a:r>
            <a:endParaRPr/>
          </a:p>
        </p:txBody>
      </p:sp>
      <p:sp>
        <p:nvSpPr>
          <p:cNvPr id="175" name="Google Shape;175;p30"/>
          <p:cNvSpPr/>
          <p:nvPr/>
        </p:nvSpPr>
        <p:spPr>
          <a:xfrm>
            <a:off x="585216" y="3995928"/>
            <a:ext cx="10991088" cy="260456"/>
          </a:xfrm>
          <a:prstGeom prst="rect">
            <a:avLst/>
          </a:prstGeom>
          <a:solidFill>
            <a:srgbClr val="E7EEF3"/>
          </a:solid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000000"/>
              </a:buClr>
              <a:buSzPts val="1600"/>
              <a:buFont typeface="Times New Roman"/>
              <a:buNone/>
            </a:pPr>
            <a:r>
              <a:rPr lang="en-US" sz="1600" b="1">
                <a:solidFill>
                  <a:srgbClr val="000000"/>
                </a:solidFill>
                <a:latin typeface="Times New Roman"/>
                <a:ea typeface="Times New Roman"/>
                <a:cs typeface="Times New Roman"/>
                <a:sym typeface="Times New Roman"/>
              </a:rPr>
              <a:t>PURPOSE — current scope</a:t>
            </a:r>
            <a:endParaRPr/>
          </a:p>
        </p:txBody>
      </p:sp>
      <p:sp>
        <p:nvSpPr>
          <p:cNvPr id="176" name="Google Shape;176;p30"/>
          <p:cNvSpPr/>
          <p:nvPr/>
        </p:nvSpPr>
        <p:spPr>
          <a:xfrm>
            <a:off x="621792" y="4379976"/>
            <a:ext cx="10927080" cy="456472"/>
          </a:xfrm>
          <a:prstGeom prst="rect">
            <a:avLst/>
          </a:prstGeom>
          <a:solidFill>
            <a:schemeClr val="dk1"/>
          </a:solid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FFFF00"/>
              </a:buClr>
              <a:buSzPts val="1400"/>
              <a:buFont typeface="Times New Roman"/>
              <a:buNone/>
            </a:pPr>
            <a:r>
              <a:rPr lang="en-US" sz="1400" b="0">
                <a:solidFill>
                  <a:srgbClr val="FFFF00"/>
                </a:solidFill>
                <a:latin typeface="Times New Roman"/>
                <a:ea typeface="Times New Roman"/>
                <a:cs typeface="Times New Roman"/>
                <a:sym typeface="Times New Roman"/>
              </a:rPr>
              <a:t>Evaluate bounded orbital edge processing under degraded communications; compare ground-centric routing with an edge-enabled path; provide a repeatable public-data simulation framework for early architecture trades.</a:t>
            </a:r>
            <a:endParaRPr/>
          </a:p>
        </p:txBody>
      </p:sp>
      <p:sp>
        <p:nvSpPr>
          <p:cNvPr id="177" name="TextBox 176"/>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13 of 29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2" name="TextBox 1"/>
          <p:cNvSpPr txBox="1"/>
          <p:nvPr/>
        </p:nvSpPr>
        <p:spPr>
          <a:xfrm>
            <a:off x="438912" y="256032"/>
            <a:ext cx="11201400" cy="502920"/>
          </a:xfrm>
          <a:prstGeom prst="rect">
            <a:avLst/>
          </a:prstGeom>
          <a:noFill/>
        </p:spPr>
        <p:txBody>
          <a:bodyPr wrap="square" lIns="18288" rIns="18288" tIns="18288" bIns="18288">
            <a:spAutoFit/>
          </a:bodyPr>
          <a:lstStyle/>
          <a:p>
            <a:pPr algn="l">
              <a:lnSpc>
                <a:spcPct val="105000"/>
              </a:lnSpc>
              <a:spcBef>
                <a:spcPts val="0"/>
              </a:spcBef>
              <a:spcAft>
                <a:spcPts val="200"/>
              </a:spcAft>
            </a:pPr>
            <a:r>
              <a:rPr sz="2700" b="1">
                <a:solidFill>
                  <a:srgbClr val="002B49"/>
                </a:solidFill>
                <a:latin typeface="Calibri"/>
              </a:rPr>
              <a:t>H0 / H1: Matched Ground-versus-Edge Comparison</a:t>
            </a:r>
          </a:p>
        </p:txBody>
      </p:sp>
      <p:sp>
        <p:nvSpPr>
          <p:cNvPr id="3" name="TextBox 2"/>
          <p:cNvSpPr txBox="1"/>
          <p:nvPr/>
        </p:nvSpPr>
        <p:spPr>
          <a:xfrm>
            <a:off x="457200" y="822960"/>
            <a:ext cx="11155680" cy="457200"/>
          </a:xfrm>
          <a:prstGeom prst="rect">
            <a:avLst/>
          </a:prstGeom>
          <a:noFill/>
        </p:spPr>
        <p:txBody>
          <a:bodyPr wrap="square" lIns="18288" rIns="18288" tIns="18288" bIns="18288">
            <a:spAutoFit/>
          </a:bodyPr>
          <a:lstStyle/>
          <a:p>
            <a:pPr algn="l">
              <a:lnSpc>
                <a:spcPct val="105000"/>
              </a:lnSpc>
              <a:spcBef>
                <a:spcPts val="0"/>
              </a:spcBef>
              <a:spcAft>
                <a:spcPts val="200"/>
              </a:spcAft>
            </a:pPr>
            <a:r>
              <a:rPr sz="1400" b="0">
                <a:solidFill>
                  <a:srgbClr val="576573"/>
                </a:solidFill>
                <a:latin typeface="Calibri"/>
              </a:rPr>
              <a:t>Working hypotheses retained; processing order and transmission demand define the architecture trade.</a:t>
            </a:r>
          </a:p>
        </p:txBody>
      </p:sp>
      <p:sp>
        <p:nvSpPr>
          <p:cNvPr id="4" name="Rounded Rectangle 3"/>
          <p:cNvSpPr/>
          <p:nvPr/>
        </p:nvSpPr>
        <p:spPr>
          <a:xfrm>
            <a:off x="566928" y="1325880"/>
            <a:ext cx="5440680" cy="1371600"/>
          </a:xfrm>
          <a:prstGeom prst="roundRect">
            <a:avLst/>
          </a:prstGeom>
          <a:solidFill>
            <a:srgbClr val="E8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417320"/>
            <a:ext cx="5166360" cy="274320"/>
          </a:xfrm>
          <a:prstGeom prst="rect">
            <a:avLst/>
          </a:prstGeom>
          <a:noFill/>
        </p:spPr>
        <p:txBody>
          <a:bodyPr wrap="square" lIns="18288" rIns="18288" tIns="18288" bIns="18288">
            <a:spAutoFit/>
          </a:bodyPr>
          <a:lstStyle/>
          <a:p>
            <a:pPr algn="l">
              <a:lnSpc>
                <a:spcPct val="105000"/>
              </a:lnSpc>
              <a:spcBef>
                <a:spcPts val="0"/>
              </a:spcBef>
              <a:spcAft>
                <a:spcPts val="200"/>
              </a:spcAft>
            </a:pPr>
            <a:r>
              <a:rPr sz="1900" b="1">
                <a:solidFill>
                  <a:srgbClr val="002B49"/>
                </a:solidFill>
                <a:latin typeface="Calibri"/>
              </a:rPr>
              <a:t>H0 · Null hypothesis</a:t>
            </a:r>
          </a:p>
        </p:txBody>
      </p:sp>
      <p:sp>
        <p:nvSpPr>
          <p:cNvPr id="6" name="TextBox 5"/>
          <p:cNvSpPr txBox="1"/>
          <p:nvPr/>
        </p:nvSpPr>
        <p:spPr>
          <a:xfrm>
            <a:off x="704088" y="1773936"/>
            <a:ext cx="5166360" cy="832104"/>
          </a:xfrm>
          <a:prstGeom prst="rect">
            <a:avLst/>
          </a:prstGeom>
          <a:noFill/>
        </p:spPr>
        <p:txBody>
          <a:bodyPr wrap="square" lIns="18288" rIns="18288" tIns="18288" bIns="18288">
            <a:spAutoFit/>
          </a:bodyPr>
          <a:lstStyle/>
          <a:p>
            <a:pPr algn="l">
              <a:lnSpc>
                <a:spcPct val="105000"/>
              </a:lnSpc>
              <a:spcBef>
                <a:spcPts val="0"/>
              </a:spcBef>
              <a:spcAft>
                <a:spcPts val="200"/>
              </a:spcAft>
            </a:pPr>
            <a:r>
              <a:rPr sz="1450" b="0">
                <a:solidFill>
                  <a:srgbClr val="263746"/>
                </a:solidFill>
                <a:latin typeface="Calibri"/>
              </a:rPr>
              <a:t>Under matched degradation, the ground-centric and bounded orbital-edge architectures show no measurable difference in end-to-end latency or service availability.</a:t>
            </a:r>
          </a:p>
        </p:txBody>
      </p:sp>
      <p:sp>
        <p:nvSpPr>
          <p:cNvPr id="7" name="Rounded Rectangle 6"/>
          <p:cNvSpPr/>
          <p:nvPr/>
        </p:nvSpPr>
        <p:spPr>
          <a:xfrm>
            <a:off x="6181344" y="1325880"/>
            <a:ext cx="5440680" cy="1371600"/>
          </a:xfrm>
          <a:prstGeom prst="roundRect">
            <a:avLst/>
          </a:prstGeom>
          <a:solidFill>
            <a:srgbClr val="EEE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8504" y="1417320"/>
            <a:ext cx="5166360" cy="274320"/>
          </a:xfrm>
          <a:prstGeom prst="rect">
            <a:avLst/>
          </a:prstGeom>
          <a:noFill/>
        </p:spPr>
        <p:txBody>
          <a:bodyPr wrap="square" lIns="18288" rIns="18288" tIns="18288" bIns="18288">
            <a:spAutoFit/>
          </a:bodyPr>
          <a:lstStyle/>
          <a:p>
            <a:pPr algn="l">
              <a:lnSpc>
                <a:spcPct val="105000"/>
              </a:lnSpc>
              <a:spcBef>
                <a:spcPts val="0"/>
              </a:spcBef>
              <a:spcAft>
                <a:spcPts val="200"/>
              </a:spcAft>
            </a:pPr>
            <a:r>
              <a:rPr sz="1900" b="1">
                <a:solidFill>
                  <a:srgbClr val="002B49"/>
                </a:solidFill>
                <a:latin typeface="Calibri"/>
              </a:rPr>
              <a:t>H1 · Alternative hypothesis</a:t>
            </a:r>
          </a:p>
        </p:txBody>
      </p:sp>
      <p:sp>
        <p:nvSpPr>
          <p:cNvPr id="9" name="TextBox 8"/>
          <p:cNvSpPr txBox="1"/>
          <p:nvPr/>
        </p:nvSpPr>
        <p:spPr>
          <a:xfrm>
            <a:off x="6318504" y="1773936"/>
            <a:ext cx="5166360" cy="832104"/>
          </a:xfrm>
          <a:prstGeom prst="rect">
            <a:avLst/>
          </a:prstGeom>
          <a:noFill/>
        </p:spPr>
        <p:txBody>
          <a:bodyPr wrap="square" lIns="18288" rIns="18288" tIns="18288" bIns="18288">
            <a:spAutoFit/>
          </a:bodyPr>
          <a:lstStyle/>
          <a:p>
            <a:pPr algn="l">
              <a:lnSpc>
                <a:spcPct val="105000"/>
              </a:lnSpc>
              <a:spcBef>
                <a:spcPts val="0"/>
              </a:spcBef>
              <a:spcAft>
                <a:spcPts val="200"/>
              </a:spcAft>
            </a:pPr>
            <a:r>
              <a:rPr sz="1450" b="0">
                <a:solidFill>
                  <a:srgbClr val="263746"/>
                </a:solidFill>
                <a:latin typeface="Calibri"/>
              </a:rPr>
              <a:t>Bounded orbital edge processing reduces end-to-end decision-support latency and improves service availability relative to ground processing under degraded communications.</a:t>
            </a:r>
          </a:p>
        </p:txBody>
      </p:sp>
      <p:sp>
        <p:nvSpPr>
          <p:cNvPr id="10" name="TextBox 9"/>
          <p:cNvSpPr txBox="1"/>
          <p:nvPr/>
        </p:nvSpPr>
        <p:spPr>
          <a:xfrm>
            <a:off x="621792" y="2816352"/>
            <a:ext cx="10972800" cy="256032"/>
          </a:xfrm>
          <a:prstGeom prst="rect">
            <a:avLst/>
          </a:prstGeom>
          <a:noFill/>
        </p:spPr>
        <p:txBody>
          <a:bodyPr wrap="square" lIns="18288" rIns="18288" tIns="18288" bIns="18288">
            <a:spAutoFit/>
          </a:bodyPr>
          <a:lstStyle/>
          <a:p>
            <a:pPr algn="l">
              <a:lnSpc>
                <a:spcPct val="105000"/>
              </a:lnSpc>
              <a:spcBef>
                <a:spcPts val="0"/>
              </a:spcBef>
              <a:spcAft>
                <a:spcPts val="200"/>
              </a:spcAft>
            </a:pPr>
            <a:r>
              <a:rPr sz="1400" b="1">
                <a:solidFill>
                  <a:srgbClr val="576573"/>
                </a:solidFill>
                <a:latin typeface="Calibri"/>
              </a:rPr>
              <a:t>COMMON INPUTS: identical arrivals • paired processing draws • same communications schedule</a:t>
            </a:r>
          </a:p>
        </p:txBody>
      </p:sp>
      <p:sp>
        <p:nvSpPr>
          <p:cNvPr id="11" name="TextBox 10"/>
          <p:cNvSpPr txBox="1"/>
          <p:nvPr/>
        </p:nvSpPr>
        <p:spPr>
          <a:xfrm>
            <a:off x="603504" y="3429000"/>
            <a:ext cx="1115568" cy="393192"/>
          </a:xfrm>
          <a:prstGeom prst="rect">
            <a:avLst/>
          </a:prstGeom>
          <a:noFill/>
        </p:spPr>
        <p:txBody>
          <a:bodyPr wrap="square" lIns="18288" rIns="18288" tIns="18288" bIns="18288">
            <a:spAutoFit/>
          </a:bodyPr>
          <a:lstStyle/>
          <a:p>
            <a:pPr algn="l">
              <a:lnSpc>
                <a:spcPct val="105000"/>
              </a:lnSpc>
              <a:spcBef>
                <a:spcPts val="0"/>
              </a:spcBef>
              <a:spcAft>
                <a:spcPts val="200"/>
              </a:spcAft>
            </a:pPr>
            <a:r>
              <a:rPr sz="1700" b="1">
                <a:solidFill>
                  <a:srgbClr val="286B98"/>
                </a:solidFill>
                <a:latin typeface="Calibri"/>
              </a:rPr>
              <a:t>GROUND</a:t>
            </a:r>
          </a:p>
        </p:txBody>
      </p:sp>
      <p:sp>
        <p:nvSpPr>
          <p:cNvPr id="12" name="Rounded Rectangle 11"/>
          <p:cNvSpPr/>
          <p:nvPr/>
        </p:nvSpPr>
        <p:spPr>
          <a:xfrm>
            <a:off x="1810512" y="3273552"/>
            <a:ext cx="1353312" cy="694944"/>
          </a:xfrm>
          <a:prstGeom prst="roundRect">
            <a:avLst/>
          </a:prstGeom>
          <a:solidFill>
            <a:srgbClr val="E8F1F7"/>
          </a:solidFill>
          <a:ln w="12700">
            <a:solidFill>
              <a:srgbClr val="286B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65376" y="3419856"/>
            <a:ext cx="1243584" cy="448056"/>
          </a:xfrm>
          <a:prstGeom prst="rect">
            <a:avLst/>
          </a:prstGeom>
          <a:noFill/>
        </p:spPr>
        <p:txBody>
          <a:bodyPr wrap="square" lIns="18288" rIns="18288" tIns="18288" bIns="18288">
            <a:spAutoFit/>
          </a:bodyPr>
          <a:lstStyle/>
          <a:p>
            <a:pPr algn="ctr">
              <a:lnSpc>
                <a:spcPct val="105000"/>
              </a:lnSpc>
              <a:spcBef>
                <a:spcPts val="0"/>
              </a:spcBef>
              <a:spcAft>
                <a:spcPts val="200"/>
              </a:spcAft>
            </a:pPr>
            <a:r>
              <a:rPr sz="1400" b="1">
                <a:solidFill>
                  <a:srgbClr val="263746"/>
                </a:solidFill>
                <a:latin typeface="Calibri"/>
              </a:rPr>
              <a:t>Arrival</a:t>
            </a:r>
          </a:p>
        </p:txBody>
      </p:sp>
      <p:sp>
        <p:nvSpPr>
          <p:cNvPr id="14" name="TextBox 13"/>
          <p:cNvSpPr txBox="1"/>
          <p:nvPr/>
        </p:nvSpPr>
        <p:spPr>
          <a:xfrm>
            <a:off x="3172968" y="3419856"/>
            <a:ext cx="256032" cy="320040"/>
          </a:xfrm>
          <a:prstGeom prst="rect">
            <a:avLst/>
          </a:prstGeom>
          <a:noFill/>
        </p:spPr>
        <p:txBody>
          <a:bodyPr wrap="square" lIns="18288" rIns="18288" tIns="18288" bIns="18288">
            <a:spAutoFit/>
          </a:bodyPr>
          <a:lstStyle/>
          <a:p>
            <a:pPr algn="ctr">
              <a:lnSpc>
                <a:spcPct val="105000"/>
              </a:lnSpc>
              <a:spcBef>
                <a:spcPts val="0"/>
              </a:spcBef>
              <a:spcAft>
                <a:spcPts val="200"/>
              </a:spcAft>
            </a:pPr>
            <a:r>
              <a:rPr sz="1900" b="1">
                <a:solidFill>
                  <a:srgbClr val="286B98"/>
                </a:solidFill>
                <a:latin typeface="Calibri"/>
              </a:rPr>
              <a:t>→</a:t>
            </a:r>
          </a:p>
        </p:txBody>
      </p:sp>
      <p:sp>
        <p:nvSpPr>
          <p:cNvPr id="15" name="Rounded Rectangle 14"/>
          <p:cNvSpPr/>
          <p:nvPr/>
        </p:nvSpPr>
        <p:spPr>
          <a:xfrm>
            <a:off x="3419856" y="3273552"/>
            <a:ext cx="1353312" cy="694944"/>
          </a:xfrm>
          <a:prstGeom prst="roundRect">
            <a:avLst/>
          </a:prstGeom>
          <a:solidFill>
            <a:srgbClr val="E8F1F7"/>
          </a:solidFill>
          <a:ln w="12700">
            <a:solidFill>
              <a:srgbClr val="286B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4720" y="3419856"/>
            <a:ext cx="1243584" cy="448056"/>
          </a:xfrm>
          <a:prstGeom prst="rect">
            <a:avLst/>
          </a:prstGeom>
          <a:noFill/>
        </p:spPr>
        <p:txBody>
          <a:bodyPr wrap="square" lIns="18288" rIns="18288" tIns="18288" bIns="18288">
            <a:spAutoFit/>
          </a:bodyPr>
          <a:lstStyle/>
          <a:p>
            <a:pPr algn="ctr">
              <a:lnSpc>
                <a:spcPct val="105000"/>
              </a:lnSpc>
              <a:spcBef>
                <a:spcPts val="0"/>
              </a:spcBef>
              <a:spcAft>
                <a:spcPts val="200"/>
              </a:spcAft>
            </a:pPr>
            <a:r>
              <a:rPr sz="1400" b="1">
                <a:solidFill>
                  <a:srgbClr val="263746"/>
                </a:solidFill>
                <a:latin typeface="Calibri"/>
              </a:rPr>
              <a:t>Link queue</a:t>
            </a:r>
          </a:p>
        </p:txBody>
      </p:sp>
      <p:sp>
        <p:nvSpPr>
          <p:cNvPr id="17" name="TextBox 16"/>
          <p:cNvSpPr txBox="1"/>
          <p:nvPr/>
        </p:nvSpPr>
        <p:spPr>
          <a:xfrm>
            <a:off x="4782312" y="3419856"/>
            <a:ext cx="256032" cy="320040"/>
          </a:xfrm>
          <a:prstGeom prst="rect">
            <a:avLst/>
          </a:prstGeom>
          <a:noFill/>
        </p:spPr>
        <p:txBody>
          <a:bodyPr wrap="square" lIns="18288" rIns="18288" tIns="18288" bIns="18288">
            <a:spAutoFit/>
          </a:bodyPr>
          <a:lstStyle/>
          <a:p>
            <a:pPr algn="ctr">
              <a:lnSpc>
                <a:spcPct val="105000"/>
              </a:lnSpc>
              <a:spcBef>
                <a:spcPts val="0"/>
              </a:spcBef>
              <a:spcAft>
                <a:spcPts val="200"/>
              </a:spcAft>
            </a:pPr>
            <a:r>
              <a:rPr sz="1900" b="1">
                <a:solidFill>
                  <a:srgbClr val="286B98"/>
                </a:solidFill>
                <a:latin typeface="Calibri"/>
              </a:rPr>
              <a:t>→</a:t>
            </a:r>
          </a:p>
        </p:txBody>
      </p:sp>
      <p:sp>
        <p:nvSpPr>
          <p:cNvPr id="18" name="Rounded Rectangle 17"/>
          <p:cNvSpPr/>
          <p:nvPr/>
        </p:nvSpPr>
        <p:spPr>
          <a:xfrm>
            <a:off x="5029200" y="3273552"/>
            <a:ext cx="1353312" cy="694944"/>
          </a:xfrm>
          <a:prstGeom prst="roundRect">
            <a:avLst/>
          </a:prstGeom>
          <a:solidFill>
            <a:srgbClr val="E8F1F7"/>
          </a:solidFill>
          <a:ln w="12700">
            <a:solidFill>
              <a:srgbClr val="286B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84064" y="3419856"/>
            <a:ext cx="1243584" cy="448056"/>
          </a:xfrm>
          <a:prstGeom prst="rect">
            <a:avLst/>
          </a:prstGeom>
          <a:noFill/>
        </p:spPr>
        <p:txBody>
          <a:bodyPr wrap="square" lIns="18288" rIns="18288" tIns="18288" bIns="18288">
            <a:spAutoFit/>
          </a:bodyPr>
          <a:lstStyle/>
          <a:p>
            <a:pPr algn="ctr">
              <a:lnSpc>
                <a:spcPct val="105000"/>
              </a:lnSpc>
              <a:spcBef>
                <a:spcPts val="0"/>
              </a:spcBef>
              <a:spcAft>
                <a:spcPts val="200"/>
              </a:spcAft>
            </a:pPr>
            <a:r>
              <a:rPr sz="1400" b="1">
                <a:solidFill>
                  <a:srgbClr val="263746"/>
                </a:solidFill>
                <a:latin typeface="Calibri"/>
              </a:rPr>
              <a:t>Full downlink</a:t>
            </a:r>
          </a:p>
        </p:txBody>
      </p:sp>
      <p:sp>
        <p:nvSpPr>
          <p:cNvPr id="20" name="TextBox 19"/>
          <p:cNvSpPr txBox="1"/>
          <p:nvPr/>
        </p:nvSpPr>
        <p:spPr>
          <a:xfrm>
            <a:off x="6391656" y="3419856"/>
            <a:ext cx="256032" cy="320040"/>
          </a:xfrm>
          <a:prstGeom prst="rect">
            <a:avLst/>
          </a:prstGeom>
          <a:noFill/>
        </p:spPr>
        <p:txBody>
          <a:bodyPr wrap="square" lIns="18288" rIns="18288" tIns="18288" bIns="18288">
            <a:spAutoFit/>
          </a:bodyPr>
          <a:lstStyle/>
          <a:p>
            <a:pPr algn="ctr">
              <a:lnSpc>
                <a:spcPct val="105000"/>
              </a:lnSpc>
              <a:spcBef>
                <a:spcPts val="0"/>
              </a:spcBef>
              <a:spcAft>
                <a:spcPts val="200"/>
              </a:spcAft>
            </a:pPr>
            <a:r>
              <a:rPr sz="1900" b="1">
                <a:solidFill>
                  <a:srgbClr val="286B98"/>
                </a:solidFill>
                <a:latin typeface="Calibri"/>
              </a:rPr>
              <a:t>→</a:t>
            </a:r>
          </a:p>
        </p:txBody>
      </p:sp>
      <p:sp>
        <p:nvSpPr>
          <p:cNvPr id="21" name="Rounded Rectangle 20"/>
          <p:cNvSpPr/>
          <p:nvPr/>
        </p:nvSpPr>
        <p:spPr>
          <a:xfrm>
            <a:off x="6638544" y="3273552"/>
            <a:ext cx="1353312" cy="694944"/>
          </a:xfrm>
          <a:prstGeom prst="roundRect">
            <a:avLst/>
          </a:prstGeom>
          <a:solidFill>
            <a:srgbClr val="E8F1F7"/>
          </a:solidFill>
          <a:ln w="12700">
            <a:solidFill>
              <a:srgbClr val="286B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3407" y="3419856"/>
            <a:ext cx="1243584" cy="448056"/>
          </a:xfrm>
          <a:prstGeom prst="rect">
            <a:avLst/>
          </a:prstGeom>
          <a:noFill/>
        </p:spPr>
        <p:txBody>
          <a:bodyPr wrap="square" lIns="18288" rIns="18288" tIns="18288" bIns="18288">
            <a:spAutoFit/>
          </a:bodyPr>
          <a:lstStyle/>
          <a:p>
            <a:pPr algn="ctr">
              <a:lnSpc>
                <a:spcPct val="105000"/>
              </a:lnSpc>
              <a:spcBef>
                <a:spcPts val="0"/>
              </a:spcBef>
              <a:spcAft>
                <a:spcPts val="200"/>
              </a:spcAft>
            </a:pPr>
            <a:r>
              <a:rPr sz="1400" b="1">
                <a:solidFill>
                  <a:srgbClr val="263746"/>
                </a:solidFill>
                <a:latin typeface="Calibri"/>
              </a:rPr>
              <a:t>Compute queue</a:t>
            </a:r>
          </a:p>
        </p:txBody>
      </p:sp>
      <p:sp>
        <p:nvSpPr>
          <p:cNvPr id="23" name="TextBox 22"/>
          <p:cNvSpPr txBox="1"/>
          <p:nvPr/>
        </p:nvSpPr>
        <p:spPr>
          <a:xfrm>
            <a:off x="8001000" y="3419856"/>
            <a:ext cx="256032" cy="320040"/>
          </a:xfrm>
          <a:prstGeom prst="rect">
            <a:avLst/>
          </a:prstGeom>
          <a:noFill/>
        </p:spPr>
        <p:txBody>
          <a:bodyPr wrap="square" lIns="18288" rIns="18288" tIns="18288" bIns="18288">
            <a:spAutoFit/>
          </a:bodyPr>
          <a:lstStyle/>
          <a:p>
            <a:pPr algn="ctr">
              <a:lnSpc>
                <a:spcPct val="105000"/>
              </a:lnSpc>
              <a:spcBef>
                <a:spcPts val="0"/>
              </a:spcBef>
              <a:spcAft>
                <a:spcPts val="200"/>
              </a:spcAft>
            </a:pPr>
            <a:r>
              <a:rPr sz="1900" b="1">
                <a:solidFill>
                  <a:srgbClr val="286B98"/>
                </a:solidFill>
                <a:latin typeface="Calibri"/>
              </a:rPr>
              <a:t>→</a:t>
            </a:r>
          </a:p>
        </p:txBody>
      </p:sp>
      <p:sp>
        <p:nvSpPr>
          <p:cNvPr id="24" name="Rounded Rectangle 23"/>
          <p:cNvSpPr/>
          <p:nvPr/>
        </p:nvSpPr>
        <p:spPr>
          <a:xfrm>
            <a:off x="8247888" y="3273552"/>
            <a:ext cx="1353312" cy="694944"/>
          </a:xfrm>
          <a:prstGeom prst="roundRect">
            <a:avLst/>
          </a:prstGeom>
          <a:solidFill>
            <a:srgbClr val="E8F1F7"/>
          </a:solidFill>
          <a:ln w="12700">
            <a:solidFill>
              <a:srgbClr val="286B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02752" y="3419856"/>
            <a:ext cx="1243584" cy="448056"/>
          </a:xfrm>
          <a:prstGeom prst="rect">
            <a:avLst/>
          </a:prstGeom>
          <a:noFill/>
        </p:spPr>
        <p:txBody>
          <a:bodyPr wrap="square" lIns="18288" rIns="18288" tIns="18288" bIns="18288">
            <a:spAutoFit/>
          </a:bodyPr>
          <a:lstStyle/>
          <a:p>
            <a:pPr algn="ctr">
              <a:lnSpc>
                <a:spcPct val="105000"/>
              </a:lnSpc>
              <a:spcBef>
                <a:spcPts val="0"/>
              </a:spcBef>
              <a:spcAft>
                <a:spcPts val="200"/>
              </a:spcAft>
            </a:pPr>
            <a:r>
              <a:rPr sz="1400" b="1">
                <a:solidFill>
                  <a:srgbClr val="263746"/>
                </a:solidFill>
                <a:latin typeface="Calibri"/>
              </a:rPr>
              <a:t>Ground compute</a:t>
            </a:r>
          </a:p>
        </p:txBody>
      </p:sp>
      <p:sp>
        <p:nvSpPr>
          <p:cNvPr id="26" name="TextBox 25"/>
          <p:cNvSpPr txBox="1"/>
          <p:nvPr/>
        </p:nvSpPr>
        <p:spPr>
          <a:xfrm>
            <a:off x="9610344" y="3419856"/>
            <a:ext cx="256032" cy="320040"/>
          </a:xfrm>
          <a:prstGeom prst="rect">
            <a:avLst/>
          </a:prstGeom>
          <a:noFill/>
        </p:spPr>
        <p:txBody>
          <a:bodyPr wrap="square" lIns="18288" rIns="18288" tIns="18288" bIns="18288">
            <a:spAutoFit/>
          </a:bodyPr>
          <a:lstStyle/>
          <a:p>
            <a:pPr algn="ctr">
              <a:lnSpc>
                <a:spcPct val="105000"/>
              </a:lnSpc>
              <a:spcBef>
                <a:spcPts val="0"/>
              </a:spcBef>
              <a:spcAft>
                <a:spcPts val="200"/>
              </a:spcAft>
            </a:pPr>
            <a:r>
              <a:rPr sz="1900" b="1">
                <a:solidFill>
                  <a:srgbClr val="286B98"/>
                </a:solidFill>
                <a:latin typeface="Calibri"/>
              </a:rPr>
              <a:t>→</a:t>
            </a:r>
          </a:p>
        </p:txBody>
      </p:sp>
      <p:sp>
        <p:nvSpPr>
          <p:cNvPr id="27" name="Rounded Rectangle 26"/>
          <p:cNvSpPr/>
          <p:nvPr/>
        </p:nvSpPr>
        <p:spPr>
          <a:xfrm>
            <a:off x="9857232" y="3273552"/>
            <a:ext cx="1353312" cy="694944"/>
          </a:xfrm>
          <a:prstGeom prst="roundRect">
            <a:avLst/>
          </a:prstGeom>
          <a:solidFill>
            <a:srgbClr val="E8F1F7"/>
          </a:solidFill>
          <a:ln w="12700">
            <a:solidFill>
              <a:srgbClr val="286B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12096" y="3419856"/>
            <a:ext cx="1243584" cy="448056"/>
          </a:xfrm>
          <a:prstGeom prst="rect">
            <a:avLst/>
          </a:prstGeom>
          <a:noFill/>
        </p:spPr>
        <p:txBody>
          <a:bodyPr wrap="square" lIns="18288" rIns="18288" tIns="18288" bIns="18288">
            <a:spAutoFit/>
          </a:bodyPr>
          <a:lstStyle/>
          <a:p>
            <a:pPr algn="ctr">
              <a:lnSpc>
                <a:spcPct val="105000"/>
              </a:lnSpc>
              <a:spcBef>
                <a:spcPts val="0"/>
              </a:spcBef>
              <a:spcAft>
                <a:spcPts val="200"/>
              </a:spcAft>
            </a:pPr>
            <a:r>
              <a:rPr sz="1400" b="1">
                <a:solidFill>
                  <a:srgbClr val="263746"/>
                </a:solidFill>
                <a:latin typeface="Calibri"/>
              </a:rPr>
              <a:t>Delivered output</a:t>
            </a:r>
          </a:p>
        </p:txBody>
      </p:sp>
      <p:sp>
        <p:nvSpPr>
          <p:cNvPr id="29" name="TextBox 28"/>
          <p:cNvSpPr txBox="1"/>
          <p:nvPr/>
        </p:nvSpPr>
        <p:spPr>
          <a:xfrm>
            <a:off x="603504" y="4471416"/>
            <a:ext cx="1115568" cy="393192"/>
          </a:xfrm>
          <a:prstGeom prst="rect">
            <a:avLst/>
          </a:prstGeom>
          <a:noFill/>
        </p:spPr>
        <p:txBody>
          <a:bodyPr wrap="square" lIns="18288" rIns="18288" tIns="18288" bIns="18288">
            <a:spAutoFit/>
          </a:bodyPr>
          <a:lstStyle/>
          <a:p>
            <a:pPr algn="l">
              <a:lnSpc>
                <a:spcPct val="105000"/>
              </a:lnSpc>
              <a:spcBef>
                <a:spcPts val="0"/>
              </a:spcBef>
              <a:spcAft>
                <a:spcPts val="200"/>
              </a:spcAft>
            </a:pPr>
            <a:r>
              <a:rPr sz="1700" b="1">
                <a:solidFill>
                  <a:srgbClr val="71559F"/>
                </a:solidFill>
                <a:latin typeface="Calibri"/>
              </a:rPr>
              <a:t>EDGE</a:t>
            </a:r>
          </a:p>
        </p:txBody>
      </p:sp>
      <p:sp>
        <p:nvSpPr>
          <p:cNvPr id="30" name="Rounded Rectangle 29"/>
          <p:cNvSpPr/>
          <p:nvPr/>
        </p:nvSpPr>
        <p:spPr>
          <a:xfrm>
            <a:off x="1810512" y="4315968"/>
            <a:ext cx="1353312" cy="694944"/>
          </a:xfrm>
          <a:prstGeom prst="roundRect">
            <a:avLst/>
          </a:prstGeom>
          <a:solidFill>
            <a:srgbClr val="EEE8F6"/>
          </a:solidFill>
          <a:ln w="12700">
            <a:solidFill>
              <a:srgbClr val="71559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65376" y="4462272"/>
            <a:ext cx="1243584" cy="448056"/>
          </a:xfrm>
          <a:prstGeom prst="rect">
            <a:avLst/>
          </a:prstGeom>
          <a:noFill/>
        </p:spPr>
        <p:txBody>
          <a:bodyPr wrap="square" lIns="18288" rIns="18288" tIns="18288" bIns="18288">
            <a:spAutoFit/>
          </a:bodyPr>
          <a:lstStyle/>
          <a:p>
            <a:pPr algn="ctr">
              <a:lnSpc>
                <a:spcPct val="105000"/>
              </a:lnSpc>
              <a:spcBef>
                <a:spcPts val="0"/>
              </a:spcBef>
              <a:spcAft>
                <a:spcPts val="200"/>
              </a:spcAft>
            </a:pPr>
            <a:r>
              <a:rPr sz="1400" b="1">
                <a:solidFill>
                  <a:srgbClr val="263746"/>
                </a:solidFill>
                <a:latin typeface="Calibri"/>
              </a:rPr>
              <a:t>Arrival</a:t>
            </a:r>
          </a:p>
        </p:txBody>
      </p:sp>
      <p:sp>
        <p:nvSpPr>
          <p:cNvPr id="32" name="TextBox 31"/>
          <p:cNvSpPr txBox="1"/>
          <p:nvPr/>
        </p:nvSpPr>
        <p:spPr>
          <a:xfrm>
            <a:off x="3172968" y="4462272"/>
            <a:ext cx="256032" cy="320040"/>
          </a:xfrm>
          <a:prstGeom prst="rect">
            <a:avLst/>
          </a:prstGeom>
          <a:noFill/>
        </p:spPr>
        <p:txBody>
          <a:bodyPr wrap="square" lIns="18288" rIns="18288" tIns="18288" bIns="18288">
            <a:spAutoFit/>
          </a:bodyPr>
          <a:lstStyle/>
          <a:p>
            <a:pPr algn="ctr">
              <a:lnSpc>
                <a:spcPct val="105000"/>
              </a:lnSpc>
              <a:spcBef>
                <a:spcPts val="0"/>
              </a:spcBef>
              <a:spcAft>
                <a:spcPts val="200"/>
              </a:spcAft>
            </a:pPr>
            <a:r>
              <a:rPr sz="1900" b="1">
                <a:solidFill>
                  <a:srgbClr val="71559F"/>
                </a:solidFill>
                <a:latin typeface="Calibri"/>
              </a:rPr>
              <a:t>→</a:t>
            </a:r>
          </a:p>
        </p:txBody>
      </p:sp>
      <p:sp>
        <p:nvSpPr>
          <p:cNvPr id="33" name="Rounded Rectangle 32"/>
          <p:cNvSpPr/>
          <p:nvPr/>
        </p:nvSpPr>
        <p:spPr>
          <a:xfrm>
            <a:off x="3419856" y="4315968"/>
            <a:ext cx="1353312" cy="694944"/>
          </a:xfrm>
          <a:prstGeom prst="roundRect">
            <a:avLst/>
          </a:prstGeom>
          <a:solidFill>
            <a:srgbClr val="EEE8F6"/>
          </a:solidFill>
          <a:ln w="12700">
            <a:solidFill>
              <a:srgbClr val="71559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74720" y="4462272"/>
            <a:ext cx="1243584" cy="448056"/>
          </a:xfrm>
          <a:prstGeom prst="rect">
            <a:avLst/>
          </a:prstGeom>
          <a:noFill/>
        </p:spPr>
        <p:txBody>
          <a:bodyPr wrap="square" lIns="18288" rIns="18288" tIns="18288" bIns="18288">
            <a:spAutoFit/>
          </a:bodyPr>
          <a:lstStyle/>
          <a:p>
            <a:pPr algn="ctr">
              <a:lnSpc>
                <a:spcPct val="105000"/>
              </a:lnSpc>
              <a:spcBef>
                <a:spcPts val="0"/>
              </a:spcBef>
              <a:spcAft>
                <a:spcPts val="200"/>
              </a:spcAft>
            </a:pPr>
            <a:r>
              <a:rPr sz="1400" b="1">
                <a:solidFill>
                  <a:srgbClr val="263746"/>
                </a:solidFill>
                <a:latin typeface="Calibri"/>
              </a:rPr>
              <a:t>Compute queue</a:t>
            </a:r>
          </a:p>
        </p:txBody>
      </p:sp>
      <p:sp>
        <p:nvSpPr>
          <p:cNvPr id="35" name="TextBox 34"/>
          <p:cNvSpPr txBox="1"/>
          <p:nvPr/>
        </p:nvSpPr>
        <p:spPr>
          <a:xfrm>
            <a:off x="4782312" y="4462272"/>
            <a:ext cx="256032" cy="320040"/>
          </a:xfrm>
          <a:prstGeom prst="rect">
            <a:avLst/>
          </a:prstGeom>
          <a:noFill/>
        </p:spPr>
        <p:txBody>
          <a:bodyPr wrap="square" lIns="18288" rIns="18288" tIns="18288" bIns="18288">
            <a:spAutoFit/>
          </a:bodyPr>
          <a:lstStyle/>
          <a:p>
            <a:pPr algn="ctr">
              <a:lnSpc>
                <a:spcPct val="105000"/>
              </a:lnSpc>
              <a:spcBef>
                <a:spcPts val="0"/>
              </a:spcBef>
              <a:spcAft>
                <a:spcPts val="200"/>
              </a:spcAft>
            </a:pPr>
            <a:r>
              <a:rPr sz="1900" b="1">
                <a:solidFill>
                  <a:srgbClr val="71559F"/>
                </a:solidFill>
                <a:latin typeface="Calibri"/>
              </a:rPr>
              <a:t>→</a:t>
            </a:r>
          </a:p>
        </p:txBody>
      </p:sp>
      <p:sp>
        <p:nvSpPr>
          <p:cNvPr id="36" name="Rounded Rectangle 35"/>
          <p:cNvSpPr/>
          <p:nvPr/>
        </p:nvSpPr>
        <p:spPr>
          <a:xfrm>
            <a:off x="5029200" y="4315968"/>
            <a:ext cx="1353312" cy="694944"/>
          </a:xfrm>
          <a:prstGeom prst="roundRect">
            <a:avLst/>
          </a:prstGeom>
          <a:solidFill>
            <a:srgbClr val="EEE8F6"/>
          </a:solidFill>
          <a:ln w="12700">
            <a:solidFill>
              <a:srgbClr val="71559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84064" y="4462272"/>
            <a:ext cx="1243584" cy="448056"/>
          </a:xfrm>
          <a:prstGeom prst="rect">
            <a:avLst/>
          </a:prstGeom>
          <a:noFill/>
        </p:spPr>
        <p:txBody>
          <a:bodyPr wrap="square" lIns="18288" rIns="18288" tIns="18288" bIns="18288">
            <a:spAutoFit/>
          </a:bodyPr>
          <a:lstStyle/>
          <a:p>
            <a:pPr algn="ctr">
              <a:lnSpc>
                <a:spcPct val="105000"/>
              </a:lnSpc>
              <a:spcBef>
                <a:spcPts val="0"/>
              </a:spcBef>
              <a:spcAft>
                <a:spcPts val="200"/>
              </a:spcAft>
            </a:pPr>
            <a:r>
              <a:rPr sz="1400" b="1">
                <a:solidFill>
                  <a:srgbClr val="263746"/>
                </a:solidFill>
                <a:latin typeface="Calibri"/>
              </a:rPr>
              <a:t>Onboard compute</a:t>
            </a:r>
          </a:p>
        </p:txBody>
      </p:sp>
      <p:sp>
        <p:nvSpPr>
          <p:cNvPr id="38" name="TextBox 37"/>
          <p:cNvSpPr txBox="1"/>
          <p:nvPr/>
        </p:nvSpPr>
        <p:spPr>
          <a:xfrm>
            <a:off x="6391656" y="4462272"/>
            <a:ext cx="256032" cy="320040"/>
          </a:xfrm>
          <a:prstGeom prst="rect">
            <a:avLst/>
          </a:prstGeom>
          <a:noFill/>
        </p:spPr>
        <p:txBody>
          <a:bodyPr wrap="square" lIns="18288" rIns="18288" tIns="18288" bIns="18288">
            <a:spAutoFit/>
          </a:bodyPr>
          <a:lstStyle/>
          <a:p>
            <a:pPr algn="ctr">
              <a:lnSpc>
                <a:spcPct val="105000"/>
              </a:lnSpc>
              <a:spcBef>
                <a:spcPts val="0"/>
              </a:spcBef>
              <a:spcAft>
                <a:spcPts val="200"/>
              </a:spcAft>
            </a:pPr>
            <a:r>
              <a:rPr sz="1900" b="1">
                <a:solidFill>
                  <a:srgbClr val="71559F"/>
                </a:solidFill>
                <a:latin typeface="Calibri"/>
              </a:rPr>
              <a:t>→</a:t>
            </a:r>
          </a:p>
        </p:txBody>
      </p:sp>
      <p:sp>
        <p:nvSpPr>
          <p:cNvPr id="39" name="Rounded Rectangle 38"/>
          <p:cNvSpPr/>
          <p:nvPr/>
        </p:nvSpPr>
        <p:spPr>
          <a:xfrm>
            <a:off x="6638544" y="4315968"/>
            <a:ext cx="1353312" cy="694944"/>
          </a:xfrm>
          <a:prstGeom prst="roundRect">
            <a:avLst/>
          </a:prstGeom>
          <a:solidFill>
            <a:srgbClr val="EEE8F6"/>
          </a:solidFill>
          <a:ln w="12700">
            <a:solidFill>
              <a:srgbClr val="71559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93407" y="4462272"/>
            <a:ext cx="1243584" cy="448056"/>
          </a:xfrm>
          <a:prstGeom prst="rect">
            <a:avLst/>
          </a:prstGeom>
          <a:noFill/>
        </p:spPr>
        <p:txBody>
          <a:bodyPr wrap="square" lIns="18288" rIns="18288" tIns="18288" bIns="18288">
            <a:spAutoFit/>
          </a:bodyPr>
          <a:lstStyle/>
          <a:p>
            <a:pPr algn="ctr">
              <a:lnSpc>
                <a:spcPct val="105000"/>
              </a:lnSpc>
              <a:spcBef>
                <a:spcPts val="0"/>
              </a:spcBef>
              <a:spcAft>
                <a:spcPts val="200"/>
              </a:spcAft>
            </a:pPr>
            <a:r>
              <a:rPr sz="1400" b="1">
                <a:solidFill>
                  <a:srgbClr val="263746"/>
                </a:solidFill>
                <a:latin typeface="Calibri"/>
              </a:rPr>
              <a:t>Link queue</a:t>
            </a:r>
          </a:p>
        </p:txBody>
      </p:sp>
      <p:sp>
        <p:nvSpPr>
          <p:cNvPr id="41" name="TextBox 40"/>
          <p:cNvSpPr txBox="1"/>
          <p:nvPr/>
        </p:nvSpPr>
        <p:spPr>
          <a:xfrm>
            <a:off x="8001000" y="4462272"/>
            <a:ext cx="256032" cy="320040"/>
          </a:xfrm>
          <a:prstGeom prst="rect">
            <a:avLst/>
          </a:prstGeom>
          <a:noFill/>
        </p:spPr>
        <p:txBody>
          <a:bodyPr wrap="square" lIns="18288" rIns="18288" tIns="18288" bIns="18288">
            <a:spAutoFit/>
          </a:bodyPr>
          <a:lstStyle/>
          <a:p>
            <a:pPr algn="ctr">
              <a:lnSpc>
                <a:spcPct val="105000"/>
              </a:lnSpc>
              <a:spcBef>
                <a:spcPts val="0"/>
              </a:spcBef>
              <a:spcAft>
                <a:spcPts val="200"/>
              </a:spcAft>
            </a:pPr>
            <a:r>
              <a:rPr sz="1900" b="1">
                <a:solidFill>
                  <a:srgbClr val="71559F"/>
                </a:solidFill>
                <a:latin typeface="Calibri"/>
              </a:rPr>
              <a:t>→</a:t>
            </a:r>
          </a:p>
        </p:txBody>
      </p:sp>
      <p:sp>
        <p:nvSpPr>
          <p:cNvPr id="42" name="Rounded Rectangle 41"/>
          <p:cNvSpPr/>
          <p:nvPr/>
        </p:nvSpPr>
        <p:spPr>
          <a:xfrm>
            <a:off x="8247888" y="4315968"/>
            <a:ext cx="1353312" cy="694944"/>
          </a:xfrm>
          <a:prstGeom prst="roundRect">
            <a:avLst/>
          </a:prstGeom>
          <a:solidFill>
            <a:srgbClr val="EEE8F6"/>
          </a:solidFill>
          <a:ln w="12700">
            <a:solidFill>
              <a:srgbClr val="71559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02752" y="4462272"/>
            <a:ext cx="1243584" cy="448056"/>
          </a:xfrm>
          <a:prstGeom prst="rect">
            <a:avLst/>
          </a:prstGeom>
          <a:noFill/>
        </p:spPr>
        <p:txBody>
          <a:bodyPr wrap="square" lIns="18288" rIns="18288" tIns="18288" bIns="18288">
            <a:spAutoFit/>
          </a:bodyPr>
          <a:lstStyle/>
          <a:p>
            <a:pPr algn="ctr">
              <a:lnSpc>
                <a:spcPct val="105000"/>
              </a:lnSpc>
              <a:spcBef>
                <a:spcPts val="0"/>
              </a:spcBef>
              <a:spcAft>
                <a:spcPts val="200"/>
              </a:spcAft>
            </a:pPr>
            <a:r>
              <a:rPr sz="1400" b="1">
                <a:solidFill>
                  <a:srgbClr val="263746"/>
                </a:solidFill>
                <a:latin typeface="Calibri"/>
              </a:rPr>
              <a:t>Reduced downlink</a:t>
            </a:r>
          </a:p>
        </p:txBody>
      </p:sp>
      <p:sp>
        <p:nvSpPr>
          <p:cNvPr id="44" name="TextBox 43"/>
          <p:cNvSpPr txBox="1"/>
          <p:nvPr/>
        </p:nvSpPr>
        <p:spPr>
          <a:xfrm>
            <a:off x="9610344" y="4462272"/>
            <a:ext cx="256032" cy="320040"/>
          </a:xfrm>
          <a:prstGeom prst="rect">
            <a:avLst/>
          </a:prstGeom>
          <a:noFill/>
        </p:spPr>
        <p:txBody>
          <a:bodyPr wrap="square" lIns="18288" rIns="18288" tIns="18288" bIns="18288">
            <a:spAutoFit/>
          </a:bodyPr>
          <a:lstStyle/>
          <a:p>
            <a:pPr algn="ctr">
              <a:lnSpc>
                <a:spcPct val="105000"/>
              </a:lnSpc>
              <a:spcBef>
                <a:spcPts val="0"/>
              </a:spcBef>
              <a:spcAft>
                <a:spcPts val="200"/>
              </a:spcAft>
            </a:pPr>
            <a:r>
              <a:rPr sz="1900" b="1">
                <a:solidFill>
                  <a:srgbClr val="71559F"/>
                </a:solidFill>
                <a:latin typeface="Calibri"/>
              </a:rPr>
              <a:t>→</a:t>
            </a:r>
          </a:p>
        </p:txBody>
      </p:sp>
      <p:sp>
        <p:nvSpPr>
          <p:cNvPr id="45" name="Rounded Rectangle 44"/>
          <p:cNvSpPr/>
          <p:nvPr/>
        </p:nvSpPr>
        <p:spPr>
          <a:xfrm>
            <a:off x="9857232" y="4315968"/>
            <a:ext cx="1353312" cy="694944"/>
          </a:xfrm>
          <a:prstGeom prst="roundRect">
            <a:avLst/>
          </a:prstGeom>
          <a:solidFill>
            <a:srgbClr val="EEE8F6"/>
          </a:solidFill>
          <a:ln w="12700">
            <a:solidFill>
              <a:srgbClr val="71559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912096" y="4462272"/>
            <a:ext cx="1243584" cy="448056"/>
          </a:xfrm>
          <a:prstGeom prst="rect">
            <a:avLst/>
          </a:prstGeom>
          <a:noFill/>
        </p:spPr>
        <p:txBody>
          <a:bodyPr wrap="square" lIns="18288" rIns="18288" tIns="18288" bIns="18288">
            <a:spAutoFit/>
          </a:bodyPr>
          <a:lstStyle/>
          <a:p>
            <a:pPr algn="ctr">
              <a:lnSpc>
                <a:spcPct val="105000"/>
              </a:lnSpc>
              <a:spcBef>
                <a:spcPts val="0"/>
              </a:spcBef>
              <a:spcAft>
                <a:spcPts val="200"/>
              </a:spcAft>
            </a:pPr>
            <a:r>
              <a:rPr sz="1400" b="1">
                <a:solidFill>
                  <a:srgbClr val="263746"/>
                </a:solidFill>
                <a:latin typeface="Calibri"/>
              </a:rPr>
              <a:t>Delivered output</a:t>
            </a:r>
          </a:p>
        </p:txBody>
      </p:sp>
      <p:sp>
        <p:nvSpPr>
          <p:cNvPr id="47" name="TextBox 46"/>
          <p:cNvSpPr txBox="1"/>
          <p:nvPr/>
        </p:nvSpPr>
        <p:spPr>
          <a:xfrm>
            <a:off x="640080" y="5166360"/>
            <a:ext cx="10881360" cy="292608"/>
          </a:xfrm>
          <a:prstGeom prst="rect">
            <a:avLst/>
          </a:prstGeom>
          <a:noFill/>
        </p:spPr>
        <p:txBody>
          <a:bodyPr wrap="square" lIns="18288" rIns="18288" tIns="18288" bIns="18288">
            <a:spAutoFit/>
          </a:bodyPr>
          <a:lstStyle/>
          <a:p>
            <a:pPr algn="l">
              <a:lnSpc>
                <a:spcPct val="105000"/>
              </a:lnSpc>
              <a:spcBef>
                <a:spcPts val="0"/>
              </a:spcBef>
              <a:spcAft>
                <a:spcPts val="200"/>
              </a:spcAft>
            </a:pPr>
            <a:r>
              <a:rPr sz="1300" b="0">
                <a:solidFill>
                  <a:srgbClr val="576573"/>
                </a:solidFill>
                <a:latin typeface="Calibri"/>
              </a:rPr>
              <a:t>Compare recorded latency, queue delay and defined service measures. Effect-size thresholds and final statistical tests remain for advisor review.</a:t>
            </a:r>
          </a:p>
        </p:txBody>
      </p:sp>
      <p:sp>
        <p:nvSpPr>
          <p:cNvPr id="48" name="TextBox 47"/>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14 of 29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32"/>
          <p:cNvSpPr txBox="1">
            <a:spLocks noGrp="1"/>
          </p:cNvSpPr>
          <p:nvPr>
            <p:ph type="title"/>
          </p:nvPr>
        </p:nvSpPr>
        <p:spPr>
          <a:xfrm>
            <a:off x="483495" y="316733"/>
            <a:ext cx="7756263" cy="593766"/>
          </a:xfrm>
          <a:prstGeom prst="rect">
            <a:avLst/>
          </a:prstGeom>
          <a:noFill/>
          <a:ln>
            <a:noFill/>
          </a:ln>
        </p:spPr>
        <p:txBody>
          <a:bodyPr spcFirstLastPara="1" wrap="square" lIns="91425" tIns="45700" rIns="91425" bIns="45700" anchor="t" anchorCtr="0">
            <a:normAutofit fontScale="90000"/>
          </a:bodyPr>
          <a:lstStyle/>
          <a:p>
            <a:pPr marL="0" lvl="0" indent="0" algn="l" rtl="0">
              <a:spcBef>
                <a:spcPts val="0"/>
              </a:spcBef>
              <a:spcAft>
                <a:spcPts val="0"/>
              </a:spcAft>
              <a:buClr>
                <a:srgbClr val="3F3F3F"/>
              </a:buClr>
              <a:buSzPct val="100000"/>
              <a:buFont typeface="Arial"/>
              <a:buNone/>
            </a:pPr>
            <a:r>
              <a:rPr lang="en-US" sz="3600"/>
              <a:t>5 Foundational References</a:t>
            </a:r>
            <a:endParaRPr/>
          </a:p>
        </p:txBody>
      </p:sp>
      <p:sp>
        <p:nvSpPr>
          <p:cNvPr id="196" name="Google Shape;196;p32"/>
          <p:cNvSpPr/>
          <p:nvPr/>
        </p:nvSpPr>
        <p:spPr>
          <a:xfrm>
            <a:off x="585216" y="1051560"/>
            <a:ext cx="10991088" cy="169726"/>
          </a:xfrm>
          <a:prstGeom prst="rect">
            <a:avLst/>
          </a:prstGeom>
          <a:solidFill>
            <a:srgbClr val="E7EEF3"/>
          </a:solid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000000"/>
              </a:buClr>
              <a:buSzPts val="1000"/>
              <a:buFont typeface="Times New Roman"/>
              <a:buNone/>
            </a:pPr>
            <a:r>
              <a:rPr lang="en-US" sz="1000" b="1">
                <a:solidFill>
                  <a:srgbClr val="000000"/>
                </a:solidFill>
                <a:latin typeface="Times New Roman"/>
                <a:ea typeface="Times New Roman"/>
                <a:cs typeface="Times New Roman"/>
                <a:sym typeface="Times New Roman"/>
              </a:rPr>
              <a:t>EXTERNAL REFERENCE - slides 9–13</a:t>
            </a:r>
            <a:endParaRPr/>
          </a:p>
        </p:txBody>
      </p:sp>
      <p:graphicFrame>
        <p:nvGraphicFramePr>
          <p:cNvPr id="197" name="Google Shape;197;p32"/>
          <p:cNvGraphicFramePr/>
          <p:nvPr>
            <p:extLst>
              <p:ext uri="{D42A27DB-BD31-4B8C-83A1-F6EECF244321}">
                <p14:modId xmlns:p14="http://schemas.microsoft.com/office/powerpoint/2010/main" val="2014247529"/>
              </p:ext>
            </p:extLst>
          </p:nvPr>
        </p:nvGraphicFramePr>
        <p:xfrm>
          <a:off x="585216" y="1463040"/>
          <a:ext cx="10991100" cy="3438175"/>
        </p:xfrm>
        <a:graphic>
          <a:graphicData uri="http://schemas.openxmlformats.org/drawingml/2006/table">
            <a:tbl>
              <a:tblPr firstRow="1" bandRow="1">
                <a:noFill/>
                <a:tableStyleId>{3C1EB017-BC45-4DEE-9ABB-B4D90C79D28D}</a:tableStyleId>
              </a:tblPr>
              <a:tblGrid>
                <a:gridCol w="8229600">
                  <a:extLst>
                    <a:ext uri="{9D8B030D-6E8A-4147-A177-3AD203B41FA5}">
                      <a16:colId xmlns:a16="http://schemas.microsoft.com/office/drawing/2014/main" val="20000"/>
                    </a:ext>
                  </a:extLst>
                </a:gridCol>
                <a:gridCol w="2761500">
                  <a:extLst>
                    <a:ext uri="{9D8B030D-6E8A-4147-A177-3AD203B41FA5}">
                      <a16:colId xmlns:a16="http://schemas.microsoft.com/office/drawing/2014/main" val="20001"/>
                    </a:ext>
                  </a:extLst>
                </a:gridCol>
              </a:tblGrid>
              <a:tr h="320050">
                <a:tc>
                  <a:txBody>
                    <a:bodyPr/>
                    <a:lstStyle/>
                    <a:p>
                      <a:pPr marL="0" marR="0" lvl="0" indent="0" algn="l" rtl="0">
                        <a:spcBef>
                          <a:spcPts val="0"/>
                        </a:spcBef>
                        <a:spcAft>
                          <a:spcPts val="0"/>
                        </a:spcAft>
                        <a:buClr>
                          <a:srgbClr val="000000"/>
                        </a:buClr>
                        <a:buSzPts val="800"/>
                        <a:buFont typeface="Times New Roman"/>
                        <a:buNone/>
                      </a:pPr>
                      <a:r>
                        <a:rPr lang="en-US" sz="1200" b="1" u="none" strike="noStrike" cap="none">
                          <a:solidFill>
                            <a:srgbClr val="000000"/>
                          </a:solidFill>
                          <a:latin typeface="Times New Roman"/>
                          <a:ea typeface="Times New Roman"/>
                          <a:cs typeface="Times New Roman"/>
                          <a:sym typeface="Times New Roman"/>
                        </a:rPr>
                        <a:t>Foundational / Domestic Sources</a:t>
                      </a:r>
                      <a:endParaRPr sz="2800"/>
                    </a:p>
                  </a:txBody>
                  <a:tcPr marL="68575" marR="68575" marT="36575" marB="22850" anchor="ctr">
                    <a:solidFill>
                      <a:srgbClr val="E7EEF3"/>
                    </a:solidFill>
                  </a:tcPr>
                </a:tc>
                <a:tc>
                  <a:txBody>
                    <a:bodyPr/>
                    <a:lstStyle/>
                    <a:p>
                      <a:pPr marL="0" marR="0" lvl="0" indent="0" algn="l" rtl="0">
                        <a:lnSpc>
                          <a:spcPct val="103000"/>
                        </a:lnSpc>
                        <a:spcBef>
                          <a:spcPts val="0"/>
                        </a:spcBef>
                        <a:spcAft>
                          <a:spcPts val="0"/>
                        </a:spcAft>
                        <a:buClr>
                          <a:srgbClr val="000000"/>
                        </a:buClr>
                        <a:buSzPts val="800"/>
                        <a:buFont typeface="Times New Roman"/>
                        <a:buNone/>
                      </a:pPr>
                      <a:r>
                        <a:rPr lang="en-US" sz="1200" b="1">
                          <a:solidFill>
                            <a:srgbClr val="000000"/>
                          </a:solidFill>
                          <a:latin typeface="Times New Roman"/>
                          <a:ea typeface="Times New Roman"/>
                          <a:cs typeface="Times New Roman"/>
                          <a:sym typeface="Times New Roman"/>
                        </a:rPr>
                        <a:t>Stated role in the Praxis</a:t>
                      </a:r>
                      <a:endParaRPr sz="2800"/>
                    </a:p>
                  </a:txBody>
                  <a:tcPr marL="68575" marR="68575" marT="36575" marB="22850" anchor="ctr">
                    <a:solidFill>
                      <a:srgbClr val="E7EEF3"/>
                    </a:solidFill>
                  </a:tcPr>
                </a:tc>
                <a:extLst>
                  <a:ext uri="{0D108BD9-81ED-4DB2-BD59-A6C34878D82A}">
                    <a16:rowId xmlns:a16="http://schemas.microsoft.com/office/drawing/2014/main" val="10000"/>
                  </a:ext>
                </a:extLst>
              </a:tr>
              <a:tr h="777250">
                <a:tc>
                  <a:txBody>
                    <a:bodyPr/>
                    <a:lstStyle/>
                    <a:p>
                      <a:pPr marL="0" marR="0" lvl="0" indent="0" algn="l" rtl="0">
                        <a:lnSpc>
                          <a:spcPct val="103000"/>
                        </a:lnSpc>
                        <a:spcBef>
                          <a:spcPts val="0"/>
                        </a:spcBef>
                        <a:spcAft>
                          <a:spcPts val="0"/>
                        </a:spcAft>
                        <a:buClr>
                          <a:srgbClr val="000000"/>
                        </a:buClr>
                        <a:buSzPts val="680"/>
                        <a:buFont typeface="Times New Roman"/>
                        <a:buNone/>
                      </a:pPr>
                      <a:r>
                        <a:rPr lang="en-US" sz="1100" b="0" dirty="0">
                          <a:solidFill>
                            <a:srgbClr val="000000"/>
                          </a:solidFill>
                          <a:latin typeface="Times New Roman"/>
                          <a:ea typeface="Times New Roman"/>
                          <a:cs typeface="Times New Roman"/>
                          <a:sym typeface="Times New Roman"/>
                        </a:rPr>
                        <a:t>Osoba, O. A., </a:t>
                      </a:r>
                      <a:r>
                        <a:rPr lang="en-US" sz="1100" b="0" dirty="0" err="1">
                          <a:solidFill>
                            <a:srgbClr val="000000"/>
                          </a:solidFill>
                          <a:latin typeface="Times New Roman"/>
                          <a:ea typeface="Times New Roman"/>
                          <a:cs typeface="Times New Roman"/>
                          <a:sym typeface="Times New Roman"/>
                        </a:rPr>
                        <a:t>Nacouzi</a:t>
                      </a:r>
                      <a:r>
                        <a:rPr lang="en-US" sz="1100" b="0" dirty="0">
                          <a:solidFill>
                            <a:srgbClr val="000000"/>
                          </a:solidFill>
                          <a:latin typeface="Times New Roman"/>
                          <a:ea typeface="Times New Roman"/>
                          <a:cs typeface="Times New Roman"/>
                          <a:sym typeface="Times New Roman"/>
                        </a:rPr>
                        <a:t>, G., Hagen, J., Tran, J., Zhang, L. A., Herron, M., Lynch, C., Eisman, M., &amp; Barton, C. (2023). The resilience assessment framework: Assessing commercial contributions to U.S. Space Force mission resilience (RR-A980-1). RAND Corporation. https://doi.org/10.7249/RRA980-1 https://www.rand.org/content/dam/rand/pubs/research_reports/RRA900/RRA980-1/RAND_RRA980-1.pdf</a:t>
                      </a:r>
                      <a:endParaRPr sz="2800" dirty="0"/>
                    </a:p>
                  </a:txBody>
                  <a:tcPr marL="68575" marR="68575" marT="36575" marB="22850" anchor="ctr">
                    <a:solidFill>
                      <a:srgbClr val="FFFFFF"/>
                    </a:solidFill>
                  </a:tcPr>
                </a:tc>
                <a:tc>
                  <a:txBody>
                    <a:bodyPr/>
                    <a:lstStyle/>
                    <a:p>
                      <a:pPr marL="0" marR="0" lvl="0" indent="0" algn="l" rtl="0">
                        <a:lnSpc>
                          <a:spcPct val="103000"/>
                        </a:lnSpc>
                        <a:spcBef>
                          <a:spcPts val="0"/>
                        </a:spcBef>
                        <a:spcAft>
                          <a:spcPts val="0"/>
                        </a:spcAft>
                        <a:buClr>
                          <a:srgbClr val="000000"/>
                        </a:buClr>
                        <a:buSzPts val="730"/>
                        <a:buFont typeface="Times New Roman"/>
                        <a:buNone/>
                      </a:pPr>
                      <a:r>
                        <a:rPr lang="en-US" sz="1100" b="0">
                          <a:solidFill>
                            <a:srgbClr val="000000"/>
                          </a:solidFill>
                          <a:latin typeface="Times New Roman"/>
                          <a:ea typeface="Times New Roman"/>
                          <a:cs typeface="Times New Roman"/>
                          <a:sym typeface="Times New Roman"/>
                        </a:rPr>
                        <a:t>Resilience assessment and degraded-performance comparison.</a:t>
                      </a:r>
                      <a:endParaRPr sz="2800"/>
                    </a:p>
                  </a:txBody>
                  <a:tcPr marL="68575" marR="68575" marT="36575" marB="22850" anchor="ctr">
                    <a:solidFill>
                      <a:srgbClr val="FFFFFF"/>
                    </a:solidFill>
                  </a:tcPr>
                </a:tc>
                <a:extLst>
                  <a:ext uri="{0D108BD9-81ED-4DB2-BD59-A6C34878D82A}">
                    <a16:rowId xmlns:a16="http://schemas.microsoft.com/office/drawing/2014/main" val="10001"/>
                  </a:ext>
                </a:extLst>
              </a:tr>
              <a:tr h="685800">
                <a:tc>
                  <a:txBody>
                    <a:bodyPr/>
                    <a:lstStyle/>
                    <a:p>
                      <a:pPr marL="0" marR="0" lvl="0" indent="0" algn="l" rtl="0">
                        <a:lnSpc>
                          <a:spcPct val="103000"/>
                        </a:lnSpc>
                        <a:spcBef>
                          <a:spcPts val="0"/>
                        </a:spcBef>
                        <a:spcAft>
                          <a:spcPts val="0"/>
                        </a:spcAft>
                        <a:buClr>
                          <a:srgbClr val="000000"/>
                        </a:buClr>
                        <a:buSzPts val="680"/>
                        <a:buFont typeface="Times New Roman"/>
                        <a:buNone/>
                      </a:pPr>
                      <a:r>
                        <a:rPr lang="en-US" sz="1100" b="0" dirty="0">
                          <a:solidFill>
                            <a:srgbClr val="000000"/>
                          </a:solidFill>
                          <a:latin typeface="Times New Roman"/>
                          <a:ea typeface="Times New Roman"/>
                          <a:cs typeface="Times New Roman"/>
                          <a:sym typeface="Times New Roman"/>
                        </a:rPr>
                        <a:t>National Aeronautics and Space Administration. (2013). Space Communications and Navigation (</a:t>
                      </a:r>
                      <a:r>
                        <a:rPr lang="en-US" sz="1100" b="0" dirty="0" err="1">
                          <a:solidFill>
                            <a:srgbClr val="000000"/>
                          </a:solidFill>
                          <a:latin typeface="Times New Roman"/>
                          <a:ea typeface="Times New Roman"/>
                          <a:cs typeface="Times New Roman"/>
                          <a:sym typeface="Times New Roman"/>
                        </a:rPr>
                        <a:t>SCaN</a:t>
                      </a:r>
                      <a:r>
                        <a:rPr lang="en-US" sz="1100" b="0" dirty="0">
                          <a:solidFill>
                            <a:srgbClr val="000000"/>
                          </a:solidFill>
                          <a:latin typeface="Times New Roman"/>
                          <a:ea typeface="Times New Roman"/>
                          <a:cs typeface="Times New Roman"/>
                          <a:sym typeface="Times New Roman"/>
                        </a:rPr>
                        <a:t>) Network Architecture Definition Document (ADD) Executive Summary, Volume 1, Revision 4. NASA. (https://www.nasa.gov/wp-content/uploads/2023/09/scan-add-vol1rev4.pdf)</a:t>
                      </a:r>
                      <a:endParaRPr sz="2800" dirty="0"/>
                    </a:p>
                  </a:txBody>
                  <a:tcPr marL="68575" marR="68575" marT="36575" marB="22850" anchor="ctr">
                    <a:solidFill>
                      <a:srgbClr val="F6F8FA"/>
                    </a:solidFill>
                  </a:tcPr>
                </a:tc>
                <a:tc>
                  <a:txBody>
                    <a:bodyPr/>
                    <a:lstStyle/>
                    <a:p>
                      <a:pPr marL="0" marR="0" lvl="0" indent="0" algn="l" rtl="0">
                        <a:spcBef>
                          <a:spcPts val="0"/>
                        </a:spcBef>
                        <a:spcAft>
                          <a:spcPts val="0"/>
                        </a:spcAft>
                        <a:buClr>
                          <a:srgbClr val="000000"/>
                        </a:buClr>
                        <a:buSzPts val="730"/>
                        <a:buFont typeface="Times New Roman"/>
                        <a:buNone/>
                      </a:pPr>
                      <a:r>
                        <a:rPr lang="en-US" sz="1100" b="0">
                          <a:solidFill>
                            <a:srgbClr val="000000"/>
                          </a:solidFill>
                          <a:latin typeface="Times New Roman"/>
                          <a:ea typeface="Times New Roman"/>
                          <a:cs typeface="Times New Roman"/>
                          <a:sym typeface="Times New Roman"/>
                        </a:rPr>
                        <a:t>Ground-station and relay-network architecture; not live performance data.</a:t>
                      </a:r>
                      <a:endParaRPr sz="2800"/>
                    </a:p>
                  </a:txBody>
                  <a:tcPr marL="68575" marR="68575" marT="36575" marB="22850" anchor="ctr">
                    <a:solidFill>
                      <a:srgbClr val="F6F8FA"/>
                    </a:solidFill>
                  </a:tcPr>
                </a:tc>
                <a:extLst>
                  <a:ext uri="{0D108BD9-81ED-4DB2-BD59-A6C34878D82A}">
                    <a16:rowId xmlns:a16="http://schemas.microsoft.com/office/drawing/2014/main" val="10002"/>
                  </a:ext>
                </a:extLst>
              </a:tr>
              <a:tr h="585225">
                <a:tc>
                  <a:txBody>
                    <a:bodyPr/>
                    <a:lstStyle/>
                    <a:p>
                      <a:pPr marL="0" marR="0" lvl="0" indent="0" algn="l" rtl="0">
                        <a:lnSpc>
                          <a:spcPct val="103000"/>
                        </a:lnSpc>
                        <a:spcBef>
                          <a:spcPts val="0"/>
                        </a:spcBef>
                        <a:spcAft>
                          <a:spcPts val="0"/>
                        </a:spcAft>
                        <a:buClr>
                          <a:srgbClr val="000000"/>
                        </a:buClr>
                        <a:buSzPts val="680"/>
                        <a:buFont typeface="Times New Roman"/>
                        <a:buNone/>
                      </a:pPr>
                      <a:r>
                        <a:rPr lang="en-US" sz="1100" b="0">
                          <a:solidFill>
                            <a:srgbClr val="000000"/>
                          </a:solidFill>
                          <a:latin typeface="Times New Roman"/>
                          <a:ea typeface="Times New Roman"/>
                          <a:cs typeface="Times New Roman"/>
                          <a:sym typeface="Times New Roman"/>
                        </a:rPr>
                        <a:t>Kodheli, O., Lagunas, E., Maturo, N., et al. (2021). Satellite communications in the new space era: A survey and future challenges. IEEE Communications Surveys &amp; Tutorials, 23, 70–109. https://ieeexplore.ieee.org/document/9210567</a:t>
                      </a:r>
                      <a:endParaRPr sz="2800"/>
                    </a:p>
                  </a:txBody>
                  <a:tcPr marL="68575" marR="68575" marT="36575" marB="22850" anchor="ctr">
                    <a:solidFill>
                      <a:srgbClr val="FFFFFF"/>
                    </a:solidFill>
                  </a:tcPr>
                </a:tc>
                <a:tc>
                  <a:txBody>
                    <a:bodyPr/>
                    <a:lstStyle/>
                    <a:p>
                      <a:pPr marL="0" marR="0" lvl="0" indent="0" algn="l" rtl="0">
                        <a:lnSpc>
                          <a:spcPct val="103000"/>
                        </a:lnSpc>
                        <a:spcBef>
                          <a:spcPts val="0"/>
                        </a:spcBef>
                        <a:spcAft>
                          <a:spcPts val="0"/>
                        </a:spcAft>
                        <a:buClr>
                          <a:srgbClr val="000000"/>
                        </a:buClr>
                        <a:buSzPts val="730"/>
                        <a:buFont typeface="Times New Roman"/>
                        <a:buNone/>
                      </a:pPr>
                      <a:r>
                        <a:rPr lang="en-US" sz="1100" b="0">
                          <a:solidFill>
                            <a:srgbClr val="000000"/>
                          </a:solidFill>
                          <a:latin typeface="Times New Roman"/>
                          <a:ea typeface="Times New Roman"/>
                          <a:cs typeface="Times New Roman"/>
                          <a:sym typeface="Times New Roman"/>
                        </a:rPr>
                        <a:t>Satellite communications survey and onboard-processing context.</a:t>
                      </a:r>
                      <a:endParaRPr sz="2800"/>
                    </a:p>
                  </a:txBody>
                  <a:tcPr marL="68575" marR="68575" marT="36575" marB="22850" anchor="ctr">
                    <a:solidFill>
                      <a:srgbClr val="FFFFFF"/>
                    </a:solidFill>
                  </a:tcPr>
                </a:tc>
                <a:extLst>
                  <a:ext uri="{0D108BD9-81ED-4DB2-BD59-A6C34878D82A}">
                    <a16:rowId xmlns:a16="http://schemas.microsoft.com/office/drawing/2014/main" val="10003"/>
                  </a:ext>
                </a:extLst>
              </a:tr>
              <a:tr h="475500">
                <a:tc>
                  <a:txBody>
                    <a:bodyPr/>
                    <a:lstStyle/>
                    <a:p>
                      <a:pPr marL="0" marR="0" lvl="0" indent="0" algn="l" rtl="0">
                        <a:lnSpc>
                          <a:spcPct val="103000"/>
                        </a:lnSpc>
                        <a:spcBef>
                          <a:spcPts val="0"/>
                        </a:spcBef>
                        <a:spcAft>
                          <a:spcPts val="0"/>
                        </a:spcAft>
                        <a:buClr>
                          <a:srgbClr val="000000"/>
                        </a:buClr>
                        <a:buSzPts val="680"/>
                        <a:buFont typeface="Times New Roman"/>
                        <a:buNone/>
                      </a:pPr>
                      <a:r>
                        <a:rPr lang="en-US" sz="1100" b="0">
                          <a:solidFill>
                            <a:srgbClr val="000000"/>
                          </a:solidFill>
                          <a:latin typeface="Times New Roman"/>
                          <a:ea typeface="Times New Roman"/>
                          <a:cs typeface="Times New Roman"/>
                          <a:sym typeface="Times New Roman"/>
                        </a:rPr>
                        <a:t>CelesTrak. (n.d.). NORAD GP element sets: Current data. https://celestrak.org/NORAD/elements/?</a:t>
                      </a:r>
                      <a:endParaRPr sz="2800"/>
                    </a:p>
                  </a:txBody>
                  <a:tcPr marL="68575" marR="68575" marT="36575" marB="22850" anchor="ctr">
                    <a:solidFill>
                      <a:srgbClr val="F6F8FA"/>
                    </a:solidFill>
                  </a:tcPr>
                </a:tc>
                <a:tc>
                  <a:txBody>
                    <a:bodyPr/>
                    <a:lstStyle/>
                    <a:p>
                      <a:pPr marL="0" marR="0" lvl="0" indent="0" algn="l" rtl="0">
                        <a:lnSpc>
                          <a:spcPct val="103000"/>
                        </a:lnSpc>
                        <a:spcBef>
                          <a:spcPts val="0"/>
                        </a:spcBef>
                        <a:spcAft>
                          <a:spcPts val="0"/>
                        </a:spcAft>
                        <a:buClr>
                          <a:srgbClr val="000000"/>
                        </a:buClr>
                        <a:buSzPts val="730"/>
                        <a:buFont typeface="Times New Roman"/>
                        <a:buNone/>
                      </a:pPr>
                      <a:r>
                        <a:rPr lang="en-US" sz="1100" b="0">
                          <a:solidFill>
                            <a:srgbClr val="000000"/>
                          </a:solidFill>
                          <a:latin typeface="Times New Roman"/>
                          <a:ea typeface="Times New Roman"/>
                          <a:cs typeface="Times New Roman"/>
                          <a:sym typeface="Times New Roman"/>
                        </a:rPr>
                        <a:t>Orbital elements for visibility/access assumptions.</a:t>
                      </a:r>
                      <a:endParaRPr sz="2800"/>
                    </a:p>
                  </a:txBody>
                  <a:tcPr marL="68575" marR="68575" marT="36575" marB="22850" anchor="ctr">
                    <a:solidFill>
                      <a:srgbClr val="F6F8FA"/>
                    </a:solidFill>
                  </a:tcPr>
                </a:tc>
                <a:extLst>
                  <a:ext uri="{0D108BD9-81ED-4DB2-BD59-A6C34878D82A}">
                    <a16:rowId xmlns:a16="http://schemas.microsoft.com/office/drawing/2014/main" val="10004"/>
                  </a:ext>
                </a:extLst>
              </a:tr>
              <a:tr h="594350">
                <a:tc>
                  <a:txBody>
                    <a:bodyPr/>
                    <a:lstStyle/>
                    <a:p>
                      <a:pPr marL="0" marR="0" lvl="0" indent="0" algn="l" rtl="0">
                        <a:lnSpc>
                          <a:spcPct val="103000"/>
                        </a:lnSpc>
                        <a:spcBef>
                          <a:spcPts val="0"/>
                        </a:spcBef>
                        <a:spcAft>
                          <a:spcPts val="0"/>
                        </a:spcAft>
                        <a:buClr>
                          <a:srgbClr val="000000"/>
                        </a:buClr>
                        <a:buSzPts val="680"/>
                        <a:buFont typeface="Times New Roman"/>
                        <a:buNone/>
                      </a:pPr>
                      <a:r>
                        <a:rPr lang="en-US" sz="1100" b="0">
                          <a:solidFill>
                            <a:srgbClr val="000000"/>
                          </a:solidFill>
                          <a:latin typeface="Times New Roman"/>
                          <a:ea typeface="Times New Roman"/>
                          <a:cs typeface="Times New Roman"/>
                          <a:sym typeface="Times New Roman"/>
                        </a:rPr>
                        <a:t>National Oceanic and Atmospheric Administration, Space Weather Prediction Center. (n.d.). Planetary K-index. https://www.spaceweather.gov/products/planetary-k-index?</a:t>
                      </a:r>
                      <a:endParaRPr sz="2800"/>
                    </a:p>
                  </a:txBody>
                  <a:tcPr marL="68575" marR="68575" marT="36575" marB="22850" anchor="ctr">
                    <a:solidFill>
                      <a:srgbClr val="FFFFFF"/>
                    </a:solidFill>
                  </a:tcPr>
                </a:tc>
                <a:tc>
                  <a:txBody>
                    <a:bodyPr/>
                    <a:lstStyle/>
                    <a:p>
                      <a:pPr marL="0" marR="0" lvl="0" indent="0" algn="l" rtl="0">
                        <a:lnSpc>
                          <a:spcPct val="103000"/>
                        </a:lnSpc>
                        <a:spcBef>
                          <a:spcPts val="0"/>
                        </a:spcBef>
                        <a:spcAft>
                          <a:spcPts val="0"/>
                        </a:spcAft>
                        <a:buClr>
                          <a:srgbClr val="000000"/>
                        </a:buClr>
                        <a:buSzPts val="730"/>
                        <a:buFont typeface="Times New Roman"/>
                        <a:buNone/>
                      </a:pPr>
                      <a:r>
                        <a:rPr lang="en-US" sz="1100" b="0" dirty="0">
                          <a:solidFill>
                            <a:srgbClr val="000000"/>
                          </a:solidFill>
                          <a:latin typeface="Times New Roman"/>
                          <a:ea typeface="Times New Roman"/>
                          <a:cs typeface="Times New Roman"/>
                          <a:sym typeface="Times New Roman"/>
                        </a:rPr>
                        <a:t>Environmental proxy for degradation scenarios; not direct latency.</a:t>
                      </a:r>
                      <a:endParaRPr sz="2800" dirty="0"/>
                    </a:p>
                  </a:txBody>
                  <a:tcPr marL="68575" marR="68575" marT="36575" marB="22850" anchor="ctr">
                    <a:solidFill>
                      <a:srgbClr val="FFFFFF"/>
                    </a:solidFill>
                  </a:tcPr>
                </a:tc>
                <a:extLst>
                  <a:ext uri="{0D108BD9-81ED-4DB2-BD59-A6C34878D82A}">
                    <a16:rowId xmlns:a16="http://schemas.microsoft.com/office/drawing/2014/main" val="10005"/>
                  </a:ext>
                </a:extLst>
              </a:tr>
            </a:tbl>
          </a:graphicData>
        </a:graphic>
      </p:graphicFrame>
      <p:sp>
        <p:nvSpPr>
          <p:cNvPr id="198" name="TextBox 197"/>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15 of 29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TextBox 202"/>
          <p:cNvSpPr txBox="1"/>
          <p:nvPr/>
        </p:nvSpPr>
        <p:spPr>
          <a:xfrm>
            <a:off x="502920" y="246888"/>
            <a:ext cx="10607040" cy="411480"/>
          </a:xfrm>
          <a:prstGeom prst="rect">
            <a:avLst/>
          </a:prstGeom>
          <a:noFill/>
        </p:spPr>
        <p:txBody>
          <a:bodyPr wrap="none" lIns="27432" tIns="18288" rIns="27432" bIns="18288">
            <a:spAutoFit/>
          </a:bodyPr>
          <a:lstStyle/>
          <a:p>
            <a:pPr>
              <a:defRPr sz="2200" b="1">
                <a:solidFill>
                  <a:srgbClr val="2C3137"/>
                </a:solidFill>
                <a:latin typeface="Arial"/>
              </a:defRPr>
            </a:pPr>
            <a:r>
              <a:t>Data Sources — Current Simultaneity Stack and Supporting Candidates</a:t>
            </a:r>
          </a:p>
        </p:txBody>
      </p:sp>
      <p:sp>
        <p:nvSpPr>
          <p:cNvPr id="204" name="TextBox 203"/>
          <p:cNvSpPr txBox="1"/>
          <p:nvPr/>
        </p:nvSpPr>
        <p:spPr>
          <a:xfrm>
            <a:off x="530352" y="749808"/>
            <a:ext cx="10332720" cy="411480"/>
          </a:xfrm>
          <a:prstGeom prst="rect">
            <a:avLst/>
          </a:prstGeom>
          <a:noFill/>
        </p:spPr>
        <p:txBody>
          <a:bodyPr wrap="none" lIns="27432" tIns="18288" rIns="27432" bIns="18288">
            <a:spAutoFit/>
          </a:bodyPr>
          <a:lstStyle/>
          <a:p>
            <a:pPr>
              <a:defRPr sz="1050" b="0">
                <a:solidFill>
                  <a:srgbClr val="414141"/>
                </a:solidFill>
                <a:latin typeface="Arial"/>
              </a:defRPr>
            </a:pPr>
            <a:r>
              <a:t>ASOT event window: 28 Jan. 2022, 17:42–17:55 UTC. The first three sources are the simultaneous baseline; the last two remain supporting / foreign context candidates.</a:t>
            </a:r>
          </a:p>
        </p:txBody>
      </p:sp>
      <p:graphicFrame>
        <p:nvGraphicFramePr>
          <p:cNvPr id="205" name="Table 204"/>
          <p:cNvGraphicFramePr>
            <a:graphicFrameLocks noGrp="1"/>
          </p:cNvGraphicFramePr>
          <p:nvPr/>
        </p:nvGraphicFramePr>
        <p:xfrm>
          <a:off x="502920" y="1234440"/>
          <a:ext cx="11064240" cy="4160520"/>
        </p:xfrm>
        <a:graphic>
          <a:graphicData uri="http://schemas.openxmlformats.org/drawingml/2006/table">
            <a:tbl>
              <a:tblPr firstRow="1" bandRow="1">
                <a:tableStyleId>{5C22544A-7EE6-4342-B048-85BDC9FD1C3A}</a:tableStyleId>
              </a:tblPr>
              <a:tblGrid>
                <a:gridCol w="105156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2788920">
                  <a:extLst>
                    <a:ext uri="{9D8B030D-6E8A-4147-A177-3AD203B41FA5}">
                      <a16:colId xmlns:a16="http://schemas.microsoft.com/office/drawing/2014/main" val="20004"/>
                    </a:ext>
                  </a:extLst>
                </a:gridCol>
              </a:tblGrid>
              <a:tr h="693420">
                <a:tc>
                  <a:txBody>
                    <a:bodyPr/>
                    <a:lstStyle/>
                    <a:p>
                      <a:pPr algn="ctr">
                        <a:defRPr sz="850" b="1">
                          <a:solidFill>
                            <a:srgbClr val="FFFFFF"/>
                          </a:solidFill>
                          <a:latin typeface="Arial"/>
                        </a:defRPr>
                      </a:pPr>
                      <a:r>
                        <a:t>ACE role</a:t>
                      </a:r>
                    </a:p>
                  </a:txBody>
                  <a:tcPr>
                    <a:solidFill>
                      <a:srgbClr val="1F4E79"/>
                    </a:solidFill>
                  </a:tcPr>
                </a:tc>
                <a:tc>
                  <a:txBody>
                    <a:bodyPr/>
                    <a:lstStyle/>
                    <a:p>
                      <a:pPr algn="ctr">
                        <a:defRPr sz="850" b="1">
                          <a:solidFill>
                            <a:srgbClr val="FFFFFF"/>
                          </a:solidFill>
                          <a:latin typeface="Arial"/>
                        </a:defRPr>
                      </a:pPr>
                      <a:r>
                        <a:t>Source / owner</a:t>
                      </a:r>
                    </a:p>
                  </a:txBody>
                  <a:tcPr>
                    <a:solidFill>
                      <a:srgbClr val="1F4E79"/>
                    </a:solidFill>
                  </a:tcPr>
                </a:tc>
                <a:tc>
                  <a:txBody>
                    <a:bodyPr/>
                    <a:lstStyle/>
                    <a:p>
                      <a:pPr algn="ctr">
                        <a:defRPr sz="850" b="1">
                          <a:solidFill>
                            <a:srgbClr val="FFFFFF"/>
                          </a:solidFill>
                          <a:latin typeface="Arial"/>
                        </a:defRPr>
                      </a:pPr>
                      <a:r>
                        <a:t>Status</a:t>
                      </a:r>
                    </a:p>
                  </a:txBody>
                  <a:tcPr>
                    <a:solidFill>
                      <a:srgbClr val="1F4E79"/>
                    </a:solidFill>
                  </a:tcPr>
                </a:tc>
                <a:tc>
                  <a:txBody>
                    <a:bodyPr/>
                    <a:lstStyle/>
                    <a:p>
                      <a:pPr algn="ctr">
                        <a:defRPr sz="850" b="1">
                          <a:solidFill>
                            <a:srgbClr val="FFFFFF"/>
                          </a:solidFill>
                          <a:latin typeface="Arial"/>
                        </a:defRPr>
                      </a:pPr>
                      <a:r>
                        <a:t>Use in workbook</a:t>
                      </a:r>
                    </a:p>
                  </a:txBody>
                  <a:tcPr>
                    <a:solidFill>
                      <a:srgbClr val="1F4E79"/>
                    </a:solidFill>
                  </a:tcPr>
                </a:tc>
                <a:tc>
                  <a:txBody>
                    <a:bodyPr/>
                    <a:lstStyle/>
                    <a:p>
                      <a:pPr algn="ctr">
                        <a:defRPr sz="850" b="1">
                          <a:solidFill>
                            <a:srgbClr val="FFFFFF"/>
                          </a:solidFill>
                          <a:latin typeface="Arial"/>
                        </a:defRPr>
                      </a:pPr>
                      <a:r>
                        <a:t>Boundary / note</a:t>
                      </a:r>
                    </a:p>
                  </a:txBody>
                  <a:tcPr>
                    <a:solidFill>
                      <a:srgbClr val="1F4E79"/>
                    </a:solidFill>
                  </a:tcPr>
                </a:tc>
                <a:extLst>
                  <a:ext uri="{0D108BD9-81ED-4DB2-BD59-A6C34878D82A}">
                    <a16:rowId xmlns:a16="http://schemas.microsoft.com/office/drawing/2014/main" val="10000"/>
                  </a:ext>
                </a:extLst>
              </a:tr>
              <a:tr h="693420">
                <a:tc>
                  <a:txBody>
                    <a:bodyPr/>
                    <a:lstStyle/>
                    <a:p>
                      <a:pPr algn="l">
                        <a:defRPr sz="800" b="1">
                          <a:solidFill>
                            <a:srgbClr val="000000"/>
                          </a:solidFill>
                          <a:latin typeface="Arial"/>
                        </a:defRPr>
                      </a:pPr>
                      <a:r>
                        <a:t>A — AI/ML</a:t>
                      </a:r>
                    </a:p>
                  </a:txBody>
                  <a:tcPr>
                    <a:solidFill>
                      <a:srgbClr val="CAE4F4"/>
                    </a:solidFill>
                  </a:tcPr>
                </a:tc>
                <a:tc>
                  <a:txBody>
                    <a:bodyPr/>
                    <a:lstStyle/>
                    <a:p>
                      <a:pPr algn="l">
                        <a:defRPr sz="760" b="0">
                          <a:solidFill>
                            <a:srgbClr val="000000"/>
                          </a:solidFill>
                          <a:latin typeface="Arial"/>
                        </a:defRPr>
                      </a:pPr>
                      <a:r>
                        <a:t>OPSSAT-AD v2</a:t>
                      </a:r>
                    </a:p>
                    <a:p>
                      <a:pPr algn="l">
                        <a:defRPr sz="760" b="0">
                          <a:solidFill>
                            <a:srgbClr val="000000"/>
                          </a:solidFill>
                          <a:latin typeface="Arial"/>
                        </a:defRPr>
                      </a:pPr>
                      <a:r>
                        <a:t>(dataset.csv + segments.csv)</a:t>
                      </a:r>
                    </a:p>
                  </a:txBody>
                  <a:tcPr>
                    <a:solidFill>
                      <a:srgbClr val="FFFFFF"/>
                    </a:solidFill>
                  </a:tcPr>
                </a:tc>
                <a:tc>
                  <a:txBody>
                    <a:bodyPr/>
                    <a:lstStyle/>
                    <a:p>
                      <a:pPr algn="l">
                        <a:defRPr sz="800" b="0">
                          <a:solidFill>
                            <a:srgbClr val="000000"/>
                          </a:solidFill>
                          <a:latin typeface="Arial"/>
                        </a:defRPr>
                      </a:pPr>
                      <a:r>
                        <a:t>SIMULTANEOUS</a:t>
                      </a:r>
                    </a:p>
                    <a:p>
                      <a:pPr algn="l">
                        <a:defRPr sz="800" b="0">
                          <a:solidFill>
                            <a:srgbClr val="000000"/>
                          </a:solidFill>
                          <a:latin typeface="Arial"/>
                        </a:defRPr>
                      </a:pPr>
                      <a:r>
                        <a:t>Direct OPS-SAT</a:t>
                      </a:r>
                    </a:p>
                  </a:txBody>
                  <a:tcPr>
                    <a:solidFill>
                      <a:srgbClr val="FFFFFF"/>
                    </a:solidFill>
                  </a:tcPr>
                </a:tc>
                <a:tc>
                  <a:txBody>
                    <a:bodyPr/>
                    <a:lstStyle/>
                    <a:p>
                      <a:pPr algn="l">
                        <a:defRPr sz="800" b="0">
                          <a:solidFill>
                            <a:srgbClr val="000000"/>
                          </a:solidFill>
                          <a:latin typeface="Arial"/>
                        </a:defRPr>
                      </a:pPr>
                      <a:r>
                        <a:t>Telemetry / task leg; establishes observation and AI/ML workload timing.</a:t>
                      </a:r>
                    </a:p>
                  </a:txBody>
                  <a:tcPr>
                    <a:solidFill>
                      <a:srgbClr val="FFFFFF"/>
                    </a:solidFill>
                  </a:tcPr>
                </a:tc>
                <a:tc>
                  <a:txBody>
                    <a:bodyPr/>
                    <a:lstStyle/>
                    <a:p>
                      <a:pPr algn="l">
                        <a:defRPr sz="800" b="0">
                          <a:solidFill>
                            <a:srgbClr val="000000"/>
                          </a:solidFill>
                          <a:latin typeface="Arial"/>
                        </a:defRPr>
                      </a:pPr>
                      <a:r>
                        <a:t>Same OPS-SAT event window; bounded to accepted cohort.</a:t>
                      </a:r>
                    </a:p>
                  </a:txBody>
                  <a:tcPr>
                    <a:solidFill>
                      <a:srgbClr val="FFFFFF"/>
                    </a:solidFill>
                  </a:tcPr>
                </a:tc>
                <a:extLst>
                  <a:ext uri="{0D108BD9-81ED-4DB2-BD59-A6C34878D82A}">
                    <a16:rowId xmlns:a16="http://schemas.microsoft.com/office/drawing/2014/main" val="10001"/>
                  </a:ext>
                </a:extLst>
              </a:tr>
              <a:tr h="693420">
                <a:tc>
                  <a:txBody>
                    <a:bodyPr/>
                    <a:lstStyle/>
                    <a:p>
                      <a:pPr algn="l">
                        <a:defRPr sz="800" b="1">
                          <a:solidFill>
                            <a:srgbClr val="000000"/>
                          </a:solidFill>
                          <a:latin typeface="Arial"/>
                        </a:defRPr>
                      </a:pPr>
                      <a:r>
                        <a:t>C — Comms</a:t>
                      </a:r>
                    </a:p>
                  </a:txBody>
                  <a:tcPr>
                    <a:solidFill>
                      <a:srgbClr val="E2EFDA"/>
                    </a:solidFill>
                  </a:tcPr>
                </a:tc>
                <a:tc>
                  <a:txBody>
                    <a:bodyPr/>
                    <a:lstStyle/>
                    <a:p>
                      <a:pPr algn="l">
                        <a:defRPr sz="760" b="0">
                          <a:solidFill>
                            <a:srgbClr val="000000"/>
                          </a:solidFill>
                          <a:latin typeface="Arial"/>
                        </a:defRPr>
                      </a:pPr>
                      <a:r>
                        <a:t>SatNOGS OPS-SAT telemetry</a:t>
                      </a:r>
                    </a:p>
                    <a:p>
                      <a:pPr algn="l">
                        <a:defRPr sz="760" b="0">
                          <a:solidFill>
                            <a:srgbClr val="000000"/>
                          </a:solidFill>
                          <a:latin typeface="Arial"/>
                        </a:defRPr>
                      </a:pPr>
                      <a:r>
                        <a:t>OPS-SAT / NORAD 44878</a:t>
                      </a:r>
                    </a:p>
                  </a:txBody>
                  <a:tcPr>
                    <a:solidFill>
                      <a:srgbClr val="F8F8F8"/>
                    </a:solidFill>
                  </a:tcPr>
                </a:tc>
                <a:tc>
                  <a:txBody>
                    <a:bodyPr/>
                    <a:lstStyle/>
                    <a:p>
                      <a:pPr algn="l">
                        <a:defRPr sz="800" b="0">
                          <a:solidFill>
                            <a:srgbClr val="000000"/>
                          </a:solidFill>
                          <a:latin typeface="Arial"/>
                        </a:defRPr>
                      </a:pPr>
                      <a:r>
                        <a:t>SIMULTANEOUS</a:t>
                      </a:r>
                    </a:p>
                    <a:p>
                      <a:pPr algn="l">
                        <a:defRPr sz="800" b="0">
                          <a:solidFill>
                            <a:srgbClr val="000000"/>
                          </a:solidFill>
                          <a:latin typeface="Arial"/>
                        </a:defRPr>
                      </a:pPr>
                      <a:r>
                        <a:t>Direct OPS-SAT</a:t>
                      </a:r>
                    </a:p>
                  </a:txBody>
                  <a:tcPr>
                    <a:solidFill>
                      <a:srgbClr val="F8F8F8"/>
                    </a:solidFill>
                  </a:tcPr>
                </a:tc>
                <a:tc>
                  <a:txBody>
                    <a:bodyPr/>
                    <a:lstStyle/>
                    <a:p>
                      <a:pPr algn="l">
                        <a:defRPr sz="800" b="0">
                          <a:solidFill>
                            <a:srgbClr val="000000"/>
                          </a:solidFill>
                          <a:latin typeface="Arial"/>
                        </a:defRPr>
                      </a:pPr>
                      <a:r>
                        <a:t>Communications leg; reception / decoded telemetry and accepted link associations.</a:t>
                      </a:r>
                    </a:p>
                  </a:txBody>
                  <a:tcPr>
                    <a:solidFill>
                      <a:srgbClr val="F8F8F8"/>
                    </a:solidFill>
                  </a:tcPr>
                </a:tc>
                <a:tc>
                  <a:txBody>
                    <a:bodyPr/>
                    <a:lstStyle/>
                    <a:p>
                      <a:pPr algn="l">
                        <a:defRPr sz="800" b="0">
                          <a:solidFill>
                            <a:srgbClr val="000000"/>
                          </a:solidFill>
                          <a:latin typeface="Arial"/>
                        </a:defRPr>
                      </a:pPr>
                      <a:r>
                        <a:t>Same spacecraft; not treated as full network-performance truth.</a:t>
                      </a:r>
                    </a:p>
                  </a:txBody>
                  <a:tcPr>
                    <a:solidFill>
                      <a:srgbClr val="F8F8F8"/>
                    </a:solidFill>
                  </a:tcPr>
                </a:tc>
                <a:extLst>
                  <a:ext uri="{0D108BD9-81ED-4DB2-BD59-A6C34878D82A}">
                    <a16:rowId xmlns:a16="http://schemas.microsoft.com/office/drawing/2014/main" val="10002"/>
                  </a:ext>
                </a:extLst>
              </a:tr>
              <a:tr h="693420">
                <a:tc>
                  <a:txBody>
                    <a:bodyPr/>
                    <a:lstStyle/>
                    <a:p>
                      <a:pPr algn="l">
                        <a:defRPr sz="800" b="1">
                          <a:solidFill>
                            <a:srgbClr val="000000"/>
                          </a:solidFill>
                          <a:latin typeface="Arial"/>
                        </a:defRPr>
                      </a:pPr>
                      <a:r>
                        <a:t>E — Environmental</a:t>
                      </a:r>
                    </a:p>
                  </a:txBody>
                  <a:tcPr>
                    <a:solidFill>
                      <a:srgbClr val="EDE1F6"/>
                    </a:solidFill>
                  </a:tcPr>
                </a:tc>
                <a:tc>
                  <a:txBody>
                    <a:bodyPr/>
                    <a:lstStyle/>
                    <a:p>
                      <a:pPr algn="l">
                        <a:defRPr sz="760" b="0">
                          <a:solidFill>
                            <a:srgbClr val="000000"/>
                          </a:solidFill>
                          <a:latin typeface="Arial"/>
                        </a:defRPr>
                      </a:pPr>
                      <a:r>
                        <a:t>NASA OMNI 1-minute</a:t>
                      </a:r>
                    </a:p>
                    <a:p>
                      <a:pPr algn="l">
                        <a:defRPr sz="760" b="0">
                          <a:solidFill>
                            <a:srgbClr val="000000"/>
                          </a:solidFill>
                          <a:latin typeface="Arial"/>
                        </a:defRPr>
                      </a:pPr>
                      <a:r>
                        <a:t>High-res space environment</a:t>
                      </a:r>
                    </a:p>
                  </a:txBody>
                  <a:tcPr>
                    <a:solidFill>
                      <a:srgbClr val="FFFFFF"/>
                    </a:solidFill>
                  </a:tcPr>
                </a:tc>
                <a:tc>
                  <a:txBody>
                    <a:bodyPr/>
                    <a:lstStyle/>
                    <a:p>
                      <a:pPr algn="l">
                        <a:defRPr sz="800" b="0">
                          <a:solidFill>
                            <a:srgbClr val="000000"/>
                          </a:solidFill>
                          <a:latin typeface="Arial"/>
                        </a:defRPr>
                      </a:pPr>
                      <a:r>
                        <a:t>SIMULTANEOUS</a:t>
                      </a:r>
                    </a:p>
                    <a:p>
                      <a:pPr algn="l">
                        <a:defRPr sz="800" b="0">
                          <a:solidFill>
                            <a:srgbClr val="000000"/>
                          </a:solidFill>
                          <a:latin typeface="Arial"/>
                        </a:defRPr>
                      </a:pPr>
                      <a:r>
                        <a:t>Context window</a:t>
                      </a:r>
                    </a:p>
                  </a:txBody>
                  <a:tcPr>
                    <a:solidFill>
                      <a:srgbClr val="FFFFFF"/>
                    </a:solidFill>
                  </a:tcPr>
                </a:tc>
                <a:tc>
                  <a:txBody>
                    <a:bodyPr/>
                    <a:lstStyle/>
                    <a:p>
                      <a:pPr algn="l">
                        <a:defRPr sz="800" b="0">
                          <a:solidFill>
                            <a:srgbClr val="000000"/>
                          </a:solidFill>
                          <a:latin typeface="Arial"/>
                        </a:defRPr>
                      </a:pPr>
                      <a:r>
                        <a:t>Environmental context for the same UTC interval.</a:t>
                      </a:r>
                    </a:p>
                  </a:txBody>
                  <a:tcPr>
                    <a:solidFill>
                      <a:srgbClr val="FFFFFF"/>
                    </a:solidFill>
                  </a:tcPr>
                </a:tc>
                <a:tc>
                  <a:txBody>
                    <a:bodyPr/>
                    <a:lstStyle/>
                    <a:p>
                      <a:pPr algn="l">
                        <a:defRPr sz="800" b="0">
                          <a:solidFill>
                            <a:srgbClr val="000000"/>
                          </a:solidFill>
                          <a:latin typeface="Arial"/>
                        </a:defRPr>
                      </a:pPr>
                      <a:r>
                        <a:t>Not OPS-SAT telemetry; association/context, not automatic causation.</a:t>
                      </a:r>
                    </a:p>
                  </a:txBody>
                  <a:tcPr>
                    <a:solidFill>
                      <a:srgbClr val="FFFFFF"/>
                    </a:solidFill>
                  </a:tcPr>
                </a:tc>
                <a:extLst>
                  <a:ext uri="{0D108BD9-81ED-4DB2-BD59-A6C34878D82A}">
                    <a16:rowId xmlns:a16="http://schemas.microsoft.com/office/drawing/2014/main" val="10003"/>
                  </a:ext>
                </a:extLst>
              </a:tr>
              <a:tr h="693420">
                <a:tc>
                  <a:txBody>
                    <a:bodyPr/>
                    <a:lstStyle/>
                    <a:p>
                      <a:pPr algn="l">
                        <a:defRPr sz="800" b="1">
                          <a:solidFill>
                            <a:srgbClr val="000000"/>
                          </a:solidFill>
                          <a:latin typeface="Arial"/>
                        </a:defRPr>
                      </a:pPr>
                      <a:r>
                        <a:t>Support — ENV</a:t>
                      </a:r>
                    </a:p>
                  </a:txBody>
                  <a:tcPr>
                    <a:solidFill>
                      <a:srgbClr val="F2F2F2"/>
                    </a:solidFill>
                  </a:tcPr>
                </a:tc>
                <a:tc>
                  <a:txBody>
                    <a:bodyPr/>
                    <a:lstStyle/>
                    <a:p>
                      <a:pPr algn="l">
                        <a:defRPr sz="760" b="0">
                          <a:solidFill>
                            <a:srgbClr val="000000"/>
                          </a:solidFill>
                          <a:latin typeface="Arial"/>
                        </a:defRPr>
                      </a:pPr>
                      <a:r>
                        <a:t>Antarctica / CINC ionosonde</a:t>
                      </a:r>
                    </a:p>
                    <a:p>
                      <a:pPr algn="l">
                        <a:defRPr sz="760" b="0">
                          <a:solidFill>
                            <a:srgbClr val="000000"/>
                          </a:solidFill>
                          <a:latin typeface="Arial"/>
                        </a:defRPr>
                      </a:pPr>
                      <a:r>
                        <a:t>foreign environmental context</a:t>
                      </a:r>
                    </a:p>
                  </a:txBody>
                  <a:tcPr>
                    <a:solidFill>
                      <a:srgbClr val="F8F8F8"/>
                    </a:solidFill>
                  </a:tcPr>
                </a:tc>
                <a:tc>
                  <a:txBody>
                    <a:bodyPr/>
                    <a:lstStyle/>
                    <a:p>
                      <a:pPr algn="l">
                        <a:defRPr sz="800" b="0">
                          <a:solidFill>
                            <a:srgbClr val="000000"/>
                          </a:solidFill>
                          <a:latin typeface="Arial"/>
                        </a:defRPr>
                      </a:pPr>
                      <a:r>
                        <a:t>SUPPORTING</a:t>
                      </a:r>
                    </a:p>
                    <a:p>
                      <a:pPr algn="l">
                        <a:defRPr sz="800" b="0">
                          <a:solidFill>
                            <a:srgbClr val="000000"/>
                          </a:solidFill>
                          <a:latin typeface="Arial"/>
                        </a:defRPr>
                      </a:pPr>
                      <a:r>
                        <a:t>Non-ASOT</a:t>
                      </a:r>
                    </a:p>
                  </a:txBody>
                  <a:tcPr>
                    <a:solidFill>
                      <a:srgbClr val="F8F8F8"/>
                    </a:solidFill>
                  </a:tcPr>
                </a:tc>
                <a:tc>
                  <a:txBody>
                    <a:bodyPr/>
                    <a:lstStyle/>
                    <a:p>
                      <a:pPr algn="l">
                        <a:defRPr sz="800" b="0">
                          <a:solidFill>
                            <a:srgbClr val="000000"/>
                          </a:solidFill>
                          <a:latin typeface="Arial"/>
                        </a:defRPr>
                      </a:pPr>
                      <a:r>
                        <a:t>Adds environmental/ionospheric precedent and citation support.</a:t>
                      </a:r>
                    </a:p>
                  </a:txBody>
                  <a:tcPr>
                    <a:solidFill>
                      <a:srgbClr val="F8F8F8"/>
                    </a:solidFill>
                  </a:tcPr>
                </a:tc>
                <a:tc>
                  <a:txBody>
                    <a:bodyPr/>
                    <a:lstStyle/>
                    <a:p>
                      <a:pPr algn="l">
                        <a:defRPr sz="800" b="0">
                          <a:solidFill>
                            <a:srgbClr val="000000"/>
                          </a:solidFill>
                          <a:latin typeface="Arial"/>
                        </a:defRPr>
                      </a:pPr>
                      <a:r>
                        <a:t>Not part of current simultaneous OPS-SAT cohort.</a:t>
                      </a:r>
                    </a:p>
                  </a:txBody>
                  <a:tcPr>
                    <a:solidFill>
                      <a:srgbClr val="F8F8F8"/>
                    </a:solidFill>
                  </a:tcPr>
                </a:tc>
                <a:extLst>
                  <a:ext uri="{0D108BD9-81ED-4DB2-BD59-A6C34878D82A}">
                    <a16:rowId xmlns:a16="http://schemas.microsoft.com/office/drawing/2014/main" val="10004"/>
                  </a:ext>
                </a:extLst>
              </a:tr>
              <a:tr h="693420">
                <a:tc>
                  <a:txBody>
                    <a:bodyPr/>
                    <a:lstStyle/>
                    <a:p>
                      <a:pPr algn="l">
                        <a:defRPr sz="800" b="1">
                          <a:solidFill>
                            <a:srgbClr val="000000"/>
                          </a:solidFill>
                          <a:latin typeface="Arial"/>
                        </a:defRPr>
                      </a:pPr>
                      <a:r>
                        <a:t>Support — COMM</a:t>
                      </a:r>
                    </a:p>
                  </a:txBody>
                  <a:tcPr>
                    <a:solidFill>
                      <a:srgbClr val="F2F2F2"/>
                    </a:solidFill>
                  </a:tcPr>
                </a:tc>
                <a:tc>
                  <a:txBody>
                    <a:bodyPr/>
                    <a:lstStyle/>
                    <a:p>
                      <a:pPr algn="l">
                        <a:defRPr sz="760" b="0">
                          <a:solidFill>
                            <a:srgbClr val="000000"/>
                          </a:solidFill>
                          <a:latin typeface="Arial"/>
                        </a:defRPr>
                      </a:pPr>
                      <a:r>
                        <a:t>CAIDA / external network-measurement candidate</a:t>
                      </a:r>
                    </a:p>
                  </a:txBody>
                  <a:tcPr>
                    <a:solidFill>
                      <a:srgbClr val="FFFFFF"/>
                    </a:solidFill>
                  </a:tcPr>
                </a:tc>
                <a:tc>
                  <a:txBody>
                    <a:bodyPr/>
                    <a:lstStyle/>
                    <a:p>
                      <a:pPr algn="l">
                        <a:defRPr sz="800" b="0">
                          <a:solidFill>
                            <a:srgbClr val="000000"/>
                          </a:solidFill>
                          <a:latin typeface="Arial"/>
                        </a:defRPr>
                      </a:pPr>
                      <a:r>
                        <a:t>SUPPORTING</a:t>
                      </a:r>
                    </a:p>
                    <a:p>
                      <a:pPr algn="l">
                        <a:defRPr sz="800" b="0">
                          <a:solidFill>
                            <a:srgbClr val="000000"/>
                          </a:solidFill>
                          <a:latin typeface="Arial"/>
                        </a:defRPr>
                      </a:pPr>
                      <a:r>
                        <a:t>Non-ASOT</a:t>
                      </a:r>
                    </a:p>
                  </a:txBody>
                  <a:tcPr>
                    <a:solidFill>
                      <a:srgbClr val="FFFFFF"/>
                    </a:solidFill>
                  </a:tcPr>
                </a:tc>
                <a:tc>
                  <a:txBody>
                    <a:bodyPr/>
                    <a:lstStyle/>
                    <a:p>
                      <a:pPr algn="l">
                        <a:defRPr sz="800" b="0">
                          <a:solidFill>
                            <a:srgbClr val="000000"/>
                          </a:solidFill>
                          <a:latin typeface="Arial"/>
                        </a:defRPr>
                      </a:pPr>
                      <a:r>
                        <a:t>Supports comms-measurement framing and degradation literature.</a:t>
                      </a:r>
                    </a:p>
                  </a:txBody>
                  <a:tcPr>
                    <a:solidFill>
                      <a:srgbClr val="FFFFFF"/>
                    </a:solidFill>
                  </a:tcPr>
                </a:tc>
                <a:tc>
                  <a:txBody>
                    <a:bodyPr/>
                    <a:lstStyle/>
                    <a:p>
                      <a:pPr algn="l">
                        <a:defRPr sz="800" b="0">
                          <a:solidFill>
                            <a:srgbClr val="000000"/>
                          </a:solidFill>
                          <a:latin typeface="Arial"/>
                        </a:defRPr>
                      </a:pPr>
                      <a:r>
                        <a:t>Keep separate from ASOT unless time-overlap is later verified.</a:t>
                      </a:r>
                    </a:p>
                  </a:txBody>
                  <a:tcPr>
                    <a:solidFill>
                      <a:srgbClr val="FFFFFF"/>
                    </a:solidFill>
                  </a:tcPr>
                </a:tc>
                <a:extLst>
                  <a:ext uri="{0D108BD9-81ED-4DB2-BD59-A6C34878D82A}">
                    <a16:rowId xmlns:a16="http://schemas.microsoft.com/office/drawing/2014/main" val="10005"/>
                  </a:ext>
                </a:extLst>
              </a:tr>
            </a:tbl>
          </a:graphicData>
        </a:graphic>
      </p:graphicFrame>
      <p:sp>
        <p:nvSpPr>
          <p:cNvPr id="206" name="TextBox 205"/>
          <p:cNvSpPr txBox="1"/>
          <p:nvPr/>
        </p:nvSpPr>
        <p:spPr>
          <a:xfrm>
            <a:off x="624840" y="5029200"/>
            <a:ext cx="9694257" cy="319831"/>
          </a:xfrm>
          <a:prstGeom prst="rect">
            <a:avLst/>
          </a:prstGeom>
          <a:noFill/>
        </p:spPr>
        <p:txBody>
          <a:bodyPr wrap="none" lIns="27432" tIns="18288" rIns="27432" bIns="18288">
            <a:spAutoFit/>
          </a:bodyPr>
          <a:lstStyle/>
          <a:p>
            <a:pPr>
              <a:defRPr sz="919" b="1">
                <a:solidFill>
                  <a:srgbClr val="780000"/>
                </a:solidFill>
                <a:latin typeface="Arial"/>
              </a:defRPr>
            </a:pPr>
            <a:r>
              <a:rPr dirty="0">
                <a:highlight>
                  <a:srgbClr val="FFFF00"/>
                </a:highlight>
              </a:rPr>
              <a:t>ASOT = first three simultaneous sources only. Supporting sources strengthen Chapter 2 and scenario logic, but they do not replace the synchronized OPS-SAT ACE cohort.</a:t>
            </a:r>
            <a:endParaRPr lang="en-US" dirty="0">
              <a:highlight>
                <a:srgbClr val="FFFF00"/>
              </a:highlight>
            </a:endParaRPr>
          </a:p>
          <a:p>
            <a:pPr>
              <a:defRPr sz="919" b="1">
                <a:solidFill>
                  <a:srgbClr val="780000"/>
                </a:solidFill>
                <a:latin typeface="Arial"/>
              </a:defRPr>
            </a:pPr>
            <a:r>
              <a:rPr lang="en-US" dirty="0">
                <a:highlight>
                  <a:srgbClr val="FFFF00"/>
                </a:highlight>
              </a:rPr>
              <a:t>The supporting sources established and support the Env/Comm buckets.</a:t>
            </a:r>
            <a:endParaRPr dirty="0">
              <a:highlight>
                <a:srgbClr val="FFFF00"/>
              </a:highlight>
            </a:endParaRPr>
          </a:p>
        </p:txBody>
      </p:sp>
      <p:sp>
        <p:nvSpPr>
          <p:cNvPr id="207" name="TextBox 206"/>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16 of 29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34"/>
          <p:cNvSpPr txBox="1">
            <a:spLocks noGrp="1"/>
          </p:cNvSpPr>
          <p:nvPr>
            <p:ph type="title"/>
          </p:nvPr>
        </p:nvSpPr>
        <p:spPr>
          <a:xfrm>
            <a:off x="483495" y="316733"/>
            <a:ext cx="7756263" cy="593766"/>
          </a:xfrm>
          <a:prstGeom prst="rect">
            <a:avLst/>
          </a:prstGeom>
          <a:noFill/>
          <a:ln>
            <a:noFill/>
          </a:ln>
        </p:spPr>
        <p:txBody>
          <a:bodyPr spcFirstLastPara="1" wrap="square" lIns="91425" tIns="45700" rIns="91425" bIns="45700" anchor="t" anchorCtr="0">
            <a:normAutofit fontScale="90000"/>
          </a:bodyPr>
          <a:lstStyle/>
          <a:p>
            <a:pPr marL="0" lvl="0" indent="0" algn="l" rtl="0">
              <a:spcBef>
                <a:spcPts val="0"/>
              </a:spcBef>
              <a:spcAft>
                <a:spcPts val="0"/>
              </a:spcAft>
              <a:buClr>
                <a:srgbClr val="3F3F3F"/>
              </a:buClr>
              <a:buSzPct val="100000"/>
              <a:buFont typeface="Arial"/>
              <a:buNone/>
            </a:pPr>
            <a:r>
              <a:rPr lang="en-US" sz="3600"/>
              <a:t>Summary of Methodology</a:t>
            </a:r>
            <a:endParaRPr/>
          </a:p>
        </p:txBody>
      </p:sp>
      <p:sp>
        <p:nvSpPr>
          <p:cNvPr id="214" name="Google Shape;214;p34"/>
          <p:cNvSpPr/>
          <p:nvPr/>
        </p:nvSpPr>
        <p:spPr>
          <a:xfrm>
            <a:off x="585216" y="1051560"/>
            <a:ext cx="10991088" cy="169726"/>
          </a:xfrm>
          <a:prstGeom prst="rect">
            <a:avLst/>
          </a:prstGeom>
          <a:solidFill>
            <a:srgbClr val="E7EEF3"/>
          </a:solidFill>
          <a:ln>
            <a:noFill/>
          </a:ln>
        </p:spPr>
        <p:txBody>
          <a:bodyPr spcFirstLastPara="1" wrap="square" lIns="13700" tIns="9125" rIns="13700" bIns="9125" anchor="t" anchorCtr="0">
            <a:noAutofit/>
          </a:bodyPr>
          <a:lstStyle/>
          <a:p>
            <a:pPr marL="0" marR="0" lvl="0" indent="0" algn="l" rtl="0">
              <a:lnSpc>
                <a:spcPct val="105000"/>
              </a:lnSpc>
              <a:spcBef>
                <a:spcPts val="0"/>
              </a:spcBef>
              <a:spcAft>
                <a:spcPts val="0"/>
              </a:spcAft>
              <a:buClr>
                <a:srgbClr val="000000"/>
              </a:buClr>
              <a:buSzPts val="1000"/>
              <a:buFont typeface="Times New Roman"/>
              <a:buNone/>
            </a:pPr>
            <a:r>
              <a:rPr lang="en-US" sz="1000" b="1" dirty="0">
                <a:solidFill>
                  <a:srgbClr val="000000"/>
                </a:solidFill>
                <a:latin typeface="Times New Roman"/>
                <a:ea typeface="Times New Roman"/>
                <a:cs typeface="Times New Roman"/>
                <a:sym typeface="Times New Roman"/>
              </a:rPr>
              <a:t>DES — WORKING SELECTION </a:t>
            </a:r>
            <a:endParaRPr dirty="0"/>
          </a:p>
        </p:txBody>
      </p:sp>
      <p:graphicFrame>
        <p:nvGraphicFramePr>
          <p:cNvPr id="215" name="Google Shape;215;p34"/>
          <p:cNvGraphicFramePr/>
          <p:nvPr>
            <p:extLst>
              <p:ext uri="{D42A27DB-BD31-4B8C-83A1-F6EECF244321}">
                <p14:modId xmlns:p14="http://schemas.microsoft.com/office/powerpoint/2010/main" val="2227060357"/>
              </p:ext>
            </p:extLst>
          </p:nvPr>
        </p:nvGraphicFramePr>
        <p:xfrm>
          <a:off x="585216" y="1463040"/>
          <a:ext cx="10991075" cy="3639325"/>
        </p:xfrm>
        <a:graphic>
          <a:graphicData uri="http://schemas.openxmlformats.org/drawingml/2006/table">
            <a:tbl>
              <a:tblPr firstRow="1" bandRow="1">
                <a:noFill/>
                <a:tableStyleId>{3C1EB017-BC45-4DEE-9ABB-B4D90C79D28D}</a:tableStyleId>
              </a:tblPr>
              <a:tblGrid>
                <a:gridCol w="2011675">
                  <a:extLst>
                    <a:ext uri="{9D8B030D-6E8A-4147-A177-3AD203B41FA5}">
                      <a16:colId xmlns:a16="http://schemas.microsoft.com/office/drawing/2014/main" val="20000"/>
                    </a:ext>
                  </a:extLst>
                </a:gridCol>
                <a:gridCol w="8979400">
                  <a:extLst>
                    <a:ext uri="{9D8B030D-6E8A-4147-A177-3AD203B41FA5}">
                      <a16:colId xmlns:a16="http://schemas.microsoft.com/office/drawing/2014/main" val="20001"/>
                    </a:ext>
                  </a:extLst>
                </a:gridCol>
              </a:tblGrid>
              <a:tr h="320050">
                <a:tc>
                  <a:txBody>
                    <a:bodyPr/>
                    <a:lstStyle/>
                    <a:p>
                      <a:pPr marL="0" marR="0" lvl="0" indent="0" algn="l" rtl="0">
                        <a:lnSpc>
                          <a:spcPct val="103000"/>
                        </a:lnSpc>
                        <a:spcBef>
                          <a:spcPts val="0"/>
                        </a:spcBef>
                        <a:spcAft>
                          <a:spcPts val="0"/>
                        </a:spcAft>
                        <a:buClr>
                          <a:srgbClr val="000000"/>
                        </a:buClr>
                        <a:buSzPts val="1100"/>
                        <a:buFont typeface="Times New Roman"/>
                        <a:buNone/>
                      </a:pPr>
                      <a:r>
                        <a:rPr lang="en-US" sz="1100" b="1">
                          <a:solidFill>
                            <a:srgbClr val="000000"/>
                          </a:solidFill>
                          <a:latin typeface="Times New Roman"/>
                          <a:ea typeface="Times New Roman"/>
                          <a:cs typeface="Times New Roman"/>
                          <a:sym typeface="Times New Roman"/>
                        </a:rPr>
                        <a:t>Element</a:t>
                      </a:r>
                      <a:endParaRPr/>
                    </a:p>
                  </a:txBody>
                  <a:tcPr marL="68575" marR="68575" marT="36575" marB="22850" anchor="ctr">
                    <a:solidFill>
                      <a:srgbClr val="E7EEF3"/>
                    </a:solidFill>
                  </a:tcPr>
                </a:tc>
                <a:tc>
                  <a:txBody>
                    <a:bodyPr/>
                    <a:lstStyle/>
                    <a:p>
                      <a:pPr marL="0" marR="0" lvl="0" indent="0" algn="l" rtl="0">
                        <a:lnSpc>
                          <a:spcPct val="103000"/>
                        </a:lnSpc>
                        <a:spcBef>
                          <a:spcPts val="0"/>
                        </a:spcBef>
                        <a:spcAft>
                          <a:spcPts val="0"/>
                        </a:spcAft>
                        <a:buClr>
                          <a:srgbClr val="000000"/>
                        </a:buClr>
                        <a:buSzPts val="1100"/>
                        <a:buFont typeface="Times New Roman"/>
                        <a:buNone/>
                      </a:pPr>
                      <a:r>
                        <a:rPr lang="en-US" sz="1100" b="1">
                          <a:solidFill>
                            <a:srgbClr val="000000"/>
                          </a:solidFill>
                          <a:latin typeface="Times New Roman"/>
                          <a:ea typeface="Times New Roman"/>
                          <a:cs typeface="Times New Roman"/>
                          <a:sym typeface="Times New Roman"/>
                        </a:rPr>
                        <a:t>Working design / source-derived content</a:t>
                      </a:r>
                      <a:endParaRPr/>
                    </a:p>
                  </a:txBody>
                  <a:tcPr marL="68575" marR="68575" marT="36575" marB="22850" anchor="ctr">
                    <a:solidFill>
                      <a:srgbClr val="E7EEF3"/>
                    </a:solidFill>
                  </a:tcPr>
                </a:tc>
                <a:extLst>
                  <a:ext uri="{0D108BD9-81ED-4DB2-BD59-A6C34878D82A}">
                    <a16:rowId xmlns:a16="http://schemas.microsoft.com/office/drawing/2014/main" val="10000"/>
                  </a:ext>
                </a:extLst>
              </a:tr>
              <a:tr h="630925">
                <a:tc>
                  <a:txBody>
                    <a:bodyPr/>
                    <a:lstStyle/>
                    <a:p>
                      <a:pPr marL="0" marR="0" lvl="0" indent="0" algn="l" rtl="0">
                        <a:lnSpc>
                          <a:spcPct val="103000"/>
                        </a:lnSpc>
                        <a:spcBef>
                          <a:spcPts val="0"/>
                        </a:spcBef>
                        <a:spcAft>
                          <a:spcPts val="0"/>
                        </a:spcAft>
                        <a:buClr>
                          <a:srgbClr val="000000"/>
                        </a:buClr>
                        <a:buSzPts val="1100"/>
                        <a:buFont typeface="Times New Roman"/>
                        <a:buNone/>
                      </a:pPr>
                      <a:r>
                        <a:rPr lang="en-US" sz="1200" b="1">
                          <a:solidFill>
                            <a:srgbClr val="000000"/>
                          </a:solidFill>
                          <a:latin typeface="Times New Roman"/>
                          <a:ea typeface="Times New Roman"/>
                          <a:cs typeface="Times New Roman"/>
                          <a:sym typeface="Times New Roman"/>
                        </a:rPr>
                        <a:t>Method</a:t>
                      </a:r>
                      <a:endParaRPr sz="1200" b="1"/>
                    </a:p>
                  </a:txBody>
                  <a:tcPr marL="68575" marR="68575" marT="36575" marB="22850" anchor="ctr">
                    <a:solidFill>
                      <a:schemeClr val="tx2">
                        <a:lumMod val="90000"/>
                      </a:schemeClr>
                    </a:solidFill>
                  </a:tcPr>
                </a:tc>
                <a:tc>
                  <a:txBody>
                    <a:bodyPr/>
                    <a:lstStyle/>
                    <a:p>
                      <a:pPr marL="0" marR="0" lvl="0" indent="0" algn="l" rtl="0">
                        <a:lnSpc>
                          <a:spcPct val="103000"/>
                        </a:lnSpc>
                        <a:spcBef>
                          <a:spcPts val="0"/>
                        </a:spcBef>
                        <a:spcAft>
                          <a:spcPts val="0"/>
                        </a:spcAft>
                        <a:buClr>
                          <a:srgbClr val="000000"/>
                        </a:buClr>
                        <a:buSzPts val="1400"/>
                        <a:buFont typeface="Times New Roman"/>
                        <a:buNone/>
                      </a:pPr>
                      <a:r>
                        <a:rPr lang="en-US" sz="1400" b="0">
                          <a:solidFill>
                            <a:srgbClr val="000000"/>
                          </a:solidFill>
                          <a:latin typeface="Times New Roman"/>
                          <a:ea typeface="Times New Roman"/>
                          <a:cs typeface="Times New Roman"/>
                          <a:sym typeface="Times New Roman"/>
                        </a:rPr>
                        <a:t>Follow individual observations, disruptions, routing, processing, responses and recovery in event order.</a:t>
                      </a:r>
                      <a:endParaRPr sz="3200" b="1">
                        <a:solidFill>
                          <a:srgbClr val="000000"/>
                        </a:solidFill>
                        <a:latin typeface="Times New Roman"/>
                        <a:ea typeface="Times New Roman"/>
                        <a:cs typeface="Times New Roman"/>
                        <a:sym typeface="Times New Roman"/>
                      </a:endParaRPr>
                    </a:p>
                    <a:p>
                      <a:pPr marL="0" marR="0" lvl="0" indent="0" algn="l" rtl="0">
                        <a:spcBef>
                          <a:spcPts val="0"/>
                        </a:spcBef>
                        <a:spcAft>
                          <a:spcPts val="0"/>
                        </a:spcAft>
                        <a:buClr>
                          <a:schemeClr val="dk1"/>
                        </a:buClr>
                        <a:buSzPts val="1400"/>
                        <a:buFont typeface="Calibri"/>
                        <a:buNone/>
                      </a:pPr>
                      <a:r>
                        <a:rPr lang="en-US" sz="1400"/>
                        <a:t>Compare ground-centric and orbital-edge paths under matched degradation.</a:t>
                      </a:r>
                      <a:endParaRPr/>
                    </a:p>
                  </a:txBody>
                  <a:tcPr marL="68575" marR="68575" marT="36575" marB="22850" anchor="ctr">
                    <a:solidFill>
                      <a:srgbClr val="FFFFFF"/>
                    </a:solidFill>
                  </a:tcPr>
                </a:tc>
                <a:extLst>
                  <a:ext uri="{0D108BD9-81ED-4DB2-BD59-A6C34878D82A}">
                    <a16:rowId xmlns:a16="http://schemas.microsoft.com/office/drawing/2014/main" val="10001"/>
                  </a:ext>
                </a:extLst>
              </a:tr>
              <a:tr h="713225">
                <a:tc>
                  <a:txBody>
                    <a:bodyPr/>
                    <a:lstStyle/>
                    <a:p>
                      <a:pPr marL="0" marR="0" lvl="0" indent="0" algn="l" rtl="0">
                        <a:lnSpc>
                          <a:spcPct val="103000"/>
                        </a:lnSpc>
                        <a:spcBef>
                          <a:spcPts val="0"/>
                        </a:spcBef>
                        <a:spcAft>
                          <a:spcPts val="0"/>
                        </a:spcAft>
                        <a:buClr>
                          <a:srgbClr val="000000"/>
                        </a:buClr>
                        <a:buSzPts val="1100"/>
                        <a:buFont typeface="Times New Roman"/>
                        <a:buNone/>
                      </a:pPr>
                      <a:r>
                        <a:rPr lang="en-US" sz="1200" b="1" dirty="0">
                          <a:solidFill>
                            <a:srgbClr val="000000"/>
                          </a:solidFill>
                          <a:latin typeface="Times New Roman"/>
                          <a:ea typeface="Times New Roman"/>
                          <a:cs typeface="Times New Roman"/>
                          <a:sym typeface="Times New Roman"/>
                        </a:rPr>
                        <a:t>Inputs</a:t>
                      </a:r>
                      <a:endParaRPr sz="1200" b="1" dirty="0"/>
                    </a:p>
                  </a:txBody>
                  <a:tcPr marL="68575" marR="68575" marT="36575" marB="22850" anchor="ctr">
                    <a:solidFill>
                      <a:schemeClr val="tx2">
                        <a:lumMod val="90000"/>
                      </a:schemeClr>
                    </a:solidFill>
                  </a:tcPr>
                </a:tc>
                <a:tc>
                  <a:txBody>
                    <a:bodyPr/>
                    <a:lstStyle/>
                    <a:p>
                      <a:pPr marL="0" marR="0" lvl="0" indent="0" algn="l" rtl="0">
                        <a:lnSpc>
                          <a:spcPct val="103000"/>
                        </a:lnSpc>
                        <a:spcBef>
                          <a:spcPts val="0"/>
                        </a:spcBef>
                        <a:spcAft>
                          <a:spcPts val="0"/>
                        </a:spcAft>
                        <a:buClr>
                          <a:srgbClr val="000000"/>
                        </a:buClr>
                        <a:buSzPts val="1400"/>
                        <a:buFont typeface="Times New Roman"/>
                        <a:buNone/>
                      </a:pPr>
                      <a:r>
                        <a:rPr lang="en-US" sz="1400" b="0" dirty="0">
                          <a:solidFill>
                            <a:srgbClr val="000000"/>
                          </a:solidFill>
                          <a:latin typeface="Times New Roman"/>
                          <a:ea typeface="Times New Roman"/>
                          <a:cs typeface="Times New Roman"/>
                          <a:sym typeface="Times New Roman"/>
                        </a:rPr>
                        <a:t>Disruption type/start/duration; communication lag; ground-station availability; visibility window; bandwidth capacity; data volume; packet loss; edge processing time; resource availability.</a:t>
                      </a:r>
                      <a:endParaRPr dirty="0"/>
                    </a:p>
                  </a:txBody>
                  <a:tcPr marL="68575" marR="68575" marT="36575" marB="22850" anchor="ctr">
                    <a:solidFill>
                      <a:srgbClr val="F6F8FA"/>
                    </a:solidFill>
                  </a:tcPr>
                </a:tc>
                <a:extLst>
                  <a:ext uri="{0D108BD9-81ED-4DB2-BD59-A6C34878D82A}">
                    <a16:rowId xmlns:a16="http://schemas.microsoft.com/office/drawing/2014/main" val="10002"/>
                  </a:ext>
                </a:extLst>
              </a:tr>
              <a:tr h="658375">
                <a:tc>
                  <a:txBody>
                    <a:bodyPr/>
                    <a:lstStyle/>
                    <a:p>
                      <a:pPr marL="0" marR="0" lvl="0" indent="0" algn="l" rtl="0">
                        <a:lnSpc>
                          <a:spcPct val="103000"/>
                        </a:lnSpc>
                        <a:spcBef>
                          <a:spcPts val="0"/>
                        </a:spcBef>
                        <a:spcAft>
                          <a:spcPts val="0"/>
                        </a:spcAft>
                        <a:buClr>
                          <a:srgbClr val="000000"/>
                        </a:buClr>
                        <a:buSzPts val="700"/>
                        <a:buFont typeface="Times New Roman"/>
                        <a:buNone/>
                      </a:pPr>
                      <a:r>
                        <a:rPr lang="en-US" sz="1200" b="1" dirty="0">
                          <a:solidFill>
                            <a:srgbClr val="000000"/>
                          </a:solidFill>
                          <a:latin typeface="Times New Roman"/>
                          <a:ea typeface="Times New Roman"/>
                          <a:cs typeface="Times New Roman"/>
                          <a:sym typeface="Times New Roman"/>
                        </a:rPr>
                        <a:t>Outputs</a:t>
                      </a:r>
                      <a:endParaRPr sz="1200" b="1" dirty="0"/>
                    </a:p>
                  </a:txBody>
                  <a:tcPr marL="68575" marR="68575" marT="36575" marB="22850" anchor="ctr">
                    <a:solidFill>
                      <a:schemeClr val="tx2">
                        <a:lumMod val="90000"/>
                      </a:schemeClr>
                    </a:solidFill>
                  </a:tcPr>
                </a:tc>
                <a:tc>
                  <a:txBody>
                    <a:bodyPr/>
                    <a:lstStyle/>
                    <a:p>
                      <a:pPr marL="0" marR="0" lvl="0" indent="0" algn="l" rtl="0">
                        <a:lnSpc>
                          <a:spcPct val="103000"/>
                        </a:lnSpc>
                        <a:spcBef>
                          <a:spcPts val="0"/>
                        </a:spcBef>
                        <a:spcAft>
                          <a:spcPts val="0"/>
                        </a:spcAft>
                        <a:buClr>
                          <a:srgbClr val="000000"/>
                        </a:buClr>
                        <a:buSzPts val="1400"/>
                        <a:buFont typeface="Times New Roman"/>
                        <a:buNone/>
                      </a:pPr>
                      <a:r>
                        <a:rPr lang="en-US" sz="1400" b="0">
                          <a:solidFill>
                            <a:srgbClr val="000000"/>
                          </a:solidFill>
                          <a:latin typeface="Times New Roman"/>
                          <a:ea typeface="Times New Roman"/>
                          <a:cs typeface="Times New Roman"/>
                          <a:sym typeface="Times New Roman"/>
                        </a:rPr>
                        <a:t>Uptime/service availability; downtime/recovery; response latency; packet loss; queueing delay.</a:t>
                      </a:r>
                      <a:endParaRPr sz="3200" b="1">
                        <a:solidFill>
                          <a:srgbClr val="000000"/>
                        </a:solidFill>
                        <a:latin typeface="Times New Roman"/>
                        <a:ea typeface="Times New Roman"/>
                        <a:cs typeface="Times New Roman"/>
                        <a:sym typeface="Times New Roman"/>
                      </a:endParaRPr>
                    </a:p>
                    <a:p>
                      <a:pPr marL="0" marR="0" lvl="0" indent="0" algn="l" rtl="0">
                        <a:spcBef>
                          <a:spcPts val="0"/>
                        </a:spcBef>
                        <a:spcAft>
                          <a:spcPts val="0"/>
                        </a:spcAft>
                        <a:buClr>
                          <a:schemeClr val="dk1"/>
                        </a:buClr>
                        <a:buSzPts val="1400"/>
                        <a:buFont typeface="Calibri"/>
                        <a:buNone/>
                      </a:pPr>
                      <a:r>
                        <a:rPr lang="en-US" sz="1400"/>
                        <a:t>Recovery and dropped messages remain supporting observations. Definitions and thresholds still need to be fixed.</a:t>
                      </a:r>
                      <a:endParaRPr/>
                    </a:p>
                  </a:txBody>
                  <a:tcPr marL="68575" marR="68575" marT="36575" marB="22850" anchor="ctr">
                    <a:solidFill>
                      <a:srgbClr val="FFFFFF"/>
                    </a:solidFill>
                  </a:tcPr>
                </a:tc>
                <a:extLst>
                  <a:ext uri="{0D108BD9-81ED-4DB2-BD59-A6C34878D82A}">
                    <a16:rowId xmlns:a16="http://schemas.microsoft.com/office/drawing/2014/main" val="10003"/>
                  </a:ext>
                </a:extLst>
              </a:tr>
              <a:tr h="658375">
                <a:tc>
                  <a:txBody>
                    <a:bodyPr/>
                    <a:lstStyle/>
                    <a:p>
                      <a:pPr marL="0" marR="0" lvl="0" indent="0" algn="l" rtl="0">
                        <a:lnSpc>
                          <a:spcPct val="103000"/>
                        </a:lnSpc>
                        <a:spcBef>
                          <a:spcPts val="0"/>
                        </a:spcBef>
                        <a:spcAft>
                          <a:spcPts val="0"/>
                        </a:spcAft>
                        <a:buClr>
                          <a:srgbClr val="000000"/>
                        </a:buClr>
                        <a:buSzPts val="1100"/>
                        <a:buFont typeface="Times New Roman"/>
                        <a:buNone/>
                      </a:pPr>
                      <a:r>
                        <a:rPr lang="en-US" sz="1200" b="1">
                          <a:solidFill>
                            <a:srgbClr val="000000"/>
                          </a:solidFill>
                          <a:latin typeface="Times New Roman"/>
                          <a:ea typeface="Times New Roman"/>
                          <a:cs typeface="Times New Roman"/>
                          <a:sym typeface="Times New Roman"/>
                        </a:rPr>
                        <a:t>Analysis</a:t>
                      </a:r>
                      <a:endParaRPr sz="1200" b="1"/>
                    </a:p>
                  </a:txBody>
                  <a:tcPr marL="68575" marR="68575" marT="36575" marB="22850" anchor="ctr">
                    <a:solidFill>
                      <a:schemeClr val="tx2">
                        <a:lumMod val="90000"/>
                      </a:schemeClr>
                    </a:solidFill>
                  </a:tcPr>
                </a:tc>
                <a:tc>
                  <a:txBody>
                    <a:bodyPr/>
                    <a:lstStyle/>
                    <a:p>
                      <a:pPr marL="0" marR="0" lvl="0" indent="0" algn="l" rtl="0">
                        <a:lnSpc>
                          <a:spcPct val="103000"/>
                        </a:lnSpc>
                        <a:spcBef>
                          <a:spcPts val="0"/>
                        </a:spcBef>
                        <a:spcAft>
                          <a:spcPts val="0"/>
                        </a:spcAft>
                        <a:buClr>
                          <a:srgbClr val="000000"/>
                        </a:buClr>
                        <a:buSzPts val="1400"/>
                        <a:buFont typeface="Times New Roman"/>
                        <a:buNone/>
                      </a:pPr>
                      <a:r>
                        <a:rPr lang="en-US" sz="1400" b="1">
                          <a:solidFill>
                            <a:srgbClr val="000000"/>
                          </a:solidFill>
                          <a:latin typeface="Times New Roman"/>
                          <a:ea typeface="Times New Roman"/>
                          <a:cs typeface="Times New Roman"/>
                          <a:sym typeface="Times New Roman"/>
                        </a:rPr>
                        <a:t>Public benchmarks and theoretical delay calculations; matched repeated runs; latency-distribution comparison; sensitivity analysis. </a:t>
                      </a:r>
                      <a:endParaRPr sz="1400" b="1">
                        <a:solidFill>
                          <a:srgbClr val="000000"/>
                        </a:solidFill>
                        <a:latin typeface="Times New Roman"/>
                        <a:ea typeface="Times New Roman"/>
                        <a:cs typeface="Times New Roman"/>
                        <a:sym typeface="Times New Roman"/>
                      </a:endParaRPr>
                    </a:p>
                  </a:txBody>
                  <a:tcPr marL="68575" marR="68575" marT="36575" marB="22850" anchor="ctr">
                    <a:solidFill>
                      <a:srgbClr val="F6F8FA"/>
                    </a:solidFill>
                  </a:tcPr>
                </a:tc>
                <a:extLst>
                  <a:ext uri="{0D108BD9-81ED-4DB2-BD59-A6C34878D82A}">
                    <a16:rowId xmlns:a16="http://schemas.microsoft.com/office/drawing/2014/main" val="10004"/>
                  </a:ext>
                </a:extLst>
              </a:tr>
              <a:tr h="658375">
                <a:tc>
                  <a:txBody>
                    <a:bodyPr/>
                    <a:lstStyle/>
                    <a:p>
                      <a:pPr marL="0" marR="0" lvl="0" indent="0" algn="l" rtl="0">
                        <a:lnSpc>
                          <a:spcPct val="103000"/>
                        </a:lnSpc>
                        <a:spcBef>
                          <a:spcPts val="0"/>
                        </a:spcBef>
                        <a:spcAft>
                          <a:spcPts val="0"/>
                        </a:spcAft>
                        <a:buClr>
                          <a:srgbClr val="000000"/>
                        </a:buClr>
                        <a:buSzPts val="1100"/>
                        <a:buFont typeface="Times New Roman"/>
                        <a:buNone/>
                      </a:pPr>
                      <a:r>
                        <a:rPr lang="en-US" sz="1200" b="1" dirty="0">
                          <a:solidFill>
                            <a:srgbClr val="000000"/>
                          </a:solidFill>
                          <a:latin typeface="Times New Roman"/>
                          <a:ea typeface="Times New Roman"/>
                          <a:cs typeface="Times New Roman"/>
                          <a:sym typeface="Times New Roman"/>
                        </a:rPr>
                        <a:t>Implementation / boundary</a:t>
                      </a:r>
                      <a:endParaRPr sz="1200" b="1" dirty="0"/>
                    </a:p>
                  </a:txBody>
                  <a:tcPr marL="68575" marR="68575" marT="36575" marB="22850" anchor="ctr">
                    <a:solidFill>
                      <a:schemeClr val="tx2">
                        <a:lumMod val="90000"/>
                      </a:schemeClr>
                    </a:solidFill>
                  </a:tcPr>
                </a:tc>
                <a:tc>
                  <a:txBody>
                    <a:bodyPr/>
                    <a:lstStyle/>
                    <a:p>
                      <a:pPr marL="0" marR="0" lvl="0" indent="0" algn="l" rtl="0">
                        <a:lnSpc>
                          <a:spcPct val="103000"/>
                        </a:lnSpc>
                        <a:spcBef>
                          <a:spcPts val="0"/>
                        </a:spcBef>
                        <a:spcAft>
                          <a:spcPts val="0"/>
                        </a:spcAft>
                        <a:buClr>
                          <a:srgbClr val="000000"/>
                        </a:buClr>
                        <a:buSzPts val="1400"/>
                        <a:buFont typeface="Times New Roman"/>
                        <a:buNone/>
                      </a:pPr>
                      <a:r>
                        <a:rPr lang="en-US" sz="1400" b="0" dirty="0">
                          <a:solidFill>
                            <a:srgbClr val="000000"/>
                          </a:solidFill>
                          <a:latin typeface="Times New Roman"/>
                          <a:ea typeface="Times New Roman"/>
                          <a:cs typeface="Times New Roman"/>
                          <a:sym typeface="Times New Roman"/>
                        </a:rPr>
                        <a:t>MATLAB/</a:t>
                      </a:r>
                      <a:r>
                        <a:rPr lang="en-US" sz="1400" b="0" dirty="0" err="1">
                          <a:solidFill>
                            <a:srgbClr val="000000"/>
                          </a:solidFill>
                          <a:latin typeface="Times New Roman"/>
                          <a:ea typeface="Times New Roman"/>
                          <a:cs typeface="Times New Roman"/>
                          <a:sym typeface="Times New Roman"/>
                        </a:rPr>
                        <a:t>SimEvents</a:t>
                      </a:r>
                      <a:r>
                        <a:rPr lang="en-US" sz="1400" b="0" dirty="0">
                          <a:solidFill>
                            <a:srgbClr val="000000"/>
                          </a:solidFill>
                          <a:latin typeface="Times New Roman"/>
                          <a:ea typeface="Times New Roman"/>
                          <a:cs typeface="Times New Roman"/>
                          <a:sym typeface="Times New Roman"/>
                        </a:rPr>
                        <a:t> primary; Python only optional for data ingestion/preprocessing; reproducible scenario tables with fixed random seeds.</a:t>
                      </a:r>
                      <a:endParaRPr sz="3200" b="1" dirty="0">
                        <a:solidFill>
                          <a:srgbClr val="000000"/>
                        </a:solidFill>
                        <a:latin typeface="Times New Roman"/>
                        <a:ea typeface="Times New Roman"/>
                        <a:cs typeface="Times New Roman"/>
                        <a:sym typeface="Times New Roman"/>
                      </a:endParaRPr>
                    </a:p>
                  </a:txBody>
                  <a:tcPr marL="68575" marR="68575" marT="36575" marB="22850" anchor="ctr">
                    <a:solidFill>
                      <a:srgbClr val="FFFFFF"/>
                    </a:solidFill>
                  </a:tcPr>
                </a:tc>
                <a:extLst>
                  <a:ext uri="{0D108BD9-81ED-4DB2-BD59-A6C34878D82A}">
                    <a16:rowId xmlns:a16="http://schemas.microsoft.com/office/drawing/2014/main" val="10005"/>
                  </a:ext>
                </a:extLst>
              </a:tr>
            </a:tbl>
          </a:graphicData>
        </a:graphic>
      </p:graphicFrame>
      <p:sp>
        <p:nvSpPr>
          <p:cNvPr id="216" name="TextBox 215"/>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17 of 29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pic>
        <p:nvPicPr>
          <p:cNvPr id="253" name="Google Shape;253;p40"/>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4" name="TextBox 253"/>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18 of 29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9FED811-37BE-4285-E8F2-1BCF58F925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1BF20CD7-1A1F-F02C-89D8-4817159B0921}"/>
              </a:ext>
            </a:extLst>
          </p:cNvPr>
          <p:cNvSpPr txBox="1"/>
          <p:nvPr/>
        </p:nvSpPr>
        <p:spPr>
          <a:xfrm>
            <a:off x="274320" y="95700"/>
            <a:ext cx="11612880" cy="461665"/>
          </a:xfrm>
          <a:prstGeom prst="rect">
            <a:avLst/>
          </a:prstGeom>
          <a:noFill/>
        </p:spPr>
        <p:txBody>
          <a:bodyPr wrap="square" rtlCol="0">
            <a:spAutoFit/>
          </a:bodyPr>
          <a:lstStyle/>
          <a:p>
            <a:pPr>
              <a:spcAft>
                <a:spcPts val="300"/>
              </a:spcAft>
            </a:pPr>
            <a:r>
              <a:rPr sz="2100" b="1">
                <a:solidFill>
                  <a:srgbClr val="263746"/>
                </a:solidFill>
                <a:latin typeface="Calibri"/>
              </a:rPr>
              <a:t>Ground and Bounded Orbital Edge: Conceptual Architecture</a:t>
            </a:r>
          </a:p>
        </p:txBody>
      </p:sp>
      <p:sp>
        <p:nvSpPr>
          <p:cNvPr id="8" name="TextBox 7">
            <a:extLst>
              <a:ext uri="{FF2B5EF4-FFF2-40B4-BE49-F238E27FC236}">
                <a16:creationId xmlns:a16="http://schemas.microsoft.com/office/drawing/2014/main" id="{BEBF326E-6C51-BC15-8AC5-36F23F8F1E4A}"/>
              </a:ext>
            </a:extLst>
          </p:cNvPr>
          <p:cNvSpPr txBox="1"/>
          <p:nvPr/>
        </p:nvSpPr>
        <p:spPr>
          <a:xfrm>
            <a:off x="3566160" y="5715000"/>
            <a:ext cx="5029200" cy="1051560"/>
          </a:xfrm>
          <a:prstGeom prst="rect">
            <a:avLst/>
          </a:prstGeom>
          <a:noFill/>
        </p:spPr>
        <p:txBody>
          <a:bodyPr wrap="square">
            <a:spAutoFit/>
          </a:bodyPr>
          <a:lstStyle/>
          <a:p>
            <a:pPr>
              <a:spcAft>
                <a:spcPts val="300"/>
              </a:spcAft>
            </a:pPr>
            <a:r>
              <a:rPr sz="1200">
                <a:solidFill>
                  <a:srgbClr val="263746"/>
                </a:solidFill>
                <a:latin typeface="Calibri"/>
              </a:rPr>
              <a:t>BOUNDED EDGE PATH</a:t>
            </a:r>
            <a:endParaRPr lang="en-US" sz="1200" b="1" dirty="0"/>
          </a:p>
          <a:p>
            <a:pPr>
              <a:spcAft>
                <a:spcPts val="300"/>
              </a:spcAft>
            </a:pPr>
            <a:r>
              <a:rPr sz="1200">
                <a:solidFill>
                  <a:srgbClr val="263746"/>
                </a:solidFill>
                <a:latin typeface="Calibri"/>
              </a:rPr>
              <a:t>Onboard processing precedes reduced-volume transmission. Compute cost and communications savings are tested under matched conditions.</a:t>
            </a:r>
          </a:p>
        </p:txBody>
      </p:sp>
      <p:sp>
        <p:nvSpPr>
          <p:cNvPr id="9" name="TextBox 8">
            <a:extLst>
              <a:ext uri="{FF2B5EF4-FFF2-40B4-BE49-F238E27FC236}">
                <a16:creationId xmlns:a16="http://schemas.microsoft.com/office/drawing/2014/main" id="{4E9576E9-339A-0129-16D4-A6B57C52DA8B}"/>
              </a:ext>
            </a:extLst>
          </p:cNvPr>
          <p:cNvSpPr txBox="1"/>
          <p:nvPr/>
        </p:nvSpPr>
        <p:spPr>
          <a:xfrm>
            <a:off x="137160" y="5715000"/>
            <a:ext cx="3200400" cy="1051560"/>
          </a:xfrm>
          <a:prstGeom prst="rect">
            <a:avLst/>
          </a:prstGeom>
          <a:noFill/>
        </p:spPr>
        <p:txBody>
          <a:bodyPr wrap="square" rtlCol="0">
            <a:spAutoFit/>
          </a:bodyPr>
          <a:lstStyle/>
          <a:p>
            <a:pPr>
              <a:spcAft>
                <a:spcPts val="300"/>
              </a:spcAft>
            </a:pPr>
            <a:r>
              <a:rPr sz="1200">
                <a:solidFill>
                  <a:srgbClr val="263746"/>
                </a:solidFill>
                <a:latin typeface="Calibri"/>
              </a:rPr>
              <a:t>GROUND PATH</a:t>
            </a:r>
            <a:endParaRPr lang="en-US" sz="1050" b="1" dirty="0"/>
          </a:p>
          <a:p>
            <a:pPr>
              <a:spcAft>
                <a:spcPts val="300"/>
              </a:spcAft>
            </a:pPr>
            <a:r>
              <a:rPr sz="1200">
                <a:solidFill>
                  <a:srgbClr val="263746"/>
                </a:solidFill>
                <a:latin typeface="Calibri"/>
              </a:rPr>
              <a:t>Full observation downlink, followed by ground processing. Link and compute queues contribute to delivery time.</a:t>
            </a:r>
          </a:p>
        </p:txBody>
      </p:sp>
      <p:sp>
        <p:nvSpPr>
          <p:cNvPr id="10" name="TextBox 9">
            <a:extLst>
              <a:ext uri="{FF2B5EF4-FFF2-40B4-BE49-F238E27FC236}">
                <a16:creationId xmlns:a16="http://schemas.microsoft.com/office/drawing/2014/main" id="{77829F88-3951-5DF7-0466-D78AB4648B47}"/>
              </a:ext>
            </a:extLst>
          </p:cNvPr>
          <p:cNvSpPr txBox="1"/>
          <p:nvPr/>
        </p:nvSpPr>
        <p:spPr>
          <a:xfrm>
            <a:off x="8823960" y="5715000"/>
            <a:ext cx="3200400" cy="1051560"/>
          </a:xfrm>
          <a:prstGeom prst="rect">
            <a:avLst/>
          </a:prstGeom>
          <a:noFill/>
        </p:spPr>
        <p:txBody>
          <a:bodyPr wrap="square" rtlCol="0">
            <a:spAutoFit/>
          </a:bodyPr>
          <a:lstStyle/>
          <a:p>
            <a:pPr>
              <a:spcAft>
                <a:spcPts val="300"/>
              </a:spcAft>
            </a:pPr>
            <a:r>
              <a:rPr sz="1200">
                <a:solidFill>
                  <a:srgbClr val="263746"/>
                </a:solidFill>
                <a:latin typeface="Calibri"/>
              </a:rPr>
              <a:t>MEASURED IN THE MODEL</a:t>
            </a:r>
            <a:endParaRPr lang="en-US" sz="1050" b="1" dirty="0"/>
          </a:p>
          <a:p>
            <a:pPr>
              <a:spcAft>
                <a:spcPts val="300"/>
              </a:spcAft>
            </a:pPr>
            <a:r>
              <a:rPr sz="1200">
                <a:solidFill>
                  <a:srgbClr val="263746"/>
                </a:solidFill>
                <a:latin typeface="Calibri"/>
              </a:rPr>
              <a:t>Information-delivery latency and queue behavior. Operator and clinical outcomes are subsequent activities.</a:t>
            </a:r>
          </a:p>
        </p:txBody>
      </p:sp>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B079EA75-2097-AA90-2107-DAA7D3FB789E}"/>
                  </a:ext>
                </a:extLst>
              </p14:cNvPr>
              <p14:cNvContentPartPr/>
              <p14:nvPr/>
            </p14:nvContentPartPr>
            <p14:xfrm>
              <a:off x="4297560" y="1924400"/>
              <a:ext cx="829080" cy="110160"/>
            </p14:xfrm>
          </p:contentPart>
        </mc:Choice>
        <mc:Fallback xmlns="">
          <p:pic>
            <p:nvPicPr>
              <p:cNvPr id="3" name="Ink 2">
                <a:extLst>
                  <a:ext uri="{FF2B5EF4-FFF2-40B4-BE49-F238E27FC236}">
                    <a16:creationId xmlns:a16="http://schemas.microsoft.com/office/drawing/2014/main" id="{B079EA75-2097-AA90-2107-DAA7D3FB789E}"/>
                  </a:ext>
                </a:extLst>
              </p:cNvPr>
              <p:cNvPicPr/>
              <p:nvPr/>
            </p:nvPicPr>
            <p:blipFill>
              <a:blip r:embed="rId4"/>
              <a:stretch>
                <a:fillRect/>
              </a:stretch>
            </p:blipFill>
            <p:spPr>
              <a:xfrm>
                <a:off x="4291440" y="1918280"/>
                <a:ext cx="841320" cy="1224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 name="Ink 3">
                <a:extLst>
                  <a:ext uri="{FF2B5EF4-FFF2-40B4-BE49-F238E27FC236}">
                    <a16:creationId xmlns:a16="http://schemas.microsoft.com/office/drawing/2014/main" id="{C8B8CF3D-B210-2170-10D8-A4BB63C08BEA}"/>
                  </a:ext>
                </a:extLst>
              </p14:cNvPr>
              <p14:cNvContentPartPr/>
              <p14:nvPr/>
            </p14:nvContentPartPr>
            <p14:xfrm>
              <a:off x="7111680" y="1889480"/>
              <a:ext cx="712080" cy="241200"/>
            </p14:xfrm>
          </p:contentPart>
        </mc:Choice>
        <mc:Fallback xmlns="">
          <p:pic>
            <p:nvPicPr>
              <p:cNvPr id="4" name="Ink 3">
                <a:extLst>
                  <a:ext uri="{FF2B5EF4-FFF2-40B4-BE49-F238E27FC236}">
                    <a16:creationId xmlns:a16="http://schemas.microsoft.com/office/drawing/2014/main" id="{C8B8CF3D-B210-2170-10D8-A4BB63C08BEA}"/>
                  </a:ext>
                </a:extLst>
              </p:cNvPr>
              <p:cNvPicPr/>
              <p:nvPr/>
            </p:nvPicPr>
            <p:blipFill>
              <a:blip r:embed="rId6"/>
              <a:stretch>
                <a:fillRect/>
              </a:stretch>
            </p:blipFill>
            <p:spPr>
              <a:xfrm>
                <a:off x="7105560" y="1883360"/>
                <a:ext cx="72432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7" name="Ink 6">
                <a:extLst>
                  <a:ext uri="{FF2B5EF4-FFF2-40B4-BE49-F238E27FC236}">
                    <a16:creationId xmlns:a16="http://schemas.microsoft.com/office/drawing/2014/main" id="{F58DA9C0-8C3E-3B0F-3EC7-58764831A41D}"/>
                  </a:ext>
                </a:extLst>
              </p14:cNvPr>
              <p14:cNvContentPartPr/>
              <p14:nvPr/>
            </p14:nvContentPartPr>
            <p14:xfrm>
              <a:off x="2752440" y="2651600"/>
              <a:ext cx="7021800" cy="1001160"/>
            </p14:xfrm>
          </p:contentPart>
        </mc:Choice>
        <mc:Fallback xmlns="">
          <p:pic>
            <p:nvPicPr>
              <p:cNvPr id="7" name="Ink 6">
                <a:extLst>
                  <a:ext uri="{FF2B5EF4-FFF2-40B4-BE49-F238E27FC236}">
                    <a16:creationId xmlns:a16="http://schemas.microsoft.com/office/drawing/2014/main" id="{F58DA9C0-8C3E-3B0F-3EC7-58764831A41D}"/>
                  </a:ext>
                </a:extLst>
              </p:cNvPr>
              <p:cNvPicPr/>
              <p:nvPr/>
            </p:nvPicPr>
            <p:blipFill>
              <a:blip r:embed="rId8"/>
              <a:stretch>
                <a:fillRect/>
              </a:stretch>
            </p:blipFill>
            <p:spPr>
              <a:xfrm>
                <a:off x="2746320" y="2645480"/>
                <a:ext cx="7034040" cy="10134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1" name="Ink 10">
                <a:extLst>
                  <a:ext uri="{FF2B5EF4-FFF2-40B4-BE49-F238E27FC236}">
                    <a16:creationId xmlns:a16="http://schemas.microsoft.com/office/drawing/2014/main" id="{305495D2-39D0-6728-FDFB-3B34DEFF800F}"/>
                  </a:ext>
                </a:extLst>
              </p14:cNvPr>
              <p14:cNvContentPartPr/>
              <p14:nvPr/>
            </p14:nvContentPartPr>
            <p14:xfrm>
              <a:off x="9743280" y="3108800"/>
              <a:ext cx="702720" cy="678600"/>
            </p14:xfrm>
          </p:contentPart>
        </mc:Choice>
        <mc:Fallback xmlns="">
          <p:pic>
            <p:nvPicPr>
              <p:cNvPr id="11" name="Ink 10">
                <a:extLst>
                  <a:ext uri="{FF2B5EF4-FFF2-40B4-BE49-F238E27FC236}">
                    <a16:creationId xmlns:a16="http://schemas.microsoft.com/office/drawing/2014/main" id="{305495D2-39D0-6728-FDFB-3B34DEFF800F}"/>
                  </a:ext>
                </a:extLst>
              </p:cNvPr>
              <p:cNvPicPr/>
              <p:nvPr/>
            </p:nvPicPr>
            <p:blipFill>
              <a:blip r:embed="rId10"/>
              <a:stretch>
                <a:fillRect/>
              </a:stretch>
            </p:blipFill>
            <p:spPr>
              <a:xfrm>
                <a:off x="9737160" y="3102680"/>
                <a:ext cx="714960" cy="690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2" name="Ink 11">
                <a:extLst>
                  <a:ext uri="{FF2B5EF4-FFF2-40B4-BE49-F238E27FC236}">
                    <a16:creationId xmlns:a16="http://schemas.microsoft.com/office/drawing/2014/main" id="{35B08344-5B1E-F5F4-ABF1-604A80E015B4}"/>
                  </a:ext>
                </a:extLst>
              </p14:cNvPr>
              <p14:cNvContentPartPr/>
              <p14:nvPr/>
            </p14:nvContentPartPr>
            <p14:xfrm>
              <a:off x="1626360" y="3240920"/>
              <a:ext cx="914040" cy="889200"/>
            </p14:xfrm>
          </p:contentPart>
        </mc:Choice>
        <mc:Fallback xmlns="">
          <p:pic>
            <p:nvPicPr>
              <p:cNvPr id="12" name="Ink 11">
                <a:extLst>
                  <a:ext uri="{FF2B5EF4-FFF2-40B4-BE49-F238E27FC236}">
                    <a16:creationId xmlns:a16="http://schemas.microsoft.com/office/drawing/2014/main" id="{35B08344-5B1E-F5F4-ABF1-604A80E015B4}"/>
                  </a:ext>
                </a:extLst>
              </p:cNvPr>
              <p:cNvPicPr/>
              <p:nvPr/>
            </p:nvPicPr>
            <p:blipFill>
              <a:blip r:embed="rId12"/>
              <a:stretch>
                <a:fillRect/>
              </a:stretch>
            </p:blipFill>
            <p:spPr>
              <a:xfrm>
                <a:off x="1620240" y="3234800"/>
                <a:ext cx="926280" cy="901440"/>
              </a:xfrm>
              <a:prstGeom prst="rect">
                <a:avLst/>
              </a:prstGeom>
            </p:spPr>
          </p:pic>
        </mc:Fallback>
      </mc:AlternateContent>
      <p:grpSp>
        <p:nvGrpSpPr>
          <p:cNvPr id="21" name="Group 20">
            <a:extLst>
              <a:ext uri="{FF2B5EF4-FFF2-40B4-BE49-F238E27FC236}">
                <a16:creationId xmlns:a16="http://schemas.microsoft.com/office/drawing/2014/main" id="{5D3E8331-F31D-9D61-3E8E-317921FC335C}"/>
              </a:ext>
            </a:extLst>
          </p:cNvPr>
          <p:cNvGrpSpPr/>
          <p:nvPr/>
        </p:nvGrpSpPr>
        <p:grpSpPr>
          <a:xfrm>
            <a:off x="0" y="1269920"/>
            <a:ext cx="2005560" cy="2372760"/>
            <a:chOff x="-157440" y="1269920"/>
            <a:chExt cx="2005560" cy="2372760"/>
          </a:xfrm>
        </p:grpSpPr>
        <mc:AlternateContent xmlns:mc="http://schemas.openxmlformats.org/markup-compatibility/2006" xmlns:p14="http://schemas.microsoft.com/office/powerpoint/2010/main">
          <mc:Choice Requires="p14">
            <p:contentPart p14:bwMode="auto" r:id="rId13">
              <p14:nvContentPartPr>
                <p14:cNvPr id="13" name="Ink 12">
                  <a:extLst>
                    <a:ext uri="{FF2B5EF4-FFF2-40B4-BE49-F238E27FC236}">
                      <a16:creationId xmlns:a16="http://schemas.microsoft.com/office/drawing/2014/main" id="{7D8AC622-8D5B-0FAF-14F7-9FE9C74A0FC0}"/>
                    </a:ext>
                  </a:extLst>
                </p14:cNvPr>
                <p14:cNvContentPartPr/>
                <p14:nvPr/>
              </p14:nvContentPartPr>
              <p14:xfrm>
                <a:off x="639960" y="2204480"/>
                <a:ext cx="225720" cy="221400"/>
              </p14:xfrm>
            </p:contentPart>
          </mc:Choice>
          <mc:Fallback xmlns="">
            <p:pic>
              <p:nvPicPr>
                <p:cNvPr id="13" name="Ink 12">
                  <a:extLst>
                    <a:ext uri="{FF2B5EF4-FFF2-40B4-BE49-F238E27FC236}">
                      <a16:creationId xmlns:a16="http://schemas.microsoft.com/office/drawing/2014/main" id="{7D8AC622-8D5B-0FAF-14F7-9FE9C74A0FC0}"/>
                    </a:ext>
                  </a:extLst>
                </p:cNvPr>
                <p:cNvPicPr/>
                <p:nvPr/>
              </p:nvPicPr>
              <p:blipFill>
                <a:blip r:embed="rId14"/>
                <a:stretch>
                  <a:fillRect/>
                </a:stretch>
              </p:blipFill>
              <p:spPr>
                <a:xfrm>
                  <a:off x="633840" y="2198360"/>
                  <a:ext cx="23796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4" name="Ink 13">
                  <a:extLst>
                    <a:ext uri="{FF2B5EF4-FFF2-40B4-BE49-F238E27FC236}">
                      <a16:creationId xmlns:a16="http://schemas.microsoft.com/office/drawing/2014/main" id="{B17D7FC9-2C1F-4EDD-5073-841FFEC70AAE}"/>
                    </a:ext>
                  </a:extLst>
                </p14:cNvPr>
                <p14:cNvContentPartPr/>
                <p14:nvPr/>
              </p14:nvContentPartPr>
              <p14:xfrm>
                <a:off x="660120" y="2407880"/>
                <a:ext cx="288360" cy="503640"/>
              </p14:xfrm>
            </p:contentPart>
          </mc:Choice>
          <mc:Fallback xmlns="">
            <p:pic>
              <p:nvPicPr>
                <p:cNvPr id="14" name="Ink 13">
                  <a:extLst>
                    <a:ext uri="{FF2B5EF4-FFF2-40B4-BE49-F238E27FC236}">
                      <a16:creationId xmlns:a16="http://schemas.microsoft.com/office/drawing/2014/main" id="{B17D7FC9-2C1F-4EDD-5073-841FFEC70AAE}"/>
                    </a:ext>
                  </a:extLst>
                </p:cNvPr>
                <p:cNvPicPr/>
                <p:nvPr/>
              </p:nvPicPr>
              <p:blipFill>
                <a:blip r:embed="rId16"/>
                <a:stretch>
                  <a:fillRect/>
                </a:stretch>
              </p:blipFill>
              <p:spPr>
                <a:xfrm>
                  <a:off x="654000" y="2401760"/>
                  <a:ext cx="300600" cy="51588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6" name="Ink 15">
                  <a:extLst>
                    <a:ext uri="{FF2B5EF4-FFF2-40B4-BE49-F238E27FC236}">
                      <a16:creationId xmlns:a16="http://schemas.microsoft.com/office/drawing/2014/main" id="{3395F374-4E85-CF78-6E0A-A0FC2959B76C}"/>
                    </a:ext>
                  </a:extLst>
                </p14:cNvPr>
                <p14:cNvContentPartPr/>
                <p14:nvPr/>
              </p14:nvContentPartPr>
              <p14:xfrm>
                <a:off x="1280040" y="2793800"/>
                <a:ext cx="568080" cy="544680"/>
              </p14:xfrm>
            </p:contentPart>
          </mc:Choice>
          <mc:Fallback xmlns="">
            <p:pic>
              <p:nvPicPr>
                <p:cNvPr id="16" name="Ink 15">
                  <a:extLst>
                    <a:ext uri="{FF2B5EF4-FFF2-40B4-BE49-F238E27FC236}">
                      <a16:creationId xmlns:a16="http://schemas.microsoft.com/office/drawing/2014/main" id="{3395F374-4E85-CF78-6E0A-A0FC2959B76C}"/>
                    </a:ext>
                  </a:extLst>
                </p:cNvPr>
                <p:cNvPicPr/>
                <p:nvPr/>
              </p:nvPicPr>
              <p:blipFill>
                <a:blip r:embed="rId18"/>
                <a:stretch>
                  <a:fillRect/>
                </a:stretch>
              </p:blipFill>
              <p:spPr>
                <a:xfrm>
                  <a:off x="1273920" y="2787680"/>
                  <a:ext cx="5803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7" name="Ink 16">
                  <a:extLst>
                    <a:ext uri="{FF2B5EF4-FFF2-40B4-BE49-F238E27FC236}">
                      <a16:creationId xmlns:a16="http://schemas.microsoft.com/office/drawing/2014/main" id="{E984FD97-76E9-0C94-1AF6-F5C99BC477D0}"/>
                    </a:ext>
                  </a:extLst>
                </p14:cNvPr>
                <p14:cNvContentPartPr/>
                <p14:nvPr/>
              </p14:nvContentPartPr>
              <p14:xfrm>
                <a:off x="1462920" y="3383120"/>
                <a:ext cx="349200" cy="259560"/>
              </p14:xfrm>
            </p:contentPart>
          </mc:Choice>
          <mc:Fallback xmlns="">
            <p:pic>
              <p:nvPicPr>
                <p:cNvPr id="17" name="Ink 16">
                  <a:extLst>
                    <a:ext uri="{FF2B5EF4-FFF2-40B4-BE49-F238E27FC236}">
                      <a16:creationId xmlns:a16="http://schemas.microsoft.com/office/drawing/2014/main" id="{E984FD97-76E9-0C94-1AF6-F5C99BC477D0}"/>
                    </a:ext>
                  </a:extLst>
                </p:cNvPr>
                <p:cNvPicPr/>
                <p:nvPr/>
              </p:nvPicPr>
              <p:blipFill>
                <a:blip r:embed="rId20"/>
                <a:stretch>
                  <a:fillRect/>
                </a:stretch>
              </p:blipFill>
              <p:spPr>
                <a:xfrm>
                  <a:off x="1456800" y="3377000"/>
                  <a:ext cx="361440" cy="2718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9" name="Ink 18">
                  <a:extLst>
                    <a:ext uri="{FF2B5EF4-FFF2-40B4-BE49-F238E27FC236}">
                      <a16:creationId xmlns:a16="http://schemas.microsoft.com/office/drawing/2014/main" id="{C229FC81-0955-D2AE-FA52-3824E7C8C0E3}"/>
                    </a:ext>
                  </a:extLst>
                </p14:cNvPr>
                <p14:cNvContentPartPr/>
                <p14:nvPr/>
              </p14:nvContentPartPr>
              <p14:xfrm>
                <a:off x="-157440" y="1298000"/>
                <a:ext cx="995760" cy="873000"/>
              </p14:xfrm>
            </p:contentPart>
          </mc:Choice>
          <mc:Fallback xmlns="">
            <p:pic>
              <p:nvPicPr>
                <p:cNvPr id="19" name="Ink 18">
                  <a:extLst>
                    <a:ext uri="{FF2B5EF4-FFF2-40B4-BE49-F238E27FC236}">
                      <a16:creationId xmlns:a16="http://schemas.microsoft.com/office/drawing/2014/main" id="{C229FC81-0955-D2AE-FA52-3824E7C8C0E3}"/>
                    </a:ext>
                  </a:extLst>
                </p:cNvPr>
                <p:cNvPicPr/>
                <p:nvPr/>
              </p:nvPicPr>
              <p:blipFill>
                <a:blip r:embed="rId22"/>
                <a:stretch>
                  <a:fillRect/>
                </a:stretch>
              </p:blipFill>
              <p:spPr>
                <a:xfrm>
                  <a:off x="-163560" y="1291880"/>
                  <a:ext cx="1008000" cy="885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20" name="Ink 19">
                  <a:extLst>
                    <a:ext uri="{FF2B5EF4-FFF2-40B4-BE49-F238E27FC236}">
                      <a16:creationId xmlns:a16="http://schemas.microsoft.com/office/drawing/2014/main" id="{C5CF8A83-9669-C964-4F4E-0FD602B8F9B6}"/>
                    </a:ext>
                  </a:extLst>
                </p14:cNvPr>
                <p14:cNvContentPartPr/>
                <p14:nvPr/>
              </p14:nvContentPartPr>
              <p14:xfrm>
                <a:off x="377520" y="1269920"/>
                <a:ext cx="222120" cy="783360"/>
              </p14:xfrm>
            </p:contentPart>
          </mc:Choice>
          <mc:Fallback xmlns="">
            <p:pic>
              <p:nvPicPr>
                <p:cNvPr id="20" name="Ink 19">
                  <a:extLst>
                    <a:ext uri="{FF2B5EF4-FFF2-40B4-BE49-F238E27FC236}">
                      <a16:creationId xmlns:a16="http://schemas.microsoft.com/office/drawing/2014/main" id="{C5CF8A83-9669-C964-4F4E-0FD602B8F9B6}"/>
                    </a:ext>
                  </a:extLst>
                </p:cNvPr>
                <p:cNvPicPr/>
                <p:nvPr/>
              </p:nvPicPr>
              <p:blipFill>
                <a:blip r:embed="rId24"/>
                <a:stretch>
                  <a:fillRect/>
                </a:stretch>
              </p:blipFill>
              <p:spPr>
                <a:xfrm>
                  <a:off x="371400" y="1263800"/>
                  <a:ext cx="234360" cy="795600"/>
                </a:xfrm>
                <a:prstGeom prst="rect">
                  <a:avLst/>
                </a:prstGeom>
              </p:spPr>
            </p:pic>
          </mc:Fallback>
        </mc:AlternateContent>
      </p:grpSp>
      <p:grpSp>
        <p:nvGrpSpPr>
          <p:cNvPr id="26" name="Group 25">
            <a:extLst>
              <a:ext uri="{FF2B5EF4-FFF2-40B4-BE49-F238E27FC236}">
                <a16:creationId xmlns:a16="http://schemas.microsoft.com/office/drawing/2014/main" id="{3B1CC626-FCF4-DE2C-793B-C9DD08D3C822}"/>
              </a:ext>
            </a:extLst>
          </p:cNvPr>
          <p:cNvGrpSpPr/>
          <p:nvPr/>
        </p:nvGrpSpPr>
        <p:grpSpPr>
          <a:xfrm>
            <a:off x="10411080" y="3668240"/>
            <a:ext cx="1663560" cy="1711800"/>
            <a:chOff x="10411080" y="3668240"/>
            <a:chExt cx="1663560" cy="1711800"/>
          </a:xfrm>
        </p:grpSpPr>
        <mc:AlternateContent xmlns:mc="http://schemas.openxmlformats.org/markup-compatibility/2006" xmlns:p14="http://schemas.microsoft.com/office/powerpoint/2010/main">
          <mc:Choice Requires="p14">
            <p:contentPart p14:bwMode="auto" r:id="rId25">
              <p14:nvContentPartPr>
                <p14:cNvPr id="22" name="Ink 21">
                  <a:extLst>
                    <a:ext uri="{FF2B5EF4-FFF2-40B4-BE49-F238E27FC236}">
                      <a16:creationId xmlns:a16="http://schemas.microsoft.com/office/drawing/2014/main" id="{EBAD8D1A-3395-F02B-91BD-01E6E84C9C69}"/>
                    </a:ext>
                  </a:extLst>
                </p14:cNvPr>
                <p14:cNvContentPartPr/>
                <p14:nvPr/>
              </p14:nvContentPartPr>
              <p14:xfrm>
                <a:off x="10932000" y="3860480"/>
                <a:ext cx="360" cy="241200"/>
              </p14:xfrm>
            </p:contentPart>
          </mc:Choice>
          <mc:Fallback xmlns="">
            <p:pic>
              <p:nvPicPr>
                <p:cNvPr id="22" name="Ink 21">
                  <a:extLst>
                    <a:ext uri="{FF2B5EF4-FFF2-40B4-BE49-F238E27FC236}">
                      <a16:creationId xmlns:a16="http://schemas.microsoft.com/office/drawing/2014/main" id="{EBAD8D1A-3395-F02B-91BD-01E6E84C9C69}"/>
                    </a:ext>
                  </a:extLst>
                </p:cNvPr>
                <p:cNvPicPr/>
                <p:nvPr/>
              </p:nvPicPr>
              <p:blipFill>
                <a:blip r:embed="rId26"/>
                <a:stretch>
                  <a:fillRect/>
                </a:stretch>
              </p:blipFill>
              <p:spPr>
                <a:xfrm>
                  <a:off x="10925880" y="3854360"/>
                  <a:ext cx="126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23" name="Ink 22">
                  <a:extLst>
                    <a:ext uri="{FF2B5EF4-FFF2-40B4-BE49-F238E27FC236}">
                      <a16:creationId xmlns:a16="http://schemas.microsoft.com/office/drawing/2014/main" id="{527DB4FA-210F-EB45-2BBF-B22F00BBF718}"/>
                    </a:ext>
                  </a:extLst>
                </p14:cNvPr>
                <p14:cNvContentPartPr/>
                <p14:nvPr/>
              </p14:nvContentPartPr>
              <p14:xfrm>
                <a:off x="10728960" y="3974240"/>
                <a:ext cx="419040" cy="39600"/>
              </p14:xfrm>
            </p:contentPart>
          </mc:Choice>
          <mc:Fallback xmlns="">
            <p:pic>
              <p:nvPicPr>
                <p:cNvPr id="23" name="Ink 22">
                  <a:extLst>
                    <a:ext uri="{FF2B5EF4-FFF2-40B4-BE49-F238E27FC236}">
                      <a16:creationId xmlns:a16="http://schemas.microsoft.com/office/drawing/2014/main" id="{527DB4FA-210F-EB45-2BBF-B22F00BBF718}"/>
                    </a:ext>
                  </a:extLst>
                </p:cNvPr>
                <p:cNvPicPr/>
                <p:nvPr/>
              </p:nvPicPr>
              <p:blipFill>
                <a:blip r:embed="rId28"/>
                <a:stretch>
                  <a:fillRect/>
                </a:stretch>
              </p:blipFill>
              <p:spPr>
                <a:xfrm>
                  <a:off x="10722840" y="3968120"/>
                  <a:ext cx="43128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5" name="Ink 24">
                  <a:extLst>
                    <a:ext uri="{FF2B5EF4-FFF2-40B4-BE49-F238E27FC236}">
                      <a16:creationId xmlns:a16="http://schemas.microsoft.com/office/drawing/2014/main" id="{92500C28-2378-DBE3-A505-B5D690F53934}"/>
                    </a:ext>
                  </a:extLst>
                </p14:cNvPr>
                <p14:cNvContentPartPr/>
                <p14:nvPr/>
              </p14:nvContentPartPr>
              <p14:xfrm>
                <a:off x="10411080" y="3668240"/>
                <a:ext cx="1663560" cy="1711800"/>
              </p14:xfrm>
            </p:contentPart>
          </mc:Choice>
          <mc:Fallback xmlns="">
            <p:pic>
              <p:nvPicPr>
                <p:cNvPr id="25" name="Ink 24">
                  <a:extLst>
                    <a:ext uri="{FF2B5EF4-FFF2-40B4-BE49-F238E27FC236}">
                      <a16:creationId xmlns:a16="http://schemas.microsoft.com/office/drawing/2014/main" id="{92500C28-2378-DBE3-A505-B5D690F53934}"/>
                    </a:ext>
                  </a:extLst>
                </p:cNvPr>
                <p:cNvPicPr/>
                <p:nvPr/>
              </p:nvPicPr>
              <p:blipFill>
                <a:blip r:embed="rId30"/>
                <a:stretch>
                  <a:fillRect/>
                </a:stretch>
              </p:blipFill>
              <p:spPr>
                <a:xfrm>
                  <a:off x="10404960" y="3662120"/>
                  <a:ext cx="1675800" cy="1724040"/>
                </a:xfrm>
                <a:prstGeom prst="rect">
                  <a:avLst/>
                </a:prstGeom>
              </p:spPr>
            </p:pic>
          </mc:Fallback>
        </mc:AlternateContent>
      </p:grpSp>
      <p:sp>
        <p:nvSpPr>
          <p:cNvPr id="27" name="TextBox 26"/>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19 of 29</a:t>
            </a:r>
          </a:p>
        </p:txBody>
      </p:sp>
    </p:spTree>
    <p:extLst>
      <p:ext uri="{BB962C8B-B14F-4D97-AF65-F5344CB8AC3E}">
        <p14:creationId xmlns:p14="http://schemas.microsoft.com/office/powerpoint/2010/main" val="8536934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28600"/>
            <a:ext cx="10698480" cy="411480"/>
          </a:xfrm>
          <a:prstGeom prst="rect">
            <a:avLst/>
          </a:prstGeom>
          <a:noFill/>
        </p:spPr>
        <p:txBody>
          <a:bodyPr wrap="none" lIns="27432" tIns="18288" rIns="27432" bIns="18288">
            <a:spAutoFit/>
          </a:bodyPr>
          <a:lstStyle/>
          <a:p>
            <a:pPr>
              <a:defRPr sz="2200" b="1">
                <a:solidFill>
                  <a:srgbClr val="2C3137"/>
                </a:solidFill>
                <a:latin typeface="Arial"/>
              </a:defRPr>
            </a:pPr>
            <a:r>
              <a:t>Workbook Rosetta — Tab Colors, Cohorts, and Data Flow</a:t>
            </a:r>
          </a:p>
        </p:txBody>
      </p:sp>
      <p:sp>
        <p:nvSpPr>
          <p:cNvPr id="3" name="TextBox 2"/>
          <p:cNvSpPr txBox="1"/>
          <p:nvPr/>
        </p:nvSpPr>
        <p:spPr>
          <a:xfrm>
            <a:off x="548640" y="713232"/>
            <a:ext cx="10698480" cy="411480"/>
          </a:xfrm>
          <a:prstGeom prst="rect">
            <a:avLst/>
          </a:prstGeom>
          <a:noFill/>
        </p:spPr>
        <p:txBody>
          <a:bodyPr wrap="none" lIns="27432" tIns="18288" rIns="27432" bIns="18288">
            <a:spAutoFit/>
          </a:bodyPr>
          <a:lstStyle/>
          <a:p>
            <a:pPr>
              <a:defRPr sz="1050" b="0">
                <a:solidFill>
                  <a:srgbClr val="3C3C3C"/>
                </a:solidFill>
                <a:latin typeface="Arial"/>
              </a:defRPr>
            </a:pPr>
            <a:r>
              <a:t>How to read the ASOT workbook: raw A/C/E inputs are normalized, joined, converted into arrivals, run through matched Ground and Edge paths, then summarized for dashboard and MATLAB handoff.</a:t>
            </a:r>
          </a:p>
        </p:txBody>
      </p:sp>
      <p:graphicFrame>
        <p:nvGraphicFramePr>
          <p:cNvPr id="4" name="Table 3"/>
          <p:cNvGraphicFramePr>
            <a:graphicFrameLocks noGrp="1"/>
          </p:cNvGraphicFramePr>
          <p:nvPr/>
        </p:nvGraphicFramePr>
        <p:xfrm>
          <a:off x="502920" y="1143000"/>
          <a:ext cx="10972794" cy="868680"/>
        </p:xfrm>
        <a:graphic>
          <a:graphicData uri="http://schemas.openxmlformats.org/drawingml/2006/table">
            <a:tbl>
              <a:tblPr firstRow="1" bandRow="1">
                <a:tableStyleId>{5C22544A-7EE6-4342-B048-85BDC9FD1C3A}</a:tableStyleId>
              </a:tblPr>
              <a:tblGrid>
                <a:gridCol w="1567542">
                  <a:extLst>
                    <a:ext uri="{9D8B030D-6E8A-4147-A177-3AD203B41FA5}">
                      <a16:colId xmlns:a16="http://schemas.microsoft.com/office/drawing/2014/main" val="20000"/>
                    </a:ext>
                  </a:extLst>
                </a:gridCol>
                <a:gridCol w="1567542">
                  <a:extLst>
                    <a:ext uri="{9D8B030D-6E8A-4147-A177-3AD203B41FA5}">
                      <a16:colId xmlns:a16="http://schemas.microsoft.com/office/drawing/2014/main" val="20001"/>
                    </a:ext>
                  </a:extLst>
                </a:gridCol>
                <a:gridCol w="1567542">
                  <a:extLst>
                    <a:ext uri="{9D8B030D-6E8A-4147-A177-3AD203B41FA5}">
                      <a16:colId xmlns:a16="http://schemas.microsoft.com/office/drawing/2014/main" val="20002"/>
                    </a:ext>
                  </a:extLst>
                </a:gridCol>
                <a:gridCol w="1567542">
                  <a:extLst>
                    <a:ext uri="{9D8B030D-6E8A-4147-A177-3AD203B41FA5}">
                      <a16:colId xmlns:a16="http://schemas.microsoft.com/office/drawing/2014/main" val="20003"/>
                    </a:ext>
                  </a:extLst>
                </a:gridCol>
                <a:gridCol w="1567542">
                  <a:extLst>
                    <a:ext uri="{9D8B030D-6E8A-4147-A177-3AD203B41FA5}">
                      <a16:colId xmlns:a16="http://schemas.microsoft.com/office/drawing/2014/main" val="20004"/>
                    </a:ext>
                  </a:extLst>
                </a:gridCol>
                <a:gridCol w="1567542">
                  <a:extLst>
                    <a:ext uri="{9D8B030D-6E8A-4147-A177-3AD203B41FA5}">
                      <a16:colId xmlns:a16="http://schemas.microsoft.com/office/drawing/2014/main" val="20005"/>
                    </a:ext>
                  </a:extLst>
                </a:gridCol>
                <a:gridCol w="1567542">
                  <a:extLst>
                    <a:ext uri="{9D8B030D-6E8A-4147-A177-3AD203B41FA5}">
                      <a16:colId xmlns:a16="http://schemas.microsoft.com/office/drawing/2014/main" val="20006"/>
                    </a:ext>
                  </a:extLst>
                </a:gridCol>
              </a:tblGrid>
              <a:tr h="434340">
                <a:tc>
                  <a:txBody>
                    <a:bodyPr/>
                    <a:lstStyle/>
                    <a:p>
                      <a:pPr algn="ctr">
                        <a:defRPr sz="800" b="1">
                          <a:solidFill>
                            <a:srgbClr val="000000"/>
                          </a:solidFill>
                          <a:latin typeface="Arial"/>
                        </a:defRPr>
                      </a:pPr>
                      <a:r>
                        <a:t>Raw A/C/E</a:t>
                      </a:r>
                    </a:p>
                  </a:txBody>
                  <a:tcPr>
                    <a:solidFill>
                      <a:srgbClr val="D9E1F2"/>
                    </a:solidFill>
                  </a:tcPr>
                </a:tc>
                <a:tc>
                  <a:txBody>
                    <a:bodyPr/>
                    <a:lstStyle/>
                    <a:p>
                      <a:pPr algn="ctr">
                        <a:defRPr sz="800" b="1">
                          <a:solidFill>
                            <a:srgbClr val="000000"/>
                          </a:solidFill>
                          <a:latin typeface="Arial"/>
                        </a:defRPr>
                      </a:pPr>
                      <a:r>
                        <a:t>Normalize</a:t>
                      </a:r>
                    </a:p>
                  </a:txBody>
                  <a:tcPr>
                    <a:solidFill>
                      <a:srgbClr val="EADDF7"/>
                    </a:solidFill>
                  </a:tcPr>
                </a:tc>
                <a:tc>
                  <a:txBody>
                    <a:bodyPr/>
                    <a:lstStyle/>
                    <a:p>
                      <a:pPr algn="ctr">
                        <a:defRPr sz="800" b="1">
                          <a:solidFill>
                            <a:srgbClr val="000000"/>
                          </a:solidFill>
                          <a:latin typeface="Arial"/>
                        </a:defRPr>
                      </a:pPr>
                      <a:r>
                        <a:t>Join / Audit</a:t>
                      </a:r>
                    </a:p>
                  </a:txBody>
                  <a:tcPr>
                    <a:solidFill>
                      <a:srgbClr val="EADDF7"/>
                    </a:solidFill>
                  </a:tcPr>
                </a:tc>
                <a:tc>
                  <a:txBody>
                    <a:bodyPr/>
                    <a:lstStyle/>
                    <a:p>
                      <a:pPr algn="ctr">
                        <a:defRPr sz="800" b="1">
                          <a:solidFill>
                            <a:srgbClr val="000000"/>
                          </a:solidFill>
                          <a:latin typeface="Arial"/>
                        </a:defRPr>
                      </a:pPr>
                      <a:r>
                        <a:t>Arrivals</a:t>
                      </a:r>
                    </a:p>
                  </a:txBody>
                  <a:tcPr>
                    <a:solidFill>
                      <a:srgbClr val="DAF2DA"/>
                    </a:solidFill>
                  </a:tcPr>
                </a:tc>
                <a:tc>
                  <a:txBody>
                    <a:bodyPr/>
                    <a:lstStyle/>
                    <a:p>
                      <a:pPr algn="ctr">
                        <a:defRPr sz="800" b="1">
                          <a:solidFill>
                            <a:srgbClr val="000000"/>
                          </a:solidFill>
                          <a:latin typeface="Arial"/>
                        </a:defRPr>
                      </a:pPr>
                      <a:r>
                        <a:t>Ground + Edge</a:t>
                      </a:r>
                    </a:p>
                  </a:txBody>
                  <a:tcPr>
                    <a:solidFill>
                      <a:srgbClr val="DAF2DA"/>
                    </a:solidFill>
                  </a:tcPr>
                </a:tc>
                <a:tc>
                  <a:txBody>
                    <a:bodyPr/>
                    <a:lstStyle/>
                    <a:p>
                      <a:pPr algn="ctr">
                        <a:defRPr sz="800" b="1">
                          <a:solidFill>
                            <a:srgbClr val="000000"/>
                          </a:solidFill>
                          <a:latin typeface="Arial"/>
                        </a:defRPr>
                      </a:pPr>
                      <a:r>
                        <a:t>Compare / Stats</a:t>
                      </a:r>
                    </a:p>
                  </a:txBody>
                  <a:tcPr>
                    <a:solidFill>
                      <a:srgbClr val="F4E2CC"/>
                    </a:solidFill>
                  </a:tcPr>
                </a:tc>
                <a:tc>
                  <a:txBody>
                    <a:bodyPr/>
                    <a:lstStyle/>
                    <a:p>
                      <a:pPr algn="ctr">
                        <a:defRPr sz="800" b="1">
                          <a:solidFill>
                            <a:srgbClr val="000000"/>
                          </a:solidFill>
                          <a:latin typeface="Arial"/>
                        </a:defRPr>
                      </a:pPr>
                      <a:r>
                        <a:t>Dashboard + MATLAB</a:t>
                      </a:r>
                    </a:p>
                  </a:txBody>
                  <a:tcPr>
                    <a:solidFill>
                      <a:srgbClr val="D9E1F2"/>
                    </a:solidFill>
                  </a:tcPr>
                </a:tc>
                <a:extLst>
                  <a:ext uri="{0D108BD9-81ED-4DB2-BD59-A6C34878D82A}">
                    <a16:rowId xmlns:a16="http://schemas.microsoft.com/office/drawing/2014/main" val="10000"/>
                  </a:ext>
                </a:extLst>
              </a:tr>
              <a:tr h="434340">
                <a:tc>
                  <a:txBody>
                    <a:bodyPr/>
                    <a:lstStyle/>
                    <a:p>
                      <a:pPr algn="ctr">
                        <a:defRPr sz="1000" b="1">
                          <a:solidFill>
                            <a:srgbClr val="3C3C3C"/>
                          </a:solidFill>
                          <a:latin typeface="Arial"/>
                        </a:defRPr>
                      </a:pPr>
                      <a:r>
                        <a:t>→</a:t>
                      </a:r>
                    </a:p>
                  </a:txBody>
                  <a:tcPr>
                    <a:solidFill>
                      <a:srgbClr val="FFFFFF"/>
                    </a:solidFill>
                  </a:tcPr>
                </a:tc>
                <a:tc>
                  <a:txBody>
                    <a:bodyPr/>
                    <a:lstStyle/>
                    <a:p>
                      <a:pPr algn="ctr">
                        <a:defRPr sz="1000" b="1">
                          <a:solidFill>
                            <a:srgbClr val="3C3C3C"/>
                          </a:solidFill>
                          <a:latin typeface="Arial"/>
                        </a:defRPr>
                      </a:pPr>
                      <a:r>
                        <a:t>→</a:t>
                      </a:r>
                    </a:p>
                  </a:txBody>
                  <a:tcPr>
                    <a:solidFill>
                      <a:srgbClr val="FFFFFF"/>
                    </a:solidFill>
                  </a:tcPr>
                </a:tc>
                <a:tc>
                  <a:txBody>
                    <a:bodyPr/>
                    <a:lstStyle/>
                    <a:p>
                      <a:pPr algn="ctr">
                        <a:defRPr sz="1000" b="1">
                          <a:solidFill>
                            <a:srgbClr val="3C3C3C"/>
                          </a:solidFill>
                          <a:latin typeface="Arial"/>
                        </a:defRPr>
                      </a:pPr>
                      <a:r>
                        <a:t>→</a:t>
                      </a:r>
                    </a:p>
                  </a:txBody>
                  <a:tcPr>
                    <a:solidFill>
                      <a:srgbClr val="FFFFFF"/>
                    </a:solidFill>
                  </a:tcPr>
                </a:tc>
                <a:tc>
                  <a:txBody>
                    <a:bodyPr/>
                    <a:lstStyle/>
                    <a:p>
                      <a:pPr algn="ctr">
                        <a:defRPr sz="1000" b="1">
                          <a:solidFill>
                            <a:srgbClr val="3C3C3C"/>
                          </a:solidFill>
                          <a:latin typeface="Arial"/>
                        </a:defRPr>
                      </a:pPr>
                      <a:r>
                        <a:t>→</a:t>
                      </a:r>
                    </a:p>
                  </a:txBody>
                  <a:tcPr>
                    <a:solidFill>
                      <a:srgbClr val="FFFFFF"/>
                    </a:solidFill>
                  </a:tcPr>
                </a:tc>
                <a:tc>
                  <a:txBody>
                    <a:bodyPr/>
                    <a:lstStyle/>
                    <a:p>
                      <a:pPr algn="ctr">
                        <a:defRPr sz="1000" b="1">
                          <a:solidFill>
                            <a:srgbClr val="3C3C3C"/>
                          </a:solidFill>
                          <a:latin typeface="Arial"/>
                        </a:defRPr>
                      </a:pPr>
                      <a:r>
                        <a:t>→</a:t>
                      </a:r>
                    </a:p>
                  </a:txBody>
                  <a:tcPr>
                    <a:solidFill>
                      <a:srgbClr val="FFFFFF"/>
                    </a:solidFill>
                  </a:tcPr>
                </a:tc>
                <a:tc>
                  <a:txBody>
                    <a:bodyPr/>
                    <a:lstStyle/>
                    <a:p>
                      <a:pPr algn="ctr">
                        <a:defRPr sz="1000" b="1">
                          <a:solidFill>
                            <a:srgbClr val="3C3C3C"/>
                          </a:solidFill>
                          <a:latin typeface="Arial"/>
                        </a:defRPr>
                      </a:pPr>
                      <a:r>
                        <a:t>→</a:t>
                      </a:r>
                    </a:p>
                  </a:txBody>
                  <a:tcPr>
                    <a:solidFill>
                      <a:srgbClr val="FFFFFF"/>
                    </a:solidFill>
                  </a:tcPr>
                </a:tc>
                <a:tc>
                  <a:txBody>
                    <a:bodyPr/>
                    <a:lstStyle/>
                    <a:p>
                      <a:pPr algn="ctr">
                        <a:defRPr sz="1000" b="1">
                          <a:solidFill>
                            <a:srgbClr val="3C3C3C"/>
                          </a:solidFill>
                          <a:latin typeface="Arial"/>
                        </a:defRPr>
                      </a:pPr>
                      <a:r>
                        <a:t>OUTPUT</a:t>
                      </a:r>
                    </a:p>
                  </a:txBody>
                  <a:tcPr>
                    <a:solidFill>
                      <a:srgbClr val="FFFFFF"/>
                    </a:solidFill>
                  </a:tcPr>
                </a:tc>
                <a:extLst>
                  <a:ext uri="{0D108BD9-81ED-4DB2-BD59-A6C34878D82A}">
                    <a16:rowId xmlns:a16="http://schemas.microsoft.com/office/drawing/2014/main" val="10001"/>
                  </a:ext>
                </a:extLst>
              </a:tr>
            </a:tbl>
          </a:graphicData>
        </a:graphic>
      </p:graphicFrame>
      <p:graphicFrame>
        <p:nvGraphicFramePr>
          <p:cNvPr id="5" name="Table 4"/>
          <p:cNvGraphicFramePr>
            <a:graphicFrameLocks noGrp="1"/>
          </p:cNvGraphicFramePr>
          <p:nvPr/>
        </p:nvGraphicFramePr>
        <p:xfrm>
          <a:off x="502920" y="2240280"/>
          <a:ext cx="11064240" cy="324612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2834640">
                  <a:extLst>
                    <a:ext uri="{9D8B030D-6E8A-4147-A177-3AD203B41FA5}">
                      <a16:colId xmlns:a16="http://schemas.microsoft.com/office/drawing/2014/main" val="20004"/>
                    </a:ext>
                  </a:extLst>
                </a:gridCol>
              </a:tblGrid>
              <a:tr h="405765">
                <a:tc>
                  <a:txBody>
                    <a:bodyPr/>
                    <a:lstStyle/>
                    <a:p>
                      <a:pPr algn="ctr">
                        <a:defRPr sz="819" b="1">
                          <a:solidFill>
                            <a:srgbClr val="FFFFFF"/>
                          </a:solidFill>
                          <a:latin typeface="Arial"/>
                        </a:defRPr>
                      </a:pPr>
                      <a:r>
                        <a:t>Color</a:t>
                      </a:r>
                    </a:p>
                  </a:txBody>
                  <a:tcPr>
                    <a:solidFill>
                      <a:srgbClr val="1F4E79"/>
                    </a:solidFill>
                  </a:tcPr>
                </a:tc>
                <a:tc>
                  <a:txBody>
                    <a:bodyPr/>
                    <a:lstStyle/>
                    <a:p>
                      <a:pPr algn="ctr">
                        <a:defRPr sz="819" b="1">
                          <a:solidFill>
                            <a:srgbClr val="FFFFFF"/>
                          </a:solidFill>
                          <a:latin typeface="Arial"/>
                        </a:defRPr>
                      </a:pPr>
                      <a:r>
                        <a:t>Family</a:t>
                      </a:r>
                    </a:p>
                  </a:txBody>
                  <a:tcPr>
                    <a:solidFill>
                      <a:srgbClr val="1F4E79"/>
                    </a:solidFill>
                  </a:tcPr>
                </a:tc>
                <a:tc>
                  <a:txBody>
                    <a:bodyPr/>
                    <a:lstStyle/>
                    <a:p>
                      <a:pPr algn="ctr">
                        <a:defRPr sz="819" b="1">
                          <a:solidFill>
                            <a:srgbClr val="FFFFFF"/>
                          </a:solidFill>
                          <a:latin typeface="Arial"/>
                        </a:defRPr>
                      </a:pPr>
                      <a:r>
                        <a:t>Representative tabs</a:t>
                      </a:r>
                    </a:p>
                  </a:txBody>
                  <a:tcPr>
                    <a:solidFill>
                      <a:srgbClr val="1F4E79"/>
                    </a:solidFill>
                  </a:tcPr>
                </a:tc>
                <a:tc>
                  <a:txBody>
                    <a:bodyPr/>
                    <a:lstStyle/>
                    <a:p>
                      <a:pPr algn="ctr">
                        <a:defRPr sz="819" b="1">
                          <a:solidFill>
                            <a:srgbClr val="FFFFFF"/>
                          </a:solidFill>
                          <a:latin typeface="Arial"/>
                        </a:defRPr>
                      </a:pPr>
                      <a:r>
                        <a:t>What happens there</a:t>
                      </a:r>
                    </a:p>
                  </a:txBody>
                  <a:tcPr>
                    <a:solidFill>
                      <a:srgbClr val="1F4E79"/>
                    </a:solidFill>
                  </a:tcPr>
                </a:tc>
                <a:tc>
                  <a:txBody>
                    <a:bodyPr/>
                    <a:lstStyle/>
                    <a:p>
                      <a:pPr algn="ctr">
                        <a:defRPr sz="819" b="1">
                          <a:solidFill>
                            <a:srgbClr val="FFFFFF"/>
                          </a:solidFill>
                          <a:latin typeface="Arial"/>
                        </a:defRPr>
                      </a:pPr>
                      <a:r>
                        <a:t>Reviewer cue</a:t>
                      </a:r>
                    </a:p>
                  </a:txBody>
                  <a:tcPr>
                    <a:solidFill>
                      <a:srgbClr val="1F4E79"/>
                    </a:solidFill>
                  </a:tcPr>
                </a:tc>
                <a:extLst>
                  <a:ext uri="{0D108BD9-81ED-4DB2-BD59-A6C34878D82A}">
                    <a16:rowId xmlns:a16="http://schemas.microsoft.com/office/drawing/2014/main" val="10000"/>
                  </a:ext>
                </a:extLst>
              </a:tr>
              <a:tr h="405765">
                <a:tc>
                  <a:txBody>
                    <a:bodyPr/>
                    <a:lstStyle/>
                    <a:p>
                      <a:pPr algn="ctr">
                        <a:defRPr sz="770" b="1">
                          <a:solidFill>
                            <a:srgbClr val="000000"/>
                          </a:solidFill>
                          <a:latin typeface="Arial"/>
                        </a:defRPr>
                      </a:pPr>
                      <a:r>
                        <a:t>Blue</a:t>
                      </a:r>
                    </a:p>
                  </a:txBody>
                  <a:tcPr>
                    <a:solidFill>
                      <a:srgbClr val="D9E1F2"/>
                    </a:solidFill>
                  </a:tcPr>
                </a:tc>
                <a:tc>
                  <a:txBody>
                    <a:bodyPr/>
                    <a:lstStyle/>
                    <a:p>
                      <a:pPr algn="l">
                        <a:defRPr sz="770" b="1">
                          <a:solidFill>
                            <a:srgbClr val="000000"/>
                          </a:solidFill>
                          <a:latin typeface="Arial"/>
                        </a:defRPr>
                      </a:pPr>
                      <a:r>
                        <a:t>Executive control</a:t>
                      </a:r>
                    </a:p>
                  </a:txBody>
                  <a:tcPr>
                    <a:solidFill>
                      <a:srgbClr val="FFFFFF"/>
                    </a:solidFill>
                  </a:tcPr>
                </a:tc>
                <a:tc>
                  <a:txBody>
                    <a:bodyPr/>
                    <a:lstStyle/>
                    <a:p>
                      <a:pPr algn="l">
                        <a:defRPr sz="730" b="0">
                          <a:solidFill>
                            <a:srgbClr val="000000"/>
                          </a:solidFill>
                          <a:latin typeface="Arial"/>
                        </a:defRPr>
                      </a:pPr>
                      <a:r>
                        <a:t>DASHBOARD, INTRO, Settings, Protocol, Provenance</a:t>
                      </a:r>
                    </a:p>
                  </a:txBody>
                  <a:tcPr>
                    <a:solidFill>
                      <a:srgbClr val="FFFFFF"/>
                    </a:solidFill>
                  </a:tcPr>
                </a:tc>
                <a:tc>
                  <a:txBody>
                    <a:bodyPr/>
                    <a:lstStyle/>
                    <a:p>
                      <a:pPr algn="l">
                        <a:defRPr sz="730" b="0">
                          <a:solidFill>
                            <a:srgbClr val="000000"/>
                          </a:solidFill>
                          <a:latin typeface="Arial"/>
                        </a:defRPr>
                      </a:pPr>
                      <a:r>
                        <a:t>Defines purpose, schema, control dials, and provenance.</a:t>
                      </a:r>
                    </a:p>
                  </a:txBody>
                  <a:tcPr>
                    <a:solidFill>
                      <a:srgbClr val="FFFFFF"/>
                    </a:solidFill>
                  </a:tcPr>
                </a:tc>
                <a:tc>
                  <a:txBody>
                    <a:bodyPr/>
                    <a:lstStyle/>
                    <a:p>
                      <a:pPr algn="l">
                        <a:defRPr sz="730" b="0">
                          <a:solidFill>
                            <a:srgbClr val="000000"/>
                          </a:solidFill>
                          <a:latin typeface="Arial"/>
                        </a:defRPr>
                      </a:pPr>
                      <a:r>
                        <a:t>Start here. Explains what the workbook is and what is adjustable.</a:t>
                      </a:r>
                    </a:p>
                  </a:txBody>
                  <a:tcPr>
                    <a:solidFill>
                      <a:srgbClr val="FFFFFF"/>
                    </a:solidFill>
                  </a:tcPr>
                </a:tc>
                <a:extLst>
                  <a:ext uri="{0D108BD9-81ED-4DB2-BD59-A6C34878D82A}">
                    <a16:rowId xmlns:a16="http://schemas.microsoft.com/office/drawing/2014/main" val="10001"/>
                  </a:ext>
                </a:extLst>
              </a:tr>
              <a:tr h="405765">
                <a:tc>
                  <a:txBody>
                    <a:bodyPr/>
                    <a:lstStyle/>
                    <a:p>
                      <a:pPr algn="ctr">
                        <a:defRPr sz="770" b="1">
                          <a:solidFill>
                            <a:srgbClr val="000000"/>
                          </a:solidFill>
                          <a:latin typeface="Arial"/>
                        </a:defRPr>
                      </a:pPr>
                      <a:r>
                        <a:t>Green</a:t>
                      </a:r>
                    </a:p>
                  </a:txBody>
                  <a:tcPr>
                    <a:solidFill>
                      <a:srgbClr val="DAF2DA"/>
                    </a:solidFill>
                  </a:tcPr>
                </a:tc>
                <a:tc>
                  <a:txBody>
                    <a:bodyPr/>
                    <a:lstStyle/>
                    <a:p>
                      <a:pPr algn="l">
                        <a:defRPr sz="770" b="1">
                          <a:solidFill>
                            <a:srgbClr val="000000"/>
                          </a:solidFill>
                          <a:latin typeface="Arial"/>
                        </a:defRPr>
                      </a:pPr>
                      <a:r>
                        <a:t>Core cohort / DES engine</a:t>
                      </a:r>
                    </a:p>
                  </a:txBody>
                  <a:tcPr>
                    <a:solidFill>
                      <a:srgbClr val="F8F8F8"/>
                    </a:solidFill>
                  </a:tcPr>
                </a:tc>
                <a:tc>
                  <a:txBody>
                    <a:bodyPr/>
                    <a:lstStyle/>
                    <a:p>
                      <a:pPr algn="l">
                        <a:defRPr sz="730" b="0">
                          <a:solidFill>
                            <a:srgbClr val="000000"/>
                          </a:solidFill>
                          <a:latin typeface="Arial"/>
                        </a:defRPr>
                      </a:pPr>
                      <a:r>
                        <a:t>Arrivals, RGS_Ground_Run, Edge_Run, Comparison</a:t>
                      </a:r>
                    </a:p>
                  </a:txBody>
                  <a:tcPr>
                    <a:solidFill>
                      <a:srgbClr val="F8F8F8"/>
                    </a:solidFill>
                  </a:tcPr>
                </a:tc>
                <a:tc>
                  <a:txBody>
                    <a:bodyPr/>
                    <a:lstStyle/>
                    <a:p>
                      <a:pPr algn="l">
                        <a:defRPr sz="730" b="0">
                          <a:solidFill>
                            <a:srgbClr val="000000"/>
                          </a:solidFill>
                          <a:latin typeface="Arial"/>
                        </a:defRPr>
                      </a:pPr>
                      <a:r>
                        <a:t>Same arrivals are processed through Ground and Edge paths; Comparison calculates latency delta.</a:t>
                      </a:r>
                    </a:p>
                  </a:txBody>
                  <a:tcPr>
                    <a:solidFill>
                      <a:srgbClr val="F8F8F8"/>
                    </a:solidFill>
                  </a:tcPr>
                </a:tc>
                <a:tc>
                  <a:txBody>
                    <a:bodyPr/>
                    <a:lstStyle/>
                    <a:p>
                      <a:pPr algn="l">
                        <a:defRPr sz="730" b="0">
                          <a:solidFill>
                            <a:srgbClr val="000000"/>
                          </a:solidFill>
                          <a:latin typeface="Arial"/>
                        </a:defRPr>
                      </a:pPr>
                      <a:r>
                        <a:t>This is the mathematical heart. Do not reorder.</a:t>
                      </a:r>
                    </a:p>
                  </a:txBody>
                  <a:tcPr>
                    <a:solidFill>
                      <a:srgbClr val="F8F8F8"/>
                    </a:solidFill>
                  </a:tcPr>
                </a:tc>
                <a:extLst>
                  <a:ext uri="{0D108BD9-81ED-4DB2-BD59-A6C34878D82A}">
                    <a16:rowId xmlns:a16="http://schemas.microsoft.com/office/drawing/2014/main" val="10002"/>
                  </a:ext>
                </a:extLst>
              </a:tr>
              <a:tr h="405765">
                <a:tc>
                  <a:txBody>
                    <a:bodyPr/>
                    <a:lstStyle/>
                    <a:p>
                      <a:pPr algn="ctr">
                        <a:defRPr sz="770" b="1">
                          <a:solidFill>
                            <a:srgbClr val="000000"/>
                          </a:solidFill>
                          <a:latin typeface="Arial"/>
                        </a:defRPr>
                      </a:pPr>
                      <a:r>
                        <a:t>Brown</a:t>
                      </a:r>
                    </a:p>
                  </a:txBody>
                  <a:tcPr>
                    <a:solidFill>
                      <a:srgbClr val="F4E2CC"/>
                    </a:solidFill>
                  </a:tcPr>
                </a:tc>
                <a:tc>
                  <a:txBody>
                    <a:bodyPr/>
                    <a:lstStyle/>
                    <a:p>
                      <a:pPr algn="l">
                        <a:defRPr sz="770" b="1">
                          <a:solidFill>
                            <a:srgbClr val="000000"/>
                          </a:solidFill>
                          <a:latin typeface="Arial"/>
                        </a:defRPr>
                      </a:pPr>
                      <a:r>
                        <a:t>Analysis and statistics</a:t>
                      </a:r>
                    </a:p>
                  </a:txBody>
                  <a:tcPr>
                    <a:solidFill>
                      <a:srgbClr val="FFFFFF"/>
                    </a:solidFill>
                  </a:tcPr>
                </a:tc>
                <a:tc>
                  <a:txBody>
                    <a:bodyPr/>
                    <a:lstStyle/>
                    <a:p>
                      <a:pPr algn="l">
                        <a:defRPr sz="730" b="0">
                          <a:solidFill>
                            <a:srgbClr val="000000"/>
                          </a:solidFill>
                          <a:latin typeface="Arial"/>
                        </a:defRPr>
                      </a:pPr>
                      <a:r>
                        <a:t>Replications, Sensitivity, Scenario_Snapshots, Latency_Bins, A/C/E snapshots</a:t>
                      </a:r>
                    </a:p>
                  </a:txBody>
                  <a:tcPr>
                    <a:solidFill>
                      <a:srgbClr val="FFFFFF"/>
                    </a:solidFill>
                  </a:tcPr>
                </a:tc>
                <a:tc>
                  <a:txBody>
                    <a:bodyPr/>
                    <a:lstStyle/>
                    <a:p>
                      <a:pPr algn="l">
                        <a:defRPr sz="730" b="0">
                          <a:solidFill>
                            <a:srgbClr val="000000"/>
                          </a:solidFill>
                          <a:latin typeface="Arial"/>
                        </a:defRPr>
                      </a:pPr>
                      <a:r>
                        <a:t>Aggregates runs, shows sensitivity, creates dashboard/histogram support.</a:t>
                      </a:r>
                    </a:p>
                  </a:txBody>
                  <a:tcPr>
                    <a:solidFill>
                      <a:srgbClr val="FFFFFF"/>
                    </a:solidFill>
                  </a:tcPr>
                </a:tc>
                <a:tc>
                  <a:txBody>
                    <a:bodyPr/>
                    <a:lstStyle/>
                    <a:p>
                      <a:pPr algn="l">
                        <a:defRPr sz="730" b="0">
                          <a:solidFill>
                            <a:srgbClr val="000000"/>
                          </a:solidFill>
                          <a:latin typeface="Arial"/>
                        </a:defRPr>
                      </a:pPr>
                      <a:r>
                        <a:t>This is where results become reviewer-readable.</a:t>
                      </a:r>
                    </a:p>
                  </a:txBody>
                  <a:tcPr>
                    <a:solidFill>
                      <a:srgbClr val="FFFFFF"/>
                    </a:solidFill>
                  </a:tcPr>
                </a:tc>
                <a:extLst>
                  <a:ext uri="{0D108BD9-81ED-4DB2-BD59-A6C34878D82A}">
                    <a16:rowId xmlns:a16="http://schemas.microsoft.com/office/drawing/2014/main" val="10003"/>
                  </a:ext>
                </a:extLst>
              </a:tr>
              <a:tr h="405765">
                <a:tc>
                  <a:txBody>
                    <a:bodyPr/>
                    <a:lstStyle/>
                    <a:p>
                      <a:pPr algn="ctr">
                        <a:defRPr sz="770" b="1">
                          <a:solidFill>
                            <a:srgbClr val="000000"/>
                          </a:solidFill>
                          <a:latin typeface="Arial"/>
                        </a:defRPr>
                      </a:pPr>
                      <a:r>
                        <a:t>Yellow</a:t>
                      </a:r>
                    </a:p>
                  </a:txBody>
                  <a:tcPr>
                    <a:solidFill>
                      <a:srgbClr val="FFF2CC"/>
                    </a:solidFill>
                  </a:tcPr>
                </a:tc>
                <a:tc>
                  <a:txBody>
                    <a:bodyPr/>
                    <a:lstStyle/>
                    <a:p>
                      <a:pPr algn="l">
                        <a:defRPr sz="770" b="1">
                          <a:solidFill>
                            <a:srgbClr val="000000"/>
                          </a:solidFill>
                          <a:latin typeface="Arial"/>
                        </a:defRPr>
                      </a:pPr>
                      <a:r>
                        <a:t>Verification and audit</a:t>
                      </a:r>
                    </a:p>
                  </a:txBody>
                  <a:tcPr>
                    <a:solidFill>
                      <a:srgbClr val="F8F8F8"/>
                    </a:solidFill>
                  </a:tcPr>
                </a:tc>
                <a:tc>
                  <a:txBody>
                    <a:bodyPr/>
                    <a:lstStyle/>
                    <a:p>
                      <a:pPr algn="l">
                        <a:defRPr sz="730" b="0">
                          <a:solidFill>
                            <a:srgbClr val="000000"/>
                          </a:solidFill>
                          <a:latin typeface="Arial"/>
                        </a:defRPr>
                      </a:pPr>
                      <a:r>
                        <a:t>Hand_Check, _Build_Check, Validation</a:t>
                      </a:r>
                    </a:p>
                  </a:txBody>
                  <a:tcPr>
                    <a:solidFill>
                      <a:srgbClr val="F8F8F8"/>
                    </a:solidFill>
                  </a:tcPr>
                </a:tc>
                <a:tc>
                  <a:txBody>
                    <a:bodyPr/>
                    <a:lstStyle/>
                    <a:p>
                      <a:pPr algn="l">
                        <a:defRPr sz="730" b="0">
                          <a:solidFill>
                            <a:srgbClr val="000000"/>
                          </a:solidFill>
                          <a:latin typeface="Arial"/>
                        </a:defRPr>
                      </a:pPr>
                      <a:r>
                        <a:t>Checks formulas, first records, validation rules, and calculation integrity.</a:t>
                      </a:r>
                    </a:p>
                  </a:txBody>
                  <a:tcPr>
                    <a:solidFill>
                      <a:srgbClr val="F8F8F8"/>
                    </a:solidFill>
                  </a:tcPr>
                </a:tc>
                <a:tc>
                  <a:txBody>
                    <a:bodyPr/>
                    <a:lstStyle/>
                    <a:p>
                      <a:pPr algn="l">
                        <a:defRPr sz="730" b="0">
                          <a:solidFill>
                            <a:srgbClr val="000000"/>
                          </a:solidFill>
                          <a:latin typeface="Arial"/>
                        </a:defRPr>
                      </a:pPr>
                      <a:r>
                        <a:t>Evidence that the workbook was checked.</a:t>
                      </a:r>
                    </a:p>
                  </a:txBody>
                  <a:tcPr>
                    <a:solidFill>
                      <a:srgbClr val="F8F8F8"/>
                    </a:solidFill>
                  </a:tcPr>
                </a:tc>
                <a:extLst>
                  <a:ext uri="{0D108BD9-81ED-4DB2-BD59-A6C34878D82A}">
                    <a16:rowId xmlns:a16="http://schemas.microsoft.com/office/drawing/2014/main" val="10004"/>
                  </a:ext>
                </a:extLst>
              </a:tr>
              <a:tr h="405765">
                <a:tc>
                  <a:txBody>
                    <a:bodyPr/>
                    <a:lstStyle/>
                    <a:p>
                      <a:pPr algn="ctr">
                        <a:defRPr sz="770" b="1">
                          <a:solidFill>
                            <a:srgbClr val="000000"/>
                          </a:solidFill>
                          <a:latin typeface="Arial"/>
                        </a:defRPr>
                      </a:pPr>
                      <a:r>
                        <a:t>Purple</a:t>
                      </a:r>
                    </a:p>
                  </a:txBody>
                  <a:tcPr>
                    <a:solidFill>
                      <a:srgbClr val="EADDF7"/>
                    </a:solidFill>
                  </a:tcPr>
                </a:tc>
                <a:tc>
                  <a:txBody>
                    <a:bodyPr/>
                    <a:lstStyle/>
                    <a:p>
                      <a:pPr algn="l">
                        <a:defRPr sz="770" b="1">
                          <a:solidFill>
                            <a:srgbClr val="000000"/>
                          </a:solidFill>
                          <a:latin typeface="Arial"/>
                        </a:defRPr>
                      </a:pPr>
                      <a:r>
                        <a:t>Integration blenders</a:t>
                      </a:r>
                    </a:p>
                  </a:txBody>
                  <a:tcPr>
                    <a:solidFill>
                      <a:srgbClr val="FFFFFF"/>
                    </a:solidFill>
                  </a:tcPr>
                </a:tc>
                <a:tc>
                  <a:txBody>
                    <a:bodyPr/>
                    <a:lstStyle/>
                    <a:p>
                      <a:pPr algn="l">
                        <a:defRPr sz="730" b="0">
                          <a:solidFill>
                            <a:srgbClr val="000000"/>
                          </a:solidFill>
                          <a:latin typeface="Arial"/>
                        </a:defRPr>
                      </a:pPr>
                      <a:r>
                        <a:t>Simul_Enviro_OMNI_Normalized, Integration_Join_Audit, Integration_Common_Timeline</a:t>
                      </a:r>
                    </a:p>
                  </a:txBody>
                  <a:tcPr>
                    <a:solidFill>
                      <a:srgbClr val="FFFFFF"/>
                    </a:solidFill>
                  </a:tcPr>
                </a:tc>
                <a:tc>
                  <a:txBody>
                    <a:bodyPr/>
                    <a:lstStyle/>
                    <a:p>
                      <a:pPr algn="l">
                        <a:defRPr sz="730" b="0">
                          <a:solidFill>
                            <a:srgbClr val="000000"/>
                          </a:solidFill>
                          <a:latin typeface="Arial"/>
                        </a:defRPr>
                      </a:pPr>
                      <a:r>
                        <a:t>Normalizes and time-aligns AI/ML, COMM, and ENV into the common ACE timeline.</a:t>
                      </a:r>
                    </a:p>
                  </a:txBody>
                  <a:tcPr>
                    <a:solidFill>
                      <a:srgbClr val="FFFFFF"/>
                    </a:solidFill>
                  </a:tcPr>
                </a:tc>
                <a:tc>
                  <a:txBody>
                    <a:bodyPr/>
                    <a:lstStyle/>
                    <a:p>
                      <a:pPr algn="l">
                        <a:defRPr sz="730" b="0">
                          <a:solidFill>
                            <a:srgbClr val="000000"/>
                          </a:solidFill>
                          <a:latin typeface="Arial"/>
                        </a:defRPr>
                      </a:pPr>
                      <a:r>
                        <a:t>Shows how raw data became model input.</a:t>
                      </a:r>
                    </a:p>
                  </a:txBody>
                  <a:tcPr>
                    <a:solidFill>
                      <a:srgbClr val="FFFFFF"/>
                    </a:solidFill>
                  </a:tcPr>
                </a:tc>
                <a:extLst>
                  <a:ext uri="{0D108BD9-81ED-4DB2-BD59-A6C34878D82A}">
                    <a16:rowId xmlns:a16="http://schemas.microsoft.com/office/drawing/2014/main" val="10005"/>
                  </a:ext>
                </a:extLst>
              </a:tr>
              <a:tr h="405765">
                <a:tc>
                  <a:txBody>
                    <a:bodyPr/>
                    <a:lstStyle/>
                    <a:p>
                      <a:pPr algn="ctr">
                        <a:defRPr sz="770" b="1">
                          <a:solidFill>
                            <a:srgbClr val="000000"/>
                          </a:solidFill>
                          <a:latin typeface="Arial"/>
                        </a:defRPr>
                      </a:pPr>
                      <a:r>
                        <a:t>Orange</a:t>
                      </a:r>
                    </a:p>
                  </a:txBody>
                  <a:tcPr>
                    <a:solidFill>
                      <a:srgbClr val="FCE4D6"/>
                    </a:solidFill>
                  </a:tcPr>
                </a:tc>
                <a:tc>
                  <a:txBody>
                    <a:bodyPr/>
                    <a:lstStyle/>
                    <a:p>
                      <a:pPr algn="l">
                        <a:defRPr sz="770" b="1">
                          <a:solidFill>
                            <a:srgbClr val="000000"/>
                          </a:solidFill>
                          <a:latin typeface="Arial"/>
                        </a:defRPr>
                      </a:pPr>
                      <a:r>
                        <a:t>COMM decoders</a:t>
                      </a:r>
                    </a:p>
                  </a:txBody>
                  <a:tcPr>
                    <a:solidFill>
                      <a:srgbClr val="F8F8F8"/>
                    </a:solidFill>
                  </a:tcPr>
                </a:tc>
                <a:tc>
                  <a:txBody>
                    <a:bodyPr/>
                    <a:lstStyle/>
                    <a:p>
                      <a:pPr algn="l">
                        <a:defRPr sz="730" b="0">
                          <a:solidFill>
                            <a:srgbClr val="000000"/>
                          </a:solidFill>
                          <a:latin typeface="Arial"/>
                        </a:defRPr>
                      </a:pPr>
                      <a:r>
                        <a:t>COMM_Decoded, COMM_Beacons, COMM_Counter_Deltas, COMM_Rejected, Field Map, Decode QC</a:t>
                      </a:r>
                    </a:p>
                  </a:txBody>
                  <a:tcPr>
                    <a:solidFill>
                      <a:srgbClr val="F8F8F8"/>
                    </a:solidFill>
                  </a:tcPr>
                </a:tc>
                <a:tc>
                  <a:txBody>
                    <a:bodyPr/>
                    <a:lstStyle/>
                    <a:p>
                      <a:pPr algn="l">
                        <a:defRPr sz="730" b="0">
                          <a:solidFill>
                            <a:srgbClr val="000000"/>
                          </a:solidFill>
                          <a:latin typeface="Arial"/>
                        </a:defRPr>
                      </a:pPr>
                      <a:r>
                        <a:t>Decodes SatNOGS telemetry and records accepted/rejected communication fields.</a:t>
                      </a:r>
                    </a:p>
                  </a:txBody>
                  <a:tcPr>
                    <a:solidFill>
                      <a:srgbClr val="F8F8F8"/>
                    </a:solidFill>
                  </a:tcPr>
                </a:tc>
                <a:tc>
                  <a:txBody>
                    <a:bodyPr/>
                    <a:lstStyle/>
                    <a:p>
                      <a:pPr algn="l">
                        <a:defRPr sz="730" b="0">
                          <a:solidFill>
                            <a:srgbClr val="000000"/>
                          </a:solidFill>
                          <a:latin typeface="Arial"/>
                        </a:defRPr>
                      </a:pPr>
                      <a:r>
                        <a:t>Supports the C leg and QC traceability.</a:t>
                      </a:r>
                    </a:p>
                  </a:txBody>
                  <a:tcPr>
                    <a:solidFill>
                      <a:srgbClr val="F8F8F8"/>
                    </a:solidFill>
                  </a:tcPr>
                </a:tc>
                <a:extLst>
                  <a:ext uri="{0D108BD9-81ED-4DB2-BD59-A6C34878D82A}">
                    <a16:rowId xmlns:a16="http://schemas.microsoft.com/office/drawing/2014/main" val="10006"/>
                  </a:ext>
                </a:extLst>
              </a:tr>
              <a:tr h="405765">
                <a:tc>
                  <a:txBody>
                    <a:bodyPr/>
                    <a:lstStyle/>
                    <a:p>
                      <a:pPr algn="ctr">
                        <a:defRPr sz="770" b="1">
                          <a:solidFill>
                            <a:srgbClr val="000000"/>
                          </a:solidFill>
                          <a:latin typeface="Arial"/>
                        </a:defRPr>
                      </a:pPr>
                      <a:r>
                        <a:t>Grey</a:t>
                      </a:r>
                    </a:p>
                  </a:txBody>
                  <a:tcPr>
                    <a:solidFill>
                      <a:srgbClr val="E6E6E6"/>
                    </a:solidFill>
                  </a:tcPr>
                </a:tc>
                <a:tc>
                  <a:txBody>
                    <a:bodyPr/>
                    <a:lstStyle/>
                    <a:p>
                      <a:pPr algn="l">
                        <a:defRPr sz="770" b="1">
                          <a:solidFill>
                            <a:srgbClr val="000000"/>
                          </a:solidFill>
                          <a:latin typeface="Arial"/>
                        </a:defRPr>
                      </a:pPr>
                      <a:r>
                        <a:t>Raw / utility / history</a:t>
                      </a:r>
                    </a:p>
                  </a:txBody>
                  <a:tcPr>
                    <a:solidFill>
                      <a:srgbClr val="FFFFFF"/>
                    </a:solidFill>
                  </a:tcPr>
                </a:tc>
                <a:tc>
                  <a:txBody>
                    <a:bodyPr/>
                    <a:lstStyle/>
                    <a:p>
                      <a:pPr algn="l">
                        <a:defRPr sz="730" b="0">
                          <a:solidFill>
                            <a:srgbClr val="000000"/>
                          </a:solidFill>
                          <a:latin typeface="Arial"/>
                        </a:defRPr>
                      </a:pPr>
                      <a:r>
                        <a:t>Raw Simultaneity sheets, MATLAB_Map, MATLAB_Handoff, Change_Log, v9 Readme, ACE legacy input</a:t>
                      </a:r>
                    </a:p>
                  </a:txBody>
                  <a:tcPr>
                    <a:solidFill>
                      <a:srgbClr val="FFFFFF"/>
                    </a:solidFill>
                  </a:tcPr>
                </a:tc>
                <a:tc>
                  <a:txBody>
                    <a:bodyPr/>
                    <a:lstStyle/>
                    <a:p>
                      <a:pPr algn="l">
                        <a:defRPr sz="730" b="0">
                          <a:solidFill>
                            <a:srgbClr val="000000"/>
                          </a:solidFill>
                          <a:latin typeface="Arial"/>
                        </a:defRPr>
                      </a:pPr>
                      <a:r>
                        <a:t>Stores raw data, handoff tables, history, and MATLAB support.</a:t>
                      </a:r>
                    </a:p>
                  </a:txBody>
                  <a:tcPr>
                    <a:solidFill>
                      <a:srgbClr val="FFFFFF"/>
                    </a:solidFill>
                  </a:tcPr>
                </a:tc>
                <a:tc>
                  <a:txBody>
                    <a:bodyPr/>
                    <a:lstStyle/>
                    <a:p>
                      <a:pPr algn="l">
                        <a:defRPr sz="730" b="0">
                          <a:solidFill>
                            <a:srgbClr val="000000"/>
                          </a:solidFill>
                          <a:latin typeface="Arial"/>
                        </a:defRPr>
                      </a:pPr>
                      <a:r>
                        <a:t>Reference and configuration control layer.</a:t>
                      </a:r>
                    </a:p>
                  </a:txBody>
                  <a:tcPr>
                    <a:solidFill>
                      <a:srgbClr val="FFFFFF"/>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594360" y="5596128"/>
            <a:ext cx="10698480" cy="320040"/>
          </a:xfrm>
          <a:prstGeom prst="rect">
            <a:avLst/>
          </a:prstGeom>
          <a:noFill/>
        </p:spPr>
        <p:txBody>
          <a:bodyPr wrap="none" lIns="27432" tIns="18288" rIns="27432" bIns="18288">
            <a:spAutoFit/>
          </a:bodyPr>
          <a:lstStyle/>
          <a:p>
            <a:pPr>
              <a:defRPr sz="880" b="1">
                <a:solidFill>
                  <a:srgbClr val="780000"/>
                </a:solidFill>
                <a:latin typeface="Arial"/>
              </a:defRPr>
            </a:pPr>
            <a:r>
              <a:t>Immutable sequence rule: names may be interpreted dynamically, but the 1–38 tab order is treated as ASOT configuration control; do not drag/reorder tabs.</a:t>
            </a:r>
          </a:p>
        </p:txBody>
      </p:sp>
      <p:sp>
        <p:nvSpPr>
          <p:cNvPr id="7" name="TextBox 6"/>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20 of 29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58"/>
        <p:cNvGrpSpPr/>
        <p:nvPr/>
      </p:nvGrpSpPr>
      <p:grpSpPr>
        <a:xfrm>
          <a:off x="0" y="0"/>
          <a:ext cx="0" cy="0"/>
          <a:chOff x="0" y="0"/>
          <a:chExt cx="0" cy="0"/>
        </a:xfrm>
      </p:grpSpPr>
      <p:sp>
        <p:nvSpPr>
          <p:cNvPr id="2" name="Rectangle 1"/>
          <p:cNvSpPr/>
          <p:nvPr/>
        </p:nvSpPr>
        <p:spPr>
          <a:xfrm>
            <a:off x="0" y="0"/>
            <a:ext cx="12191999" cy="6858000"/>
          </a:xfrm>
          <a:prstGeom prst="rect">
            <a:avLst/>
          </a:prstGeom>
          <a:solidFill>
            <a:srgbClr val="101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256032"/>
            <a:ext cx="11201400" cy="502920"/>
          </a:xfrm>
          <a:prstGeom prst="rect">
            <a:avLst/>
          </a:prstGeom>
          <a:noFill/>
        </p:spPr>
        <p:txBody>
          <a:bodyPr wrap="square" lIns="18288" rIns="18288" tIns="18288" bIns="18288">
            <a:spAutoFit/>
          </a:bodyPr>
          <a:lstStyle/>
          <a:p>
            <a:pPr algn="l">
              <a:lnSpc>
                <a:spcPct val="105000"/>
              </a:lnSpc>
              <a:spcBef>
                <a:spcPts val="0"/>
              </a:spcBef>
              <a:spcAft>
                <a:spcPts val="200"/>
              </a:spcAft>
            </a:pPr>
            <a:r>
              <a:rPr sz="2700" b="1">
                <a:solidFill>
                  <a:srgbClr val="FFFFFF"/>
                </a:solidFill>
                <a:latin typeface="Calibri"/>
              </a:rPr>
              <a:t>Praxis Schedule and Gantt Overview</a:t>
            </a:r>
          </a:p>
        </p:txBody>
      </p:sp>
      <p:sp>
        <p:nvSpPr>
          <p:cNvPr id="4" name="TextBox 3"/>
          <p:cNvSpPr txBox="1"/>
          <p:nvPr/>
        </p:nvSpPr>
        <p:spPr>
          <a:xfrm>
            <a:off x="457200" y="822960"/>
            <a:ext cx="11155680" cy="457200"/>
          </a:xfrm>
          <a:prstGeom prst="rect">
            <a:avLst/>
          </a:prstGeom>
          <a:noFill/>
        </p:spPr>
        <p:txBody>
          <a:bodyPr wrap="square" lIns="18288" rIns="18288" tIns="18288" bIns="18288">
            <a:spAutoFit/>
          </a:bodyPr>
          <a:lstStyle/>
          <a:p>
            <a:pPr algn="l">
              <a:lnSpc>
                <a:spcPct val="105000"/>
              </a:lnSpc>
              <a:spcBef>
                <a:spcPts val="0"/>
              </a:spcBef>
              <a:spcAft>
                <a:spcPts val="200"/>
              </a:spcAft>
            </a:pPr>
            <a:r>
              <a:rPr sz="1400" b="0">
                <a:solidFill>
                  <a:srgbClr val="C6D2DC"/>
                </a:solidFill>
                <a:latin typeface="Calibri"/>
              </a:rPr>
              <a:t>Planning horizon retained from the full deck; detailed future dates remain subject to advisor review.</a:t>
            </a:r>
          </a:p>
        </p:txBody>
      </p:sp>
      <p:cxnSp>
        <p:nvCxnSpPr>
          <p:cNvPr id="5" name="Connector 4"/>
          <p:cNvCxnSpPr/>
          <p:nvPr/>
        </p:nvCxnSpPr>
        <p:spPr>
          <a:xfrm>
            <a:off x="3520440" y="1645920"/>
            <a:ext cx="0" cy="3886200"/>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Sep 26</a:t>
            </a:r>
          </a:p>
        </p:txBody>
      </p:sp>
      <p:cxnSp>
        <p:nvCxnSpPr>
          <p:cNvPr id="7" name="Connector 6"/>
          <p:cNvCxnSpPr/>
          <p:nvPr/>
        </p:nvCxnSpPr>
        <p:spPr>
          <a:xfrm>
            <a:off x="4310699" y="1645920"/>
            <a:ext cx="0" cy="3886200"/>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990659"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Oct</a:t>
            </a:r>
          </a:p>
        </p:txBody>
      </p:sp>
      <p:cxnSp>
        <p:nvCxnSpPr>
          <p:cNvPr id="9" name="Connector 8"/>
          <p:cNvCxnSpPr/>
          <p:nvPr/>
        </p:nvCxnSpPr>
        <p:spPr>
          <a:xfrm>
            <a:off x="5127301" y="1645920"/>
            <a:ext cx="0" cy="3886200"/>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807261"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Nov</a:t>
            </a:r>
          </a:p>
        </p:txBody>
      </p:sp>
      <p:cxnSp>
        <p:nvCxnSpPr>
          <p:cNvPr id="11" name="Connector 10"/>
          <p:cNvCxnSpPr/>
          <p:nvPr/>
        </p:nvCxnSpPr>
        <p:spPr>
          <a:xfrm>
            <a:off x="5917560" y="1645920"/>
            <a:ext cx="0" cy="3886200"/>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597520"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Dec</a:t>
            </a:r>
          </a:p>
        </p:txBody>
      </p:sp>
      <p:cxnSp>
        <p:nvCxnSpPr>
          <p:cNvPr id="13" name="Connector 12"/>
          <p:cNvCxnSpPr/>
          <p:nvPr/>
        </p:nvCxnSpPr>
        <p:spPr>
          <a:xfrm>
            <a:off x="6734162" y="1645920"/>
            <a:ext cx="0" cy="3886200"/>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122"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Jan 27</a:t>
            </a:r>
          </a:p>
        </p:txBody>
      </p:sp>
      <p:cxnSp>
        <p:nvCxnSpPr>
          <p:cNvPr id="15" name="Connector 14"/>
          <p:cNvCxnSpPr/>
          <p:nvPr/>
        </p:nvCxnSpPr>
        <p:spPr>
          <a:xfrm>
            <a:off x="7550763" y="1645920"/>
            <a:ext cx="0" cy="3886200"/>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230723"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Feb</a:t>
            </a:r>
          </a:p>
        </p:txBody>
      </p:sp>
      <p:cxnSp>
        <p:nvCxnSpPr>
          <p:cNvPr id="17" name="Connector 16"/>
          <p:cNvCxnSpPr/>
          <p:nvPr/>
        </p:nvCxnSpPr>
        <p:spPr>
          <a:xfrm>
            <a:off x="8288339" y="1645920"/>
            <a:ext cx="0" cy="3886200"/>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968299"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Mar</a:t>
            </a:r>
          </a:p>
        </p:txBody>
      </p:sp>
      <p:cxnSp>
        <p:nvCxnSpPr>
          <p:cNvPr id="19" name="Connector 18"/>
          <p:cNvCxnSpPr/>
          <p:nvPr/>
        </p:nvCxnSpPr>
        <p:spPr>
          <a:xfrm>
            <a:off x="9104941" y="1645920"/>
            <a:ext cx="0" cy="3886200"/>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784901"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Apr</a:t>
            </a:r>
          </a:p>
        </p:txBody>
      </p:sp>
      <p:cxnSp>
        <p:nvCxnSpPr>
          <p:cNvPr id="21" name="Connector 20"/>
          <p:cNvCxnSpPr/>
          <p:nvPr/>
        </p:nvCxnSpPr>
        <p:spPr>
          <a:xfrm>
            <a:off x="9895200" y="1645920"/>
            <a:ext cx="0" cy="3886200"/>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575160"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May</a:t>
            </a:r>
          </a:p>
        </p:txBody>
      </p:sp>
      <p:cxnSp>
        <p:nvCxnSpPr>
          <p:cNvPr id="23" name="Connector 22"/>
          <p:cNvCxnSpPr/>
          <p:nvPr/>
        </p:nvCxnSpPr>
        <p:spPr>
          <a:xfrm>
            <a:off x="10711802" y="1645920"/>
            <a:ext cx="0" cy="3886200"/>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391762"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Jun</a:t>
            </a:r>
          </a:p>
        </p:txBody>
      </p:sp>
      <p:sp>
        <p:nvSpPr>
          <p:cNvPr id="25" name="TextBox 24"/>
          <p:cNvSpPr txBox="1"/>
          <p:nvPr/>
        </p:nvSpPr>
        <p:spPr>
          <a:xfrm>
            <a:off x="502920" y="1892808"/>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FFFFFF"/>
                </a:solidFill>
                <a:latin typeface="Calibri"/>
              </a:rPr>
              <a:t>Research archive / public sources</a:t>
            </a:r>
          </a:p>
        </p:txBody>
      </p:sp>
      <p:sp>
        <p:nvSpPr>
          <p:cNvPr id="26" name="Rectangle 25"/>
          <p:cNvSpPr/>
          <p:nvPr/>
        </p:nvSpPr>
        <p:spPr>
          <a:xfrm>
            <a:off x="3520440" y="1984248"/>
            <a:ext cx="3187380" cy="201168"/>
          </a:xfrm>
          <a:prstGeom prst="rect">
            <a:avLst/>
          </a:prstGeom>
          <a:solidFill>
            <a:srgbClr val="167E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2286000"/>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a:solidFill>
                  <a:srgbClr val="FFFFFF"/>
                </a:solidFill>
                <a:latin typeface="Calibri"/>
              </a:rPr>
              <a:t>Chapter 2 final revisions</a:t>
            </a:r>
          </a:p>
        </p:txBody>
      </p:sp>
      <p:sp>
        <p:nvSpPr>
          <p:cNvPr id="28" name="Rectangle 27"/>
          <p:cNvSpPr/>
          <p:nvPr/>
        </p:nvSpPr>
        <p:spPr>
          <a:xfrm>
            <a:off x="4758513" y="2377440"/>
            <a:ext cx="711233" cy="201168"/>
          </a:xfrm>
          <a:prstGeom prst="rect">
            <a:avLst/>
          </a:prstGeom>
          <a:solidFill>
            <a:srgbClr val="BD8E3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2920" y="2679192"/>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FFFFFF"/>
                </a:solidFill>
                <a:latin typeface="Calibri"/>
              </a:rPr>
              <a:t>Excel v9 / simultaneous ACE</a:t>
            </a:r>
          </a:p>
        </p:txBody>
      </p:sp>
      <p:sp>
        <p:nvSpPr>
          <p:cNvPr id="30" name="Rectangle 29"/>
          <p:cNvSpPr/>
          <p:nvPr/>
        </p:nvSpPr>
        <p:spPr>
          <a:xfrm>
            <a:off x="3994595" y="2770632"/>
            <a:ext cx="1896623" cy="201168"/>
          </a:xfrm>
          <a:prstGeom prst="rect">
            <a:avLst/>
          </a:prstGeom>
          <a:solidFill>
            <a:srgbClr val="286B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3072384"/>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FFFFFF"/>
                </a:solidFill>
                <a:latin typeface="Calibri"/>
              </a:rPr>
              <a:t>Chapter 3 conceptual planning</a:t>
            </a:r>
          </a:p>
        </p:txBody>
      </p:sp>
      <p:sp>
        <p:nvSpPr>
          <p:cNvPr id="32" name="Rectangle 31"/>
          <p:cNvSpPr/>
          <p:nvPr/>
        </p:nvSpPr>
        <p:spPr>
          <a:xfrm>
            <a:off x="5074617" y="3163824"/>
            <a:ext cx="395129" cy="201168"/>
          </a:xfrm>
          <a:prstGeom prst="rect">
            <a:avLst/>
          </a:prstGeom>
          <a:solidFill>
            <a:srgbClr val="7155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3465576"/>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FFFFFF"/>
                </a:solidFill>
                <a:latin typeface="Calibri"/>
              </a:rPr>
              <a:t>MATLAB / SimEvents development</a:t>
            </a:r>
          </a:p>
        </p:txBody>
      </p:sp>
      <p:sp>
        <p:nvSpPr>
          <p:cNvPr id="34" name="Rectangle 33"/>
          <p:cNvSpPr/>
          <p:nvPr/>
        </p:nvSpPr>
        <p:spPr>
          <a:xfrm>
            <a:off x="5074617" y="3557016"/>
            <a:ext cx="2028332" cy="201168"/>
          </a:xfrm>
          <a:prstGeom prst="rect">
            <a:avLst/>
          </a:prstGeom>
          <a:solidFill>
            <a:srgbClr val="167E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3858768"/>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FFFFFF"/>
                </a:solidFill>
                <a:latin typeface="Calibri"/>
              </a:rPr>
              <a:t>Chapter 3 methodology draft</a:t>
            </a:r>
          </a:p>
        </p:txBody>
      </p:sp>
      <p:sp>
        <p:nvSpPr>
          <p:cNvPr id="36" name="Rectangle 35"/>
          <p:cNvSpPr/>
          <p:nvPr/>
        </p:nvSpPr>
        <p:spPr>
          <a:xfrm>
            <a:off x="5127301" y="3950208"/>
            <a:ext cx="2792250" cy="201168"/>
          </a:xfrm>
          <a:prstGeom prst="rect">
            <a:avLst/>
          </a:prstGeom>
          <a:solidFill>
            <a:srgbClr val="BD8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4251959"/>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FFFFFF"/>
                </a:solidFill>
                <a:latin typeface="Calibri"/>
              </a:rPr>
              <a:t>Experiments / sensitivity / V&amp;V</a:t>
            </a:r>
          </a:p>
        </p:txBody>
      </p:sp>
      <p:sp>
        <p:nvSpPr>
          <p:cNvPr id="38" name="Rectangle 37"/>
          <p:cNvSpPr/>
          <p:nvPr/>
        </p:nvSpPr>
        <p:spPr>
          <a:xfrm>
            <a:off x="7550763" y="4343400"/>
            <a:ext cx="1922965" cy="201168"/>
          </a:xfrm>
          <a:prstGeom prst="rect">
            <a:avLst/>
          </a:prstGeom>
          <a:solidFill>
            <a:srgbClr val="7155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 y="4645151"/>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FFFFFF"/>
                </a:solidFill>
                <a:latin typeface="Calibri"/>
              </a:rPr>
              <a:t>Chapters 1, 4 and 5</a:t>
            </a:r>
          </a:p>
        </p:txBody>
      </p:sp>
      <p:sp>
        <p:nvSpPr>
          <p:cNvPr id="40" name="Rectangle 39"/>
          <p:cNvSpPr/>
          <p:nvPr/>
        </p:nvSpPr>
        <p:spPr>
          <a:xfrm>
            <a:off x="8657127" y="4736592"/>
            <a:ext cx="2028332" cy="201168"/>
          </a:xfrm>
          <a:prstGeom prst="rect">
            <a:avLst/>
          </a:prstGeom>
          <a:solidFill>
            <a:srgbClr val="286B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 y="5038344"/>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FFFFFF"/>
                </a:solidFill>
                <a:latin typeface="Calibri"/>
              </a:rPr>
              <a:t>Committee / defense planning</a:t>
            </a:r>
          </a:p>
        </p:txBody>
      </p:sp>
      <p:sp>
        <p:nvSpPr>
          <p:cNvPr id="42" name="Rectangle 41"/>
          <p:cNvSpPr/>
          <p:nvPr/>
        </p:nvSpPr>
        <p:spPr>
          <a:xfrm>
            <a:off x="10711802" y="5129784"/>
            <a:ext cx="763917" cy="201168"/>
          </a:xfrm>
          <a:prstGeom prst="rect">
            <a:avLst/>
          </a:prstGeom>
          <a:solidFill>
            <a:srgbClr val="167E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5074617" y="1627632"/>
            <a:ext cx="0" cy="3931920"/>
          </a:xfrm>
          <a:prstGeom prst="line">
            <a:avLst/>
          </a:prstGeom>
          <a:ln w="27940">
            <a:solidFill>
              <a:srgbClr val="29864D"/>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337257" y="1078992"/>
            <a:ext cx="1691640" cy="24688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1">
                <a:solidFill>
                  <a:srgbClr val="2E7D32"/>
                </a:solidFill>
                <a:latin typeface="Calibri"/>
              </a:rPr>
              <a:t>30 OCT · TODAY</a:t>
            </a:r>
          </a:p>
        </p:txBody>
      </p:sp>
      <p:cxnSp>
        <p:nvCxnSpPr>
          <p:cNvPr id="45" name="Connector 44"/>
          <p:cNvCxnSpPr/>
          <p:nvPr/>
        </p:nvCxnSpPr>
        <p:spPr>
          <a:xfrm>
            <a:off x="5469747" y="1627632"/>
            <a:ext cx="0" cy="3931920"/>
          </a:xfrm>
          <a:prstGeom prst="line">
            <a:avLst/>
          </a:prstGeom>
          <a:ln w="27940">
            <a:solidFill>
              <a:srgbClr val="B12C37"/>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30368" y="1316736"/>
            <a:ext cx="2240280" cy="246888"/>
          </a:xfrm>
          <a:prstGeom prst="rect">
            <a:avLst/>
          </a:prstGeom>
          <a:noFill/>
        </p:spPr>
        <p:txBody>
          <a:bodyPr wrap="square" lIns="18288" rIns="18288" tIns="18288" bIns="18288">
            <a:spAutoFit/>
          </a:bodyPr>
          <a:lstStyle/>
          <a:p>
            <a:pPr algn="ctr">
              <a:lnSpc>
                <a:spcPct val="105000"/>
              </a:lnSpc>
              <a:spcBef>
                <a:spcPts val="0"/>
              </a:spcBef>
              <a:spcAft>
                <a:spcPts val="200"/>
              </a:spcAft>
            </a:pPr>
            <a:r>
              <a:rPr sz="919" b="1">
                <a:solidFill>
                  <a:srgbClr val="C00000"/>
                </a:solidFill>
                <a:latin typeface="Calibri"/>
              </a:rPr>
              <a:t>14 NOV · FINAL REVISIONS</a:t>
            </a:r>
          </a:p>
        </p:txBody>
      </p:sp>
      <p:sp>
        <p:nvSpPr>
          <p:cNvPr id="47" name="TextBox 46"/>
          <p:cNvSpPr txBox="1"/>
          <p:nvPr/>
        </p:nvSpPr>
        <p:spPr>
          <a:xfrm>
            <a:off x="502920" y="5623560"/>
            <a:ext cx="10972800" cy="228600"/>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0">
                <a:solidFill>
                  <a:srgbClr val="C6D2DC"/>
                </a:solidFill>
                <a:latin typeface="Calibri"/>
              </a:rPr>
              <a:t>Green = October 30 briefing.  Red suspense = November 14: Dr. Hao comments incorporated + final revisions.</a:t>
            </a:r>
          </a:p>
        </p:txBody>
      </p:sp>
      <p:sp>
        <p:nvSpPr>
          <p:cNvPr id="48" name="TextBox 47"/>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21 of 29</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64"/>
        <p:cNvGrpSpPr/>
        <p:nvPr/>
      </p:nvGrpSpPr>
      <p:grpSpPr>
        <a:xfrm>
          <a:off x="0" y="0"/>
          <a:ext cx="0" cy="0"/>
          <a:chOff x="0" y="0"/>
          <a:chExt cx="0" cy="0"/>
        </a:xfrm>
      </p:grpSpPr>
      <p:sp>
        <p:nvSpPr>
          <p:cNvPr id="2" name="Rectangle 1"/>
          <p:cNvSpPr/>
          <p:nvPr/>
        </p:nvSpPr>
        <p:spPr>
          <a:xfrm>
            <a:off x="0" y="0"/>
            <a:ext cx="12191999" cy="6858000"/>
          </a:xfrm>
          <a:prstGeom prst="rect">
            <a:avLst/>
          </a:prstGeom>
          <a:solidFill>
            <a:srgbClr val="101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256032"/>
            <a:ext cx="11201400" cy="502920"/>
          </a:xfrm>
          <a:prstGeom prst="rect">
            <a:avLst/>
          </a:prstGeom>
          <a:noFill/>
        </p:spPr>
        <p:txBody>
          <a:bodyPr wrap="square" lIns="18288" rIns="18288" tIns="18288" bIns="18288">
            <a:spAutoFit/>
          </a:bodyPr>
          <a:lstStyle/>
          <a:p>
            <a:pPr algn="l">
              <a:lnSpc>
                <a:spcPct val="105000"/>
              </a:lnSpc>
              <a:spcBef>
                <a:spcPts val="0"/>
              </a:spcBef>
              <a:spcAft>
                <a:spcPts val="200"/>
              </a:spcAft>
            </a:pPr>
            <a:r>
              <a:rPr sz="2700" b="1">
                <a:solidFill>
                  <a:srgbClr val="FFFFFF"/>
                </a:solidFill>
                <a:latin typeface="Calibri"/>
              </a:rPr>
              <a:t>Near-Term Execution Plan: October 30–November 14</a:t>
            </a:r>
          </a:p>
        </p:txBody>
      </p:sp>
      <p:sp>
        <p:nvSpPr>
          <p:cNvPr id="4" name="TextBox 3"/>
          <p:cNvSpPr txBox="1"/>
          <p:nvPr/>
        </p:nvSpPr>
        <p:spPr>
          <a:xfrm>
            <a:off x="457200" y="822960"/>
            <a:ext cx="11155680" cy="457200"/>
          </a:xfrm>
          <a:prstGeom prst="rect">
            <a:avLst/>
          </a:prstGeom>
          <a:noFill/>
        </p:spPr>
        <p:txBody>
          <a:bodyPr wrap="square" lIns="18288" rIns="18288" tIns="18288" bIns="18288">
            <a:spAutoFit/>
          </a:bodyPr>
          <a:lstStyle/>
          <a:p>
            <a:pPr algn="l">
              <a:lnSpc>
                <a:spcPct val="105000"/>
              </a:lnSpc>
              <a:spcBef>
                <a:spcPts val="0"/>
              </a:spcBef>
              <a:spcAft>
                <a:spcPts val="200"/>
              </a:spcAft>
            </a:pPr>
            <a:r>
              <a:rPr sz="1400" b="0">
                <a:solidFill>
                  <a:srgbClr val="C6D2DC"/>
                </a:solidFill>
                <a:latin typeface="Calibri"/>
              </a:rPr>
              <a:t>Planned work: close Chapter 2 against Dr. Hao’s guidance, preserve evidence, then prepare Session 6.</a:t>
            </a:r>
          </a:p>
        </p:txBody>
      </p:sp>
      <p:cxnSp>
        <p:nvCxnSpPr>
          <p:cNvPr id="5" name="Connector 4"/>
          <p:cNvCxnSpPr/>
          <p:nvPr/>
        </p:nvCxnSpPr>
        <p:spPr>
          <a:xfrm>
            <a:off x="3520440" y="1645920"/>
            <a:ext cx="0" cy="3694176"/>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30 Oct</a:t>
            </a:r>
          </a:p>
        </p:txBody>
      </p:sp>
      <p:cxnSp>
        <p:nvCxnSpPr>
          <p:cNvPr id="7" name="Connector 6"/>
          <p:cNvCxnSpPr/>
          <p:nvPr/>
        </p:nvCxnSpPr>
        <p:spPr>
          <a:xfrm>
            <a:off x="5111496" y="1645920"/>
            <a:ext cx="0" cy="3694176"/>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791456"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2 Nov</a:t>
            </a:r>
          </a:p>
        </p:txBody>
      </p:sp>
      <p:cxnSp>
        <p:nvCxnSpPr>
          <p:cNvPr id="9" name="Connector 8"/>
          <p:cNvCxnSpPr/>
          <p:nvPr/>
        </p:nvCxnSpPr>
        <p:spPr>
          <a:xfrm>
            <a:off x="7232904" y="1645920"/>
            <a:ext cx="0" cy="3694176"/>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912864"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6 Nov</a:t>
            </a:r>
          </a:p>
        </p:txBody>
      </p:sp>
      <p:cxnSp>
        <p:nvCxnSpPr>
          <p:cNvPr id="11" name="Connector 10"/>
          <p:cNvCxnSpPr/>
          <p:nvPr/>
        </p:nvCxnSpPr>
        <p:spPr>
          <a:xfrm>
            <a:off x="9354312" y="1645920"/>
            <a:ext cx="0" cy="3694176"/>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034272"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10 Nov</a:t>
            </a:r>
          </a:p>
        </p:txBody>
      </p:sp>
      <p:cxnSp>
        <p:nvCxnSpPr>
          <p:cNvPr id="13" name="Connector 12"/>
          <p:cNvCxnSpPr/>
          <p:nvPr/>
        </p:nvCxnSpPr>
        <p:spPr>
          <a:xfrm>
            <a:off x="11475720" y="1645920"/>
            <a:ext cx="0" cy="3694176"/>
          </a:xfrm>
          <a:prstGeom prst="line">
            <a:avLst/>
          </a:prstGeom>
          <a:ln w="7620">
            <a:solidFill>
              <a:srgbClr val="3F4C5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1155680" y="1389888"/>
            <a:ext cx="640080" cy="228600"/>
          </a:xfrm>
          <a:prstGeom prst="rect">
            <a:avLst/>
          </a:prstGeom>
          <a:noFill/>
        </p:spPr>
        <p:txBody>
          <a:bodyPr wrap="square" lIns="18288" rIns="18288" tIns="18288" bIns="18288">
            <a:spAutoFit/>
          </a:bodyPr>
          <a:lstStyle/>
          <a:p>
            <a:pPr algn="ctr">
              <a:lnSpc>
                <a:spcPct val="105000"/>
              </a:lnSpc>
              <a:spcBef>
                <a:spcPts val="0"/>
              </a:spcBef>
              <a:spcAft>
                <a:spcPts val="200"/>
              </a:spcAft>
            </a:pPr>
            <a:r>
              <a:rPr sz="1100" b="0">
                <a:solidFill>
                  <a:srgbClr val="FFFFFF"/>
                </a:solidFill>
                <a:latin typeface="Calibri"/>
              </a:rPr>
              <a:t>14 Nov</a:t>
            </a:r>
          </a:p>
        </p:txBody>
      </p:sp>
      <p:sp>
        <p:nvSpPr>
          <p:cNvPr id="15" name="TextBox 14"/>
          <p:cNvSpPr txBox="1"/>
          <p:nvPr/>
        </p:nvSpPr>
        <p:spPr>
          <a:xfrm>
            <a:off x="502920" y="1892808"/>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FFFFFF"/>
                </a:solidFill>
                <a:latin typeface="Calibri"/>
              </a:rPr>
              <a:t>Session 5 feedback disposition</a:t>
            </a:r>
          </a:p>
        </p:txBody>
      </p:sp>
      <p:sp>
        <p:nvSpPr>
          <p:cNvPr id="16" name="Rectangle 15"/>
          <p:cNvSpPr/>
          <p:nvPr/>
        </p:nvSpPr>
        <p:spPr>
          <a:xfrm>
            <a:off x="3520440" y="1984248"/>
            <a:ext cx="1591055" cy="201168"/>
          </a:xfrm>
          <a:prstGeom prst="rect">
            <a:avLst/>
          </a:prstGeom>
          <a:solidFill>
            <a:srgbClr val="167E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57016" y="2194560"/>
            <a:ext cx="4389120"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0">
                <a:solidFill>
                  <a:srgbClr val="C6D2DC"/>
                </a:solidFill>
                <a:latin typeface="Calibri"/>
              </a:rPr>
              <a:t>Capture decisions and open actions</a:t>
            </a:r>
          </a:p>
        </p:txBody>
      </p:sp>
      <p:sp>
        <p:nvSpPr>
          <p:cNvPr id="18" name="TextBox 17"/>
          <p:cNvSpPr txBox="1"/>
          <p:nvPr/>
        </p:nvSpPr>
        <p:spPr>
          <a:xfrm>
            <a:off x="502920" y="2450592"/>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410" b="0">
                <a:solidFill>
                  <a:srgbClr val="FFFFFF"/>
                </a:solidFill>
                <a:latin typeface="Calibri"/>
              </a:rPr>
              <a:t>Dr. Hao comments + final Chapter 2 revisions</a:t>
            </a:r>
          </a:p>
        </p:txBody>
      </p:sp>
      <p:sp>
        <p:nvSpPr>
          <p:cNvPr id="19" name="Rectangle 18"/>
          <p:cNvSpPr/>
          <p:nvPr/>
        </p:nvSpPr>
        <p:spPr>
          <a:xfrm>
            <a:off x="3520440" y="2542032"/>
            <a:ext cx="7955280" cy="201168"/>
          </a:xfrm>
          <a:prstGeom prst="rect">
            <a:avLst/>
          </a:prstGeom>
          <a:solidFill>
            <a:srgbClr val="BD8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57016" y="2752344"/>
            <a:ext cx="4389120"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1">
                <a:solidFill>
                  <a:srgbClr val="BD8E36"/>
                </a:solidFill>
                <a:latin typeface="Calibri"/>
              </a:rPr>
              <a:t>PRIMARY SUSPENSE · 14 Nov</a:t>
            </a:r>
          </a:p>
        </p:txBody>
      </p:sp>
      <p:sp>
        <p:nvSpPr>
          <p:cNvPr id="21" name="TextBox 20"/>
          <p:cNvSpPr txBox="1"/>
          <p:nvPr/>
        </p:nvSpPr>
        <p:spPr>
          <a:xfrm>
            <a:off x="502920" y="3008376"/>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380" b="0">
                <a:solidFill>
                  <a:srgbClr val="FFFFFF"/>
                </a:solidFill>
                <a:latin typeface="Calibri"/>
              </a:rPr>
              <a:t>Concision / reference / figure / format check</a:t>
            </a:r>
          </a:p>
        </p:txBody>
      </p:sp>
      <p:sp>
        <p:nvSpPr>
          <p:cNvPr id="22" name="Rectangle 21"/>
          <p:cNvSpPr/>
          <p:nvPr/>
        </p:nvSpPr>
        <p:spPr>
          <a:xfrm>
            <a:off x="6702552" y="3099816"/>
            <a:ext cx="3182112" cy="201168"/>
          </a:xfrm>
          <a:prstGeom prst="rect">
            <a:avLst/>
          </a:prstGeom>
          <a:solidFill>
            <a:srgbClr val="7155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39128" y="3310128"/>
            <a:ext cx="4389120"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1">
                <a:solidFill>
                  <a:srgbClr val="71559F"/>
                </a:solidFill>
                <a:latin typeface="Calibri"/>
              </a:rPr>
              <a:t>Final claim-to-source check</a:t>
            </a:r>
          </a:p>
        </p:txBody>
      </p:sp>
      <p:sp>
        <p:nvSpPr>
          <p:cNvPr id="24" name="TextBox 23"/>
          <p:cNvSpPr txBox="1"/>
          <p:nvPr/>
        </p:nvSpPr>
        <p:spPr>
          <a:xfrm>
            <a:off x="502920" y="3566160"/>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FFFFFF"/>
                </a:solidFill>
                <a:latin typeface="Calibri"/>
              </a:rPr>
              <a:t>Owner model reproduction</a:t>
            </a:r>
          </a:p>
        </p:txBody>
      </p:sp>
      <p:sp>
        <p:nvSpPr>
          <p:cNvPr id="25" name="Rectangle 24"/>
          <p:cNvSpPr/>
          <p:nvPr/>
        </p:nvSpPr>
        <p:spPr>
          <a:xfrm>
            <a:off x="5111496" y="3657600"/>
            <a:ext cx="3182112" cy="201168"/>
          </a:xfrm>
          <a:prstGeom prst="rect">
            <a:avLst/>
          </a:prstGeom>
          <a:solidFill>
            <a:srgbClr val="286B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48072" y="3867912"/>
            <a:ext cx="4389120"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0">
                <a:solidFill>
                  <a:srgbClr val="C6D2DC"/>
                </a:solidFill>
                <a:latin typeface="Calibri"/>
              </a:rPr>
              <a:t>Recorded baseline → local PASS evidence</a:t>
            </a:r>
          </a:p>
        </p:txBody>
      </p:sp>
      <p:sp>
        <p:nvSpPr>
          <p:cNvPr id="27" name="TextBox 26"/>
          <p:cNvSpPr txBox="1"/>
          <p:nvPr/>
        </p:nvSpPr>
        <p:spPr>
          <a:xfrm>
            <a:off x="502920" y="4123944"/>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FFFFFF"/>
                </a:solidFill>
                <a:latin typeface="Calibri"/>
              </a:rPr>
              <a:t>V&amp;V and sensitivity design</a:t>
            </a:r>
          </a:p>
        </p:txBody>
      </p:sp>
      <p:sp>
        <p:nvSpPr>
          <p:cNvPr id="28" name="Rectangle 27"/>
          <p:cNvSpPr/>
          <p:nvPr/>
        </p:nvSpPr>
        <p:spPr>
          <a:xfrm>
            <a:off x="7232904" y="4215384"/>
            <a:ext cx="3182112" cy="201168"/>
          </a:xfrm>
          <a:prstGeom prst="rect">
            <a:avLst/>
          </a:prstGeom>
          <a:solidFill>
            <a:srgbClr val="167E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69480" y="4425696"/>
            <a:ext cx="4242816"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0">
                <a:solidFill>
                  <a:srgbClr val="C6D2DC"/>
                </a:solidFill>
                <a:latin typeface="Calibri"/>
              </a:rPr>
              <a:t>Benchmark before scaling</a:t>
            </a:r>
          </a:p>
        </p:txBody>
      </p:sp>
      <p:sp>
        <p:nvSpPr>
          <p:cNvPr id="30" name="TextBox 29"/>
          <p:cNvSpPr txBox="1"/>
          <p:nvPr/>
        </p:nvSpPr>
        <p:spPr>
          <a:xfrm>
            <a:off x="502920" y="4681728"/>
            <a:ext cx="2880360" cy="365760"/>
          </a:xfrm>
          <a:prstGeom prst="rect">
            <a:avLst/>
          </a:prstGeom>
          <a:noFill/>
        </p:spPr>
        <p:txBody>
          <a:bodyPr wrap="square" lIns="18288" rIns="18288" tIns="18288" bIns="18288">
            <a:spAutoFit/>
          </a:bodyPr>
          <a:lstStyle/>
          <a:p>
            <a:pPr algn="l">
              <a:lnSpc>
                <a:spcPct val="105000"/>
              </a:lnSpc>
              <a:spcBef>
                <a:spcPts val="0"/>
              </a:spcBef>
              <a:spcAft>
                <a:spcPts val="200"/>
              </a:spcAft>
            </a:pPr>
            <a:r>
              <a:rPr sz="1500" b="0">
                <a:solidFill>
                  <a:srgbClr val="FFFFFF"/>
                </a:solidFill>
                <a:latin typeface="Calibri"/>
              </a:rPr>
              <a:t>Session 6 package</a:t>
            </a:r>
          </a:p>
        </p:txBody>
      </p:sp>
      <p:sp>
        <p:nvSpPr>
          <p:cNvPr id="31" name="Rectangle 30"/>
          <p:cNvSpPr/>
          <p:nvPr/>
        </p:nvSpPr>
        <p:spPr>
          <a:xfrm>
            <a:off x="9354312" y="4773168"/>
            <a:ext cx="2121408" cy="201168"/>
          </a:xfrm>
          <a:prstGeom prst="rect">
            <a:avLst/>
          </a:prstGeom>
          <a:solidFill>
            <a:srgbClr val="BD8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90888" y="4983480"/>
            <a:ext cx="2121408" cy="210312"/>
          </a:xfrm>
          <a:prstGeom prst="rect">
            <a:avLst/>
          </a:prstGeom>
          <a:noFill/>
        </p:spPr>
        <p:txBody>
          <a:bodyPr wrap="square" lIns="18288" rIns="18288" tIns="18288" bIns="18288">
            <a:spAutoFit/>
          </a:bodyPr>
          <a:lstStyle/>
          <a:p>
            <a:pPr algn="l">
              <a:lnSpc>
                <a:spcPct val="105000"/>
              </a:lnSpc>
              <a:spcBef>
                <a:spcPts val="0"/>
              </a:spcBef>
              <a:spcAft>
                <a:spcPts val="200"/>
              </a:spcAft>
            </a:pPr>
            <a:r>
              <a:rPr sz="950" b="1">
                <a:solidFill>
                  <a:srgbClr val="BD8E36"/>
                </a:solidFill>
                <a:latin typeface="Calibri"/>
              </a:rPr>
              <a:t>Final revisions + model evidence</a:t>
            </a:r>
          </a:p>
        </p:txBody>
      </p:sp>
      <p:cxnSp>
        <p:nvCxnSpPr>
          <p:cNvPr id="33" name="Connector 32"/>
          <p:cNvCxnSpPr/>
          <p:nvPr/>
        </p:nvCxnSpPr>
        <p:spPr>
          <a:xfrm>
            <a:off x="3520440" y="1627632"/>
            <a:ext cx="0" cy="3739896"/>
          </a:xfrm>
          <a:prstGeom prst="line">
            <a:avLst/>
          </a:prstGeom>
          <a:ln w="27940">
            <a:solidFill>
              <a:srgbClr val="29864D"/>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898648" y="1097280"/>
            <a:ext cx="1325880" cy="24688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1">
                <a:solidFill>
                  <a:srgbClr val="2E7D32"/>
                </a:solidFill>
                <a:latin typeface="Calibri"/>
              </a:rPr>
              <a:t>30 OCT · TODAY</a:t>
            </a:r>
          </a:p>
        </p:txBody>
      </p:sp>
      <p:cxnSp>
        <p:nvCxnSpPr>
          <p:cNvPr id="35" name="Connector 34"/>
          <p:cNvCxnSpPr/>
          <p:nvPr/>
        </p:nvCxnSpPr>
        <p:spPr>
          <a:xfrm>
            <a:off x="11475720" y="1627632"/>
            <a:ext cx="0" cy="3739896"/>
          </a:xfrm>
          <a:prstGeom prst="line">
            <a:avLst/>
          </a:prstGeom>
          <a:ln w="27940">
            <a:solidFill>
              <a:srgbClr val="B12C37"/>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555480" y="1097280"/>
            <a:ext cx="2148840" cy="246888"/>
          </a:xfrm>
          <a:prstGeom prst="rect">
            <a:avLst/>
          </a:prstGeom>
          <a:noFill/>
        </p:spPr>
        <p:txBody>
          <a:bodyPr wrap="square" lIns="18288" rIns="18288" tIns="18288" bIns="18288">
            <a:spAutoFit/>
          </a:bodyPr>
          <a:lstStyle/>
          <a:p>
            <a:pPr algn="ctr">
              <a:lnSpc>
                <a:spcPct val="105000"/>
              </a:lnSpc>
              <a:spcBef>
                <a:spcPts val="0"/>
              </a:spcBef>
              <a:spcAft>
                <a:spcPts val="200"/>
              </a:spcAft>
            </a:pPr>
            <a:r>
              <a:rPr sz="930" b="1">
                <a:solidFill>
                  <a:srgbClr val="C00000"/>
                </a:solidFill>
                <a:latin typeface="Calibri"/>
              </a:rPr>
              <a:t>14 NOV · FINAL REVISIONS</a:t>
            </a:r>
          </a:p>
        </p:txBody>
      </p:sp>
      <p:sp>
        <p:nvSpPr>
          <p:cNvPr id="37" name="TextBox 36"/>
          <p:cNvSpPr txBox="1"/>
          <p:nvPr/>
        </p:nvSpPr>
        <p:spPr>
          <a:xfrm>
            <a:off x="502920" y="5623560"/>
            <a:ext cx="10972800" cy="228600"/>
          </a:xfrm>
          <a:prstGeom prst="rect">
            <a:avLst/>
          </a:prstGeom>
          <a:noFill/>
        </p:spPr>
        <p:txBody>
          <a:bodyPr wrap="square" lIns="18288" rIns="18288" tIns="18288" bIns="18288">
            <a:spAutoFit/>
          </a:bodyPr>
          <a:lstStyle/>
          <a:p>
            <a:pPr algn="l">
              <a:lnSpc>
                <a:spcPct val="105000"/>
              </a:lnSpc>
              <a:spcBef>
                <a:spcPts val="0"/>
              </a:spcBef>
              <a:spcAft>
                <a:spcPts val="200"/>
              </a:spcAft>
            </a:pPr>
            <a:r>
              <a:rPr sz="1000" b="0">
                <a:solidFill>
                  <a:srgbClr val="C6D2DC"/>
                </a:solidFill>
                <a:latin typeface="Calibri"/>
              </a:rPr>
              <a:t>Green = October 30 briefing.  Red suspense = November 14: Dr. Hao comments incorporated + final revisions.</a:t>
            </a:r>
          </a:p>
        </p:txBody>
      </p:sp>
      <p:sp>
        <p:nvSpPr>
          <p:cNvPr id="38" name="TextBox 37"/>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22 of 29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pic>
        <p:nvPicPr>
          <p:cNvPr id="221" name="Google Shape;221;p35"/>
          <p:cNvPicPr preferRelativeResize="0"/>
          <p:nvPr/>
        </p:nvPicPr>
        <p:blipFill rotWithShape="1">
          <a:blip r:embed="rId3">
            <a:alphaModFix/>
          </a:blip>
          <a:srcRect/>
          <a:stretch/>
        </p:blipFill>
        <p:spPr>
          <a:xfrm>
            <a:off x="0" y="0"/>
            <a:ext cx="12192000" cy="3223882"/>
          </a:xfrm>
          <a:prstGeom prst="rect">
            <a:avLst/>
          </a:prstGeom>
          <a:noFill/>
          <a:ln>
            <a:noFill/>
          </a:ln>
        </p:spPr>
      </p:pic>
      <p:pic>
        <p:nvPicPr>
          <p:cNvPr id="222" name="Google Shape;222;p35"/>
          <p:cNvPicPr preferRelativeResize="0"/>
          <p:nvPr/>
        </p:nvPicPr>
        <p:blipFill rotWithShape="1">
          <a:blip r:embed="rId4">
            <a:alphaModFix/>
          </a:blip>
          <a:srcRect/>
          <a:stretch/>
        </p:blipFill>
        <p:spPr>
          <a:xfrm>
            <a:off x="3570051" y="2354272"/>
            <a:ext cx="8621949" cy="3129790"/>
          </a:xfrm>
          <a:prstGeom prst="rect">
            <a:avLst/>
          </a:prstGeom>
          <a:noFill/>
          <a:ln>
            <a:noFill/>
          </a:ln>
        </p:spPr>
      </p:pic>
      <p:pic>
        <p:nvPicPr>
          <p:cNvPr id="223" name="Google Shape;223;p35"/>
          <p:cNvPicPr preferRelativeResize="0"/>
          <p:nvPr/>
        </p:nvPicPr>
        <p:blipFill rotWithShape="1">
          <a:blip r:embed="rId4">
            <a:alphaModFix/>
          </a:blip>
          <a:srcRect/>
          <a:stretch/>
        </p:blipFill>
        <p:spPr>
          <a:xfrm>
            <a:off x="0" y="4064972"/>
            <a:ext cx="7247777" cy="2630962"/>
          </a:xfrm>
          <a:prstGeom prst="rect">
            <a:avLst/>
          </a:prstGeom>
          <a:noFill/>
          <a:ln>
            <a:noFill/>
          </a:ln>
        </p:spPr>
      </p:pic>
      <p:sp>
        <p:nvSpPr>
          <p:cNvPr id="224" name="TextBox 223"/>
          <p:cNvSpPr txBox="1"/>
          <p:nvPr/>
        </p:nvSpPr>
        <p:spPr>
          <a:xfrm>
            <a:off x="438912" y="5650992"/>
            <a:ext cx="10972800" cy="228600"/>
          </a:xfrm>
          <a:prstGeom prst="rect">
            <a:avLst/>
          </a:prstGeom>
          <a:noFill/>
        </p:spPr>
        <p:txBody>
          <a:bodyPr wrap="square" lIns="18288" rIns="18288" tIns="18288" bIns="18288">
            <a:spAutoFit/>
          </a:bodyPr>
          <a:lstStyle/>
          <a:p>
            <a:pPr algn="l">
              <a:lnSpc>
                <a:spcPct val="105000"/>
              </a:lnSpc>
              <a:spcBef>
                <a:spcPts val="0"/>
              </a:spcBef>
              <a:spcAft>
                <a:spcPts val="200"/>
              </a:spcAft>
            </a:pPr>
            <a:r>
              <a:rPr sz="1050" b="0">
                <a:solidFill>
                  <a:srgbClr val="FFFFFF"/>
                </a:solidFill>
                <a:latin typeface="Calibri"/>
              </a:rPr>
              <a:t>Historical supporting snapshot · current source registers: AIS CFG011 / Research Data CFG020 / ACE CFG002</a:t>
            </a:r>
          </a:p>
        </p:txBody>
      </p:sp>
      <p:sp>
        <p:nvSpPr>
          <p:cNvPr id="225" name="TextBox 224"/>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23 of 29</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pic>
        <p:nvPicPr>
          <p:cNvPr id="229" name="Google Shape;229;p36"/>
          <p:cNvPicPr preferRelativeResize="0"/>
          <p:nvPr/>
        </p:nvPicPr>
        <p:blipFill rotWithShape="1">
          <a:blip r:embed="rId3">
            <a:alphaModFix/>
          </a:blip>
          <a:srcRect/>
          <a:stretch/>
        </p:blipFill>
        <p:spPr>
          <a:xfrm>
            <a:off x="0" y="0"/>
            <a:ext cx="12191999" cy="4425728"/>
          </a:xfrm>
          <a:prstGeom prst="rect">
            <a:avLst/>
          </a:prstGeom>
          <a:noFill/>
          <a:ln>
            <a:noFill/>
          </a:ln>
        </p:spPr>
      </p:pic>
      <p:sp>
        <p:nvSpPr>
          <p:cNvPr id="230" name="TextBox 229"/>
          <p:cNvSpPr txBox="1"/>
          <p:nvPr/>
        </p:nvSpPr>
        <p:spPr>
          <a:xfrm>
            <a:off x="438912" y="5650992"/>
            <a:ext cx="10972800" cy="228600"/>
          </a:xfrm>
          <a:prstGeom prst="rect">
            <a:avLst/>
          </a:prstGeom>
          <a:noFill/>
        </p:spPr>
        <p:txBody>
          <a:bodyPr wrap="square" lIns="18288" rIns="18288" tIns="18288" bIns="18288">
            <a:spAutoFit/>
          </a:bodyPr>
          <a:lstStyle/>
          <a:p>
            <a:pPr algn="l">
              <a:lnSpc>
                <a:spcPct val="105000"/>
              </a:lnSpc>
              <a:spcBef>
                <a:spcPts val="0"/>
              </a:spcBef>
              <a:spcAft>
                <a:spcPts val="200"/>
              </a:spcAft>
            </a:pPr>
            <a:r>
              <a:rPr sz="1050" b="0">
                <a:solidFill>
                  <a:srgbClr val="FFFFFF"/>
                </a:solidFill>
                <a:latin typeface="Calibri"/>
              </a:rPr>
              <a:t>Historical supporting snapshot · current source registers: AIS CFG011 / Research Data CFG020 / ACE CFG002</a:t>
            </a:r>
          </a:p>
        </p:txBody>
      </p:sp>
      <p:sp>
        <p:nvSpPr>
          <p:cNvPr id="231" name="TextBox 230"/>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24 of 29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6" name="TextBox 235"/>
          <p:cNvSpPr txBox="1"/>
          <p:nvPr/>
        </p:nvSpPr>
        <p:spPr>
          <a:xfrm>
            <a:off x="438912" y="5650992"/>
            <a:ext cx="10972800" cy="228600"/>
          </a:xfrm>
          <a:prstGeom prst="rect">
            <a:avLst/>
          </a:prstGeom>
          <a:noFill/>
        </p:spPr>
        <p:txBody>
          <a:bodyPr wrap="square" lIns="18288" rIns="18288" tIns="18288" bIns="18288">
            <a:spAutoFit/>
          </a:bodyPr>
          <a:lstStyle/>
          <a:p>
            <a:pPr algn="l">
              <a:lnSpc>
                <a:spcPct val="105000"/>
              </a:lnSpc>
              <a:spcBef>
                <a:spcPts val="0"/>
              </a:spcBef>
              <a:spcAft>
                <a:spcPts val="200"/>
              </a:spcAft>
            </a:pPr>
            <a:r>
              <a:rPr sz="1050" b="0">
                <a:solidFill>
                  <a:srgbClr val="FFFFFF"/>
                </a:solidFill>
                <a:latin typeface="Calibri"/>
              </a:rPr>
              <a:t>Historical supporting snapshot · current source registers: AIS CFG011 / Research Data CFG020 / ACE CFG002</a:t>
            </a:r>
          </a:p>
        </p:txBody>
      </p:sp>
      <p:graphicFrame>
        <p:nvGraphicFramePr>
          <p:cNvPr id="235" name="Google Shape;235;p37"/>
          <p:cNvGraphicFramePr/>
          <p:nvPr>
            <p:extLst>
              <p:ext uri="{D42A27DB-BD31-4B8C-83A1-F6EECF244321}">
                <p14:modId xmlns:p14="http://schemas.microsoft.com/office/powerpoint/2010/main" val="716559281"/>
              </p:ext>
            </p:extLst>
          </p:nvPr>
        </p:nvGraphicFramePr>
        <p:xfrm>
          <a:off x="274320" y="365760"/>
          <a:ext cx="11631165" cy="5074914"/>
        </p:xfrm>
        <a:graphic>
          <a:graphicData uri="http://schemas.openxmlformats.org/drawingml/2006/table">
            <a:tbl>
              <a:tblPr>
                <a:noFill/>
                <a:tableStyleId>{3C1EB017-BC45-4DEE-9ABB-B4D90C79D28D}</a:tableStyleId>
              </a:tblPr>
              <a:tblGrid>
                <a:gridCol w="649445">
                  <a:extLst>
                    <a:ext uri="{9D8B030D-6E8A-4147-A177-3AD203B41FA5}">
                      <a16:colId xmlns:a16="http://schemas.microsoft.com/office/drawing/2014/main" val="20000"/>
                    </a:ext>
                  </a:extLst>
                </a:gridCol>
                <a:gridCol w="1180820">
                  <a:extLst>
                    <a:ext uri="{9D8B030D-6E8A-4147-A177-3AD203B41FA5}">
                      <a16:colId xmlns:a16="http://schemas.microsoft.com/office/drawing/2014/main" val="20001"/>
                    </a:ext>
                  </a:extLst>
                </a:gridCol>
                <a:gridCol w="1653155">
                  <a:extLst>
                    <a:ext uri="{9D8B030D-6E8A-4147-A177-3AD203B41FA5}">
                      <a16:colId xmlns:a16="http://schemas.microsoft.com/office/drawing/2014/main" val="20002"/>
                    </a:ext>
                  </a:extLst>
                </a:gridCol>
                <a:gridCol w="1298918">
                  <a:extLst>
                    <a:ext uri="{9D8B030D-6E8A-4147-A177-3AD203B41FA5}">
                      <a16:colId xmlns:a16="http://schemas.microsoft.com/office/drawing/2014/main" val="20003"/>
                    </a:ext>
                  </a:extLst>
                </a:gridCol>
                <a:gridCol w="2007425">
                  <a:extLst>
                    <a:ext uri="{9D8B030D-6E8A-4147-A177-3AD203B41FA5}">
                      <a16:colId xmlns:a16="http://schemas.microsoft.com/office/drawing/2014/main" val="20004"/>
                    </a:ext>
                  </a:extLst>
                </a:gridCol>
                <a:gridCol w="1889329">
                  <a:extLst>
                    <a:ext uri="{9D8B030D-6E8A-4147-A177-3AD203B41FA5}">
                      <a16:colId xmlns:a16="http://schemas.microsoft.com/office/drawing/2014/main" val="20005"/>
                    </a:ext>
                  </a:extLst>
                </a:gridCol>
                <a:gridCol w="590408">
                  <a:extLst>
                    <a:ext uri="{9D8B030D-6E8A-4147-A177-3AD203B41FA5}">
                      <a16:colId xmlns:a16="http://schemas.microsoft.com/office/drawing/2014/main" val="20006"/>
                    </a:ext>
                  </a:extLst>
                </a:gridCol>
                <a:gridCol w="2361665">
                  <a:extLst>
                    <a:ext uri="{9D8B030D-6E8A-4147-A177-3AD203B41FA5}">
                      <a16:colId xmlns:a16="http://schemas.microsoft.com/office/drawing/2014/main" val="20007"/>
                    </a:ext>
                  </a:extLst>
                </a:gridCol>
              </a:tblGrid>
              <a:tr h="146593">
                <a:tc gridSpan="8">
                  <a:txBody>
                    <a:bodyPr/>
                    <a:lstStyle/>
                    <a:p>
                      <a:pPr marL="0" marR="0" lvl="0" indent="0" algn="l" rtl="0">
                        <a:lnSpc>
                          <a:spcPct val="100000"/>
                        </a:lnSpc>
                        <a:spcBef>
                          <a:spcPts val="0"/>
                        </a:spcBef>
                        <a:spcAft>
                          <a:spcPts val="0"/>
                        </a:spcAft>
                        <a:buClr>
                          <a:schemeClr val="dk1"/>
                        </a:buClr>
                        <a:buSzPts val="1050"/>
                        <a:buFont typeface="Calibri"/>
                        <a:buNone/>
                      </a:pPr>
                      <a:r>
                        <a:rPr lang="en-US" sz="850" u="none"/>
                        <a:t>AIS Cohort Architecture — Company / Technology Register</a:t>
                      </a:r>
                      <a:endParaRPr sz="1050" b="1" i="0" u="none">
                        <a:solidFill>
                          <a:srgbClr val="FFFFFF"/>
                        </a:solidFill>
                        <a:latin typeface="Carlito"/>
                        <a:ea typeface="Carlito"/>
                        <a:cs typeface="Carlito"/>
                        <a:sym typeface="Carlito"/>
                      </a:endParaRPr>
                    </a:p>
                  </a:txBody>
                  <a:tcPr marL="3175" marR="3175" marT="10972" marB="10972" anchor="b"/>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extLst>
                  <a:ext uri="{0D108BD9-81ED-4DB2-BD59-A6C34878D82A}">
                    <a16:rowId xmlns:a16="http://schemas.microsoft.com/office/drawing/2014/main" val="10000"/>
                  </a:ext>
                </a:extLst>
              </a:tr>
              <a:tr h="126058">
                <a:tc gridSpan="8">
                  <a:txBody>
                    <a:bodyPr/>
                    <a:lstStyle/>
                    <a:p>
                      <a:pPr marL="0" marR="0" lvl="0" indent="0" algn="l" rtl="0">
                        <a:lnSpc>
                          <a:spcPct val="100000"/>
                        </a:lnSpc>
                        <a:spcBef>
                          <a:spcPts val="0"/>
                        </a:spcBef>
                        <a:spcAft>
                          <a:spcPts val="0"/>
                        </a:spcAft>
                        <a:buClr>
                          <a:schemeClr val="dk1"/>
                        </a:buClr>
                        <a:buSzPts val="900"/>
                        <a:buFont typeface="Calibri"/>
                        <a:buNone/>
                      </a:pPr>
                      <a:r>
                        <a:rPr lang="en-US" sz="850" u="none"/>
                        <a:t>Heat reflects relevance to the Praxis solution space, not vendor quality or endorsement.</a:t>
                      </a:r>
                      <a:endParaRPr sz="900" b="0" i="1" u="none">
                        <a:latin typeface="Carlito"/>
                        <a:ea typeface="Carlito"/>
                        <a:cs typeface="Carlito"/>
                        <a:sym typeface="Carlito"/>
                      </a:endParaRPr>
                    </a:p>
                  </a:txBody>
                  <a:tcPr marL="3175" marR="3175" marT="10972" marB="10972" anchor="b"/>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extLst>
                  <a:ext uri="{0D108BD9-81ED-4DB2-BD59-A6C34878D82A}">
                    <a16:rowId xmlns:a16="http://schemas.microsoft.com/office/drawing/2014/main" val="10001"/>
                  </a:ext>
                </a:extLst>
              </a:tr>
              <a:tr h="126058">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02"/>
                  </a:ext>
                </a:extLst>
              </a:tr>
              <a:tr h="249265">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Layer / Tier</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Layer Name</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Layer Function</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Company</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Technology / Descriptor from Slide</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Praxis Relevance</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Heat</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Rationale</a:t>
                      </a:r>
                      <a:endParaRPr sz="900" b="1" i="0" u="none">
                        <a:solidFill>
                          <a:srgbClr val="FFFFFF"/>
                        </a:solidFill>
                        <a:latin typeface="Carlito"/>
                        <a:ea typeface="Carlito"/>
                        <a:cs typeface="Carlito"/>
                        <a:sym typeface="Carlito"/>
                      </a:endParaRPr>
                    </a:p>
                  </a:txBody>
                  <a:tcPr marL="3175" marR="3175" marT="10972" marB="10972" anchor="ctr"/>
                </a:tc>
                <a:extLst>
                  <a:ext uri="{0D108BD9-81ED-4DB2-BD59-A6C34878D82A}">
                    <a16:rowId xmlns:a16="http://schemas.microsoft.com/office/drawing/2014/main" val="10003"/>
                  </a:ext>
                </a:extLst>
              </a:tr>
              <a:tr h="37247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5</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Cognitive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Autonomous Software &amp; AI/ML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Advanced Space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SIREN autonomous OODA</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Direct AI/ML edge decision-cycle relevance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Closest fit to autonomous onboard decision support and OODA compression.</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04"/>
                  </a:ext>
                </a:extLst>
              </a:tr>
              <a:tr h="249265">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5</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Cognitive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Autonomous Software &amp; AI/ML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dirty="0"/>
                        <a:t>Force AI</a:t>
                      </a:r>
                      <a:endParaRPr sz="900" b="0" i="0" u="none" dirty="0">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STARHELM secure Rust runtime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Edge software/runtime relevance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Directly relevant to onboard autonomous software execution.</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05"/>
                  </a:ext>
                </a:extLst>
              </a:tr>
              <a:tr h="37247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5</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Cognitive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Autonomous Software &amp; AI/ML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Zenith Space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Cislunar CR3BP normal forms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Autonomy / onboard reasoning adjacency</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WARM</a:t>
                      </a:r>
                      <a:endParaRPr sz="900" b="1" i="0" u="none">
                        <a:solidFill>
                          <a:srgbClr val="7F6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Useful autonomy mathematics, but less direct to latency/edge-processing experiments.</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06"/>
                  </a:ext>
                </a:extLst>
              </a:tr>
              <a:tr h="37247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5</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Cognitive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Autonomous Software &amp; AI/ML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EraDrive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Era-AI NLP foundation model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AI orchestration / operator support</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Strong human-machine teaming and AI-assisted decision-support relevance.</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07"/>
                  </a:ext>
                </a:extLst>
              </a:tr>
              <a:tr h="326897">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5</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Cognitive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Autonomous Software &amp; AI/ML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O-Astra ISR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LOGAN pre-approved guard</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Autonomous ISR / bounded action logic</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Direct fit to bounded autonomous sensing-to-action concepts.</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08"/>
                  </a:ext>
                </a:extLst>
              </a:tr>
              <a:tr h="37247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5</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Cognitive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Autonomous Software &amp; AI/ML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In Orbit Aerospace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INTELLACT zero-hallucination AI</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Explainable / reliable onboard AI</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Strong model-credibility and autonomous decision-support relevance.</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09"/>
                  </a:ext>
                </a:extLst>
              </a:tr>
              <a:tr h="249265">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5</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Cognitive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Autonomous Software &amp; AI/ML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Seekr Technologies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SeekrFlow multi-agent AI</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AI orchestration / multi-agent coordination</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Strong fit to autonomous agents and workload triage.</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10"/>
                  </a:ext>
                </a:extLst>
              </a:tr>
              <a:tr h="37247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5</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Cognitive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Autonomous Software &amp; AI/ML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PiLogic</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Manifest exact CPU-only AI</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dirty="0"/>
                        <a:t>Compute-constrained edge AI</a:t>
                      </a:r>
                      <a:endParaRPr sz="900" b="0" i="0" u="none" dirty="0">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Directly relevant to bounded onboard compute and SWaP constraints.</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11"/>
                  </a:ext>
                </a:extLst>
              </a:tr>
              <a:tr h="249265">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5</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Cognitive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Autonomous Software &amp; AI/ML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Synthetic</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SUBSPACE on-orbit reconfigurable ML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On-orbit adaptive ML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Direct edge-ML and adaptive onboard processing relevance.</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12"/>
                  </a:ext>
                </a:extLst>
              </a:tr>
              <a:tr h="37247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4</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Networking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Secure Routing &amp; Timing</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Ephemeris Net</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SEP optical Layer 3 routing</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Optical networking / routing / DDIL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Direct link to crosslinks, routing, downlink bypass, and communications latency.</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13"/>
                  </a:ext>
                </a:extLst>
              </a:tr>
              <a:tr h="37247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4</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Networking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Secure Routing &amp; Timing</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Picogrid</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MARSO/Legion data middleware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Distributed data middleware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Relevant to moving and managing data across distributed space nodes.</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14"/>
                  </a:ext>
                </a:extLst>
              </a:tr>
              <a:tr h="37247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4</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Networking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Secure Routing &amp; Timing</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R-DEX Systems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HSA sub-100ps time fabric</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Precision timing / network synchronization</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Timing is foundational to distributed sensing, networking, and latency measurement.</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15"/>
                  </a:ext>
                </a:extLst>
              </a:tr>
              <a:tr h="37247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3</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Hardware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SWaP-C High-TOPS Silicon</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Starcloud</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H100/Blackwell orbit datacenters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Orbital edge/cloud compute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Near-direct solution-space match for orbital cloud and high-performance edge compute.</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16"/>
                  </a:ext>
                </a:extLst>
              </a:tr>
            </a:tbl>
          </a:graphicData>
        </a:graphic>
      </p:graphicFrame>
      <p:sp>
        <p:nvSpPr>
          <p:cNvPr id="237" name="TextBox 236"/>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25 of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35" name="Google Shape;235;p37"/>
          <p:cNvGraphicFramePr/>
          <p:nvPr>
            <p:extLst>
              <p:ext uri="{D42A27DB-BD31-4B8C-83A1-F6EECF244321}">
                <p14:modId xmlns:p14="http://schemas.microsoft.com/office/powerpoint/2010/main" val="716559281"/>
              </p:ext>
            </p:extLst>
          </p:nvPr>
        </p:nvGraphicFramePr>
        <p:xfrm>
          <a:off x="274320" y="365760"/>
          <a:ext cx="11631165" cy="5074911"/>
        </p:xfrm>
        <a:graphic>
          <a:graphicData uri="http://schemas.openxmlformats.org/drawingml/2006/table">
            <a:tbl>
              <a:tblPr>
                <a:noFill/>
                <a:tableStyleId>{3C1EB017-BC45-4DEE-9ABB-B4D90C79D28D}</a:tableStyleId>
              </a:tblPr>
              <a:tblGrid>
                <a:gridCol w="649445">
                  <a:extLst>
                    <a:ext uri="{9D8B030D-6E8A-4147-A177-3AD203B41FA5}">
                      <a16:colId xmlns:a16="http://schemas.microsoft.com/office/drawing/2014/main" val="20000"/>
                    </a:ext>
                  </a:extLst>
                </a:gridCol>
                <a:gridCol w="1180820">
                  <a:extLst>
                    <a:ext uri="{9D8B030D-6E8A-4147-A177-3AD203B41FA5}">
                      <a16:colId xmlns:a16="http://schemas.microsoft.com/office/drawing/2014/main" val="20001"/>
                    </a:ext>
                  </a:extLst>
                </a:gridCol>
                <a:gridCol w="1653155">
                  <a:extLst>
                    <a:ext uri="{9D8B030D-6E8A-4147-A177-3AD203B41FA5}">
                      <a16:colId xmlns:a16="http://schemas.microsoft.com/office/drawing/2014/main" val="20002"/>
                    </a:ext>
                  </a:extLst>
                </a:gridCol>
                <a:gridCol w="1298918">
                  <a:extLst>
                    <a:ext uri="{9D8B030D-6E8A-4147-A177-3AD203B41FA5}">
                      <a16:colId xmlns:a16="http://schemas.microsoft.com/office/drawing/2014/main" val="20003"/>
                    </a:ext>
                  </a:extLst>
                </a:gridCol>
                <a:gridCol w="2007425">
                  <a:extLst>
                    <a:ext uri="{9D8B030D-6E8A-4147-A177-3AD203B41FA5}">
                      <a16:colId xmlns:a16="http://schemas.microsoft.com/office/drawing/2014/main" val="20004"/>
                    </a:ext>
                  </a:extLst>
                </a:gridCol>
                <a:gridCol w="1889329">
                  <a:extLst>
                    <a:ext uri="{9D8B030D-6E8A-4147-A177-3AD203B41FA5}">
                      <a16:colId xmlns:a16="http://schemas.microsoft.com/office/drawing/2014/main" val="20005"/>
                    </a:ext>
                  </a:extLst>
                </a:gridCol>
                <a:gridCol w="590408">
                  <a:extLst>
                    <a:ext uri="{9D8B030D-6E8A-4147-A177-3AD203B41FA5}">
                      <a16:colId xmlns:a16="http://schemas.microsoft.com/office/drawing/2014/main" val="20006"/>
                    </a:ext>
                  </a:extLst>
                </a:gridCol>
                <a:gridCol w="2361665">
                  <a:extLst>
                    <a:ext uri="{9D8B030D-6E8A-4147-A177-3AD203B41FA5}">
                      <a16:colId xmlns:a16="http://schemas.microsoft.com/office/drawing/2014/main" val="20007"/>
                    </a:ext>
                  </a:extLst>
                </a:gridCol>
              </a:tblGrid>
              <a:tr h="129260">
                <a:tc gridSpan="8">
                  <a:txBody>
                    <a:bodyPr/>
                    <a:lstStyle/>
                    <a:p>
                      <a:pPr marL="0" marR="0" lvl="0" indent="0" algn="l" rtl="0">
                        <a:lnSpc>
                          <a:spcPct val="100000"/>
                        </a:lnSpc>
                        <a:spcBef>
                          <a:spcPts val="0"/>
                        </a:spcBef>
                        <a:spcAft>
                          <a:spcPts val="0"/>
                        </a:spcAft>
                        <a:buClr>
                          <a:schemeClr val="dk1"/>
                        </a:buClr>
                        <a:buSzPts val="1050"/>
                        <a:buFont typeface="Calibri"/>
                        <a:buNone/>
                      </a:pPr>
                      <a:r>
                        <a:rPr lang="en-US" sz="850" u="none"/>
                        <a:t>AIS Cohort Architecture — Company / Technology Register</a:t>
                      </a:r>
                      <a:endParaRPr sz="1050" b="1" i="0" u="none">
                        <a:solidFill>
                          <a:srgbClr val="FFFFFF"/>
                        </a:solidFill>
                        <a:latin typeface="Carlito"/>
                        <a:ea typeface="Carlito"/>
                        <a:cs typeface="Carlito"/>
                        <a:sym typeface="Carlito"/>
                      </a:endParaRPr>
                    </a:p>
                  </a:txBody>
                  <a:tcPr marL="3175" marR="3175" marT="10972" marB="10972" anchor="b"/>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extLst>
                  <a:ext uri="{0D108BD9-81ED-4DB2-BD59-A6C34878D82A}">
                    <a16:rowId xmlns:a16="http://schemas.microsoft.com/office/drawing/2014/main" val="10000"/>
                  </a:ext>
                </a:extLst>
              </a:tr>
              <a:tr h="111154">
                <a:tc gridSpan="8">
                  <a:txBody>
                    <a:bodyPr/>
                    <a:lstStyle/>
                    <a:p>
                      <a:pPr marL="0" marR="0" lvl="0" indent="0" algn="l" rtl="0">
                        <a:lnSpc>
                          <a:spcPct val="100000"/>
                        </a:lnSpc>
                        <a:spcBef>
                          <a:spcPts val="0"/>
                        </a:spcBef>
                        <a:spcAft>
                          <a:spcPts val="0"/>
                        </a:spcAft>
                        <a:buClr>
                          <a:schemeClr val="dk1"/>
                        </a:buClr>
                        <a:buSzPts val="900"/>
                        <a:buFont typeface="Calibri"/>
                        <a:buNone/>
                      </a:pPr>
                      <a:r>
                        <a:rPr lang="en-US" sz="850" u="none"/>
                        <a:t>Heat reflects relevance to the Praxis solution space, not vendor quality or endorsement.</a:t>
                      </a:r>
                      <a:endParaRPr sz="900" b="0" i="1" u="none">
                        <a:latin typeface="Carlito"/>
                        <a:ea typeface="Carlito"/>
                        <a:cs typeface="Carlito"/>
                        <a:sym typeface="Carlito"/>
                      </a:endParaRPr>
                    </a:p>
                  </a:txBody>
                  <a:tcPr marL="3175" marR="3175" marT="10972" marB="10972" anchor="b"/>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extLst>
                  <a:ext uri="{0D108BD9-81ED-4DB2-BD59-A6C34878D82A}">
                    <a16:rowId xmlns:a16="http://schemas.microsoft.com/office/drawing/2014/main" val="10001"/>
                  </a:ext>
                </a:extLst>
              </a:tr>
              <a:tr h="111154">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endParaRPr sz="900" b="0" i="0" u="none">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02"/>
                  </a:ext>
                </a:extLst>
              </a:tr>
              <a:tr h="219793">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Layer / Tier</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Layer Name</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Layer Function</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Company</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Technology / Descriptor from Slide</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Praxis Relevance</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Heat</a:t>
                      </a:r>
                      <a:endParaRPr sz="900" b="1" i="0" u="none">
                        <a:solidFill>
                          <a:srgbClr val="FFFFFF"/>
                        </a:solidFill>
                        <a:latin typeface="Carlito"/>
                        <a:ea typeface="Carlito"/>
                        <a:cs typeface="Carlito"/>
                        <a:sym typeface="Carlito"/>
                      </a:endParaRPr>
                    </a:p>
                  </a:txBody>
                  <a:tcPr marL="3175" marR="3175" marT="10972" marB="10972" anchor="ctr"/>
                </a:tc>
                <a:tc>
                  <a:txBody>
                    <a:bodyPr/>
                    <a:lstStyle/>
                    <a:p>
                      <a:pPr marL="0" marR="0" lvl="0" indent="0" algn="ctr" rtl="0">
                        <a:lnSpc>
                          <a:spcPct val="100000"/>
                        </a:lnSpc>
                        <a:spcBef>
                          <a:spcPts val="0"/>
                        </a:spcBef>
                        <a:spcAft>
                          <a:spcPts val="0"/>
                        </a:spcAft>
                        <a:buClr>
                          <a:schemeClr val="dk1"/>
                        </a:buClr>
                        <a:buSzPts val="900"/>
                        <a:buFont typeface="Calibri"/>
                        <a:buNone/>
                      </a:pPr>
                      <a:r>
                        <a:rPr lang="en-US" sz="850" u="none"/>
                        <a:t>Rationale</a:t>
                      </a:r>
                      <a:endParaRPr sz="900" b="1" i="0" u="none">
                        <a:solidFill>
                          <a:srgbClr val="FFFFFF"/>
                        </a:solidFill>
                        <a:latin typeface="Carlito"/>
                        <a:ea typeface="Carlito"/>
                        <a:cs typeface="Carlito"/>
                        <a:sym typeface="Carlito"/>
                      </a:endParaRPr>
                    </a:p>
                  </a:txBody>
                  <a:tcPr marL="3175" marR="3175" marT="10972" marB="10972" anchor="ctr"/>
                </a:tc>
                <a:extLst>
                  <a:ext uri="{0D108BD9-81ED-4DB2-BD59-A6C34878D82A}">
                    <a16:rowId xmlns:a16="http://schemas.microsoft.com/office/drawing/2014/main" val="10003"/>
                  </a:ext>
                </a:extLst>
              </a:tr>
              <a:tr h="32843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3</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Hardware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SWaP-C High-TOPS Silicon</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Neuron Dynamics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Compute-in-Memory SSM substrates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Edge compute architecture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Relevant to constrained onboard processing performance and power.</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17"/>
                  </a:ext>
                </a:extLst>
              </a:tr>
              <a:tr h="32843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3</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Hardware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SWaP-C High-TOPS Silicon</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Sophia Space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800 TOPS modular TILEs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High-TOPS modular onboard compute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Direct hardware precedent for bounded onboard AI/ML processing.</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18"/>
                  </a:ext>
                </a:extLst>
              </a:tr>
              <a:tr h="288246">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3</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dirty="0"/>
                        <a:t>Hardware Layer</a:t>
                      </a:r>
                      <a:endParaRPr sz="900" b="0" i="0" u="none" dirty="0">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dirty="0" err="1"/>
                        <a:t>SWaP</a:t>
                      </a:r>
                      <a:r>
                        <a:rPr lang="en-US" sz="850" u="none" dirty="0"/>
                        <a:t>-C </a:t>
                      </a:r>
                      <a:r>
                        <a:rPr lang="en-US" sz="850" u="none" dirty="0" err="1"/>
                        <a:t>High-TOPS</a:t>
                      </a:r>
                      <a:r>
                        <a:rPr lang="en-US" sz="850" u="none" dirty="0"/>
                        <a:t> Silicon</a:t>
                      </a:r>
                      <a:endParaRPr sz="900" b="0" i="0" u="none" dirty="0">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Web Sensing</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SpaceCortex GPU-in-FPGA fabric</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Radiation/space compute fabric</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Strong implementation relevance for onboard compute architecture.</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19"/>
                  </a:ext>
                </a:extLst>
              </a:tr>
              <a:tr h="32843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3</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Hardware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SWaP-C High-TOPS Silicon</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Aethero Space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Radiation-resilient GPUs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Space-qualified GPU compute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Directly relevant to edge-processing feasibility and resilience.</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20"/>
                  </a:ext>
                </a:extLst>
              </a:tr>
              <a:tr h="32843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2</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Perception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Multi-Modal Sensor Payloads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Array Labs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GaN active radar flat tiles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SDA sensing / data-generation source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WARM</a:t>
                      </a:r>
                      <a:endParaRPr sz="900" b="1" i="0" u="none">
                        <a:solidFill>
                          <a:srgbClr val="7F6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Relevant as a high-data-rate sensing source feeding the edge-processing problem.</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21"/>
                  </a:ext>
                </a:extLst>
              </a:tr>
              <a:tr h="38359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2</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Perception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Multi-Modal Sensor Payloads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Mithril Tech</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Electrostatically-actuated mesh</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Sensor/payload architecture adjacency</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WARM</a:t>
                      </a:r>
                      <a:endParaRPr sz="900" b="1" i="0" u="none">
                        <a:solidFill>
                          <a:srgbClr val="7F6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Supports perception-layer architecture but is less direct to modeling latency or AI processing.</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22"/>
                  </a:ext>
                </a:extLst>
              </a:tr>
              <a:tr h="32843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2</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Perception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Multi-Modal Sensor Payloads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EO Solutions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Passive RF signature fingerprinting</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SDA sensing / RF characterization</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Directly relevant to SDA sensing and onboard exploitation opportunities.</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23"/>
                  </a:ext>
                </a:extLst>
              </a:tr>
              <a:tr h="32843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2</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Perception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Multi-Modal Sensor Payloads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ThinkOrbital</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ThinkX space-to-space X-ray</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Novel sensing / high-data payload</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WARM</a:t>
                      </a:r>
                      <a:endParaRPr sz="900" b="1" i="0" u="none">
                        <a:solidFill>
                          <a:srgbClr val="7F6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Relevant as a sensor source; useful mainly as a workload/data-volume driver.</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24"/>
                  </a:ext>
                </a:extLst>
              </a:tr>
              <a:tr h="43707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2</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Perception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Multi-Modal Sensor Payloads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OWL Integrations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Commodity SDR passive-RF mesh</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Distributed RF sensing / networking</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HOT</a:t>
                      </a:r>
                      <a:endParaRPr sz="900" b="1" i="0" u="none">
                        <a:solidFill>
                          <a:srgbClr val="9C0006"/>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Strong fit to distributed perception, edge processing, and communications-constrained operations.</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25"/>
                  </a:ext>
                </a:extLst>
              </a:tr>
              <a:tr h="32843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2</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Perception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dirty="0"/>
                        <a:t>Multi-Modal Sensor Payloads</a:t>
                      </a:r>
                      <a:endParaRPr sz="900" b="0" i="0" u="none" dirty="0">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Raptor Dynamix</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ARGUS electro-optical &amp; plasma</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EO / plasma sensing</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WARM</a:t>
                      </a:r>
                      <a:endParaRPr sz="900" b="1" i="0" u="none">
                        <a:solidFill>
                          <a:srgbClr val="7F6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Relevant perception input, but not itself the core edge-processing mechanism.</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26"/>
                  </a:ext>
                </a:extLst>
              </a:tr>
              <a:tr h="32843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1</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Platform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dirty="0"/>
                        <a:t>High-Maneuver Spacecraft</a:t>
                      </a:r>
                      <a:endParaRPr sz="900" b="0" i="0" u="none" dirty="0">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Orbital Operations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Astraeus LH2/LOX bus + active RBC cooling</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Platform / thermal / maneuver support</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COLD</a:t>
                      </a:r>
                      <a:endParaRPr sz="900" b="1" i="0" u="none">
                        <a:solidFill>
                          <a:srgbClr val="274E13"/>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Enabling spacecraft layer, but outside the likely core quantitative scope of the Praxis.</a:t>
                      </a:r>
                      <a:endParaRPr sz="900" b="0" i="0" u="none">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27"/>
                  </a:ext>
                </a:extLst>
              </a:tr>
              <a:tr h="38359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1</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Platform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High-Maneuver Spacecraft</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Fortastra Corp</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Watchdog maneuvering platform (800+ m/s)</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Autonomous maneuver / defensive response</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WARM</a:t>
                      </a:r>
                      <a:endParaRPr sz="900" b="1" i="0" u="none">
                        <a:solidFill>
                          <a:srgbClr val="7F6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dirty="0"/>
                        <a:t>Relevant if the Praxis extends from decision support into bounded action or maneuver response.</a:t>
                      </a:r>
                      <a:endParaRPr sz="900" b="0" i="0" u="none" dirty="0">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28"/>
                  </a:ext>
                </a:extLst>
              </a:tr>
              <a:tr h="383592">
                <a:tc>
                  <a:txBody>
                    <a:bodyPr/>
                    <a:lstStyle/>
                    <a:p>
                      <a:pPr marL="0" marR="0" lvl="0" indent="0" algn="r" rtl="0">
                        <a:lnSpc>
                          <a:spcPct val="100000"/>
                        </a:lnSpc>
                        <a:spcBef>
                          <a:spcPts val="0"/>
                        </a:spcBef>
                        <a:spcAft>
                          <a:spcPts val="0"/>
                        </a:spcAft>
                        <a:buClr>
                          <a:schemeClr val="dk1"/>
                        </a:buClr>
                        <a:buSzPts val="900"/>
                        <a:buFont typeface="Calibri"/>
                        <a:buNone/>
                      </a:pPr>
                      <a:r>
                        <a:rPr lang="en-US" sz="850" u="none"/>
                        <a:t>1</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Platform Layer</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High-Maneuver Spacecraft</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Space Kinetic</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Whirlwind propellantless payload deployment</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Platform / deployment</a:t>
                      </a:r>
                      <a:endParaRPr sz="900" b="0" i="0" u="none">
                        <a:solidFill>
                          <a:srgbClr val="000000"/>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a:t>COLD</a:t>
                      </a:r>
                      <a:endParaRPr sz="900" b="1" i="0" u="none">
                        <a:solidFill>
                          <a:srgbClr val="274E13"/>
                        </a:solidFill>
                        <a:latin typeface="Carlito"/>
                        <a:ea typeface="Carlito"/>
                        <a:cs typeface="Carlito"/>
                        <a:sym typeface="Carlito"/>
                      </a:endParaRPr>
                    </a:p>
                  </a:txBody>
                  <a:tcPr marL="3175" marR="3175" marT="10972" marB="10972" anchor="b"/>
                </a:tc>
                <a:tc>
                  <a:txBody>
                    <a:bodyPr/>
                    <a:lstStyle/>
                    <a:p>
                      <a:pPr marL="0" marR="0" lvl="0" indent="0" algn="l" rtl="0">
                        <a:lnSpc>
                          <a:spcPct val="100000"/>
                        </a:lnSpc>
                        <a:spcBef>
                          <a:spcPts val="0"/>
                        </a:spcBef>
                        <a:spcAft>
                          <a:spcPts val="0"/>
                        </a:spcAft>
                        <a:buClr>
                          <a:schemeClr val="dk1"/>
                        </a:buClr>
                        <a:buSzPts val="900"/>
                        <a:buFont typeface="Calibri"/>
                        <a:buNone/>
                      </a:pPr>
                      <a:r>
                        <a:rPr lang="en-US" sz="850" u="none" dirty="0"/>
                        <a:t>Important architecture enabler but relatively distant from edge compute, latency, and AI/ML focus.</a:t>
                      </a:r>
                      <a:endParaRPr sz="900" b="0" i="0" u="none" dirty="0">
                        <a:solidFill>
                          <a:srgbClr val="000000"/>
                        </a:solidFill>
                        <a:latin typeface="Carlito"/>
                        <a:ea typeface="Carlito"/>
                        <a:cs typeface="Carlito"/>
                        <a:sym typeface="Carlito"/>
                      </a:endParaRPr>
                    </a:p>
                  </a:txBody>
                  <a:tcPr marL="3175" marR="3175" marT="10972" marB="10972" anchor="b"/>
                </a:tc>
                <a:extLst>
                  <a:ext uri="{0D108BD9-81ED-4DB2-BD59-A6C34878D82A}">
                    <a16:rowId xmlns:a16="http://schemas.microsoft.com/office/drawing/2014/main" val="10029"/>
                  </a:ext>
                </a:extLst>
              </a:tr>
            </a:tbl>
          </a:graphicData>
        </a:graphic>
      </p:graphicFrame>
      <p:sp>
        <p:nvSpPr>
          <p:cNvPr id="236" name="TextBox 235"/>
          <p:cNvSpPr txBox="1"/>
          <p:nvPr/>
        </p:nvSpPr>
        <p:spPr>
          <a:xfrm>
            <a:off x="438912" y="5650992"/>
            <a:ext cx="10972800" cy="228600"/>
          </a:xfrm>
          <a:prstGeom prst="rect">
            <a:avLst/>
          </a:prstGeom>
          <a:noFill/>
        </p:spPr>
        <p:txBody>
          <a:bodyPr wrap="square" lIns="18288" rIns="18288" tIns="18288" bIns="18288">
            <a:spAutoFit/>
          </a:bodyPr>
          <a:lstStyle/>
          <a:p>
            <a:pPr algn="l">
              <a:lnSpc>
                <a:spcPct val="105000"/>
              </a:lnSpc>
              <a:spcBef>
                <a:spcPts val="0"/>
              </a:spcBef>
              <a:spcAft>
                <a:spcPts val="200"/>
              </a:spcAft>
            </a:pPr>
            <a:r>
              <a:rPr sz="1050" b="0">
                <a:solidFill>
                  <a:srgbClr val="FFFFFF"/>
                </a:solidFill>
                <a:latin typeface="Calibri"/>
              </a:rPr>
              <a:t>Historical supporting snapshot (continued) · current registers: AIS CFG011 / Research Data CFG020 / ACE CFG002</a:t>
            </a:r>
          </a:p>
        </p:txBody>
      </p:sp>
      <p:sp>
        <p:nvSpPr>
          <p:cNvPr id="237" name="TextBox 236"/>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26 of 29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graphicFrame>
        <p:nvGraphicFramePr>
          <p:cNvPr id="241" name="Google Shape;241;p38"/>
          <p:cNvGraphicFramePr/>
          <p:nvPr>
            <p:extLst>
              <p:ext uri="{D42A27DB-BD31-4B8C-83A1-F6EECF244321}">
                <p14:modId xmlns:p14="http://schemas.microsoft.com/office/powerpoint/2010/main" val="2298685827"/>
              </p:ext>
            </p:extLst>
          </p:nvPr>
        </p:nvGraphicFramePr>
        <p:xfrm>
          <a:off x="274320" y="365760"/>
          <a:ext cx="11631162" cy="4277363"/>
        </p:xfrm>
        <a:graphic>
          <a:graphicData uri="http://schemas.openxmlformats.org/drawingml/2006/table">
            <a:tbl>
              <a:tblPr>
                <a:noFill/>
                <a:tableStyleId>{3C1EB017-BC45-4DEE-9ABB-B4D90C79D28D}</a:tableStyleId>
              </a:tblPr>
              <a:tblGrid>
                <a:gridCol w="251495">
                  <a:extLst>
                    <a:ext uri="{9D8B030D-6E8A-4147-A177-3AD203B41FA5}">
                      <a16:colId xmlns:a16="http://schemas.microsoft.com/office/drawing/2014/main" val="20000"/>
                    </a:ext>
                  </a:extLst>
                </a:gridCol>
                <a:gridCol w="565845">
                  <a:extLst>
                    <a:ext uri="{9D8B030D-6E8A-4147-A177-3AD203B41FA5}">
                      <a16:colId xmlns:a16="http://schemas.microsoft.com/office/drawing/2014/main" val="20001"/>
                    </a:ext>
                  </a:extLst>
                </a:gridCol>
                <a:gridCol w="565845">
                  <a:extLst>
                    <a:ext uri="{9D8B030D-6E8A-4147-A177-3AD203B41FA5}">
                      <a16:colId xmlns:a16="http://schemas.microsoft.com/office/drawing/2014/main" val="20002"/>
                    </a:ext>
                  </a:extLst>
                </a:gridCol>
                <a:gridCol w="1068809">
                  <a:extLst>
                    <a:ext uri="{9D8B030D-6E8A-4147-A177-3AD203B41FA5}">
                      <a16:colId xmlns:a16="http://schemas.microsoft.com/office/drawing/2014/main" val="20003"/>
                    </a:ext>
                  </a:extLst>
                </a:gridCol>
                <a:gridCol w="943074">
                  <a:extLst>
                    <a:ext uri="{9D8B030D-6E8A-4147-A177-3AD203B41FA5}">
                      <a16:colId xmlns:a16="http://schemas.microsoft.com/office/drawing/2014/main" val="20004"/>
                    </a:ext>
                  </a:extLst>
                </a:gridCol>
                <a:gridCol w="1068809">
                  <a:extLst>
                    <a:ext uri="{9D8B030D-6E8A-4147-A177-3AD203B41FA5}">
                      <a16:colId xmlns:a16="http://schemas.microsoft.com/office/drawing/2014/main" val="20005"/>
                    </a:ext>
                  </a:extLst>
                </a:gridCol>
                <a:gridCol w="1508892">
                  <a:extLst>
                    <a:ext uri="{9D8B030D-6E8A-4147-A177-3AD203B41FA5}">
                      <a16:colId xmlns:a16="http://schemas.microsoft.com/office/drawing/2014/main" val="20006"/>
                    </a:ext>
                  </a:extLst>
                </a:gridCol>
                <a:gridCol w="880194">
                  <a:extLst>
                    <a:ext uri="{9D8B030D-6E8A-4147-A177-3AD203B41FA5}">
                      <a16:colId xmlns:a16="http://schemas.microsoft.com/office/drawing/2014/main" val="20007"/>
                    </a:ext>
                  </a:extLst>
                </a:gridCol>
                <a:gridCol w="1068809">
                  <a:extLst>
                    <a:ext uri="{9D8B030D-6E8A-4147-A177-3AD203B41FA5}">
                      <a16:colId xmlns:a16="http://schemas.microsoft.com/office/drawing/2014/main" val="20008"/>
                    </a:ext>
                  </a:extLst>
                </a:gridCol>
                <a:gridCol w="1194544">
                  <a:extLst>
                    <a:ext uri="{9D8B030D-6E8A-4147-A177-3AD203B41FA5}">
                      <a16:colId xmlns:a16="http://schemas.microsoft.com/office/drawing/2014/main" val="20009"/>
                    </a:ext>
                  </a:extLst>
                </a:gridCol>
                <a:gridCol w="502964">
                  <a:extLst>
                    <a:ext uri="{9D8B030D-6E8A-4147-A177-3AD203B41FA5}">
                      <a16:colId xmlns:a16="http://schemas.microsoft.com/office/drawing/2014/main" val="20010"/>
                    </a:ext>
                  </a:extLst>
                </a:gridCol>
                <a:gridCol w="408669">
                  <a:extLst>
                    <a:ext uri="{9D8B030D-6E8A-4147-A177-3AD203B41FA5}">
                      <a16:colId xmlns:a16="http://schemas.microsoft.com/office/drawing/2014/main" val="20011"/>
                    </a:ext>
                  </a:extLst>
                </a:gridCol>
                <a:gridCol w="408669">
                  <a:extLst>
                    <a:ext uri="{9D8B030D-6E8A-4147-A177-3AD203B41FA5}">
                      <a16:colId xmlns:a16="http://schemas.microsoft.com/office/drawing/2014/main" val="20012"/>
                    </a:ext>
                  </a:extLst>
                </a:gridCol>
                <a:gridCol w="1194544">
                  <a:extLst>
                    <a:ext uri="{9D8B030D-6E8A-4147-A177-3AD203B41FA5}">
                      <a16:colId xmlns:a16="http://schemas.microsoft.com/office/drawing/2014/main" val="20013"/>
                    </a:ext>
                  </a:extLst>
                </a:gridCol>
              </a:tblGrid>
              <a:tr h="134283">
                <a:tc gridSpan="14">
                  <a:txBody>
                    <a:bodyPr/>
                    <a:lstStyle/>
                    <a:p>
                      <a:pPr marL="0" marR="0" lvl="0" indent="0" algn="l" rtl="0">
                        <a:lnSpc>
                          <a:spcPct val="100000"/>
                        </a:lnSpc>
                        <a:spcBef>
                          <a:spcPts val="0"/>
                        </a:spcBef>
                        <a:spcAft>
                          <a:spcPts val="0"/>
                        </a:spcAft>
                        <a:buClr>
                          <a:srgbClr val="000000"/>
                        </a:buClr>
                        <a:buSzPts val="400"/>
                        <a:buFont typeface="Arial"/>
                        <a:buNone/>
                      </a:pPr>
                      <a:r>
                        <a:rPr lang="en-US" sz="650" b="1" dirty="0">
                          <a:solidFill>
                            <a:srgbClr val="000000"/>
                          </a:solidFill>
                          <a:latin typeface="Arial"/>
                          <a:ea typeface="Arial"/>
                          <a:cs typeface="Arial"/>
                          <a:sym typeface="Arial"/>
                        </a:rPr>
                        <a:t>International Research Data Requests — Priority &amp; Mailing Register</a:t>
                      </a:r>
                      <a:endParaRPr sz="1100" b="1" i="0" u="none" dirty="0">
                        <a:solidFill>
                          <a:srgbClr val="FFFFFF"/>
                        </a:solidFill>
                        <a:latin typeface="Carlito"/>
                        <a:ea typeface="Carlito"/>
                        <a:cs typeface="Carlito"/>
                        <a:sym typeface="Carlito"/>
                      </a:endParaRPr>
                    </a:p>
                  </a:txBody>
                  <a:tcPr marL="22860" marR="22860" marT="10972" marB="10972" anchor="b"/>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extLst>
                  <a:ext uri="{0D108BD9-81ED-4DB2-BD59-A6C34878D82A}">
                    <a16:rowId xmlns:a16="http://schemas.microsoft.com/office/drawing/2014/main" val="10000"/>
                  </a:ext>
                </a:extLst>
              </a:tr>
              <a:tr h="103754">
                <a:tc gridSpan="14">
                  <a:txBody>
                    <a:bodyPr/>
                    <a:lstStyle/>
                    <a:p>
                      <a:pPr marL="0" marR="0" lvl="0" indent="0" algn="l" rtl="0">
                        <a:lnSpc>
                          <a:spcPct val="100000"/>
                        </a:lnSpc>
                        <a:spcBef>
                          <a:spcPts val="0"/>
                        </a:spcBef>
                        <a:spcAft>
                          <a:spcPts val="0"/>
                        </a:spcAft>
                        <a:buClr>
                          <a:srgbClr val="000000"/>
                        </a:buClr>
                        <a:buSzPts val="400"/>
                        <a:buFont typeface="Arial"/>
                        <a:buNone/>
                      </a:pPr>
                      <a:r>
                        <a:rPr lang="en-US" sz="650" b="1">
                          <a:solidFill>
                            <a:srgbClr val="000000"/>
                          </a:solidFill>
                          <a:latin typeface="Arial"/>
                          <a:ea typeface="Arial"/>
                          <a:cs typeface="Arial"/>
                          <a:sym typeface="Arial"/>
                        </a:rPr>
                        <a:t>Purpose: obtain public, scientifically defensible data that parameterize degraded, disrupted, intermittent, or resource-constrained conditions relevant to the Praxis.</a:t>
                      </a:r>
                      <a:endParaRPr sz="1000" b="0" i="1" u="none">
                        <a:latin typeface="Carlito"/>
                        <a:ea typeface="Carlito"/>
                        <a:cs typeface="Carlito"/>
                        <a:sym typeface="Carlito"/>
                      </a:endParaRPr>
                    </a:p>
                  </a:txBody>
                  <a:tcPr marL="22860" marR="22860" marT="10972" marB="10972" anchor="b"/>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extLst>
                  <a:ext uri="{0D108BD9-81ED-4DB2-BD59-A6C34878D82A}">
                    <a16:rowId xmlns:a16="http://schemas.microsoft.com/office/drawing/2014/main" val="10001"/>
                  </a:ext>
                </a:extLst>
              </a:tr>
              <a:tr h="94592">
                <a:tc gridSpan="14">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Primary outreach wave = priorities 1–6.  Main bucket = strongest reason to contact; secondary buckets show additional value.</a:t>
                      </a:r>
                      <a:endParaRPr sz="1000" b="0" i="0" u="none">
                        <a:latin typeface="Carlito"/>
                        <a:ea typeface="Carlito"/>
                        <a:cs typeface="Carlito"/>
                        <a:sym typeface="Carlito"/>
                      </a:endParaRPr>
                    </a:p>
                  </a:txBody>
                  <a:tcPr marL="22860" marR="22860" marT="10972" marB="10972" anchor="b"/>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extLst>
                  <a:ext uri="{0D108BD9-81ED-4DB2-BD59-A6C34878D82A}">
                    <a16:rowId xmlns:a16="http://schemas.microsoft.com/office/drawing/2014/main" val="10002"/>
                  </a:ext>
                </a:extLst>
              </a:tr>
              <a:tr h="156802">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dirty="0">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extLst>
                  <a:ext uri="{0D108BD9-81ED-4DB2-BD59-A6C34878D82A}">
                    <a16:rowId xmlns:a16="http://schemas.microsoft.com/office/drawing/2014/main" val="10003"/>
                  </a:ext>
                </a:extLst>
              </a:tr>
              <a:tr h="155614">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Priority</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Tier</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Country</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Entity / Program</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Main Data Bucket</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Secondary Buckets</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Mailing Address</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POC / Office</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Email</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Website / Intake</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Status</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Date Sent</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Response Date</a:t>
                      </a:r>
                      <a:endParaRPr sz="1000" b="1" i="0" u="none">
                        <a:solidFill>
                          <a:srgbClr val="FFFFFF"/>
                        </a:solidFill>
                        <a:latin typeface="Carlito"/>
                        <a:ea typeface="Carlito"/>
                        <a:cs typeface="Carlito"/>
                        <a:sym typeface="Carlito"/>
                      </a:endParaRPr>
                    </a:p>
                  </a:txBody>
                  <a:tcPr marL="22860" marR="22860" marT="10972" marB="10972" anchor="ctr"/>
                </a:tc>
                <a:tc>
                  <a:txBody>
                    <a:bodyPr/>
                    <a:lstStyle/>
                    <a:p>
                      <a:pPr marL="0" marR="0" lvl="0" indent="0" algn="ct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Notes</a:t>
                      </a:r>
                      <a:endParaRPr sz="1000" b="1" i="0" u="none">
                        <a:solidFill>
                          <a:srgbClr val="FFFFFF"/>
                        </a:solidFill>
                        <a:latin typeface="Carlito"/>
                        <a:ea typeface="Carlito"/>
                        <a:cs typeface="Carlito"/>
                        <a:sym typeface="Carlito"/>
                      </a:endParaRPr>
                    </a:p>
                  </a:txBody>
                  <a:tcPr marL="22860" marR="22860" marT="10972" marB="10972" anchor="ctr"/>
                </a:tc>
                <a:extLst>
                  <a:ext uri="{0D108BD9-81ED-4DB2-BD59-A6C34878D82A}">
                    <a16:rowId xmlns:a16="http://schemas.microsoft.com/office/drawing/2014/main" val="10004"/>
                  </a:ext>
                </a:extLst>
              </a:tr>
              <a:tr h="353158">
                <a:tc>
                  <a:txBody>
                    <a:bodyPr/>
                    <a:lstStyle/>
                    <a:p>
                      <a:pPr marL="0" marR="0" lvl="0" indent="0" algn="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1</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Tier 1 - Primary</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Japan</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NICT — World Data Center for Ionosphere &amp; Space Weather</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Downlink Bottlenecks &amp; DDIL</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Persistent SDA; bounded-response trigger data; workload-event volume</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World Data Center for Ionosphere and Space Weather, Space Environment Laboratory, Applied Electromagnetic Research Center, NICT, 4-2-1 Nukui-Kitamachi, Koganei, Tokyo 184-8795, JAPAN</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World Data Center for Ionosphere &amp; Space Weather</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iono@ml.nict.go.jp</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https://wdc.nict.go.jp/wdc-top/contact.html</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a:solidFill>
                            <a:srgbClr val="000000"/>
                          </a:solidFill>
                          <a:latin typeface="Arial"/>
                          <a:ea typeface="Arial"/>
                          <a:cs typeface="Arial"/>
                          <a:sym typeface="Arial"/>
                        </a:rPr>
                        <a:t>Responded / clarification</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Aug 17; Sep 14</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Sep 14</a:t>
                      </a:r>
                      <a:endParaRPr sz="1000" b="1"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NICT requested specific ionosonde/TEC parameters; Japanese follow-up sent. Files pending.</a:t>
                      </a:r>
                      <a:endParaRPr sz="1000" b="1"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05"/>
                  </a:ext>
                </a:extLst>
              </a:tr>
              <a:tr h="265889">
                <a:tc>
                  <a:txBody>
                    <a:bodyPr/>
                    <a:lstStyle/>
                    <a:p>
                      <a:pPr marL="0" marR="0" lvl="0" indent="0" algn="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2</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Tier 1 - Primary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Canada</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University of Victoria — LENS / Starlink@PanLab</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a:solidFill>
                            <a:srgbClr val="000000"/>
                          </a:solidFill>
                          <a:latin typeface="Arial"/>
                          <a:ea typeface="Arial"/>
                          <a:cs typeface="Arial"/>
                          <a:sym typeface="Arial"/>
                        </a:rPr>
                        <a:t>Decision-Cycle Latency</a:t>
                      </a:r>
                      <a:endParaRPr sz="2000"/>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Downlink Bottlenecks &amp; DDIL; response/recovery timing</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Department of Computer Science, University of Victoria, Engineering &amp; Computer Science Building, Room 504, PO Box 1700 STN CSC, Victoria, BC V8W 2Y2, CANADA</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Jinwei Zhao; Prof. Jianping Pan</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clarkzjw@uvic.ca; pan@uvic.ca</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https://onlineacademiccommunity.uvic.ca/starlink/</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a:solidFill>
                            <a:srgbClr val="000000"/>
                          </a:solidFill>
                          <a:latin typeface="Arial"/>
                          <a:ea typeface="Arial"/>
                          <a:cs typeface="Arial"/>
                          <a:sym typeface="Arial"/>
                        </a:rPr>
                        <a:t>Responded / awaiting</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Aug 17; Sep 13</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Sep 12</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Prof. Pan asked for clarification; LENS latency/loss/uptime variables requested. Files pending.</a:t>
                      </a:r>
                      <a:endParaRPr sz="1000" b="0"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06"/>
                  </a:ext>
                </a:extLst>
              </a:tr>
              <a:tr h="265889">
                <a:tc>
                  <a:txBody>
                    <a:bodyPr/>
                    <a:lstStyle/>
                    <a:p>
                      <a:pPr marL="0" marR="0" lvl="0" indent="0" algn="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3</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Tier 1 - Primary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Germany / Netherlands</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WetLinks — Osnabrück University / University of Twente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Downlink Bottlenecks &amp; DDIL</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a:solidFill>
                            <a:srgbClr val="000000"/>
                          </a:solidFill>
                          <a:latin typeface="Arial"/>
                          <a:ea typeface="Arial"/>
                          <a:cs typeface="Arial"/>
                          <a:sym typeface="Arial"/>
                        </a:rPr>
                        <a:t>Decision-Cycle Latency; environmental correlation</a:t>
                      </a:r>
                      <a:endParaRPr sz="2000"/>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c/o Distributed Systems Group, Institute of Computer Science, Osnabrück University, Friedrich-Janssen-Str. 1, 49076 Osnabrück, GERMANY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Dominic Laniewski; Prof. Nils Aschenbruck; Prof. Roland van Rijswijk-Deij</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laniewski@uni-osnabrueck.de; aschenbruck@uni-osnabrueck.de; r.m.vanrijswijk@utwente.nl</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https://arxiv.org/abs/2402.16448</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a:solidFill>
                            <a:srgbClr val="000000"/>
                          </a:solidFill>
                          <a:latin typeface="Arial"/>
                          <a:ea typeface="Arial"/>
                          <a:cs typeface="Arial"/>
                          <a:sym typeface="Arial"/>
                        </a:rPr>
                        <a:t>Responded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Aug 17</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Aug 25</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WetLinks public repository + dataset/paper links received; screen files/fields next.</a:t>
                      </a:r>
                      <a:endParaRPr sz="1000" b="0"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07"/>
                  </a:ext>
                </a:extLst>
              </a:tr>
              <a:tr h="233957">
                <a:tc>
                  <a:txBody>
                    <a:bodyPr/>
                    <a:lstStyle/>
                    <a:p>
                      <a:pPr marL="0" marR="0" lvl="0" indent="0" algn="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4</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Tier 1 - Primary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Netherlands</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RIPE NCC — RIPE Atlas</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a:solidFill>
                            <a:srgbClr val="000000"/>
                          </a:solidFill>
                          <a:latin typeface="Arial"/>
                          <a:ea typeface="Arial"/>
                          <a:cs typeface="Arial"/>
                          <a:sym typeface="Arial"/>
                        </a:rPr>
                        <a:t>Decision-Cycle Latency</a:t>
                      </a:r>
                      <a:endParaRPr sz="2000"/>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Downlink Bottlenecks &amp; DDIL; outage/recovery; event-volume inputs</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RIPE Network Coordination Centre, P.O. Box 10096, 1001 EB Amsterdam, NETHERLANDS</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RIPE Atlas Team</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atlas@ripe.net</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https://atlas.ripe.net/</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Not Contacted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Potential independent/original active measurement campaign.</a:t>
                      </a:r>
                      <a:endParaRPr sz="1000" b="0"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08"/>
                  </a:ext>
                </a:extLst>
              </a:tr>
              <a:tr h="265889">
                <a:tc>
                  <a:txBody>
                    <a:bodyPr/>
                    <a:lstStyle/>
                    <a:p>
                      <a:pPr marL="0" marR="0" lvl="0" indent="0" algn="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5</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Tier 1 - Primary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dirty="0">
                          <a:solidFill>
                            <a:srgbClr val="000000"/>
                          </a:solidFill>
                          <a:latin typeface="Arial"/>
                          <a:ea typeface="Arial"/>
                          <a:cs typeface="Arial"/>
                          <a:sym typeface="Arial"/>
                        </a:rPr>
                        <a:t>New Zealand</a:t>
                      </a:r>
                      <a:endParaRPr sz="1000" b="0" i="0" u="none" dirty="0">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University of Otago — Solar Tsunamis / MANA Network</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DDIL / Environmental Degradation</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Persistent SDA</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c/o Department of Physics, University of Otago, PO Box 56, Dunedin 9054, NEW ZEALAND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Dr Johnny Malone-Leigh; Prof. Craig Rodger; Lisa Evans</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john.m.leigh@otago.ac.nz; craig.rodger@otago.ac.nz; lisa.evans@otago.ac.nz</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https://solartsunamis.otago.ac.nz/mana/mana-data/</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Not Contacted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Formal scientific data access; Southern Hemisphere geomagnetic disturbance timelines.</a:t>
                      </a:r>
                      <a:endParaRPr sz="1000" b="0"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09"/>
                  </a:ext>
                </a:extLst>
              </a:tr>
              <a:tr h="265889">
                <a:tc>
                  <a:txBody>
                    <a:bodyPr/>
                    <a:lstStyle/>
                    <a:p>
                      <a:pPr marL="0" marR="0" lvl="0" indent="0" algn="r"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6</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Tier 1 - Primary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New Zealand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Earth Sciences New Zealand — Geomagnetism Project</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Persistent SDA / Environmental Degradation</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DDIL environmental proxy; bounded-response trigger data</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Avalon Campus, 1 Fairway Drive, Avalon 5011, PO Box 30-368, Lower Hutt 5040, NEW ZEALAND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Dr Tanja Petersen</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https://www.gns.cri.nz/about-us/staff-search/tanja-petersen/</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Not Contacted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INTERMAGNET / Scott Base context; independent validation. General phone: +64 4 570 1444.</a:t>
                      </a:r>
                      <a:endParaRPr sz="1000" b="0"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10"/>
                  </a:ext>
                </a:extLst>
              </a:tr>
              <a:tr h="265889">
                <a:tc>
                  <a:txBody>
                    <a:bodyPr/>
                    <a:lstStyle/>
                    <a:p>
                      <a:pPr marL="0" marR="0" lvl="0" indent="0" algn="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7</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Tier 2 - Secondary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Australia</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Australian Space Weather Forecasting Centre — Bureau of Meteorology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DDIL / Communications Degradation</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Persistent SDA; bounded-response triggers; workload-event volume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Australian Space Weather Forecasting Centre, Bureau of Meteorology, Lot Fourteen, Adelaide, SA 5000, AUSTRALIA</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Space Weather Forecaster</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ASWFC@bom.gov.au; space@bom.gov.au</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https://www.sws.bom.gov.au/Contact_Us</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a:solidFill>
                            <a:srgbClr val="000000"/>
                          </a:solidFill>
                          <a:latin typeface="Arial"/>
                          <a:ea typeface="Arial"/>
                          <a:cs typeface="Arial"/>
                          <a:sym typeface="Arial"/>
                        </a:rPr>
                        <a:t>Responded / links</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Aug 17; Sep 13</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Sep 13</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ASWFC supplied HF/ionosphere/K-index links + citation guidance; no direct network data.</a:t>
                      </a:r>
                      <a:endParaRPr sz="1000" b="0"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11"/>
                  </a:ext>
                </a:extLst>
              </a:tr>
              <a:tr h="233957">
                <a:tc>
                  <a:txBody>
                    <a:bodyPr/>
                    <a:lstStyle/>
                    <a:p>
                      <a:pPr marL="0" marR="0" lvl="0" indent="0" algn="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8</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Tier 2 - Secondary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United Kingdom</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Met Office — Space Weather Operations Centre (MOSWOC)</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DDIL / Communications Degradation</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dirty="0">
                          <a:solidFill>
                            <a:srgbClr val="000000"/>
                          </a:solidFill>
                          <a:latin typeface="Arial"/>
                          <a:ea typeface="Arial"/>
                          <a:cs typeface="Arial"/>
                          <a:sym typeface="Arial"/>
                        </a:rPr>
                        <a:t>Persistent SDA; bounded-response triggers; workload-event volume</a:t>
                      </a:r>
                      <a:endParaRPr sz="1000" b="0" i="0" u="none" dirty="0">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Met Office, FitzRoy Road, Exeter, Devon EX1 3PB, UNITED KINGDOM</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Mark Gibbs / MOSWOC</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enquiries@metoffice.gov.uk</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https://weather.metoffice.gov.uk/learn-about/space-weather/met-office-role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Not Contacted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Independent operational flare/radio-blackout/geomagnetic interpretation.</a:t>
                      </a:r>
                      <a:endParaRPr sz="1000" b="0"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12"/>
                  </a:ext>
                </a:extLst>
              </a:tr>
              <a:tr h="265889">
                <a:tc>
                  <a:txBody>
                    <a:bodyPr/>
                    <a:lstStyle/>
                    <a:p>
                      <a:pPr marL="0" marR="0" lvl="0" indent="0" algn="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9</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Tier 2 - Secondary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South Africa</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SANSA — Space Weather Centre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dirty="0">
                          <a:solidFill>
                            <a:srgbClr val="000000"/>
                          </a:solidFill>
                          <a:latin typeface="Arial"/>
                          <a:ea typeface="Arial"/>
                          <a:cs typeface="Arial"/>
                          <a:sym typeface="Arial"/>
                        </a:rPr>
                        <a:t>DDIL / Communications Degradation</a:t>
                      </a:r>
                      <a:endParaRPr sz="1000" b="0" i="0" u="none" dirty="0">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Persistent SDA; bounded-response triggers; workload-event volume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SANSA Space Science, PO Box 32, Hermanus 7200, Western Cape, SOUTH AFRICA. Physical site: Hospital Street, Hermanus 7200.</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Space Weather Centre / SANSA Space Science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dirty="0">
                          <a:solidFill>
                            <a:srgbClr val="000000"/>
                          </a:solidFill>
                          <a:latin typeface="Arial"/>
                          <a:ea typeface="Arial"/>
                          <a:cs typeface="Arial"/>
                          <a:sym typeface="Arial"/>
                        </a:rPr>
                        <a:t>spaceweather@sansa.org.za; spacesci-info@sansa.org.za</a:t>
                      </a:r>
                      <a:endParaRPr sz="1000" b="0" i="0" u="none" dirty="0">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https://www.sansa.org.za/products-and-services/space-science/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a:solidFill>
                            <a:srgbClr val="000000"/>
                          </a:solidFill>
                          <a:latin typeface="Arial"/>
                          <a:ea typeface="Arial"/>
                          <a:cs typeface="Arial"/>
                          <a:sym typeface="Arial"/>
                        </a:rPr>
                        <a:t>Responded / environmental</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Aug 17; Sep 13</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Sep 14</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0">
                          <a:solidFill>
                            <a:srgbClr val="000000"/>
                          </a:solidFill>
                          <a:latin typeface="Arial"/>
                          <a:ea typeface="Arial"/>
                          <a:cs typeface="Arial"/>
                          <a:sym typeface="Arial"/>
                        </a:rPr>
                        <a:t>SANSA provided Hermanus geomagnetic-data route/citation; no direct latency/loss/availability.</a:t>
                      </a:r>
                      <a:endParaRPr sz="1000" b="0"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13"/>
                  </a:ext>
                </a:extLst>
              </a:tr>
              <a:tr h="233957">
                <a:tc>
                  <a:txBody>
                    <a:bodyPr/>
                    <a:lstStyle/>
                    <a:p>
                      <a:pPr marL="0" marR="0" lvl="0" indent="0" algn="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10</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Tier 2 - Secondary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Belgium</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ESA — Space Weather Service Network / Coordination Centre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Persistent SDA / DDIL</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Bounded autonomous-response trigger data; workload-event volume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Space Weather Coordination Centre, Space Pole, Avenue Circulaire–Ringlaan 3, 1180 Uccle–Ukkel, BELGIUM</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SWE Service Helpdesk</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helpdesk.swe@esa.int</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https://swe.ssa.esa.int/contact</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Not Contacted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European product-selection, archive, API and V&amp;V support.</a:t>
                      </a:r>
                      <a:endParaRPr sz="1000" b="0"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14"/>
                  </a:ext>
                </a:extLst>
              </a:tr>
              <a:tr h="233957">
                <a:tc>
                  <a:txBody>
                    <a:bodyPr/>
                    <a:lstStyle/>
                    <a:p>
                      <a:pPr marL="0" marR="0" lvl="0" indent="0" algn="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11</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Tier 3 - Supporting</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Germany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EUMETSAT — User Service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Persistent SDA / Ground-Station Availability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DDIL atmospheric/ground-site proxy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EUMETSAT, Eumetsat-Allee 1, D-64295 Darmstadt, GERMANY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User Service Helpdesk</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ops@eumetsat.int</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https://www.eumetsat.int/contact-eumetsat</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Not Contacted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Meteorology/precipitation/cloud inputs for notional ground-station availability.</a:t>
                      </a:r>
                      <a:endParaRPr sz="1000" b="0"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15"/>
                  </a:ext>
                </a:extLst>
              </a:tr>
              <a:tr h="265889">
                <a:tc>
                  <a:txBody>
                    <a:bodyPr/>
                    <a:lstStyle/>
                    <a:p>
                      <a:pPr marL="0" marR="0" lvl="0" indent="0" algn="r"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12</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Tier 3 - Supporting</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New Zealand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New Zealand Space Agency — MBIE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Cross-Cutting Referral Source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All five families by referral only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New Zealand Space Agency, Ministry of Business, Innovation and Employment, PO Box 1473, Wellington 6140, NEW ZEALAND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New Zealand Space Agency / MBIE</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nzspaceagency@mbie.govt.nz</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https://www.mbie.govt.nz/science-and-technology/space/connect-with-nzsa</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Not Contacted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b="1" u="none">
                          <a:solidFill>
                            <a:srgbClr val="000000"/>
                          </a:solidFill>
                          <a:latin typeface="Arial"/>
                          <a:ea typeface="Arial"/>
                          <a:cs typeface="Arial"/>
                          <a:sym typeface="Arial"/>
                        </a:rPr>
                        <a:t>Referral/ecosystem source, not primary scientific data.</a:t>
                      </a:r>
                      <a:endParaRPr sz="1000" b="0"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16"/>
                  </a:ext>
                </a:extLst>
              </a:tr>
              <a:tr h="233957">
                <a:tc>
                  <a:txBody>
                    <a:bodyPr/>
                    <a:lstStyle/>
                    <a:p>
                      <a:pPr marL="0" marR="0" lvl="0" indent="0" algn="r"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13</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Tier 3 - Supporting</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Germany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ESA Space Debris Office — DISCOS / SDUP</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Bounded Autonomous Response / Maneuver Support</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Persistent SDA</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Space Debris Office, ESOC/ESA, Robert-Bosch-Str. 5, 64293 Darmstadt, GERMANY</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Space Debris Office / SDUP Support</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space.debris.support@esa.int</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https://sdup.esoc.esa.int/contact</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Not Contacted</a:t>
                      </a: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solidFill>
                          <a:srgbClr val="1F1F1F"/>
                        </a:solidFill>
                        <a:latin typeface="Carlito"/>
                        <a:ea typeface="Carlito"/>
                        <a:cs typeface="Carlito"/>
                        <a:sym typeface="Carlito"/>
                      </a:endParaRPr>
                    </a:p>
                  </a:txBody>
                  <a:tcPr marL="22860" marR="22860" marT="10972" marB="10972"/>
                </a:tc>
                <a:tc>
                  <a:txBody>
                    <a:bodyPr/>
                    <a:lstStyle/>
                    <a:p>
                      <a:pPr marL="0" marR="0" lvl="0" indent="0" algn="l" rtl="0">
                        <a:lnSpc>
                          <a:spcPct val="100000"/>
                        </a:lnSpc>
                        <a:spcBef>
                          <a:spcPts val="0"/>
                        </a:spcBef>
                        <a:spcAft>
                          <a:spcPts val="0"/>
                        </a:spcAft>
                        <a:buClr>
                          <a:srgbClr val="000000"/>
                        </a:buClr>
                        <a:buSzPts val="400"/>
                        <a:buFont typeface="Arial"/>
                        <a:buNone/>
                      </a:pPr>
                      <a:r>
                        <a:rPr lang="en-US" sz="650" u="none">
                          <a:solidFill>
                            <a:srgbClr val="000000"/>
                          </a:solidFill>
                          <a:latin typeface="Arial"/>
                          <a:ea typeface="Arial"/>
                          <a:cs typeface="Arial"/>
                          <a:sym typeface="Arial"/>
                        </a:rPr>
                        <a:t>Public conjunction/object metadata and event-trigger context.</a:t>
                      </a:r>
                      <a:endParaRPr sz="1000" b="0" i="0" u="none">
                        <a:solidFill>
                          <a:srgbClr val="1F1F1F"/>
                        </a:solidFill>
                        <a:latin typeface="Carlito"/>
                        <a:ea typeface="Carlito"/>
                        <a:cs typeface="Carlito"/>
                        <a:sym typeface="Carlito"/>
                      </a:endParaRPr>
                    </a:p>
                  </a:txBody>
                  <a:tcPr marL="22860" marR="22860" marT="10972" marB="10972"/>
                </a:tc>
                <a:extLst>
                  <a:ext uri="{0D108BD9-81ED-4DB2-BD59-A6C34878D82A}">
                    <a16:rowId xmlns:a16="http://schemas.microsoft.com/office/drawing/2014/main" val="10017"/>
                  </a:ext>
                </a:extLst>
              </a:tr>
              <a:tr h="156802">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tc>
                  <a:txBody>
                    <a:bodyPr/>
                    <a:lstStyle/>
                    <a:p>
                      <a:pPr marL="0" marR="0" lvl="0" indent="0" algn="l" rtl="0">
                        <a:lnSpc>
                          <a:spcPct val="100000"/>
                        </a:lnSpc>
                        <a:spcBef>
                          <a:spcPts val="0"/>
                        </a:spcBef>
                        <a:spcAft>
                          <a:spcPts val="0"/>
                        </a:spcAft>
                        <a:buClr>
                          <a:schemeClr val="dk1"/>
                        </a:buClr>
                        <a:buSzPts val="700"/>
                        <a:buFont typeface="Calibri"/>
                        <a:buNone/>
                      </a:pPr>
                      <a:endParaRPr sz="1000" b="0" i="0" u="none">
                        <a:latin typeface="Carlito"/>
                        <a:ea typeface="Carlito"/>
                        <a:cs typeface="Carlito"/>
                        <a:sym typeface="Carlito"/>
                      </a:endParaRPr>
                    </a:p>
                  </a:txBody>
                  <a:tcPr marL="22860" marR="22860" marT="10972" marB="10972" anchor="b"/>
                </a:tc>
                <a:extLst>
                  <a:ext uri="{0D108BD9-81ED-4DB2-BD59-A6C34878D82A}">
                    <a16:rowId xmlns:a16="http://schemas.microsoft.com/office/drawing/2014/main" val="10018"/>
                  </a:ext>
                </a:extLst>
              </a:tr>
              <a:tr h="91350">
                <a:tc gridSpan="14">
                  <a:txBody>
                    <a:bodyPr/>
                    <a:lstStyle/>
                    <a:p>
                      <a:pPr marL="0" marR="0" lvl="0" indent="0" algn="l" rtl="0">
                        <a:lnSpc>
                          <a:spcPct val="100000"/>
                        </a:lnSpc>
                        <a:spcBef>
                          <a:spcPts val="0"/>
                        </a:spcBef>
                        <a:spcAft>
                          <a:spcPts val="0"/>
                        </a:spcAft>
                        <a:buClr>
                          <a:srgbClr val="000000"/>
                        </a:buClr>
                        <a:buSzPts val="400"/>
                        <a:buFont typeface="Arial"/>
                        <a:buNone/>
                      </a:pPr>
                      <a:r>
                        <a:rPr lang="en-US" sz="650" b="0" dirty="0">
                          <a:solidFill>
                            <a:srgbClr val="000000"/>
                          </a:solidFill>
                          <a:latin typeface="Arial"/>
                          <a:ea typeface="Arial"/>
                          <a:cs typeface="Arial"/>
                          <a:sym typeface="Arial"/>
                        </a:rPr>
                        <a:t>Request framing: seek public, scientifically defensible observations that reproduce system symptoms of degraded/disrupted operations: latency, outages, observation gaps, disturbance onset/recovery, alert volume and quality/confidence. Do not use classified, restricted data, proprietary or operational data.</a:t>
                      </a:r>
                      <a:endParaRPr sz="2000" dirty="0"/>
                    </a:p>
                  </a:txBody>
                  <a:tcPr marL="22860" marR="22860" marT="10972" marB="10972" anchor="ctr"/>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tc hMerge="1">
                  <a:txBody>
                    <a:bodyPr/>
                    <a:lstStyle/>
                    <a:p>
                      <a:pPr>
                        <a:lnSpc>
                          <a:spcPct val="100000"/>
                        </a:lnSpc>
                        <a:spcBef>
                          <a:spcPts val="0"/>
                        </a:spcBef>
                        <a:spcAft>
                          <a:spcPts val="0"/>
                        </a:spcAft>
                      </a:pPr>
                      <a:endParaRPr lang="en-US"/>
                    </a:p>
                  </a:txBody>
                  <a:tcPr marT="10972" marB="10972" marL="22860" marR="22860"/>
                </a:tc>
                <a:extLst>
                  <a:ext uri="{0D108BD9-81ED-4DB2-BD59-A6C34878D82A}">
                    <a16:rowId xmlns:a16="http://schemas.microsoft.com/office/drawing/2014/main" val="10019"/>
                  </a:ext>
                </a:extLst>
              </a:tr>
            </a:tbl>
          </a:graphicData>
        </a:graphic>
      </p:graphicFrame>
      <p:sp>
        <p:nvSpPr>
          <p:cNvPr id="242" name="TextBox 241"/>
          <p:cNvSpPr txBox="1"/>
          <p:nvPr/>
        </p:nvSpPr>
        <p:spPr>
          <a:xfrm>
            <a:off x="438912" y="5650992"/>
            <a:ext cx="10972800" cy="228600"/>
          </a:xfrm>
          <a:prstGeom prst="rect">
            <a:avLst/>
          </a:prstGeom>
          <a:noFill/>
        </p:spPr>
        <p:txBody>
          <a:bodyPr wrap="square" lIns="18288" rIns="18288" tIns="18288" bIns="18288">
            <a:spAutoFit/>
          </a:bodyPr>
          <a:lstStyle/>
          <a:p>
            <a:pPr algn="l">
              <a:lnSpc>
                <a:spcPct val="105000"/>
              </a:lnSpc>
              <a:spcBef>
                <a:spcPts val="0"/>
              </a:spcBef>
              <a:spcAft>
                <a:spcPts val="200"/>
              </a:spcAft>
            </a:pPr>
            <a:r>
              <a:rPr sz="1050" b="0">
                <a:solidFill>
                  <a:srgbClr val="FFFFFF"/>
                </a:solidFill>
                <a:latin typeface="Calibri"/>
              </a:rPr>
              <a:t>Historical supporting snapshot · current source registers: AIS CFG011 / Research Data CFG020 / ACE CFG002</a:t>
            </a:r>
          </a:p>
        </p:txBody>
      </p:sp>
      <p:sp>
        <p:nvSpPr>
          <p:cNvPr id="243" name="TextBox 242"/>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27 of 29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8" name="TextBox 247"/>
          <p:cNvSpPr txBox="1"/>
          <p:nvPr/>
        </p:nvSpPr>
        <p:spPr>
          <a:xfrm>
            <a:off x="438912" y="5650992"/>
            <a:ext cx="10972800" cy="228600"/>
          </a:xfrm>
          <a:prstGeom prst="rect">
            <a:avLst/>
          </a:prstGeom>
          <a:noFill/>
        </p:spPr>
        <p:txBody>
          <a:bodyPr wrap="square" lIns="18288" rIns="18288" tIns="18288" bIns="18288">
            <a:spAutoFit/>
          </a:bodyPr>
          <a:lstStyle/>
          <a:p>
            <a:pPr algn="l">
              <a:lnSpc>
                <a:spcPct val="105000"/>
              </a:lnSpc>
              <a:spcBef>
                <a:spcPts val="0"/>
              </a:spcBef>
              <a:spcAft>
                <a:spcPts val="200"/>
              </a:spcAft>
            </a:pPr>
            <a:r>
              <a:rPr sz="1050" b="0">
                <a:solidFill>
                  <a:srgbClr val="FFFFFF"/>
                </a:solidFill>
                <a:latin typeface="Calibri"/>
              </a:rPr>
              <a:t>Historical supporting snapshot · current source registers: AIS CFG011 / Research Data CFG020 / ACE CFG002</a:t>
            </a:r>
          </a:p>
        </p:txBody>
      </p:sp>
      <p:graphicFrame>
        <p:nvGraphicFramePr>
          <p:cNvPr id="247" name="Google Shape;247;p39"/>
          <p:cNvGraphicFramePr/>
          <p:nvPr>
            <p:extLst>
              <p:ext uri="{D42A27DB-BD31-4B8C-83A1-F6EECF244321}">
                <p14:modId xmlns:p14="http://schemas.microsoft.com/office/powerpoint/2010/main" val="4123301170"/>
              </p:ext>
            </p:extLst>
          </p:nvPr>
        </p:nvGraphicFramePr>
        <p:xfrm>
          <a:off x="274320" y="365760"/>
          <a:ext cx="11631163" cy="3621050"/>
        </p:xfrm>
        <a:graphic>
          <a:graphicData uri="http://schemas.openxmlformats.org/drawingml/2006/table">
            <a:tbl>
              <a:tblPr>
                <a:noFill/>
                <a:tableStyleId>{3C1EB017-BC45-4DEE-9ABB-B4D90C79D28D}</a:tableStyleId>
              </a:tblPr>
              <a:tblGrid>
                <a:gridCol w="1654202">
                  <a:extLst>
                    <a:ext uri="{9D8B030D-6E8A-4147-A177-3AD203B41FA5}">
                      <a16:colId xmlns:a16="http://schemas.microsoft.com/office/drawing/2014/main" val="20000"/>
                    </a:ext>
                  </a:extLst>
                </a:gridCol>
                <a:gridCol w="1654202">
                  <a:extLst>
                    <a:ext uri="{9D8B030D-6E8A-4147-A177-3AD203B41FA5}">
                      <a16:colId xmlns:a16="http://schemas.microsoft.com/office/drawing/2014/main" val="20001"/>
                    </a:ext>
                  </a:extLst>
                </a:gridCol>
                <a:gridCol w="1188977">
                  <a:extLst>
                    <a:ext uri="{9D8B030D-6E8A-4147-A177-3AD203B41FA5}">
                      <a16:colId xmlns:a16="http://schemas.microsoft.com/office/drawing/2014/main" val="20002"/>
                    </a:ext>
                  </a:extLst>
                </a:gridCol>
                <a:gridCol w="827114">
                  <a:extLst>
                    <a:ext uri="{9D8B030D-6E8A-4147-A177-3AD203B41FA5}">
                      <a16:colId xmlns:a16="http://schemas.microsoft.com/office/drawing/2014/main" val="20003"/>
                    </a:ext>
                  </a:extLst>
                </a:gridCol>
                <a:gridCol w="1757592">
                  <a:extLst>
                    <a:ext uri="{9D8B030D-6E8A-4147-A177-3AD203B41FA5}">
                      <a16:colId xmlns:a16="http://schemas.microsoft.com/office/drawing/2014/main" val="20004"/>
                    </a:ext>
                  </a:extLst>
                </a:gridCol>
                <a:gridCol w="1964370">
                  <a:extLst>
                    <a:ext uri="{9D8B030D-6E8A-4147-A177-3AD203B41FA5}">
                      <a16:colId xmlns:a16="http://schemas.microsoft.com/office/drawing/2014/main" val="20005"/>
                    </a:ext>
                  </a:extLst>
                </a:gridCol>
                <a:gridCol w="1964370">
                  <a:extLst>
                    <a:ext uri="{9D8B030D-6E8A-4147-A177-3AD203B41FA5}">
                      <a16:colId xmlns:a16="http://schemas.microsoft.com/office/drawing/2014/main" val="20006"/>
                    </a:ext>
                  </a:extLst>
                </a:gridCol>
                <a:gridCol w="620336">
                  <a:extLst>
                    <a:ext uri="{9D8B030D-6E8A-4147-A177-3AD203B41FA5}">
                      <a16:colId xmlns:a16="http://schemas.microsoft.com/office/drawing/2014/main" val="20007"/>
                    </a:ext>
                  </a:extLst>
                </a:gridCol>
              </a:tblGrid>
              <a:tr h="189525">
                <a:tc gridSpan="8">
                  <a:txBody>
                    <a:bodyPr/>
                    <a:lstStyle/>
                    <a:p>
                      <a:pPr marL="0" marR="0" lvl="0" indent="0" algn="l" rtl="0">
                        <a:lnSpc>
                          <a:spcPct val="100000"/>
                        </a:lnSpc>
                        <a:spcBef>
                          <a:spcPts val="0"/>
                        </a:spcBef>
                        <a:spcAft>
                          <a:spcPts val="0"/>
                        </a:spcAft>
                        <a:buClr>
                          <a:srgbClr val="000000"/>
                        </a:buClr>
                        <a:buSzPts val="459"/>
                        <a:buFont typeface="Arial"/>
                        <a:buNone/>
                      </a:pPr>
                      <a:r>
                        <a:rPr lang="en-US" sz="850" b="1" u="none" dirty="0">
                          <a:solidFill>
                            <a:srgbClr val="000000"/>
                          </a:solidFill>
                          <a:latin typeface="Arial"/>
                          <a:ea typeface="Arial"/>
                          <a:cs typeface="Arial"/>
                          <a:sym typeface="Arial"/>
                        </a:rPr>
                        <a:t>International Research Data Outreach Register</a:t>
                      </a:r>
                      <a:endParaRPr sz="1600" b="1" i="0" u="none" dirty="0">
                        <a:solidFill>
                          <a:srgbClr val="FFFFFF"/>
                        </a:solidFill>
                        <a:latin typeface="Carlito"/>
                        <a:ea typeface="Carlito"/>
                        <a:cs typeface="Carlito"/>
                        <a:sym typeface="Carlito"/>
                      </a:endParaRPr>
                    </a:p>
                  </a:txBody>
                  <a:tcPr marL="3275" marR="3275" marT="10972" marB="10972" anchor="ctr"/>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extLst>
                  <a:ext uri="{0D108BD9-81ED-4DB2-BD59-A6C34878D82A}">
                    <a16:rowId xmlns:a16="http://schemas.microsoft.com/office/drawing/2014/main" val="10000"/>
                  </a:ext>
                </a:extLst>
              </a:tr>
              <a:tr h="127625">
                <a:tc gridSpan="8">
                  <a:txBody>
                    <a:bodyPr/>
                    <a:lstStyle/>
                    <a:p>
                      <a:pPr marL="0" marR="0" lvl="0" indent="0" algn="l" rtl="0">
                        <a:lnSpc>
                          <a:spcPct val="100000"/>
                        </a:lnSpc>
                        <a:spcBef>
                          <a:spcPts val="0"/>
                        </a:spcBef>
                        <a:spcAft>
                          <a:spcPts val="0"/>
                        </a:spcAft>
                        <a:buClr>
                          <a:srgbClr val="000000"/>
                        </a:buClr>
                        <a:buSzPts val="459"/>
                        <a:buFont typeface="Arial"/>
                        <a:buNone/>
                      </a:pPr>
                      <a:r>
                        <a:rPr lang="en-US" sz="850" b="1">
                          <a:solidFill>
                            <a:srgbClr val="000000"/>
                          </a:solidFill>
                          <a:latin typeface="Arial"/>
                          <a:ea typeface="Arial"/>
                          <a:cs typeface="Arial"/>
                          <a:sym typeface="Arial"/>
                        </a:rPr>
                        <a:t>Prioritized POC/data-source register • v07 • 2026-09-16</a:t>
                      </a:r>
                      <a:endParaRPr sz="1050" b="0" i="1" u="none">
                        <a:solidFill>
                          <a:srgbClr val="1F2937"/>
                        </a:solidFill>
                        <a:latin typeface="Carlito"/>
                        <a:ea typeface="Carlito"/>
                        <a:cs typeface="Carlito"/>
                        <a:sym typeface="Carlito"/>
                      </a:endParaRPr>
                    </a:p>
                  </a:txBody>
                  <a:tcPr marL="3275" marR="3275" marT="10972" marB="10972" anchor="b"/>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extLst>
                  <a:ext uri="{0D108BD9-81ED-4DB2-BD59-A6C34878D82A}">
                    <a16:rowId xmlns:a16="http://schemas.microsoft.com/office/drawing/2014/main" val="10001"/>
                  </a:ext>
                </a:extLst>
              </a:tr>
              <a:tr h="145300">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extLst>
                  <a:ext uri="{0D108BD9-81ED-4DB2-BD59-A6C34878D82A}">
                    <a16:rowId xmlns:a16="http://schemas.microsoft.com/office/drawing/2014/main" val="10002"/>
                  </a:ext>
                </a:extLst>
              </a:tr>
              <a:tr h="286800">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Metric</a:t>
                      </a:r>
                      <a:endParaRPr sz="1100" b="1" i="0" u="none">
                        <a:solidFill>
                          <a:srgbClr val="FFFFFF"/>
                        </a:solidFill>
                        <a:latin typeface="Carlito"/>
                        <a:ea typeface="Carlito"/>
                        <a:cs typeface="Carlito"/>
                        <a:sym typeface="Carlito"/>
                      </a:endParaRPr>
                    </a:p>
                  </a:txBody>
                  <a:tcPr marL="3275" marR="3275" marT="10972" marB="10972" anchor="b"/>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Value</a:t>
                      </a:r>
                      <a:endParaRPr sz="1100" b="1" i="0" u="none">
                        <a:solidFill>
                          <a:srgbClr val="FFFFFF"/>
                        </a:solidFill>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Priority</a:t>
                      </a:r>
                      <a:endParaRPr sz="1100" b="1" i="0" u="none">
                        <a:solidFill>
                          <a:srgbClr val="FFFFFF"/>
                        </a:solidFill>
                        <a:latin typeface="Carlito"/>
                        <a:ea typeface="Carlito"/>
                        <a:cs typeface="Carlito"/>
                        <a:sym typeface="Carlito"/>
                      </a:endParaRPr>
                    </a:p>
                  </a:txBody>
                  <a:tcPr marL="3275" marR="3275" marT="10972" marB="10972" anchor="b"/>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Country</a:t>
                      </a:r>
                      <a:endParaRPr sz="1100" b="1" i="0" u="none">
                        <a:solidFill>
                          <a:srgbClr val="FFFFFF"/>
                        </a:solidFill>
                        <a:latin typeface="Carlito"/>
                        <a:ea typeface="Carlito"/>
                        <a:cs typeface="Carlito"/>
                        <a:sym typeface="Carlito"/>
                      </a:endParaRPr>
                    </a:p>
                  </a:txBody>
                  <a:tcPr marL="3275" marR="3275" marT="10972" marB="10972" anchor="b"/>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Organization</a:t>
                      </a:r>
                      <a:endParaRPr sz="1100" b="1" i="0" u="none">
                        <a:solidFill>
                          <a:srgbClr val="FFFFFF"/>
                        </a:solidFill>
                        <a:latin typeface="Carlito"/>
                        <a:ea typeface="Carlito"/>
                        <a:cs typeface="Carlito"/>
                        <a:sym typeface="Carlito"/>
                      </a:endParaRPr>
                    </a:p>
                  </a:txBody>
                  <a:tcPr marL="3275" marR="3275" marT="10972" marB="10972" anchor="b"/>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Core Value</a:t>
                      </a:r>
                      <a:endParaRPr sz="1100" b="1" i="0" u="none">
                        <a:solidFill>
                          <a:srgbClr val="FFFFFF"/>
                        </a:solidFill>
                        <a:latin typeface="Carlito"/>
                        <a:ea typeface="Carlito"/>
                        <a:cs typeface="Carlito"/>
                        <a:sym typeface="Carlito"/>
                      </a:endParaRPr>
                    </a:p>
                  </a:txBody>
                  <a:tcPr marL="3275" marR="3275" marT="10972" marB="10972" anchor="b"/>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Planned wave</a:t>
                      </a:r>
                      <a:endParaRPr sz="1100" b="1" i="0" u="none">
                        <a:solidFill>
                          <a:srgbClr val="FFFFFF"/>
                        </a:solidFill>
                        <a:latin typeface="Carlito"/>
                        <a:ea typeface="Carlito"/>
                        <a:cs typeface="Carlito"/>
                        <a:sym typeface="Carlito"/>
                      </a:endParaRPr>
                    </a:p>
                  </a:txBody>
                  <a:tcPr marL="3275" marR="3275" marT="10972" marB="10972" anchor="b"/>
                </a:tc>
                <a:extLst>
                  <a:ext uri="{0D108BD9-81ED-4DB2-BD59-A6C34878D82A}">
                    <a16:rowId xmlns:a16="http://schemas.microsoft.com/office/drawing/2014/main" val="10003"/>
                  </a:ext>
                </a:extLst>
              </a:tr>
              <a:tr h="28680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Total Targets</a:t>
                      </a:r>
                      <a:endParaRPr sz="1100" b="0" i="0" u="none">
                        <a:latin typeface="Carlito"/>
                        <a:ea typeface="Carlito"/>
                        <a:cs typeface="Carlito"/>
                        <a:sym typeface="Carlito"/>
                      </a:endParaRPr>
                    </a:p>
                  </a:txBody>
                  <a:tcPr marL="3275" marR="3275" marT="10972" marB="10972" anchor="b"/>
                </a:tc>
                <a:tc>
                  <a:txBody>
                    <a:bodyPr/>
                    <a:lstStyle/>
                    <a:p>
                      <a:pPr marL="0" marR="0" lvl="0" indent="0" algn="r"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13</a:t>
                      </a: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r"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1</a:t>
                      </a:r>
                      <a:endParaRPr sz="1100" b="1" i="0" u="none">
                        <a:solidFill>
                          <a:srgbClr val="1F2937"/>
                        </a:solidFill>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Japan</a:t>
                      </a:r>
                      <a:endParaRPr sz="1100" b="1" i="0" u="none">
                        <a:solidFill>
                          <a:srgbClr val="1F2937"/>
                        </a:solidFill>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NICT — World Data Center for Ionosphere &amp; Space Weather</a:t>
                      </a:r>
                      <a:endParaRPr sz="1100" b="1" i="0" u="none">
                        <a:solidFill>
                          <a:srgbClr val="1F2937"/>
                        </a:solidFill>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Space weather / ionosphere / solar-flare effects</a:t>
                      </a:r>
                      <a:endParaRPr sz="1100" b="1" i="0" u="none">
                        <a:solidFill>
                          <a:srgbClr val="1F2937"/>
                        </a:solidFill>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Wave 1</a:t>
                      </a:r>
                      <a:endParaRPr sz="1100" b="1" i="0" u="none">
                        <a:solidFill>
                          <a:srgbClr val="1F2937"/>
                        </a:solidFill>
                        <a:latin typeface="Carlito"/>
                        <a:ea typeface="Carlito"/>
                        <a:cs typeface="Carlito"/>
                        <a:sym typeface="Carlito"/>
                      </a:endParaRPr>
                    </a:p>
                  </a:txBody>
                  <a:tcPr marL="3275" marR="3275" marT="10972" marB="10972"/>
                </a:tc>
                <a:extLst>
                  <a:ext uri="{0D108BD9-81ED-4DB2-BD59-A6C34878D82A}">
                    <a16:rowId xmlns:a16="http://schemas.microsoft.com/office/drawing/2014/main" val="10004"/>
                  </a:ext>
                </a:extLst>
              </a:tr>
              <a:tr h="28680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Tier 1 — Primary</a:t>
                      </a:r>
                      <a:endParaRPr sz="1100" b="0" i="0" u="none">
                        <a:latin typeface="Carlito"/>
                        <a:ea typeface="Carlito"/>
                        <a:cs typeface="Carlito"/>
                        <a:sym typeface="Carlito"/>
                      </a:endParaRPr>
                    </a:p>
                  </a:txBody>
                  <a:tcPr marL="3275" marR="3275" marT="10972" marB="10972" anchor="b"/>
                </a:tc>
                <a:tc>
                  <a:txBody>
                    <a:bodyPr/>
                    <a:lstStyle/>
                    <a:p>
                      <a:pPr marL="0" marR="0" lvl="0" indent="0" algn="r"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6</a:t>
                      </a: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r"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2</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Canada</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University of Victoria — Starlink@PanLab / LENS</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LEO latency / one-way delay / network performance</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Wave 1</a:t>
                      </a:r>
                      <a:endParaRPr sz="1100" b="0" i="0" u="none">
                        <a:latin typeface="Carlito"/>
                        <a:ea typeface="Carlito"/>
                        <a:cs typeface="Carlito"/>
                        <a:sym typeface="Carlito"/>
                      </a:endParaRPr>
                    </a:p>
                  </a:txBody>
                  <a:tcPr marL="3275" marR="3275" marT="10972" marB="10972"/>
                </a:tc>
                <a:extLst>
                  <a:ext uri="{0D108BD9-81ED-4DB2-BD59-A6C34878D82A}">
                    <a16:rowId xmlns:a16="http://schemas.microsoft.com/office/drawing/2014/main" val="10005"/>
                  </a:ext>
                </a:extLst>
              </a:tr>
              <a:tr h="28680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Tier 2 — Secondary</a:t>
                      </a:r>
                      <a:endParaRPr sz="1100" b="0" i="0" u="none">
                        <a:latin typeface="Carlito"/>
                        <a:ea typeface="Carlito"/>
                        <a:cs typeface="Carlito"/>
                        <a:sym typeface="Carlito"/>
                      </a:endParaRPr>
                    </a:p>
                  </a:txBody>
                  <a:tcPr marL="3275" marR="3275" marT="10972" marB="10972" anchor="b"/>
                </a:tc>
                <a:tc>
                  <a:txBody>
                    <a:bodyPr/>
                    <a:lstStyle/>
                    <a:p>
                      <a:pPr marL="0" marR="0" lvl="0" indent="0" algn="r"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4</a:t>
                      </a: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r"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3</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Germany / Netherlands</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WetLinks — Osnabrück University / University of Twente</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Starlink RTT / packet loss / throughput / traceroute / weather</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Wave 1</a:t>
                      </a:r>
                      <a:endParaRPr sz="1100" b="0" i="0" u="none">
                        <a:latin typeface="Carlito"/>
                        <a:ea typeface="Carlito"/>
                        <a:cs typeface="Carlito"/>
                        <a:sym typeface="Carlito"/>
                      </a:endParaRPr>
                    </a:p>
                  </a:txBody>
                  <a:tcPr marL="3275" marR="3275" marT="10972" marB="10972"/>
                </a:tc>
                <a:extLst>
                  <a:ext uri="{0D108BD9-81ED-4DB2-BD59-A6C34878D82A}">
                    <a16:rowId xmlns:a16="http://schemas.microsoft.com/office/drawing/2014/main" val="10006"/>
                  </a:ext>
                </a:extLst>
              </a:tr>
              <a:tr h="28680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Tier 3 — Supporting</a:t>
                      </a:r>
                      <a:endParaRPr sz="1100" b="0" i="0" u="none">
                        <a:latin typeface="Carlito"/>
                        <a:ea typeface="Carlito"/>
                        <a:cs typeface="Carlito"/>
                        <a:sym typeface="Carlito"/>
                      </a:endParaRPr>
                    </a:p>
                  </a:txBody>
                  <a:tcPr marL="3275" marR="3275" marT="10972" marB="10972" anchor="b"/>
                </a:tc>
                <a:tc>
                  <a:txBody>
                    <a:bodyPr/>
                    <a:lstStyle/>
                    <a:p>
                      <a:pPr marL="0" marR="0" lvl="0" indent="0" algn="r"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3</a:t>
                      </a: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r"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4</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Netherlands</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RIPE NCC — RIPE Atlas</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Independent active Internet measurements / ping / traceroute</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Wave 1</a:t>
                      </a:r>
                      <a:endParaRPr sz="1100" b="0" i="0" u="none">
                        <a:latin typeface="Carlito"/>
                        <a:ea typeface="Carlito"/>
                        <a:cs typeface="Carlito"/>
                        <a:sym typeface="Carlito"/>
                      </a:endParaRPr>
                    </a:p>
                  </a:txBody>
                  <a:tcPr marL="3275" marR="3275" marT="10972" marB="10972"/>
                </a:tc>
                <a:extLst>
                  <a:ext uri="{0D108BD9-81ED-4DB2-BD59-A6C34878D82A}">
                    <a16:rowId xmlns:a16="http://schemas.microsoft.com/office/drawing/2014/main" val="10007"/>
                  </a:ext>
                </a:extLst>
              </a:tr>
              <a:tr h="286800">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r"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5</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New Zealand</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University of Otago — Solar Tsunamis / MANA Network</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Geomagnetic observations / Southern Hemisphere environmental stress</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Wave 1</a:t>
                      </a:r>
                      <a:endParaRPr sz="1100" b="0" i="0" u="none">
                        <a:latin typeface="Carlito"/>
                        <a:ea typeface="Carlito"/>
                        <a:cs typeface="Carlito"/>
                        <a:sym typeface="Carlito"/>
                      </a:endParaRPr>
                    </a:p>
                  </a:txBody>
                  <a:tcPr marL="3275" marR="3275" marT="10972" marB="10972"/>
                </a:tc>
                <a:extLst>
                  <a:ext uri="{0D108BD9-81ED-4DB2-BD59-A6C34878D82A}">
                    <a16:rowId xmlns:a16="http://schemas.microsoft.com/office/drawing/2014/main" val="10008"/>
                  </a:ext>
                </a:extLst>
              </a:tr>
              <a:tr h="286800">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r"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6</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New Zealand</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Earth Sciences New Zealand — Geomagnetism Project</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Geomagnetic observatory / INTERMAGNET / Scott Base context</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Wave 1</a:t>
                      </a:r>
                      <a:endParaRPr sz="1100" b="0" i="0" u="none">
                        <a:latin typeface="Carlito"/>
                        <a:ea typeface="Carlito"/>
                        <a:cs typeface="Carlito"/>
                        <a:sym typeface="Carlito"/>
                      </a:endParaRPr>
                    </a:p>
                  </a:txBody>
                  <a:tcPr marL="3275" marR="3275" marT="10972" marB="10972"/>
                </a:tc>
                <a:extLst>
                  <a:ext uri="{0D108BD9-81ED-4DB2-BD59-A6C34878D82A}">
                    <a16:rowId xmlns:a16="http://schemas.microsoft.com/office/drawing/2014/main" val="10009"/>
                  </a:ext>
                </a:extLst>
              </a:tr>
              <a:tr h="145300">
                <a:tc>
                  <a:txBody>
                    <a:bodyPr/>
                    <a:lstStyle/>
                    <a:p>
                      <a:pPr marL="0" marR="0" lvl="0" indent="0" algn="l"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Color</a:t>
                      </a:r>
                      <a:endParaRPr sz="1100" b="1" i="0" u="none">
                        <a:solidFill>
                          <a:srgbClr val="FFFFFF"/>
                        </a:solidFill>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Meaning</a:t>
                      </a:r>
                      <a:endParaRPr sz="1100" b="1" i="0" u="none">
                        <a:solidFill>
                          <a:srgbClr val="FFFFFF"/>
                        </a:solidFill>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extLst>
                  <a:ext uri="{0D108BD9-81ED-4DB2-BD59-A6C34878D82A}">
                    <a16:rowId xmlns:a16="http://schemas.microsoft.com/office/drawing/2014/main" val="10010"/>
                  </a:ext>
                </a:extLst>
              </a:tr>
              <a:tr h="28680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Tier 1</a:t>
                      </a: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Primary outreach — material value to model/data/V&amp;V</a:t>
                      </a: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extLst>
                  <a:ext uri="{0D108BD9-81ED-4DB2-BD59-A6C34878D82A}">
                    <a16:rowId xmlns:a16="http://schemas.microsoft.com/office/drawing/2014/main" val="10011"/>
                  </a:ext>
                </a:extLst>
              </a:tr>
              <a:tr h="28680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Tier 2</a:t>
                      </a: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Secondary wave — cross-validation / operational interpretation</a:t>
                      </a: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extLst>
                  <a:ext uri="{0D108BD9-81ED-4DB2-BD59-A6C34878D82A}">
                    <a16:rowId xmlns:a16="http://schemas.microsoft.com/office/drawing/2014/main" val="10012"/>
                  </a:ext>
                </a:extLst>
              </a:tr>
              <a:tr h="28680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Tier 3</a:t>
                      </a: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Supporting — contextual, referral, or lower marginal value</a:t>
                      </a: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extLst>
                  <a:ext uri="{0D108BD9-81ED-4DB2-BD59-A6C34878D82A}">
                    <a16:rowId xmlns:a16="http://schemas.microsoft.com/office/drawing/2014/main" val="10013"/>
                  </a:ext>
                </a:extLst>
              </a:tr>
              <a:tr h="145300">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extLst>
                  <a:ext uri="{0D108BD9-81ED-4DB2-BD59-A6C34878D82A}">
                    <a16:rowId xmlns:a16="http://schemas.microsoft.com/office/drawing/2014/main" val="10014"/>
                  </a:ext>
                </a:extLst>
              </a:tr>
            </a:tbl>
          </a:graphicData>
        </a:graphic>
      </p:graphicFrame>
      <p:sp>
        <p:nvSpPr>
          <p:cNvPr id="249" name="TextBox 248"/>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28 of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47" name="Google Shape;247;p39"/>
          <p:cNvGraphicFramePr/>
          <p:nvPr>
            <p:extLst>
              <p:ext uri="{D42A27DB-BD31-4B8C-83A1-F6EECF244321}">
                <p14:modId xmlns:p14="http://schemas.microsoft.com/office/powerpoint/2010/main" val="4123301170"/>
              </p:ext>
            </p:extLst>
          </p:nvPr>
        </p:nvGraphicFramePr>
        <p:xfrm>
          <a:off x="274320" y="365760"/>
          <a:ext cx="11631163" cy="3620150"/>
        </p:xfrm>
        <a:graphic>
          <a:graphicData uri="http://schemas.openxmlformats.org/drawingml/2006/table">
            <a:tbl>
              <a:tblPr>
                <a:noFill/>
                <a:tableStyleId>{3C1EB017-BC45-4DEE-9ABB-B4D90C79D28D}</a:tableStyleId>
              </a:tblPr>
              <a:tblGrid>
                <a:gridCol w="1654202">
                  <a:extLst>
                    <a:ext uri="{9D8B030D-6E8A-4147-A177-3AD203B41FA5}">
                      <a16:colId xmlns:a16="http://schemas.microsoft.com/office/drawing/2014/main" val="20000"/>
                    </a:ext>
                  </a:extLst>
                </a:gridCol>
                <a:gridCol w="1654202">
                  <a:extLst>
                    <a:ext uri="{9D8B030D-6E8A-4147-A177-3AD203B41FA5}">
                      <a16:colId xmlns:a16="http://schemas.microsoft.com/office/drawing/2014/main" val="20001"/>
                    </a:ext>
                  </a:extLst>
                </a:gridCol>
                <a:gridCol w="1188977">
                  <a:extLst>
                    <a:ext uri="{9D8B030D-6E8A-4147-A177-3AD203B41FA5}">
                      <a16:colId xmlns:a16="http://schemas.microsoft.com/office/drawing/2014/main" val="20002"/>
                    </a:ext>
                  </a:extLst>
                </a:gridCol>
                <a:gridCol w="827114">
                  <a:extLst>
                    <a:ext uri="{9D8B030D-6E8A-4147-A177-3AD203B41FA5}">
                      <a16:colId xmlns:a16="http://schemas.microsoft.com/office/drawing/2014/main" val="20003"/>
                    </a:ext>
                  </a:extLst>
                </a:gridCol>
                <a:gridCol w="1757592">
                  <a:extLst>
                    <a:ext uri="{9D8B030D-6E8A-4147-A177-3AD203B41FA5}">
                      <a16:colId xmlns:a16="http://schemas.microsoft.com/office/drawing/2014/main" val="20004"/>
                    </a:ext>
                  </a:extLst>
                </a:gridCol>
                <a:gridCol w="1964370">
                  <a:extLst>
                    <a:ext uri="{9D8B030D-6E8A-4147-A177-3AD203B41FA5}">
                      <a16:colId xmlns:a16="http://schemas.microsoft.com/office/drawing/2014/main" val="20005"/>
                    </a:ext>
                  </a:extLst>
                </a:gridCol>
                <a:gridCol w="1964370">
                  <a:extLst>
                    <a:ext uri="{9D8B030D-6E8A-4147-A177-3AD203B41FA5}">
                      <a16:colId xmlns:a16="http://schemas.microsoft.com/office/drawing/2014/main" val="20006"/>
                    </a:ext>
                  </a:extLst>
                </a:gridCol>
                <a:gridCol w="620336">
                  <a:extLst>
                    <a:ext uri="{9D8B030D-6E8A-4147-A177-3AD203B41FA5}">
                      <a16:colId xmlns:a16="http://schemas.microsoft.com/office/drawing/2014/main" val="20007"/>
                    </a:ext>
                  </a:extLst>
                </a:gridCol>
              </a:tblGrid>
              <a:tr h="189525">
                <a:tc gridSpan="8">
                  <a:txBody>
                    <a:bodyPr/>
                    <a:lstStyle/>
                    <a:p>
                      <a:pPr marL="0" marR="0" lvl="0" indent="0" algn="l" rtl="0">
                        <a:lnSpc>
                          <a:spcPct val="100000"/>
                        </a:lnSpc>
                        <a:spcBef>
                          <a:spcPts val="0"/>
                        </a:spcBef>
                        <a:spcAft>
                          <a:spcPts val="0"/>
                        </a:spcAft>
                        <a:buClr>
                          <a:srgbClr val="000000"/>
                        </a:buClr>
                        <a:buSzPts val="459"/>
                        <a:buFont typeface="Arial"/>
                        <a:buNone/>
                      </a:pPr>
                      <a:r>
                        <a:rPr lang="en-US" sz="850" b="1" u="none" dirty="0">
                          <a:solidFill>
                            <a:srgbClr val="000000"/>
                          </a:solidFill>
                          <a:latin typeface="Arial"/>
                          <a:ea typeface="Arial"/>
                          <a:cs typeface="Arial"/>
                          <a:sym typeface="Arial"/>
                        </a:rPr>
                        <a:t>International Research Data Outreach Register</a:t>
                      </a:r>
                      <a:endParaRPr sz="1600" b="1" i="0" u="none" dirty="0">
                        <a:solidFill>
                          <a:srgbClr val="FFFFFF"/>
                        </a:solidFill>
                        <a:latin typeface="Carlito"/>
                        <a:ea typeface="Carlito"/>
                        <a:cs typeface="Carlito"/>
                        <a:sym typeface="Carlito"/>
                      </a:endParaRPr>
                    </a:p>
                  </a:txBody>
                  <a:tcPr marL="3275" marR="3275" marT="10972" marB="10972" anchor="ctr"/>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extLst>
                  <a:ext uri="{0D108BD9-81ED-4DB2-BD59-A6C34878D82A}">
                    <a16:rowId xmlns:a16="http://schemas.microsoft.com/office/drawing/2014/main" val="10000"/>
                  </a:ext>
                </a:extLst>
              </a:tr>
              <a:tr h="127625">
                <a:tc gridSpan="8">
                  <a:txBody>
                    <a:bodyPr/>
                    <a:lstStyle/>
                    <a:p>
                      <a:pPr marL="0" marR="0" lvl="0" indent="0" algn="l" rtl="0">
                        <a:lnSpc>
                          <a:spcPct val="100000"/>
                        </a:lnSpc>
                        <a:spcBef>
                          <a:spcPts val="0"/>
                        </a:spcBef>
                        <a:spcAft>
                          <a:spcPts val="0"/>
                        </a:spcAft>
                        <a:buClr>
                          <a:srgbClr val="000000"/>
                        </a:buClr>
                        <a:buSzPts val="459"/>
                        <a:buFont typeface="Arial"/>
                        <a:buNone/>
                      </a:pPr>
                      <a:r>
                        <a:rPr lang="en-US" sz="850" b="1">
                          <a:solidFill>
                            <a:srgbClr val="000000"/>
                          </a:solidFill>
                          <a:latin typeface="Arial"/>
                          <a:ea typeface="Arial"/>
                          <a:cs typeface="Arial"/>
                          <a:sym typeface="Arial"/>
                        </a:rPr>
                        <a:t>Prioritized POC/data-source register • v07 • 2026-09-16</a:t>
                      </a:r>
                      <a:endParaRPr sz="1050" b="0" i="1" u="none">
                        <a:solidFill>
                          <a:srgbClr val="1F2937"/>
                        </a:solidFill>
                        <a:latin typeface="Carlito"/>
                        <a:ea typeface="Carlito"/>
                        <a:cs typeface="Carlito"/>
                        <a:sym typeface="Carlito"/>
                      </a:endParaRPr>
                    </a:p>
                  </a:txBody>
                  <a:tcPr marL="3275" marR="3275" marT="10972" marB="10972" anchor="b"/>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extLst>
                  <a:ext uri="{0D108BD9-81ED-4DB2-BD59-A6C34878D82A}">
                    <a16:rowId xmlns:a16="http://schemas.microsoft.com/office/drawing/2014/main" val="10001"/>
                  </a:ext>
                </a:extLst>
              </a:tr>
              <a:tr h="145300">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nchor="b"/>
                </a:tc>
                <a:extLst>
                  <a:ext uri="{0D108BD9-81ED-4DB2-BD59-A6C34878D82A}">
                    <a16:rowId xmlns:a16="http://schemas.microsoft.com/office/drawing/2014/main" val="10002"/>
                  </a:ext>
                </a:extLst>
              </a:tr>
              <a:tr h="162875">
                <a:tc gridSpan="8">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Top table: priority planning. Below: actual six-country postal outreach of August 17. Shared WetLinks coverage is not counted as a separate Dutch reply.</a:t>
                      </a:r>
                      <a:endParaRPr sz="1050" b="0" i="0" u="none">
                        <a:solidFill>
                          <a:srgbClr val="1F2937"/>
                        </a:solidFill>
                        <a:latin typeface="Carlito"/>
                        <a:ea typeface="Carlito"/>
                        <a:cs typeface="Carlito"/>
                        <a:sym typeface="Carlito"/>
                      </a:endParaRPr>
                    </a:p>
                  </a:txBody>
                  <a:tcPr marL="3275" marR="3275" marT="10972" marB="10972" anchor="ctr"/>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extLst>
                  <a:ext uri="{0D108BD9-81ED-4DB2-BD59-A6C34878D82A}">
                    <a16:rowId xmlns:a16="http://schemas.microsoft.com/office/drawing/2014/main" val="10015"/>
                  </a:ext>
                </a:extLst>
              </a:tr>
              <a:tr h="163000">
                <a:tc gridSpan="8">
                  <a:txBody>
                    <a:bodyPr/>
                    <a:lstStyle/>
                    <a:p>
                      <a:pPr marL="0" marR="0" lvl="0" indent="0" algn="l" rtl="0">
                        <a:lnSpc>
                          <a:spcPct val="100000"/>
                        </a:lnSpc>
                        <a:spcBef>
                          <a:spcPts val="0"/>
                        </a:spcBef>
                        <a:spcAft>
                          <a:spcPts val="0"/>
                        </a:spcAft>
                        <a:buClr>
                          <a:srgbClr val="000000"/>
                        </a:buClr>
                        <a:buSzPts val="459"/>
                        <a:buFont typeface="Arial"/>
                        <a:buNone/>
                      </a:pPr>
                      <a:r>
                        <a:rPr lang="en-US" sz="850" b="1">
                          <a:solidFill>
                            <a:srgbClr val="000000"/>
                          </a:solidFill>
                          <a:latin typeface="Arial"/>
                          <a:ea typeface="Arial"/>
                          <a:cs typeface="Arial"/>
                          <a:sym typeface="Arial"/>
                        </a:rPr>
                        <a:t>FIRST-WAVE RESPONSE STATUS — SEPTEMBER 16, 2026</a:t>
                      </a:r>
                      <a:endParaRPr sz="1200" b="1" i="0" u="none">
                        <a:solidFill>
                          <a:srgbClr val="FFFFFF"/>
                        </a:solidFill>
                        <a:latin typeface="Carlito"/>
                        <a:ea typeface="Carlito"/>
                        <a:cs typeface="Carlito"/>
                        <a:sym typeface="Carlito"/>
                      </a:endParaRPr>
                    </a:p>
                  </a:txBody>
                  <a:tcPr marL="3275" marR="3275" marT="10972" marB="10972" anchor="ctr"/>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tc hMerge="1">
                  <a:txBody>
                    <a:bodyPr/>
                    <a:lstStyle/>
                    <a:p>
                      <a:pPr>
                        <a:lnSpc>
                          <a:spcPct val="100000"/>
                        </a:lnSpc>
                        <a:spcBef>
                          <a:spcPts val="0"/>
                        </a:spcBef>
                        <a:spcAft>
                          <a:spcPts val="0"/>
                        </a:spcAft>
                      </a:pPr>
                      <a:endParaRPr lang="en-US"/>
                    </a:p>
                  </a:txBody>
                  <a:tcPr marT="10972" marB="10972"/>
                </a:tc>
                <a:extLst>
                  <a:ext uri="{0D108BD9-81ED-4DB2-BD59-A6C34878D82A}">
                    <a16:rowId xmlns:a16="http://schemas.microsoft.com/office/drawing/2014/main" val="10016"/>
                  </a:ext>
                </a:extLst>
              </a:tr>
              <a:tr h="162875">
                <a:tc>
                  <a:txBody>
                    <a:bodyPr/>
                    <a:lstStyle/>
                    <a:p>
                      <a:pPr marL="0" marR="0" lvl="0" indent="0" algn="l" rtl="0">
                        <a:lnSpc>
                          <a:spcPct val="100000"/>
                        </a:lnSpc>
                        <a:spcBef>
                          <a:spcPts val="0"/>
                        </a:spcBef>
                        <a:spcAft>
                          <a:spcPts val="0"/>
                        </a:spcAft>
                        <a:buClr>
                          <a:srgbClr val="000000"/>
                        </a:buClr>
                        <a:buSzPts val="459"/>
                        <a:buFont typeface="Arial"/>
                        <a:buNone/>
                      </a:pPr>
                      <a:r>
                        <a:rPr lang="en-US" sz="850" b="1">
                          <a:solidFill>
                            <a:srgbClr val="000000"/>
                          </a:solidFill>
                          <a:latin typeface="Arial"/>
                          <a:ea typeface="Arial"/>
                          <a:cs typeface="Arial"/>
                          <a:sym typeface="Arial"/>
                        </a:rPr>
                        <a:t>Packets mailed</a:t>
                      </a:r>
                      <a:endParaRPr sz="1050" b="0" i="0" u="none">
                        <a:solidFill>
                          <a:srgbClr val="1F2937"/>
                        </a:solidFill>
                        <a:latin typeface="Carlito"/>
                        <a:ea typeface="Carlito"/>
                        <a:cs typeface="Carlito"/>
                        <a:sym typeface="Carlito"/>
                      </a:endParaRPr>
                    </a:p>
                  </a:txBody>
                  <a:tcPr marL="3275" marR="3275" marT="10972" marB="10972" anchor="ctr"/>
                </a:tc>
                <a:tc>
                  <a:txBody>
                    <a:bodyPr/>
                    <a:lstStyle/>
                    <a:p>
                      <a:pPr marL="0" marR="0" lvl="0" indent="0" algn="ctr" rtl="0">
                        <a:lnSpc>
                          <a:spcPct val="100000"/>
                        </a:lnSpc>
                        <a:spcBef>
                          <a:spcPts val="0"/>
                        </a:spcBef>
                        <a:spcAft>
                          <a:spcPts val="0"/>
                        </a:spcAft>
                        <a:buClr>
                          <a:srgbClr val="000000"/>
                        </a:buClr>
                        <a:buSzPts val="459"/>
                        <a:buFont typeface="Arial"/>
                        <a:buNone/>
                      </a:pPr>
                      <a:r>
                        <a:rPr lang="en-US" sz="850" b="0">
                          <a:solidFill>
                            <a:srgbClr val="000000"/>
                          </a:solidFill>
                          <a:latin typeface="Arial"/>
                          <a:ea typeface="Arial"/>
                          <a:cs typeface="Arial"/>
                          <a:sym typeface="Arial"/>
                        </a:rPr>
                        <a:t>6</a:t>
                      </a:r>
                      <a:endParaRPr sz="1050" b="1" i="0" u="none">
                        <a:solidFill>
                          <a:srgbClr val="17365D"/>
                        </a:solidFill>
                        <a:latin typeface="Carlito"/>
                        <a:ea typeface="Carlito"/>
                        <a:cs typeface="Carlito"/>
                        <a:sym typeface="Carlito"/>
                      </a:endParaRPr>
                    </a:p>
                  </a:txBody>
                  <a:tcPr marL="3275" marR="3275" marT="10972" marB="10972" anchor="ctr"/>
                </a:tc>
                <a:tc>
                  <a:txBody>
                    <a:bodyPr/>
                    <a:lstStyle/>
                    <a:p>
                      <a:pPr marL="0" marR="0" lvl="0" indent="0" algn="l" rtl="0">
                        <a:lnSpc>
                          <a:spcPct val="100000"/>
                        </a:lnSpc>
                        <a:spcBef>
                          <a:spcPts val="0"/>
                        </a:spcBef>
                        <a:spcAft>
                          <a:spcPts val="0"/>
                        </a:spcAft>
                        <a:buClr>
                          <a:srgbClr val="000000"/>
                        </a:buClr>
                        <a:buSzPts val="459"/>
                        <a:buFont typeface="Arial"/>
                        <a:buNone/>
                      </a:pPr>
                      <a:r>
                        <a:rPr lang="en-US" sz="850" b="1">
                          <a:solidFill>
                            <a:srgbClr val="000000"/>
                          </a:solidFill>
                          <a:latin typeface="Arial"/>
                          <a:ea typeface="Arial"/>
                          <a:cs typeface="Arial"/>
                          <a:sym typeface="Arial"/>
                        </a:rPr>
                        <a:t>Direct replies</a:t>
                      </a:r>
                      <a:endParaRPr sz="1050" b="0" i="0" u="none">
                        <a:solidFill>
                          <a:srgbClr val="1F2937"/>
                        </a:solidFill>
                        <a:latin typeface="Carlito"/>
                        <a:ea typeface="Carlito"/>
                        <a:cs typeface="Carlito"/>
                        <a:sym typeface="Carlito"/>
                      </a:endParaRPr>
                    </a:p>
                  </a:txBody>
                  <a:tcPr marL="3275" marR="3275" marT="10972" marB="10972" anchor="ctr"/>
                </a:tc>
                <a:tc>
                  <a:txBody>
                    <a:bodyPr/>
                    <a:lstStyle/>
                    <a:p>
                      <a:pPr marL="0" marR="0" lvl="0" indent="0" algn="ctr" rtl="0">
                        <a:lnSpc>
                          <a:spcPct val="100000"/>
                        </a:lnSpc>
                        <a:spcBef>
                          <a:spcPts val="0"/>
                        </a:spcBef>
                        <a:spcAft>
                          <a:spcPts val="0"/>
                        </a:spcAft>
                        <a:buClr>
                          <a:srgbClr val="000000"/>
                        </a:buClr>
                        <a:buSzPts val="459"/>
                        <a:buFont typeface="Arial"/>
                        <a:buNone/>
                      </a:pPr>
                      <a:r>
                        <a:rPr lang="en-US" sz="850" b="0">
                          <a:solidFill>
                            <a:srgbClr val="000000"/>
                          </a:solidFill>
                          <a:latin typeface="Arial"/>
                          <a:ea typeface="Arial"/>
                          <a:cs typeface="Arial"/>
                          <a:sym typeface="Arial"/>
                        </a:rPr>
                        <a:t>5</a:t>
                      </a:r>
                      <a:endParaRPr sz="1050" b="1" i="0" u="none">
                        <a:solidFill>
                          <a:srgbClr val="17365D"/>
                        </a:solidFill>
                        <a:latin typeface="Carlito"/>
                        <a:ea typeface="Carlito"/>
                        <a:cs typeface="Carlito"/>
                        <a:sym typeface="Carlito"/>
                      </a:endParaRPr>
                    </a:p>
                  </a:txBody>
                  <a:tcPr marL="3275" marR="3275" marT="10972" marB="10972" anchor="ctr"/>
                </a:tc>
                <a:tc>
                  <a:txBody>
                    <a:bodyPr/>
                    <a:lstStyle/>
                    <a:p>
                      <a:pPr marL="0" marR="0" lvl="0" indent="0" algn="l" rtl="0">
                        <a:lnSpc>
                          <a:spcPct val="100000"/>
                        </a:lnSpc>
                        <a:spcBef>
                          <a:spcPts val="0"/>
                        </a:spcBef>
                        <a:spcAft>
                          <a:spcPts val="0"/>
                        </a:spcAft>
                        <a:buClr>
                          <a:srgbClr val="000000"/>
                        </a:buClr>
                        <a:buSzPts val="459"/>
                        <a:buFont typeface="Arial"/>
                        <a:buNone/>
                      </a:pPr>
                      <a:r>
                        <a:rPr lang="en-US" sz="850" b="1">
                          <a:solidFill>
                            <a:srgbClr val="000000"/>
                          </a:solidFill>
                          <a:latin typeface="Arial"/>
                          <a:ea typeface="Arial"/>
                          <a:cs typeface="Arial"/>
                          <a:sym typeface="Arial"/>
                        </a:rPr>
                        <a:t>Auto-reply only</a:t>
                      </a:r>
                      <a:endParaRPr sz="1050" b="0" i="0" u="none">
                        <a:solidFill>
                          <a:srgbClr val="1F2937"/>
                        </a:solidFill>
                        <a:latin typeface="Carlito"/>
                        <a:ea typeface="Carlito"/>
                        <a:cs typeface="Carlito"/>
                        <a:sym typeface="Carlito"/>
                      </a:endParaRPr>
                    </a:p>
                  </a:txBody>
                  <a:tcPr marL="3275" marR="3275" marT="10972" marB="10972" anchor="ctr"/>
                </a:tc>
                <a:tc>
                  <a:txBody>
                    <a:bodyPr/>
                    <a:lstStyle/>
                    <a:p>
                      <a:pPr marL="0" marR="0" lvl="0" indent="0" algn="ctr" rtl="0">
                        <a:lnSpc>
                          <a:spcPct val="100000"/>
                        </a:lnSpc>
                        <a:spcBef>
                          <a:spcPts val="0"/>
                        </a:spcBef>
                        <a:spcAft>
                          <a:spcPts val="0"/>
                        </a:spcAft>
                        <a:buClr>
                          <a:srgbClr val="000000"/>
                        </a:buClr>
                        <a:buSzPts val="459"/>
                        <a:buFont typeface="Arial"/>
                        <a:buNone/>
                      </a:pPr>
                      <a:r>
                        <a:rPr lang="en-US" sz="850" b="0">
                          <a:solidFill>
                            <a:srgbClr val="000000"/>
                          </a:solidFill>
                          <a:latin typeface="Arial"/>
                          <a:ea typeface="Arial"/>
                          <a:cs typeface="Arial"/>
                          <a:sym typeface="Arial"/>
                        </a:rPr>
                        <a:t>0</a:t>
                      </a:r>
                      <a:endParaRPr sz="1050" b="1" i="0" u="none">
                        <a:solidFill>
                          <a:srgbClr val="17365D"/>
                        </a:solidFill>
                        <a:latin typeface="Carlito"/>
                        <a:ea typeface="Carlito"/>
                        <a:cs typeface="Carlito"/>
                        <a:sym typeface="Carlito"/>
                      </a:endParaRPr>
                    </a:p>
                  </a:txBody>
                  <a:tcPr marL="3275" marR="3275" marT="10972" marB="10972" anchor="ctr"/>
                </a:tc>
                <a:tc>
                  <a:txBody>
                    <a:bodyPr/>
                    <a:lstStyle/>
                    <a:p>
                      <a:pPr marL="0" marR="0" lvl="0" indent="0" algn="l" rtl="0">
                        <a:lnSpc>
                          <a:spcPct val="100000"/>
                        </a:lnSpc>
                        <a:spcBef>
                          <a:spcPts val="0"/>
                        </a:spcBef>
                        <a:spcAft>
                          <a:spcPts val="0"/>
                        </a:spcAft>
                        <a:buClr>
                          <a:srgbClr val="000000"/>
                        </a:buClr>
                        <a:buSzPts val="459"/>
                        <a:buFont typeface="Arial"/>
                        <a:buNone/>
                      </a:pPr>
                      <a:r>
                        <a:rPr lang="en-US" sz="850" b="1">
                          <a:solidFill>
                            <a:srgbClr val="000000"/>
                          </a:solidFill>
                          <a:latin typeface="Arial"/>
                          <a:ea typeface="Arial"/>
                          <a:cs typeface="Arial"/>
                          <a:sym typeface="Arial"/>
                        </a:rPr>
                        <a:t>Archive-link replies</a:t>
                      </a:r>
                      <a:endParaRPr sz="1050" b="0" i="0" u="none">
                        <a:solidFill>
                          <a:srgbClr val="1F2937"/>
                        </a:solidFill>
                        <a:latin typeface="Carlito"/>
                        <a:ea typeface="Carlito"/>
                        <a:cs typeface="Carlito"/>
                        <a:sym typeface="Carlito"/>
                      </a:endParaRPr>
                    </a:p>
                  </a:txBody>
                  <a:tcPr marL="3275" marR="3275" marT="10972" marB="10972" anchor="ctr"/>
                </a:tc>
                <a:tc>
                  <a:txBody>
                    <a:bodyPr/>
                    <a:lstStyle/>
                    <a:p>
                      <a:pPr marL="0" marR="0" lvl="0" indent="0" algn="ctr" rtl="0">
                        <a:lnSpc>
                          <a:spcPct val="100000"/>
                        </a:lnSpc>
                        <a:spcBef>
                          <a:spcPts val="0"/>
                        </a:spcBef>
                        <a:spcAft>
                          <a:spcPts val="0"/>
                        </a:spcAft>
                        <a:buClr>
                          <a:srgbClr val="000000"/>
                        </a:buClr>
                        <a:buSzPts val="459"/>
                        <a:buFont typeface="Arial"/>
                        <a:buNone/>
                      </a:pPr>
                      <a:r>
                        <a:rPr lang="en-US" sz="850" b="0">
                          <a:solidFill>
                            <a:srgbClr val="000000"/>
                          </a:solidFill>
                          <a:latin typeface="Arial"/>
                          <a:ea typeface="Arial"/>
                          <a:cs typeface="Arial"/>
                          <a:sym typeface="Arial"/>
                        </a:rPr>
                        <a:t>3</a:t>
                      </a:r>
                      <a:endParaRPr sz="1050" b="1" i="0" u="none">
                        <a:solidFill>
                          <a:srgbClr val="17365D"/>
                        </a:solidFill>
                        <a:latin typeface="Carlito"/>
                        <a:ea typeface="Carlito"/>
                        <a:cs typeface="Carlito"/>
                        <a:sym typeface="Carlito"/>
                      </a:endParaRPr>
                    </a:p>
                  </a:txBody>
                  <a:tcPr marL="3275" marR="3275" marT="10972" marB="10972" anchor="ctr"/>
                </a:tc>
                <a:extLst>
                  <a:ext uri="{0D108BD9-81ED-4DB2-BD59-A6C34878D82A}">
                    <a16:rowId xmlns:a16="http://schemas.microsoft.com/office/drawing/2014/main" val="10017"/>
                  </a:ext>
                </a:extLst>
              </a:tr>
              <a:tr h="145300">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Country</a:t>
                      </a:r>
                      <a:endParaRPr sz="1100" b="1" i="0" u="none">
                        <a:solidFill>
                          <a:srgbClr val="FFFFFF"/>
                        </a:solidFill>
                        <a:latin typeface="Carlito"/>
                        <a:ea typeface="Carlito"/>
                        <a:cs typeface="Carlito"/>
                        <a:sym typeface="Carlito"/>
                      </a:endParaRPr>
                    </a:p>
                  </a:txBody>
                  <a:tcPr marL="3275" marR="3275" marT="10972" marB="10972" anchor="ctr"/>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Organization / Contact</a:t>
                      </a:r>
                      <a:endParaRPr sz="1100" b="1" i="0" u="none">
                        <a:solidFill>
                          <a:srgbClr val="FFFFFF"/>
                        </a:solidFill>
                        <a:latin typeface="Carlito"/>
                        <a:ea typeface="Carlito"/>
                        <a:cs typeface="Carlito"/>
                        <a:sym typeface="Carlito"/>
                      </a:endParaRPr>
                    </a:p>
                  </a:txBody>
                  <a:tcPr marL="3275" marR="3275" marT="10972" marB="10972" anchor="ctr"/>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Status</a:t>
                      </a:r>
                      <a:endParaRPr sz="1100" b="1" i="0" u="none">
                        <a:solidFill>
                          <a:srgbClr val="FFFFFF"/>
                        </a:solidFill>
                        <a:latin typeface="Carlito"/>
                        <a:ea typeface="Carlito"/>
                        <a:cs typeface="Carlito"/>
                        <a:sym typeface="Carlito"/>
                      </a:endParaRPr>
                    </a:p>
                  </a:txBody>
                  <a:tcPr marL="3275" marR="3275" marT="10972" marB="10972" anchor="ctr"/>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Response date</a:t>
                      </a:r>
                      <a:endParaRPr sz="1100" b="1" i="0" u="none">
                        <a:solidFill>
                          <a:srgbClr val="FFFFFF"/>
                        </a:solidFill>
                        <a:latin typeface="Carlito"/>
                        <a:ea typeface="Carlito"/>
                        <a:cs typeface="Carlito"/>
                        <a:sym typeface="Carlito"/>
                      </a:endParaRPr>
                    </a:p>
                  </a:txBody>
                  <a:tcPr marL="3275" marR="3275" marT="10972" marB="10972" anchor="ctr"/>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Next action</a:t>
                      </a:r>
                      <a:endParaRPr sz="1100" b="1" i="0" u="none">
                        <a:solidFill>
                          <a:srgbClr val="FFFFFF"/>
                        </a:solidFill>
                        <a:latin typeface="Carlito"/>
                        <a:ea typeface="Carlito"/>
                        <a:cs typeface="Carlito"/>
                        <a:sym typeface="Carlito"/>
                      </a:endParaRPr>
                    </a:p>
                  </a:txBody>
                  <a:tcPr marL="3275" marR="3275" marT="10972" marB="10972" anchor="ctr"/>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Data status</a:t>
                      </a:r>
                      <a:endParaRPr sz="1100" b="1" i="0" u="none">
                        <a:solidFill>
                          <a:srgbClr val="FFFFFF"/>
                        </a:solidFill>
                        <a:latin typeface="Carlito"/>
                        <a:ea typeface="Carlito"/>
                        <a:cs typeface="Carlito"/>
                        <a:sym typeface="Carlito"/>
                      </a:endParaRPr>
                    </a:p>
                  </a:txBody>
                  <a:tcPr marL="3275" marR="3275" marT="10972" marB="10972" anchor="ctr"/>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Evidence / limits</a:t>
                      </a:r>
                      <a:endParaRPr sz="1100" b="1" i="0" u="none">
                        <a:solidFill>
                          <a:srgbClr val="FFFFFF"/>
                        </a:solidFill>
                        <a:latin typeface="Carlito"/>
                        <a:ea typeface="Carlito"/>
                        <a:cs typeface="Carlito"/>
                        <a:sym typeface="Carlito"/>
                      </a:endParaRPr>
                    </a:p>
                  </a:txBody>
                  <a:tcPr marL="3275" marR="3275" marT="10972" marB="10972" anchor="ctr"/>
                </a:tc>
                <a:tc>
                  <a:txBody>
                    <a:bodyPr/>
                    <a:lstStyle/>
                    <a:p>
                      <a:pPr marL="0" marR="0" lvl="0" indent="0" algn="ctr" rtl="0">
                        <a:lnSpc>
                          <a:spcPct val="100000"/>
                        </a:lnSpc>
                        <a:spcBef>
                          <a:spcPts val="0"/>
                        </a:spcBef>
                        <a:spcAft>
                          <a:spcPts val="0"/>
                        </a:spcAft>
                        <a:buClr>
                          <a:srgbClr val="000000"/>
                        </a:buClr>
                        <a:buSzPts val="459"/>
                        <a:buFont typeface="Arial"/>
                        <a:buNone/>
                      </a:pPr>
                      <a:r>
                        <a:rPr lang="en-US" sz="850" b="1" u="none">
                          <a:solidFill>
                            <a:srgbClr val="000000"/>
                          </a:solidFill>
                          <a:latin typeface="Arial"/>
                          <a:ea typeface="Arial"/>
                          <a:cs typeface="Arial"/>
                          <a:sym typeface="Arial"/>
                        </a:rPr>
                        <a:t> </a:t>
                      </a:r>
                      <a:endParaRPr sz="1100" b="1" i="0" u="none">
                        <a:solidFill>
                          <a:srgbClr val="FFFFFF"/>
                        </a:solidFill>
                        <a:latin typeface="Carlito"/>
                        <a:ea typeface="Carlito"/>
                        <a:cs typeface="Carlito"/>
                        <a:sym typeface="Carlito"/>
                      </a:endParaRPr>
                    </a:p>
                  </a:txBody>
                  <a:tcPr marL="3275" marR="3275" marT="10972" marB="10972" anchor="ctr"/>
                </a:tc>
                <a:extLst>
                  <a:ext uri="{0D108BD9-81ED-4DB2-BD59-A6C34878D82A}">
                    <a16:rowId xmlns:a16="http://schemas.microsoft.com/office/drawing/2014/main" val="10018"/>
                  </a:ext>
                </a:extLst>
              </a:tr>
              <a:tr h="36575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Germany</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Osnabrück University - Prof. Dr. Nils Aschenbruck</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RESPONDED</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Aug 25, 2026</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Inspect/select public files; see shared WetLinks coverage below.</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Public links received</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GitHub + dataset/paper DOI. Data/code supplied as-is.</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tc>
                <a:extLst>
                  <a:ext uri="{0D108BD9-81ED-4DB2-BD59-A6C34878D82A}">
                    <a16:rowId xmlns:a16="http://schemas.microsoft.com/office/drawing/2014/main" val="10019"/>
                  </a:ext>
                </a:extLst>
              </a:tr>
              <a:tr h="36575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Canada</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University of Victoria - Prof. Jianping Pan</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b="1">
                          <a:solidFill>
                            <a:srgbClr val="000000"/>
                          </a:solidFill>
                          <a:latin typeface="Arial"/>
                          <a:ea typeface="Arial"/>
                          <a:cs typeface="Arial"/>
                          <a:sym typeface="Arial"/>
                        </a:rPr>
                        <a:t>RESPONDED / CLARIFICATION</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Sep 12, 2026</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Await LENS file/field guidance after field-specific clarification.</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No files yet</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Latency/loss/throughput/outage/recovery requested; public variables not confirmed.</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tc>
                <a:extLst>
                  <a:ext uri="{0D108BD9-81ED-4DB2-BD59-A6C34878D82A}">
                    <a16:rowId xmlns:a16="http://schemas.microsoft.com/office/drawing/2014/main" val="10020"/>
                  </a:ext>
                </a:extLst>
              </a:tr>
              <a:tr h="36575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Japan</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NICT - WDC</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b="1">
                          <a:solidFill>
                            <a:srgbClr val="000000"/>
                          </a:solidFill>
                          <a:latin typeface="Arial"/>
                          <a:ea typeface="Arial"/>
                          <a:cs typeface="Arial"/>
                          <a:sym typeface="Arial"/>
                        </a:rPr>
                        <a:t>RESPONDED / CLARIFICATION</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Sep 14, 2026</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Await guidance after Japanese follow-up requesting foF2/TEC and network-data referral.</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No files yet</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NICT asked for product specifics; follow-up supplied with sample period and citation request.</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tc>
                <a:extLst>
                  <a:ext uri="{0D108BD9-81ED-4DB2-BD59-A6C34878D82A}">
                    <a16:rowId xmlns:a16="http://schemas.microsoft.com/office/drawing/2014/main" val="10021"/>
                  </a:ext>
                </a:extLst>
              </a:tr>
              <a:tr h="42830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Netherlands</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University of Twente - shared WetLinks work</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Standing by</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No separate follow-up unless a Twente-specific issue arises.</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Shared WetLinks links</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Covered by the German reply, per existing register; not an independent Dutch response.</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tc>
                <a:extLst>
                  <a:ext uri="{0D108BD9-81ED-4DB2-BD59-A6C34878D82A}">
                    <a16:rowId xmlns:a16="http://schemas.microsoft.com/office/drawing/2014/main" val="10022"/>
                  </a:ext>
                </a:extLst>
              </a:tr>
              <a:tr h="56980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South Africa</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SANSA - Dr Mpho Tshisaphungo</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b="1">
                          <a:solidFill>
                            <a:srgbClr val="000000"/>
                          </a:solidFill>
                          <a:latin typeface="Arial"/>
                          <a:ea typeface="Arial"/>
                          <a:cs typeface="Arial"/>
                          <a:sym typeface="Arial"/>
                        </a:rPr>
                        <a:t>RESPONDED / ENVIRONMENTAL</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Sep 14, 2026</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Use Hermanus geomagnetic data if needed; no direct satellite-link metrics.</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Public geomagnetic route</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SANSA confirmed public research use/citation; no latency, packet-loss or availability data.</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chemeClr val="dk1"/>
                        </a:buClr>
                        <a:buSzPts val="800"/>
                        <a:buFont typeface="Calibri"/>
                        <a:buNone/>
                      </a:pPr>
                      <a:endParaRPr sz="1100" b="0" i="0" u="none">
                        <a:latin typeface="Carlito"/>
                        <a:ea typeface="Carlito"/>
                        <a:cs typeface="Carlito"/>
                        <a:sym typeface="Carlito"/>
                      </a:endParaRPr>
                    </a:p>
                  </a:txBody>
                  <a:tcPr marL="3275" marR="3275" marT="10972" marB="10972"/>
                </a:tc>
                <a:extLst>
                  <a:ext uri="{0D108BD9-81ED-4DB2-BD59-A6C34878D82A}">
                    <a16:rowId xmlns:a16="http://schemas.microsoft.com/office/drawing/2014/main" val="10023"/>
                  </a:ext>
                </a:extLst>
              </a:tr>
              <a:tr h="428300">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Australia</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ASWFC / Bureau - Cassie Marshall</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RESPONDED / ARCHIVES</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Sep 13, 2026</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a:solidFill>
                            <a:srgbClr val="000000"/>
                          </a:solidFill>
                          <a:latin typeface="Arial"/>
                          <a:ea typeface="Arial"/>
                          <a:cs typeface="Arial"/>
                          <a:sym typeface="Arial"/>
                        </a:rPr>
                        <a:t>Inspect archive/API fields and usage terms; clarify regional K-index only if needed.</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Public links received</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a:solidFill>
                            <a:srgbClr val="000000"/>
                          </a:solidFill>
                          <a:latin typeface="Arial"/>
                          <a:ea typeface="Arial"/>
                          <a:cs typeface="Arial"/>
                          <a:sym typeface="Arial"/>
                        </a:rPr>
                        <a:t>Eight links; citation guidance received. X-ray flux must not be attributed to Bureau.</a:t>
                      </a:r>
                      <a:endParaRPr sz="1100" b="0" i="0" u="none">
                        <a:latin typeface="Carlito"/>
                        <a:ea typeface="Carlito"/>
                        <a:cs typeface="Carlito"/>
                        <a:sym typeface="Carlito"/>
                      </a:endParaRPr>
                    </a:p>
                  </a:txBody>
                  <a:tcPr marL="3275" marR="3275" marT="10972" marB="10972"/>
                </a:tc>
                <a:tc>
                  <a:txBody>
                    <a:bodyPr/>
                    <a:lstStyle/>
                    <a:p>
                      <a:pPr marL="0" marR="0" lvl="0" indent="0" algn="l" rtl="0">
                        <a:lnSpc>
                          <a:spcPct val="100000"/>
                        </a:lnSpc>
                        <a:spcBef>
                          <a:spcPts val="0"/>
                        </a:spcBef>
                        <a:spcAft>
                          <a:spcPts val="0"/>
                        </a:spcAft>
                        <a:buClr>
                          <a:srgbClr val="000000"/>
                        </a:buClr>
                        <a:buSzPts val="459"/>
                        <a:buFont typeface="Arial"/>
                        <a:buNone/>
                      </a:pPr>
                      <a:r>
                        <a:rPr lang="en-US" sz="850" u="none" dirty="0">
                          <a:solidFill>
                            <a:srgbClr val="000000"/>
                          </a:solidFill>
                          <a:latin typeface="Arial"/>
                          <a:ea typeface="Arial"/>
                          <a:cs typeface="Arial"/>
                          <a:sym typeface="Arial"/>
                        </a:rPr>
                        <a:t> </a:t>
                      </a:r>
                      <a:endParaRPr sz="1100" b="0" i="0" u="none" dirty="0">
                        <a:latin typeface="Carlito"/>
                        <a:ea typeface="Carlito"/>
                        <a:cs typeface="Carlito"/>
                        <a:sym typeface="Carlito"/>
                      </a:endParaRPr>
                    </a:p>
                  </a:txBody>
                  <a:tcPr marL="3275" marR="3275" marT="10972" marB="10972"/>
                </a:tc>
                <a:extLst>
                  <a:ext uri="{0D108BD9-81ED-4DB2-BD59-A6C34878D82A}">
                    <a16:rowId xmlns:a16="http://schemas.microsoft.com/office/drawing/2014/main" val="10024"/>
                  </a:ext>
                </a:extLst>
              </a:tr>
            </a:tbl>
          </a:graphicData>
        </a:graphic>
      </p:graphicFrame>
      <p:sp>
        <p:nvSpPr>
          <p:cNvPr id="248" name="TextBox 247"/>
          <p:cNvSpPr txBox="1"/>
          <p:nvPr/>
        </p:nvSpPr>
        <p:spPr>
          <a:xfrm>
            <a:off x="438912" y="5650992"/>
            <a:ext cx="10972800" cy="228600"/>
          </a:xfrm>
          <a:prstGeom prst="rect">
            <a:avLst/>
          </a:prstGeom>
          <a:noFill/>
        </p:spPr>
        <p:txBody>
          <a:bodyPr wrap="square" lIns="18288" rIns="18288" tIns="18288" bIns="18288">
            <a:spAutoFit/>
          </a:bodyPr>
          <a:lstStyle/>
          <a:p>
            <a:pPr algn="l">
              <a:lnSpc>
                <a:spcPct val="105000"/>
              </a:lnSpc>
              <a:spcBef>
                <a:spcPts val="0"/>
              </a:spcBef>
              <a:spcAft>
                <a:spcPts val="200"/>
              </a:spcAft>
            </a:pPr>
            <a:r>
              <a:rPr sz="1050" b="0">
                <a:solidFill>
                  <a:srgbClr val="FFFFFF"/>
                </a:solidFill>
                <a:latin typeface="Calibri"/>
              </a:rPr>
              <a:t>Historical supporting snapshot (continued) · current registers: AIS CFG011 / Research Data CFG020 / ACE CFG002</a:t>
            </a:r>
          </a:p>
        </p:txBody>
      </p:sp>
      <p:sp>
        <p:nvSpPr>
          <p:cNvPr id="249" name="TextBox 248"/>
          <p:cNvSpPr txBox="1"/>
          <p:nvPr/>
        </p:nvSpPr>
        <p:spPr>
          <a:xfrm>
            <a:off x="5230368" y="6519672"/>
            <a:ext cx="1691640" cy="201168"/>
          </a:xfrm>
          <a:prstGeom prst="rect">
            <a:avLst/>
          </a:prstGeom>
          <a:noFill/>
        </p:spPr>
        <p:txBody>
          <a:bodyPr wrap="square" lIns="18288" rIns="18288" tIns="18288" bIns="18288">
            <a:spAutoFit/>
          </a:bodyPr>
          <a:lstStyle/>
          <a:p>
            <a:pPr algn="ctr">
              <a:lnSpc>
                <a:spcPct val="105000"/>
              </a:lnSpc>
              <a:spcBef>
                <a:spcPts val="0"/>
              </a:spcBef>
              <a:spcAft>
                <a:spcPts val="200"/>
              </a:spcAft>
            </a:pPr>
            <a:r>
              <a:rPr sz="1000" b="0">
                <a:solidFill>
                  <a:srgbClr val="FFFFFF"/>
                </a:solidFill>
                <a:latin typeface="Calibri"/>
              </a:rPr>
              <a:t>29 of 29</a:t>
            </a:r>
          </a:p>
        </p:txBody>
      </p:sp>
    </p:spTree>
  </p:cSld>
  <p:clrMapOvr>
    <a:masterClrMapping/>
  </p:clrMapOvr>
</p:sld>
</file>

<file path=ppt/theme/carlo_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1.xml><?xml version="1.0" encoding="utf-8"?>
<a:theme xmlns:a="http://schemas.openxmlformats.org/drawingml/2006/main" name="Custom Desig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Custom Desig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ustom Desig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37adc8ff-f4a3-4a14-9c0d-84b4985de0d2}" enabled="1" method="Privileged" siteId="{8331b18d-2d87-48ef-a35f-ac8818ebf9b4}" contentBits="0" removed="0"/>
</clbl:labelList>
</file>

<file path=docProps/app.xml><?xml version="1.0" encoding="utf-8"?>
<Properties xmlns="http://schemas.openxmlformats.org/officeDocument/2006/extended-properties" xmlns:vt="http://schemas.openxmlformats.org/officeDocument/2006/docPropsVTypes">
  <TotalTime>265</TotalTime>
  <Words>13107</Words>
  <Application>Microsoft Office PowerPoint</Application>
  <PresentationFormat>Widescreen</PresentationFormat>
  <Paragraphs>1398</Paragraphs>
  <Slides>23</Slides>
  <Notes>21</Notes>
  <HiddenSlides>0</HiddenSlides>
  <MMClips>0</MMClips>
  <ScaleCrop>false</ScaleCrop>
  <HeadingPairs>
    <vt:vector size="4" baseType="variant">
      <vt:variant>
        <vt:lpstr>Theme</vt:lpstr>
      </vt:variant>
      <vt:variant>
        <vt:i4>2</vt:i4>
      </vt:variant>
      <vt:variant>
        <vt:lpstr>Slide Titles</vt:lpstr>
      </vt:variant>
      <vt:variant>
        <vt:i4>23</vt:i4>
      </vt:variant>
    </vt:vector>
  </HeadingPairs>
  <TitlesOfParts>
    <vt:vector size="25" baseType="lpstr">
      <vt:lpstr>Custom Design</vt:lpstr>
      <vt:lpstr>1_Custom Design</vt:lpstr>
      <vt:lpstr>Modeling Orbital Edge Processing in a Contested Environment</vt:lpstr>
      <vt:lpstr>Response to Advisor Feedback from previous meeting(s)</vt:lpstr>
      <vt:lpstr>Progress Since Last Meeting</vt:lpstr>
      <vt:lpstr>Issues Encountered and Setbacks</vt:lpstr>
      <vt:lpstr>Tasks for the Next Two Weeks</vt:lpstr>
      <vt:lpstr>PowerPoint Presentation</vt:lpstr>
      <vt:lpstr>PowerPoint Presentation</vt:lpstr>
      <vt:lpstr>Problem and Thesis Statements</vt:lpstr>
      <vt:lpstr>Research Objectives and Questions</vt:lpstr>
      <vt:lpstr>Research Hypotheses — Proposed Refinement</vt:lpstr>
      <vt:lpstr>5 Foundational References</vt:lpstr>
      <vt:lpstr>PowerPoint Presentation</vt:lpstr>
      <vt:lpstr>Summary of Methodology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GWU Dr Hao - Session 5 - Oct 30, 2026 - v15 - Chapter 2 Progress</dc:title>
  <dc:creator>Carlo Antonio Nino</dc:creator>
  <cp:lastModifiedBy>Carlo Antonio Nino</cp:lastModifiedBy>
  <cp:revision>15</cp:revision>
  <dcterms:modified xsi:type="dcterms:W3CDTF">2026-10-01T21:09:02Z</dcterms:modified>
</cp:coreProperties>
</file>