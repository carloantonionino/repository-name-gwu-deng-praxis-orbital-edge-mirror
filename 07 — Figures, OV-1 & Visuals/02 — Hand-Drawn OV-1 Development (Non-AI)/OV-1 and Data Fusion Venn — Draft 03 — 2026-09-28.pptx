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F8A3-0BCE-EEF3-9702-1ED5AE8DA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6FB8A-906B-63A3-82E3-1824BA49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2237-08D3-C1A5-8C80-8808E9D4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EBECE-FBE5-0A22-3E6C-13E54B17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140B7-8D68-51F2-C041-2F0720DF5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2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293D0-9ACF-7472-DA89-F375ED76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57368-EEE8-54CA-EC99-FAC62BED8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B386E-5D58-5E9A-A93D-2DF762B2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91D45-D4E0-AF0B-AC9D-2F43CA89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6C8B2-EC5B-242B-0810-81B01434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6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BD50-FB2C-A1C2-FBEC-4A29FC3D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0E8D9-48D9-5157-13E9-0518ED8B4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B6E7E-7877-26C7-C5B6-A9A432DF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2506-43C6-2DAA-8585-6C0FE73F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E02CF-E6BE-DDBB-FDCA-3D8E813C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2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E7EF-830C-A657-34D8-39F606AB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D673-F389-B14C-88FD-98B844533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41D51-5020-ECC3-053F-55F91B9D7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19045-A8BE-E69C-15AC-C4BBC19C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E6ECA-6A35-70B2-9D84-1547A207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429BD-5B25-09BE-7FFB-BE5341BF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3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4BB3-7EBD-B6A9-8A10-1C9EEA4E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442D1-ECFA-C5B9-F2AF-F4C0043E5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266E3-CB12-F08E-259B-91CC727A8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594E2-9223-AEAD-633F-86C78407E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C3432-1B69-7197-B143-49EB1A1A0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25E53-EB29-6BF4-9BEA-80A023D6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F7FF7-DAFB-CE17-023D-0B5FEE27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0E941-E2EE-3FB2-BBCE-71E4F3BA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8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5584-0799-8D3C-D604-6D15E06A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04CBF-6E47-DDA2-75CB-1D20BBA1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45F15-C748-6C96-2296-9A3F5E93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DF991-8A43-C4C9-C1A8-DFDDB3762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2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7420A-3D05-53DE-D33A-3B412218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FFEE6-21B1-7DAA-2669-64565624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67B0F-B291-8529-F68E-6EA3AE4C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8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D7E4-64F2-952C-C7C7-E7EA8EF9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15437-8A1C-97C1-053A-EF81D380A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570D9-8D3C-2A0C-68EF-BE5654A52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299A4-4904-9C11-C98C-8501930D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D51C4-194C-A03D-FB78-896B48FD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BE1D-8551-1616-46D6-A0A565A5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B6A24-65EB-F597-9067-7F991B9E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DD1B0-9963-E46A-68BC-B7CA34AAA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77283-D26D-114E-1E47-AFCCEF2BE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90A15-206F-966D-49CE-D9915C7B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D5DFB-7130-C8EC-C0AB-759D36AA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9F810-A8D6-5B12-8F77-D13AF0A5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5313-921D-5B7F-5CDE-A0C67848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4DE7F-F1FC-74B8-572C-45B14885E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32ABB-38BA-8062-C850-BFD22CFE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2CF58-391C-1FF9-21FA-81CBB697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4767E-797C-F4F8-F72D-FED8FA72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2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C5532-46FD-C2DB-D944-8C8726952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57A0C-3A3E-32CE-D40C-309B80DA6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7CC09-3287-FD60-9DB7-84C1AF9C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FC62D-894A-306A-179F-E5C40086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8D7E2-4BD8-07E1-7EF5-9673F9D2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3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9EC13-B32D-80B6-7B46-67791235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F5354-4118-CB7B-0A38-C3D3A41F0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11E2F-4081-D07E-7907-5AA67D226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26CB3-9231-4EF9-8F54-04FEBCEF8C2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E7FA-3213-0559-B096-E7F420BDF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E79A0-EFFB-D7FB-5039-CBB4F30A1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208BB-2DFD-40AA-973E-A3388C5B0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2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FED811-37BE-4285-E8F2-1BCF58F92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F20CD7-1A1F-F02C-89D8-4817159B0921}"/>
              </a:ext>
            </a:extLst>
          </p:cNvPr>
          <p:cNvSpPr txBox="1"/>
          <p:nvPr/>
        </p:nvSpPr>
        <p:spPr>
          <a:xfrm>
            <a:off x="870658" y="95700"/>
            <a:ext cx="11981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Modeling Autonomous Satellite Decision-Making in Contested Environments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F326E-6C51-BC15-8AC5-36F23F8F1E4A}"/>
              </a:ext>
            </a:extLst>
          </p:cNvPr>
          <p:cNvSpPr txBox="1"/>
          <p:nvPr/>
        </p:nvSpPr>
        <p:spPr>
          <a:xfrm>
            <a:off x="3285313" y="5732647"/>
            <a:ext cx="56967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Solution: MEO Edge Processing</a:t>
            </a:r>
            <a:endParaRPr lang="en-US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Concept: Perform data processing and analysis directly on the satellite.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Benefit: Radically reduces latency by enabling real-time, on-board decisions.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Outcome: Creates a more autonomous, resilient, and cost-effective constellation.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576E9-339A-0129-16D4-A6B57C52DA8B}"/>
              </a:ext>
            </a:extLst>
          </p:cNvPr>
          <p:cNvSpPr txBox="1"/>
          <p:nvPr/>
        </p:nvSpPr>
        <p:spPr>
          <a:xfrm>
            <a:off x="0" y="5730288"/>
            <a:ext cx="2983763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 Challenge: Ground-Centric Operations</a:t>
            </a:r>
            <a:endParaRPr lang="en-US" sz="105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Problem: Relies on constant, vulnerable ground station links.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Impact: Significant decision latency from data round-trips.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Vulnerability: Ineffective when communications are jammed or lost.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29F88-3951-5DF7-0466-D78AB4648B47}"/>
              </a:ext>
            </a:extLst>
          </p:cNvPr>
          <p:cNvSpPr txBox="1"/>
          <p:nvPr/>
        </p:nvSpPr>
        <p:spPr>
          <a:xfrm>
            <a:off x="9136329" y="5682438"/>
            <a:ext cx="290141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 Payoff: Quantified Mission Impact</a:t>
            </a:r>
            <a:endParaRPr lang="en-US" sz="105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Metric 1 (Latency): Measures the precise reduction in sensor-to-decision time.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Metric 2 (Autonomy): Assesses the satellite's ability to operate independently.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Metric 3 (Efficiency): Quantifies bandwidth savings and data quality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5369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C51D718-B28F-9249-3EA0-80BF9E2E521D}"/>
              </a:ext>
            </a:extLst>
          </p:cNvPr>
          <p:cNvGrpSpPr/>
          <p:nvPr/>
        </p:nvGrpSpPr>
        <p:grpSpPr>
          <a:xfrm>
            <a:off x="2790825" y="1031076"/>
            <a:ext cx="6162675" cy="5699091"/>
            <a:chOff x="2295525" y="107151"/>
            <a:chExt cx="6858000" cy="64153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C6CBE8-A38D-BE2B-CA2D-F66E09B95EA5}"/>
                </a:ext>
              </a:extLst>
            </p:cNvPr>
            <p:cNvSpPr/>
            <p:nvPr/>
          </p:nvSpPr>
          <p:spPr>
            <a:xfrm>
              <a:off x="3438525" y="1985959"/>
              <a:ext cx="4572000" cy="451961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37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9FC8E8-31FA-244F-0549-20FD73B240A0}"/>
                </a:ext>
              </a:extLst>
            </p:cNvPr>
            <p:cNvSpPr/>
            <p:nvPr/>
          </p:nvSpPr>
          <p:spPr>
            <a:xfrm>
              <a:off x="4581525" y="276218"/>
              <a:ext cx="4572000" cy="4519616"/>
            </a:xfrm>
            <a:prstGeom prst="ellipse">
              <a:avLst/>
            </a:prstGeom>
            <a:solidFill>
              <a:schemeClr val="accent2">
                <a:alpha val="4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98E0454-7DD9-225F-1B10-D858778E5B00}"/>
                </a:ext>
              </a:extLst>
            </p:cNvPr>
            <p:cNvSpPr/>
            <p:nvPr/>
          </p:nvSpPr>
          <p:spPr>
            <a:xfrm>
              <a:off x="2295525" y="107151"/>
              <a:ext cx="4572000" cy="4688683"/>
            </a:xfrm>
            <a:prstGeom prst="ellipse">
              <a:avLst/>
            </a:prstGeom>
            <a:solidFill>
              <a:schemeClr val="accent1">
                <a:alpha val="2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870325-CFF4-B15E-E4EB-ADB1906F8434}"/>
                </a:ext>
              </a:extLst>
            </p:cNvPr>
            <p:cNvSpPr txBox="1"/>
            <p:nvPr/>
          </p:nvSpPr>
          <p:spPr>
            <a:xfrm>
              <a:off x="4505147" y="5344551"/>
              <a:ext cx="2510259" cy="1177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Environmental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NASA OMNI High-Res Space Environment Data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8ACABB-6182-6A5E-BAF2-435FDBA6737E}"/>
                </a:ext>
              </a:extLst>
            </p:cNvPr>
            <p:cNvSpPr txBox="1"/>
            <p:nvPr/>
          </p:nvSpPr>
          <p:spPr>
            <a:xfrm>
              <a:off x="6759632" y="1150849"/>
              <a:ext cx="2128296" cy="1801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Communications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bg1"/>
                  </a:solidFill>
                </a:rPr>
                <a:t>SatNOGS</a:t>
              </a:r>
              <a:r>
                <a:rPr lang="en-US" sz="1200" dirty="0">
                  <a:solidFill>
                    <a:schemeClr val="bg1"/>
                  </a:solidFill>
                </a:rPr>
                <a:t> OPS-SAT</a:t>
              </a:r>
            </a:p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Telemetry</a:t>
              </a:r>
            </a:p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OPS-SAT/NORAD 44878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1EC82B-C689-8182-1570-4A4335C9E70D}"/>
                </a:ext>
              </a:extLst>
            </p:cNvPr>
            <p:cNvSpPr txBox="1"/>
            <p:nvPr/>
          </p:nvSpPr>
          <p:spPr>
            <a:xfrm>
              <a:off x="2508968" y="1150849"/>
              <a:ext cx="2029756" cy="1524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AI/ML Telemetry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ESA OPS-SAT</a:t>
              </a:r>
            </a:p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Dataset.csv</a:t>
              </a:r>
            </a:p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Segments.csv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41C20D-CDB8-CF12-E14C-036F9D8B443D}"/>
                </a:ext>
              </a:extLst>
            </p:cNvPr>
            <p:cNvSpPr txBox="1"/>
            <p:nvPr/>
          </p:nvSpPr>
          <p:spPr>
            <a:xfrm>
              <a:off x="4790493" y="2198176"/>
              <a:ext cx="1868066" cy="133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“Simultaneity”</a:t>
              </a:r>
            </a:p>
            <a:p>
              <a:pPr algn="ctr"/>
              <a:r>
                <a:rPr lang="en-US" sz="14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28 Jan. 2022 </a:t>
              </a:r>
            </a:p>
            <a:p>
              <a:pPr algn="ctr"/>
              <a:r>
                <a:rPr lang="en-US" sz="14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17:42-17:55 UTC</a:t>
              </a:r>
            </a:p>
            <a:p>
              <a:pPr algn="ctr"/>
              <a:endPara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ESA OPS-SAT (A+C Only)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F54F83-090E-2E1C-FB09-D836C1731B47}"/>
                </a:ext>
              </a:extLst>
            </p:cNvPr>
            <p:cNvSpPr txBox="1"/>
            <p:nvPr/>
          </p:nvSpPr>
          <p:spPr>
            <a:xfrm>
              <a:off x="3783901" y="3657267"/>
              <a:ext cx="1075316" cy="415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90000"/>
                    </a:schemeClr>
                  </a:solidFill>
                </a:rPr>
                <a:t>Overlap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44C383D-9018-899E-74BC-5506E7AEC4F3}"/>
                </a:ext>
              </a:extLst>
            </p:cNvPr>
            <p:cNvSpPr txBox="1"/>
            <p:nvPr/>
          </p:nvSpPr>
          <p:spPr>
            <a:xfrm>
              <a:off x="5275952" y="1152655"/>
              <a:ext cx="1075316" cy="415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Overlap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4DDCBD-B521-8896-4D08-C82074EA3EE6}"/>
                </a:ext>
              </a:extLst>
            </p:cNvPr>
            <p:cNvSpPr txBox="1"/>
            <p:nvPr/>
          </p:nvSpPr>
          <p:spPr>
            <a:xfrm>
              <a:off x="6623471" y="3657267"/>
              <a:ext cx="1075316" cy="415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90000"/>
                    </a:schemeClr>
                  </a:solidFill>
                </a:rPr>
                <a:t>Overlap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8D64EBA-FEE1-9765-3087-9568BFC7053C}"/>
              </a:ext>
            </a:extLst>
          </p:cNvPr>
          <p:cNvSpPr txBox="1"/>
          <p:nvPr/>
        </p:nvSpPr>
        <p:spPr>
          <a:xfrm>
            <a:off x="9120140" y="309102"/>
            <a:ext cx="2781301" cy="574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Buckets:</a:t>
            </a:r>
          </a:p>
          <a:p>
            <a:r>
              <a:rPr lang="en-US" dirty="0">
                <a:solidFill>
                  <a:schemeClr val="bg1"/>
                </a:solidFill>
              </a:rPr>
              <a:t>A - AI/ML </a:t>
            </a:r>
            <a:r>
              <a:rPr lang="en-US" sz="1200" dirty="0">
                <a:solidFill>
                  <a:schemeClr val="bg1"/>
                </a:solidFill>
              </a:rPr>
              <a:t>(OPSSAT-AD v2)</a:t>
            </a:r>
          </a:p>
          <a:p>
            <a:r>
              <a:rPr lang="en-US" dirty="0">
                <a:solidFill>
                  <a:schemeClr val="bg1"/>
                </a:solidFill>
              </a:rPr>
              <a:t>C - Comms </a:t>
            </a:r>
            <a:r>
              <a:rPr lang="en-US" sz="1000" dirty="0">
                <a:solidFill>
                  <a:schemeClr val="bg1"/>
                </a:solidFill>
              </a:rPr>
              <a:t>(OPS-SAT/NORAD 44878)</a:t>
            </a:r>
          </a:p>
          <a:p>
            <a:r>
              <a:rPr lang="en-US" dirty="0">
                <a:solidFill>
                  <a:schemeClr val="bg1"/>
                </a:solidFill>
              </a:rPr>
              <a:t>E - Environmental </a:t>
            </a:r>
            <a:r>
              <a:rPr lang="en-US" sz="1100" dirty="0">
                <a:solidFill>
                  <a:schemeClr val="bg1"/>
                </a:solidFill>
              </a:rPr>
              <a:t>(NASA OMNI High-Res Space Environment Data)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Simultaneity – where the data overlaps.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Current Simultaneity Window: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28 Jan. 2022 </a:t>
            </a:r>
          </a:p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17:42-17:55 UTC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AFCAF846-DFBA-73F3-2958-5AAFAF06F2F2}"/>
              </a:ext>
            </a:extLst>
          </p:cNvPr>
          <p:cNvSpPr/>
          <p:nvPr/>
        </p:nvSpPr>
        <p:spPr>
          <a:xfrm rot="5400000">
            <a:off x="5685813" y="4193984"/>
            <a:ext cx="436951" cy="2497899"/>
          </a:xfrm>
          <a:prstGeom prst="rightBrace">
            <a:avLst/>
          </a:prstGeom>
          <a:ln w="539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CDF61B-DA40-A142-8C81-7E26814201C2}"/>
              </a:ext>
            </a:extLst>
          </p:cNvPr>
          <p:cNvSpPr txBox="1"/>
          <p:nvPr/>
        </p:nvSpPr>
        <p:spPr>
          <a:xfrm>
            <a:off x="4832611" y="5165224"/>
            <a:ext cx="2233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Environmental Context of A and C</a:t>
            </a:r>
          </a:p>
        </p:txBody>
      </p:sp>
    </p:spTree>
    <p:extLst>
      <p:ext uri="{BB962C8B-B14F-4D97-AF65-F5344CB8AC3E}">
        <p14:creationId xmlns:p14="http://schemas.microsoft.com/office/powerpoint/2010/main" val="135410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adc8ff-f4a3-4a14-9c0d-84b4985de0d2}" enabled="1" method="Privileged" siteId="{8331b18d-2d87-48ef-a35f-ac8818ebf9b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242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NINO, CARLO A CTR USSF SSC SYD 84/MT</dc:creator>
  <cp:lastModifiedBy>NINO, CARLO A CTR USSF SSC SYD 84/MT</cp:lastModifiedBy>
  <cp:revision>4</cp:revision>
  <dcterms:created xsi:type="dcterms:W3CDTF">2026-09-25T21:49:35Z</dcterms:created>
  <dcterms:modified xsi:type="dcterms:W3CDTF">2026-09-28T20:10:49Z</dcterms:modified>
</cp:coreProperties>
</file>